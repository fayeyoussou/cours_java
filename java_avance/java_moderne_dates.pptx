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64738B"/>
                </a:solidFill>
                <a:latin typeface="Arial"/>
                <a:cs typeface="Arial"/>
              </a:defRPr>
            </a:lvl1pPr>
          </a:lstStyle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#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64738B"/>
                </a:solidFill>
                <a:latin typeface="Arial"/>
                <a:cs typeface="Arial"/>
              </a:defRPr>
            </a:lvl1pPr>
          </a:lstStyle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#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64738B"/>
                </a:solidFill>
                <a:latin typeface="Arial"/>
                <a:cs typeface="Arial"/>
              </a:defRPr>
            </a:lvl1pPr>
          </a:lstStyle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#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64738B"/>
                </a:solidFill>
                <a:latin typeface="Arial"/>
                <a:cs typeface="Arial"/>
              </a:defRPr>
            </a:lvl1pPr>
          </a:lstStyle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#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64738B"/>
                </a:solidFill>
                <a:latin typeface="Arial"/>
                <a:cs typeface="Arial"/>
              </a:defRPr>
            </a:lvl1pPr>
          </a:lstStyle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#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19199"/>
            <a:ext cx="12192000" cy="28575"/>
          </a:xfrm>
          <a:custGeom>
            <a:avLst/>
            <a:gdLst/>
            <a:ahLst/>
            <a:cxnLst/>
            <a:rect l="l" t="t" r="r" b="b"/>
            <a:pathLst>
              <a:path w="12192000" h="28575">
                <a:moveTo>
                  <a:pt x="12191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8574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550" y="254000"/>
            <a:ext cx="808926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250" y="2905124"/>
            <a:ext cx="11239500" cy="1603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3050" y="6591520"/>
            <a:ext cx="1849755" cy="154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94A2B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446221" y="6596729"/>
            <a:ext cx="473075" cy="13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64738B"/>
                </a:solidFill>
                <a:latin typeface="Arial"/>
                <a:cs typeface="Arial"/>
              </a:defRPr>
            </a:lvl1pPr>
          </a:lstStyle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#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810750" y="5429250"/>
            <a:ext cx="2381250" cy="1428750"/>
          </a:xfrm>
          <a:custGeom>
            <a:avLst/>
            <a:gdLst/>
            <a:ahLst/>
            <a:cxnLst/>
            <a:rect l="l" t="t" r="r" b="b"/>
            <a:pathLst>
              <a:path w="2381250" h="1428750">
                <a:moveTo>
                  <a:pt x="2381249" y="1428749"/>
                </a:moveTo>
                <a:lnTo>
                  <a:pt x="0" y="1428749"/>
                </a:lnTo>
                <a:lnTo>
                  <a:pt x="2381249" y="0"/>
                </a:lnTo>
                <a:lnTo>
                  <a:pt x="2381249" y="142874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448553" y="6421697"/>
            <a:ext cx="470534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>
                <a:solidFill>
                  <a:srgbClr val="9CA2AF"/>
                </a:solidFill>
                <a:latin typeface="Arial"/>
                <a:cs typeface="Arial"/>
              </a:rPr>
              <a:t>1</a:t>
            </a:r>
            <a:r>
              <a:rPr dirty="0" sz="1300" spc="-20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300" spc="195">
                <a:solidFill>
                  <a:srgbClr val="9CA2AF"/>
                </a:solidFill>
                <a:latin typeface="Arial"/>
                <a:cs typeface="Arial"/>
              </a:rPr>
              <a:t>/</a:t>
            </a:r>
            <a:r>
              <a:rPr dirty="0" sz="1300" spc="-15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9CA2AF"/>
                </a:solidFill>
                <a:latin typeface="Arial"/>
                <a:cs typeface="Arial"/>
              </a:rPr>
              <a:t>35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971674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9299" y="438639"/>
            <a:ext cx="7204075" cy="7188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550"/>
              <a:t>1.</a:t>
            </a:r>
            <a:r>
              <a:rPr dirty="0" sz="4550" spc="-150"/>
              <a:t> </a:t>
            </a:r>
            <a:r>
              <a:rPr dirty="0" sz="4550" spc="-165"/>
              <a:t>Plan</a:t>
            </a:r>
            <a:r>
              <a:rPr dirty="0" sz="4550" spc="-135"/>
              <a:t> </a:t>
            </a:r>
            <a:r>
              <a:rPr dirty="0" sz="4550" spc="-265"/>
              <a:t>du</a:t>
            </a:r>
            <a:r>
              <a:rPr dirty="0" sz="4550" spc="-140"/>
              <a:t> </a:t>
            </a:r>
            <a:r>
              <a:rPr dirty="0" sz="4550" spc="-225"/>
              <a:t>cours</a:t>
            </a:r>
            <a:r>
              <a:rPr dirty="0" sz="4550" spc="-140"/>
              <a:t> </a:t>
            </a:r>
            <a:r>
              <a:rPr dirty="0" sz="4550"/>
              <a:t>et</a:t>
            </a:r>
            <a:r>
              <a:rPr dirty="0" sz="4550" spc="-135"/>
              <a:t> </a:t>
            </a:r>
            <a:r>
              <a:rPr dirty="0" sz="4550" spc="-100"/>
              <a:t>objectifs</a:t>
            </a:r>
            <a:endParaRPr sz="4550"/>
          </a:p>
        </p:txBody>
      </p:sp>
      <p:sp>
        <p:nvSpPr>
          <p:cNvPr id="6" name="object 6" descr=""/>
          <p:cNvSpPr txBox="1"/>
          <p:nvPr/>
        </p:nvSpPr>
        <p:spPr>
          <a:xfrm>
            <a:off x="749299" y="1311275"/>
            <a:ext cx="430847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64738B"/>
                </a:solidFill>
                <a:latin typeface="Arial"/>
                <a:cs typeface="Arial"/>
              </a:rPr>
              <a:t>Java</a:t>
            </a:r>
            <a:r>
              <a:rPr dirty="0" sz="2250" spc="-1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64738B"/>
                </a:solidFill>
                <a:latin typeface="Arial"/>
                <a:cs typeface="Arial"/>
              </a:rPr>
              <a:t>Moderne</a:t>
            </a:r>
            <a:r>
              <a:rPr dirty="0" sz="2250" spc="-10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2250" spc="-130">
                <a:solidFill>
                  <a:srgbClr val="64738B"/>
                </a:solidFill>
                <a:latin typeface="Arial"/>
                <a:cs typeface="Arial"/>
              </a:rPr>
              <a:t>&amp;</a:t>
            </a:r>
            <a:r>
              <a:rPr dirty="0" sz="2250" spc="-8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2250" spc="-35">
                <a:solidFill>
                  <a:srgbClr val="64738B"/>
                </a:solidFill>
                <a:latin typeface="Arial"/>
                <a:cs typeface="Arial"/>
              </a:rPr>
              <a:t>Dates</a:t>
            </a:r>
            <a:r>
              <a:rPr dirty="0" sz="2250" spc="-10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2250" spc="-110">
                <a:solidFill>
                  <a:srgbClr val="64738B"/>
                </a:solidFill>
                <a:latin typeface="Arial"/>
                <a:cs typeface="Arial"/>
              </a:rPr>
              <a:t>-</a:t>
            </a:r>
            <a:r>
              <a:rPr dirty="0" sz="2250" spc="-8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2250" spc="-40">
                <a:solidFill>
                  <a:srgbClr val="64738B"/>
                </a:solidFill>
                <a:latin typeface="Arial"/>
                <a:cs typeface="Arial"/>
              </a:rPr>
              <a:t>Niveau</a:t>
            </a:r>
            <a:r>
              <a:rPr dirty="0" sz="2250" spc="-10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64738B"/>
                </a:solidFill>
                <a:latin typeface="Arial"/>
                <a:cs typeface="Arial"/>
              </a:rPr>
              <a:t>L2</a:t>
            </a:r>
            <a:endParaRPr sz="22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34568" y="2563368"/>
            <a:ext cx="624840" cy="624840"/>
            <a:chOff x="734568" y="2563368"/>
            <a:chExt cx="624840" cy="624840"/>
          </a:xfrm>
        </p:grpSpPr>
        <p:sp>
          <p:nvSpPr>
            <p:cNvPr id="8" name="object 8" descr=""/>
            <p:cNvSpPr/>
            <p:nvPr/>
          </p:nvSpPr>
          <p:spPr>
            <a:xfrm>
              <a:off x="734568" y="2563368"/>
              <a:ext cx="624840" cy="624840"/>
            </a:xfrm>
            <a:custGeom>
              <a:avLst/>
              <a:gdLst/>
              <a:ahLst/>
              <a:cxnLst/>
              <a:rect l="l" t="t" r="r" b="b"/>
              <a:pathLst>
                <a:path w="624840" h="624839">
                  <a:moveTo>
                    <a:pt x="624840" y="624840"/>
                  </a:moveTo>
                  <a:lnTo>
                    <a:pt x="0" y="624840"/>
                  </a:lnTo>
                  <a:lnTo>
                    <a:pt x="0" y="0"/>
                  </a:lnTo>
                  <a:lnTo>
                    <a:pt x="624840" y="0"/>
                  </a:lnTo>
                  <a:lnTo>
                    <a:pt x="624840" y="27431"/>
                  </a:lnTo>
                  <a:lnTo>
                    <a:pt x="313181" y="27431"/>
                  </a:lnTo>
                  <a:lnTo>
                    <a:pt x="299611" y="27763"/>
                  </a:lnTo>
                  <a:lnTo>
                    <a:pt x="259293" y="32739"/>
                  </a:lnTo>
                  <a:lnTo>
                    <a:pt x="220139" y="43571"/>
                  </a:lnTo>
                  <a:lnTo>
                    <a:pt x="182968" y="60045"/>
                  </a:lnTo>
                  <a:lnTo>
                    <a:pt x="148620" y="81798"/>
                  </a:lnTo>
                  <a:lnTo>
                    <a:pt x="117861" y="108336"/>
                  </a:lnTo>
                  <a:lnTo>
                    <a:pt x="91324" y="139095"/>
                  </a:lnTo>
                  <a:lnTo>
                    <a:pt x="69570" y="173443"/>
                  </a:lnTo>
                  <a:lnTo>
                    <a:pt x="53096" y="210613"/>
                  </a:lnTo>
                  <a:lnTo>
                    <a:pt x="42264" y="249767"/>
                  </a:lnTo>
                  <a:lnTo>
                    <a:pt x="37288" y="290086"/>
                  </a:lnTo>
                  <a:lnTo>
                    <a:pt x="36956" y="303656"/>
                  </a:lnTo>
                  <a:lnTo>
                    <a:pt x="37288" y="317226"/>
                  </a:lnTo>
                  <a:lnTo>
                    <a:pt x="42264" y="357545"/>
                  </a:lnTo>
                  <a:lnTo>
                    <a:pt x="53096" y="396699"/>
                  </a:lnTo>
                  <a:lnTo>
                    <a:pt x="69570" y="433869"/>
                  </a:lnTo>
                  <a:lnTo>
                    <a:pt x="91324" y="468217"/>
                  </a:lnTo>
                  <a:lnTo>
                    <a:pt x="117861" y="498977"/>
                  </a:lnTo>
                  <a:lnTo>
                    <a:pt x="148620" y="525513"/>
                  </a:lnTo>
                  <a:lnTo>
                    <a:pt x="182968" y="547267"/>
                  </a:lnTo>
                  <a:lnTo>
                    <a:pt x="220139" y="563741"/>
                  </a:lnTo>
                  <a:lnTo>
                    <a:pt x="259295" y="574574"/>
                  </a:lnTo>
                  <a:lnTo>
                    <a:pt x="299611" y="579550"/>
                  </a:lnTo>
                  <a:lnTo>
                    <a:pt x="313181" y="579881"/>
                  </a:lnTo>
                  <a:lnTo>
                    <a:pt x="624840" y="579881"/>
                  </a:lnTo>
                  <a:lnTo>
                    <a:pt x="624840" y="624840"/>
                  </a:lnTo>
                  <a:close/>
                </a:path>
                <a:path w="624840" h="624839">
                  <a:moveTo>
                    <a:pt x="624840" y="579881"/>
                  </a:moveTo>
                  <a:lnTo>
                    <a:pt x="313181" y="579881"/>
                  </a:lnTo>
                  <a:lnTo>
                    <a:pt x="326752" y="579549"/>
                  </a:lnTo>
                  <a:lnTo>
                    <a:pt x="340257" y="578554"/>
                  </a:lnTo>
                  <a:lnTo>
                    <a:pt x="380315" y="571601"/>
                  </a:lnTo>
                  <a:lnTo>
                    <a:pt x="418888" y="558854"/>
                  </a:lnTo>
                  <a:lnTo>
                    <a:pt x="455176" y="540592"/>
                  </a:lnTo>
                  <a:lnTo>
                    <a:pt x="488419" y="517183"/>
                  </a:lnTo>
                  <a:lnTo>
                    <a:pt x="517863" y="489146"/>
                  </a:lnTo>
                  <a:lnTo>
                    <a:pt x="542854" y="457118"/>
                  </a:lnTo>
                  <a:lnTo>
                    <a:pt x="562880" y="421773"/>
                  </a:lnTo>
                  <a:lnTo>
                    <a:pt x="577515" y="383841"/>
                  </a:lnTo>
                  <a:lnTo>
                    <a:pt x="586421" y="344171"/>
                  </a:lnTo>
                  <a:lnTo>
                    <a:pt x="589406" y="303656"/>
                  </a:lnTo>
                  <a:lnTo>
                    <a:pt x="589075" y="290086"/>
                  </a:lnTo>
                  <a:lnTo>
                    <a:pt x="584099" y="249767"/>
                  </a:lnTo>
                  <a:lnTo>
                    <a:pt x="573267" y="210613"/>
                  </a:lnTo>
                  <a:lnTo>
                    <a:pt x="556793" y="173443"/>
                  </a:lnTo>
                  <a:lnTo>
                    <a:pt x="535039" y="139095"/>
                  </a:lnTo>
                  <a:lnTo>
                    <a:pt x="508502" y="108336"/>
                  </a:lnTo>
                  <a:lnTo>
                    <a:pt x="477743" y="81798"/>
                  </a:lnTo>
                  <a:lnTo>
                    <a:pt x="443394" y="60045"/>
                  </a:lnTo>
                  <a:lnTo>
                    <a:pt x="406224" y="43571"/>
                  </a:lnTo>
                  <a:lnTo>
                    <a:pt x="367070" y="32739"/>
                  </a:lnTo>
                  <a:lnTo>
                    <a:pt x="326752" y="27763"/>
                  </a:lnTo>
                  <a:lnTo>
                    <a:pt x="313181" y="27431"/>
                  </a:lnTo>
                  <a:lnTo>
                    <a:pt x="624840" y="27431"/>
                  </a:lnTo>
                  <a:lnTo>
                    <a:pt x="624840" y="57988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61999" y="25812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" y="2727324"/>
              <a:ext cx="266700" cy="269875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399" y="2838449"/>
            <a:ext cx="85725" cy="85724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734568" y="3822192"/>
            <a:ext cx="624840" cy="624840"/>
            <a:chOff x="734568" y="3822192"/>
            <a:chExt cx="624840" cy="624840"/>
          </a:xfrm>
        </p:grpSpPr>
        <p:sp>
          <p:nvSpPr>
            <p:cNvPr id="13" name="object 13" descr=""/>
            <p:cNvSpPr/>
            <p:nvPr/>
          </p:nvSpPr>
          <p:spPr>
            <a:xfrm>
              <a:off x="734568" y="3822192"/>
              <a:ext cx="624840" cy="624840"/>
            </a:xfrm>
            <a:custGeom>
              <a:avLst/>
              <a:gdLst/>
              <a:ahLst/>
              <a:cxnLst/>
              <a:rect l="l" t="t" r="r" b="b"/>
              <a:pathLst>
                <a:path w="624840" h="624839">
                  <a:moveTo>
                    <a:pt x="624840" y="624840"/>
                  </a:moveTo>
                  <a:lnTo>
                    <a:pt x="0" y="624840"/>
                  </a:lnTo>
                  <a:lnTo>
                    <a:pt x="0" y="0"/>
                  </a:lnTo>
                  <a:lnTo>
                    <a:pt x="624840" y="0"/>
                  </a:lnTo>
                  <a:lnTo>
                    <a:pt x="624840" y="25907"/>
                  </a:lnTo>
                  <a:lnTo>
                    <a:pt x="313181" y="25907"/>
                  </a:lnTo>
                  <a:lnTo>
                    <a:pt x="299611" y="26239"/>
                  </a:lnTo>
                  <a:lnTo>
                    <a:pt x="259293" y="31215"/>
                  </a:lnTo>
                  <a:lnTo>
                    <a:pt x="220139" y="42047"/>
                  </a:lnTo>
                  <a:lnTo>
                    <a:pt x="182968" y="58520"/>
                  </a:lnTo>
                  <a:lnTo>
                    <a:pt x="148620" y="80274"/>
                  </a:lnTo>
                  <a:lnTo>
                    <a:pt x="117861" y="106811"/>
                  </a:lnTo>
                  <a:lnTo>
                    <a:pt x="91324" y="137570"/>
                  </a:lnTo>
                  <a:lnTo>
                    <a:pt x="69570" y="171918"/>
                  </a:lnTo>
                  <a:lnTo>
                    <a:pt x="53096" y="209089"/>
                  </a:lnTo>
                  <a:lnTo>
                    <a:pt x="42264" y="248243"/>
                  </a:lnTo>
                  <a:lnTo>
                    <a:pt x="37288" y="288562"/>
                  </a:lnTo>
                  <a:lnTo>
                    <a:pt x="36956" y="302132"/>
                  </a:lnTo>
                  <a:lnTo>
                    <a:pt x="37288" y="315702"/>
                  </a:lnTo>
                  <a:lnTo>
                    <a:pt x="42264" y="356021"/>
                  </a:lnTo>
                  <a:lnTo>
                    <a:pt x="53096" y="395174"/>
                  </a:lnTo>
                  <a:lnTo>
                    <a:pt x="69570" y="432344"/>
                  </a:lnTo>
                  <a:lnTo>
                    <a:pt x="91324" y="466693"/>
                  </a:lnTo>
                  <a:lnTo>
                    <a:pt x="117861" y="497452"/>
                  </a:lnTo>
                  <a:lnTo>
                    <a:pt x="148620" y="523989"/>
                  </a:lnTo>
                  <a:lnTo>
                    <a:pt x="182969" y="545743"/>
                  </a:lnTo>
                  <a:lnTo>
                    <a:pt x="220140" y="562217"/>
                  </a:lnTo>
                  <a:lnTo>
                    <a:pt x="259295" y="573050"/>
                  </a:lnTo>
                  <a:lnTo>
                    <a:pt x="299611" y="578025"/>
                  </a:lnTo>
                  <a:lnTo>
                    <a:pt x="313181" y="578357"/>
                  </a:lnTo>
                  <a:lnTo>
                    <a:pt x="624840" y="578357"/>
                  </a:lnTo>
                  <a:lnTo>
                    <a:pt x="624840" y="624840"/>
                  </a:lnTo>
                  <a:close/>
                </a:path>
                <a:path w="624840" h="624839">
                  <a:moveTo>
                    <a:pt x="624840" y="578357"/>
                  </a:moveTo>
                  <a:lnTo>
                    <a:pt x="313181" y="578357"/>
                  </a:lnTo>
                  <a:lnTo>
                    <a:pt x="326752" y="578025"/>
                  </a:lnTo>
                  <a:lnTo>
                    <a:pt x="340257" y="577030"/>
                  </a:lnTo>
                  <a:lnTo>
                    <a:pt x="380316" y="570076"/>
                  </a:lnTo>
                  <a:lnTo>
                    <a:pt x="418889" y="557330"/>
                  </a:lnTo>
                  <a:lnTo>
                    <a:pt x="455176" y="539068"/>
                  </a:lnTo>
                  <a:lnTo>
                    <a:pt x="488419" y="515659"/>
                  </a:lnTo>
                  <a:lnTo>
                    <a:pt x="517863" y="487622"/>
                  </a:lnTo>
                  <a:lnTo>
                    <a:pt x="542854" y="455594"/>
                  </a:lnTo>
                  <a:lnTo>
                    <a:pt x="562880" y="420248"/>
                  </a:lnTo>
                  <a:lnTo>
                    <a:pt x="577515" y="382317"/>
                  </a:lnTo>
                  <a:lnTo>
                    <a:pt x="586421" y="342647"/>
                  </a:lnTo>
                  <a:lnTo>
                    <a:pt x="589406" y="302132"/>
                  </a:lnTo>
                  <a:lnTo>
                    <a:pt x="589075" y="288562"/>
                  </a:lnTo>
                  <a:lnTo>
                    <a:pt x="584099" y="248243"/>
                  </a:lnTo>
                  <a:lnTo>
                    <a:pt x="573267" y="209089"/>
                  </a:lnTo>
                  <a:lnTo>
                    <a:pt x="556793" y="171918"/>
                  </a:lnTo>
                  <a:lnTo>
                    <a:pt x="535039" y="137570"/>
                  </a:lnTo>
                  <a:lnTo>
                    <a:pt x="508502" y="106811"/>
                  </a:lnTo>
                  <a:lnTo>
                    <a:pt x="477743" y="80274"/>
                  </a:lnTo>
                  <a:lnTo>
                    <a:pt x="443394" y="58520"/>
                  </a:lnTo>
                  <a:lnTo>
                    <a:pt x="406224" y="42047"/>
                  </a:lnTo>
                  <a:lnTo>
                    <a:pt x="367070" y="31215"/>
                  </a:lnTo>
                  <a:lnTo>
                    <a:pt x="326752" y="26239"/>
                  </a:lnTo>
                  <a:lnTo>
                    <a:pt x="313181" y="25907"/>
                  </a:lnTo>
                  <a:lnTo>
                    <a:pt x="624840" y="25907"/>
                  </a:lnTo>
                  <a:lnTo>
                    <a:pt x="624840" y="57835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1999" y="38385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7"/>
                  </a:lnTo>
                  <a:lnTo>
                    <a:pt x="554796" y="189482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1224" y="3984624"/>
              <a:ext cx="273050" cy="269875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399" y="4095749"/>
            <a:ext cx="85725" cy="85724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734568" y="5077968"/>
            <a:ext cx="624840" cy="624840"/>
            <a:chOff x="734568" y="5077968"/>
            <a:chExt cx="624840" cy="624840"/>
          </a:xfrm>
        </p:grpSpPr>
        <p:sp>
          <p:nvSpPr>
            <p:cNvPr id="18" name="object 18" descr=""/>
            <p:cNvSpPr/>
            <p:nvPr/>
          </p:nvSpPr>
          <p:spPr>
            <a:xfrm>
              <a:off x="734568" y="5077968"/>
              <a:ext cx="624840" cy="624840"/>
            </a:xfrm>
            <a:custGeom>
              <a:avLst/>
              <a:gdLst/>
              <a:ahLst/>
              <a:cxnLst/>
              <a:rect l="l" t="t" r="r" b="b"/>
              <a:pathLst>
                <a:path w="624840" h="624839">
                  <a:moveTo>
                    <a:pt x="624840" y="624840"/>
                  </a:moveTo>
                  <a:lnTo>
                    <a:pt x="0" y="624840"/>
                  </a:lnTo>
                  <a:lnTo>
                    <a:pt x="0" y="0"/>
                  </a:lnTo>
                  <a:lnTo>
                    <a:pt x="624840" y="0"/>
                  </a:lnTo>
                  <a:lnTo>
                    <a:pt x="624840" y="27431"/>
                  </a:lnTo>
                  <a:lnTo>
                    <a:pt x="313181" y="27431"/>
                  </a:lnTo>
                  <a:lnTo>
                    <a:pt x="299611" y="27763"/>
                  </a:lnTo>
                  <a:lnTo>
                    <a:pt x="259293" y="32739"/>
                  </a:lnTo>
                  <a:lnTo>
                    <a:pt x="220139" y="43571"/>
                  </a:lnTo>
                  <a:lnTo>
                    <a:pt x="182968" y="60044"/>
                  </a:lnTo>
                  <a:lnTo>
                    <a:pt x="148620" y="81798"/>
                  </a:lnTo>
                  <a:lnTo>
                    <a:pt x="117861" y="108335"/>
                  </a:lnTo>
                  <a:lnTo>
                    <a:pt x="91324" y="139094"/>
                  </a:lnTo>
                  <a:lnTo>
                    <a:pt x="69570" y="173442"/>
                  </a:lnTo>
                  <a:lnTo>
                    <a:pt x="53096" y="210613"/>
                  </a:lnTo>
                  <a:lnTo>
                    <a:pt x="42264" y="249767"/>
                  </a:lnTo>
                  <a:lnTo>
                    <a:pt x="37288" y="290086"/>
                  </a:lnTo>
                  <a:lnTo>
                    <a:pt x="36956" y="303656"/>
                  </a:lnTo>
                  <a:lnTo>
                    <a:pt x="37288" y="317226"/>
                  </a:lnTo>
                  <a:lnTo>
                    <a:pt x="42264" y="357544"/>
                  </a:lnTo>
                  <a:lnTo>
                    <a:pt x="53096" y="396698"/>
                  </a:lnTo>
                  <a:lnTo>
                    <a:pt x="69570" y="433868"/>
                  </a:lnTo>
                  <a:lnTo>
                    <a:pt x="91324" y="468217"/>
                  </a:lnTo>
                  <a:lnTo>
                    <a:pt x="117861" y="498976"/>
                  </a:lnTo>
                  <a:lnTo>
                    <a:pt x="148620" y="525513"/>
                  </a:lnTo>
                  <a:lnTo>
                    <a:pt x="182968" y="547267"/>
                  </a:lnTo>
                  <a:lnTo>
                    <a:pt x="220139" y="563741"/>
                  </a:lnTo>
                  <a:lnTo>
                    <a:pt x="259293" y="574573"/>
                  </a:lnTo>
                  <a:lnTo>
                    <a:pt x="299611" y="579549"/>
                  </a:lnTo>
                  <a:lnTo>
                    <a:pt x="313181" y="579881"/>
                  </a:lnTo>
                  <a:lnTo>
                    <a:pt x="624840" y="579881"/>
                  </a:lnTo>
                  <a:lnTo>
                    <a:pt x="624840" y="624840"/>
                  </a:lnTo>
                  <a:close/>
                </a:path>
                <a:path w="624840" h="624839">
                  <a:moveTo>
                    <a:pt x="624840" y="579881"/>
                  </a:moveTo>
                  <a:lnTo>
                    <a:pt x="313181" y="579881"/>
                  </a:lnTo>
                  <a:lnTo>
                    <a:pt x="326752" y="579549"/>
                  </a:lnTo>
                  <a:lnTo>
                    <a:pt x="340256" y="578554"/>
                  </a:lnTo>
                  <a:lnTo>
                    <a:pt x="380315" y="571600"/>
                  </a:lnTo>
                  <a:lnTo>
                    <a:pt x="418888" y="558854"/>
                  </a:lnTo>
                  <a:lnTo>
                    <a:pt x="455176" y="540591"/>
                  </a:lnTo>
                  <a:lnTo>
                    <a:pt x="488419" y="517183"/>
                  </a:lnTo>
                  <a:lnTo>
                    <a:pt x="517863" y="489146"/>
                  </a:lnTo>
                  <a:lnTo>
                    <a:pt x="542854" y="457118"/>
                  </a:lnTo>
                  <a:lnTo>
                    <a:pt x="562880" y="421772"/>
                  </a:lnTo>
                  <a:lnTo>
                    <a:pt x="577515" y="383840"/>
                  </a:lnTo>
                  <a:lnTo>
                    <a:pt x="586421" y="344170"/>
                  </a:lnTo>
                  <a:lnTo>
                    <a:pt x="589406" y="303656"/>
                  </a:lnTo>
                  <a:lnTo>
                    <a:pt x="589075" y="290086"/>
                  </a:lnTo>
                  <a:lnTo>
                    <a:pt x="584099" y="249767"/>
                  </a:lnTo>
                  <a:lnTo>
                    <a:pt x="573267" y="210613"/>
                  </a:lnTo>
                  <a:lnTo>
                    <a:pt x="556793" y="173442"/>
                  </a:lnTo>
                  <a:lnTo>
                    <a:pt x="535039" y="139094"/>
                  </a:lnTo>
                  <a:lnTo>
                    <a:pt x="508502" y="108335"/>
                  </a:lnTo>
                  <a:lnTo>
                    <a:pt x="477743" y="81798"/>
                  </a:lnTo>
                  <a:lnTo>
                    <a:pt x="443394" y="60044"/>
                  </a:lnTo>
                  <a:lnTo>
                    <a:pt x="406224" y="43571"/>
                  </a:lnTo>
                  <a:lnTo>
                    <a:pt x="367070" y="32739"/>
                  </a:lnTo>
                  <a:lnTo>
                    <a:pt x="326752" y="27763"/>
                  </a:lnTo>
                  <a:lnTo>
                    <a:pt x="313181" y="27431"/>
                  </a:lnTo>
                  <a:lnTo>
                    <a:pt x="624840" y="27431"/>
                  </a:lnTo>
                  <a:lnTo>
                    <a:pt x="624840" y="57988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1999" y="50958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4"/>
                  </a:lnTo>
                  <a:lnTo>
                    <a:pt x="163575" y="544065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0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2"/>
                  </a:lnTo>
                  <a:lnTo>
                    <a:pt x="33740" y="151047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7"/>
                  </a:lnTo>
                  <a:lnTo>
                    <a:pt x="554796" y="189482"/>
                  </a:lnTo>
                  <a:lnTo>
                    <a:pt x="566009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1062" y="5241924"/>
              <a:ext cx="333375" cy="269875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49299" y="3117192"/>
            <a:ext cx="7430134" cy="2910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00" spc="-85" b="1">
                <a:solidFill>
                  <a:srgbClr val="374050"/>
                </a:solidFill>
                <a:latin typeface="Arial"/>
                <a:cs typeface="Arial"/>
              </a:rPr>
              <a:t>Parcours</a:t>
            </a:r>
            <a:r>
              <a:rPr dirty="0" sz="2100" spc="-5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100" spc="-120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2100" spc="-4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95">
                <a:solidFill>
                  <a:srgbClr val="374050"/>
                </a:solidFill>
                <a:latin typeface="Arial"/>
                <a:cs typeface="Arial"/>
              </a:rPr>
              <a:t>enum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374050"/>
                </a:solidFill>
                <a:latin typeface="Arial"/>
                <a:cs typeface="Arial"/>
              </a:rPr>
              <a:t>→</a:t>
            </a:r>
            <a:r>
              <a:rPr dirty="0" sz="2100" spc="-5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50">
                <a:solidFill>
                  <a:srgbClr val="374050"/>
                </a:solidFill>
                <a:latin typeface="Arial"/>
                <a:cs typeface="Arial"/>
              </a:rPr>
              <a:t>record</a:t>
            </a:r>
            <a:r>
              <a:rPr dirty="0" sz="2400" spc="-13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374050"/>
                </a:solidFill>
                <a:latin typeface="Arial"/>
                <a:cs typeface="Arial"/>
              </a:rPr>
              <a:t>→</a:t>
            </a:r>
            <a:r>
              <a:rPr dirty="0" sz="2100" spc="-5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50">
                <a:solidFill>
                  <a:srgbClr val="374050"/>
                </a:solidFill>
                <a:latin typeface="Arial"/>
                <a:cs typeface="Arial"/>
              </a:rPr>
              <a:t>Optional</a:t>
            </a:r>
            <a:r>
              <a:rPr dirty="0" sz="2400" spc="-13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374050"/>
                </a:solidFill>
                <a:latin typeface="Arial"/>
                <a:cs typeface="Arial"/>
              </a:rPr>
              <a:t>→</a:t>
            </a:r>
            <a:r>
              <a:rPr dirty="0" sz="2100" spc="-5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210">
                <a:solidFill>
                  <a:srgbClr val="374050"/>
                </a:solidFill>
                <a:latin typeface="Arial"/>
                <a:cs typeface="Arial"/>
              </a:rPr>
              <a:t>API</a:t>
            </a:r>
            <a:r>
              <a:rPr dirty="0" sz="2400" spc="-13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80">
                <a:solidFill>
                  <a:srgbClr val="374050"/>
                </a:solidFill>
                <a:latin typeface="Arial"/>
                <a:cs typeface="Arial"/>
              </a:rPr>
              <a:t>Dates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95">
                <a:solidFill>
                  <a:srgbClr val="374050"/>
                </a:solidFill>
                <a:latin typeface="Arial"/>
                <a:cs typeface="Arial"/>
              </a:rPr>
              <a:t>(java.time)</a:t>
            </a:r>
            <a:endParaRPr sz="2400">
              <a:latin typeface="Arial"/>
              <a:cs typeface="Arial"/>
            </a:endParaRPr>
          </a:p>
          <a:p>
            <a:pPr marL="12700" marR="1031240">
              <a:lnSpc>
                <a:spcPct val="343700"/>
              </a:lnSpc>
            </a:pPr>
            <a:r>
              <a:rPr dirty="0" sz="2100" spc="-60" b="1">
                <a:solidFill>
                  <a:srgbClr val="374050"/>
                </a:solidFill>
                <a:latin typeface="Arial"/>
                <a:cs typeface="Arial"/>
              </a:rPr>
              <a:t>Fil</a:t>
            </a:r>
            <a:r>
              <a:rPr dirty="0" sz="2100" spc="-5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100" spc="-90" b="1">
                <a:solidFill>
                  <a:srgbClr val="374050"/>
                </a:solidFill>
                <a:latin typeface="Arial"/>
                <a:cs typeface="Arial"/>
              </a:rPr>
              <a:t>rouge</a:t>
            </a:r>
            <a:r>
              <a:rPr dirty="0" sz="2100" spc="-5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100" spc="-120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2100" spc="-50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65">
                <a:solidFill>
                  <a:srgbClr val="374050"/>
                </a:solidFill>
                <a:latin typeface="Arial"/>
                <a:cs typeface="Arial"/>
              </a:rPr>
              <a:t>Gestion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50">
                <a:solidFill>
                  <a:srgbClr val="374050"/>
                </a:solidFill>
                <a:latin typeface="Arial"/>
                <a:cs typeface="Arial"/>
              </a:rPr>
              <a:t>Étudiant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190">
                <a:solidFill>
                  <a:srgbClr val="374050"/>
                </a:solidFill>
                <a:latin typeface="Arial"/>
                <a:cs typeface="Arial"/>
              </a:rPr>
              <a:t>/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60">
                <a:solidFill>
                  <a:srgbClr val="374050"/>
                </a:solidFill>
                <a:latin typeface="Arial"/>
                <a:cs typeface="Arial"/>
              </a:rPr>
              <a:t>Module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190">
                <a:solidFill>
                  <a:srgbClr val="374050"/>
                </a:solidFill>
                <a:latin typeface="Arial"/>
                <a:cs typeface="Arial"/>
              </a:rPr>
              <a:t>/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50">
                <a:solidFill>
                  <a:srgbClr val="374050"/>
                </a:solidFill>
                <a:latin typeface="Arial"/>
                <a:cs typeface="Arial"/>
              </a:rPr>
              <a:t>Note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95">
                <a:solidFill>
                  <a:srgbClr val="374050"/>
                </a:solidFill>
                <a:latin typeface="Arial"/>
                <a:cs typeface="Arial"/>
              </a:rPr>
              <a:t>(Mention) </a:t>
            </a:r>
            <a:r>
              <a:rPr dirty="0" sz="2100" spc="-50" b="1">
                <a:solidFill>
                  <a:srgbClr val="374050"/>
                </a:solidFill>
                <a:latin typeface="Arial"/>
                <a:cs typeface="Arial"/>
              </a:rPr>
              <a:t>Objectif </a:t>
            </a:r>
            <a:r>
              <a:rPr dirty="0" sz="2100" spc="-120" b="1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dirty="0" sz="2100" spc="-45" b="1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229">
                <a:solidFill>
                  <a:srgbClr val="374050"/>
                </a:solidFill>
                <a:latin typeface="Arial"/>
                <a:cs typeface="Arial"/>
              </a:rPr>
              <a:t>Code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55">
                <a:solidFill>
                  <a:srgbClr val="374050"/>
                </a:solidFill>
                <a:latin typeface="Arial"/>
                <a:cs typeface="Arial"/>
              </a:rPr>
              <a:t>robuste,</a:t>
            </a:r>
            <a:r>
              <a:rPr dirty="0" sz="2400" spc="-13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95">
                <a:solidFill>
                  <a:srgbClr val="374050"/>
                </a:solidFill>
                <a:latin typeface="Arial"/>
                <a:cs typeface="Arial"/>
              </a:rPr>
              <a:t>lisible</a:t>
            </a:r>
            <a:r>
              <a:rPr dirty="0" sz="2400" spc="-13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374050"/>
                </a:solidFill>
                <a:latin typeface="Arial"/>
                <a:cs typeface="Arial"/>
              </a:rPr>
              <a:t>et</a:t>
            </a:r>
            <a:r>
              <a:rPr dirty="0" sz="2400" spc="-1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75">
                <a:solidFill>
                  <a:srgbClr val="374050"/>
                </a:solidFill>
                <a:latin typeface="Arial"/>
                <a:cs typeface="Arial"/>
              </a:rPr>
              <a:t>moderne</a:t>
            </a:r>
            <a:r>
              <a:rPr dirty="0" sz="2400" spc="-13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160">
                <a:solidFill>
                  <a:srgbClr val="374050"/>
                </a:solidFill>
                <a:latin typeface="Arial"/>
                <a:cs typeface="Arial"/>
              </a:rPr>
              <a:t>(Java</a:t>
            </a:r>
            <a:r>
              <a:rPr dirty="0" sz="2400" spc="-13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374050"/>
                </a:solidFill>
                <a:latin typeface="Arial"/>
                <a:cs typeface="Arial"/>
              </a:rPr>
              <a:t>17+)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399" y="5353049"/>
            <a:ext cx="85725" cy="85724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688848" y="6224016"/>
            <a:ext cx="10814685" cy="634365"/>
            <a:chOff x="688848" y="6224016"/>
            <a:chExt cx="10814685" cy="634365"/>
          </a:xfrm>
        </p:grpSpPr>
        <p:sp>
          <p:nvSpPr>
            <p:cNvPr id="24" name="object 24" descr=""/>
            <p:cNvSpPr/>
            <p:nvPr/>
          </p:nvSpPr>
          <p:spPr>
            <a:xfrm>
              <a:off x="688835" y="6224015"/>
              <a:ext cx="10814685" cy="634365"/>
            </a:xfrm>
            <a:custGeom>
              <a:avLst/>
              <a:gdLst/>
              <a:ahLst/>
              <a:cxnLst/>
              <a:rect l="l" t="t" r="r" b="b"/>
              <a:pathLst>
                <a:path w="10814685" h="634365">
                  <a:moveTo>
                    <a:pt x="10814304" y="0"/>
                  </a:moveTo>
                  <a:lnTo>
                    <a:pt x="0" y="0"/>
                  </a:lnTo>
                  <a:lnTo>
                    <a:pt x="0" y="633984"/>
                  </a:lnTo>
                  <a:lnTo>
                    <a:pt x="36576" y="633984"/>
                  </a:lnTo>
                  <a:lnTo>
                    <a:pt x="82677" y="633984"/>
                  </a:lnTo>
                  <a:lnTo>
                    <a:pt x="82677" y="43434"/>
                  </a:lnTo>
                  <a:lnTo>
                    <a:pt x="10664952" y="43434"/>
                  </a:lnTo>
                  <a:lnTo>
                    <a:pt x="10702011" y="54660"/>
                  </a:lnTo>
                  <a:lnTo>
                    <a:pt x="10726560" y="84594"/>
                  </a:lnTo>
                  <a:lnTo>
                    <a:pt x="10731627" y="110109"/>
                  </a:lnTo>
                  <a:lnTo>
                    <a:pt x="10731627" y="633984"/>
                  </a:lnTo>
                  <a:lnTo>
                    <a:pt x="10777728" y="633984"/>
                  </a:lnTo>
                  <a:lnTo>
                    <a:pt x="10814304" y="633984"/>
                  </a:lnTo>
                  <a:lnTo>
                    <a:pt x="10814304" y="43434"/>
                  </a:lnTo>
                  <a:lnTo>
                    <a:pt x="1081430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00099" y="6257924"/>
              <a:ext cx="10629900" cy="600075"/>
            </a:xfrm>
            <a:custGeom>
              <a:avLst/>
              <a:gdLst/>
              <a:ahLst/>
              <a:cxnLst/>
              <a:rect l="l" t="t" r="r" b="b"/>
              <a:pathLst>
                <a:path w="10629900" h="600075">
                  <a:moveTo>
                    <a:pt x="10629899" y="600075"/>
                  </a:moveTo>
                  <a:lnTo>
                    <a:pt x="0" y="600075"/>
                  </a:lnTo>
                  <a:lnTo>
                    <a:pt x="0" y="0"/>
                  </a:lnTo>
                  <a:lnTo>
                    <a:pt x="10558702" y="0"/>
                  </a:lnTo>
                  <a:lnTo>
                    <a:pt x="10563656" y="487"/>
                  </a:lnTo>
                  <a:lnTo>
                    <a:pt x="10600192" y="15621"/>
                  </a:lnTo>
                  <a:lnTo>
                    <a:pt x="10626012" y="51660"/>
                  </a:lnTo>
                  <a:lnTo>
                    <a:pt x="10629899" y="60007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61999" y="6257924"/>
              <a:ext cx="76200" cy="600075"/>
            </a:xfrm>
            <a:custGeom>
              <a:avLst/>
              <a:gdLst/>
              <a:ahLst/>
              <a:cxnLst/>
              <a:rect l="l" t="t" r="r" b="b"/>
              <a:pathLst>
                <a:path w="76200" h="600075">
                  <a:moveTo>
                    <a:pt x="76199" y="0"/>
                  </a:moveTo>
                  <a:lnTo>
                    <a:pt x="76199" y="600074"/>
                  </a:lnTo>
                  <a:lnTo>
                    <a:pt x="0" y="600074"/>
                  </a:lnTo>
                  <a:lnTo>
                    <a:pt x="0" y="0"/>
                  </a:lnTo>
                  <a:lnTo>
                    <a:pt x="76199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3949" y="6534149"/>
              <a:ext cx="228600" cy="228600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1454149" y="6483237"/>
            <a:ext cx="103631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166533"/>
                </a:solidFill>
                <a:latin typeface="Arial"/>
                <a:cs typeface="Arial"/>
              </a:rPr>
              <a:t>Règle</a:t>
            </a:r>
            <a:r>
              <a:rPr dirty="0" sz="1800" spc="-50" b="1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dirty="0" sz="1800" spc="-95" b="1">
                <a:solidFill>
                  <a:srgbClr val="166533"/>
                </a:solidFill>
                <a:latin typeface="Arial"/>
                <a:cs typeface="Arial"/>
              </a:rPr>
              <a:t>d'or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-70"/>
              <a:t> </a:t>
            </a:r>
            <a:r>
              <a:rPr dirty="0" spc="-170"/>
              <a:t>Enum</a:t>
            </a:r>
            <a:r>
              <a:rPr dirty="0" spc="-70"/>
              <a:t> </a:t>
            </a:r>
            <a:r>
              <a:rPr dirty="0" spc="-75"/>
              <a:t>de</a:t>
            </a:r>
            <a:r>
              <a:rPr dirty="0" spc="-70"/>
              <a:t> </a:t>
            </a:r>
            <a:r>
              <a:rPr dirty="0" spc="-85"/>
              <a:t>base</a:t>
            </a:r>
            <a:r>
              <a:rPr dirty="0" spc="-70"/>
              <a:t> </a:t>
            </a:r>
            <a:r>
              <a:rPr dirty="0" spc="-650"/>
              <a:t>—</a:t>
            </a:r>
            <a:r>
              <a:rPr dirty="0" spc="-65"/>
              <a:t> </a:t>
            </a:r>
            <a:r>
              <a:rPr dirty="0" spc="-40"/>
              <a:t>Mention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791200"/>
            <a:ext cx="5633085" cy="666750"/>
            <a:chOff x="435863" y="5791200"/>
            <a:chExt cx="5633085" cy="66675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791200"/>
              <a:ext cx="5633085" cy="666750"/>
            </a:xfrm>
            <a:custGeom>
              <a:avLst/>
              <a:gdLst/>
              <a:ahLst/>
              <a:cxnLst/>
              <a:rect l="l" t="t" r="r" b="b"/>
              <a:pathLst>
                <a:path w="5633085" h="666750">
                  <a:moveTo>
                    <a:pt x="49910" y="666749"/>
                  </a:moveTo>
                  <a:lnTo>
                    <a:pt x="0" y="666749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666749"/>
                  </a:lnTo>
                  <a:close/>
                </a:path>
                <a:path w="5633085" h="666750">
                  <a:moveTo>
                    <a:pt x="5632704" y="666749"/>
                  </a:moveTo>
                  <a:lnTo>
                    <a:pt x="5583935" y="666749"/>
                  </a:lnTo>
                  <a:lnTo>
                    <a:pt x="5583935" y="85724"/>
                  </a:lnTo>
                  <a:lnTo>
                    <a:pt x="5583063" y="76222"/>
                  </a:lnTo>
                  <a:lnTo>
                    <a:pt x="5554592" y="41586"/>
                  </a:lnTo>
                  <a:lnTo>
                    <a:pt x="5536310" y="38099"/>
                  </a:lnTo>
                  <a:lnTo>
                    <a:pt x="5632704" y="38099"/>
                  </a:lnTo>
                  <a:lnTo>
                    <a:pt x="5632704" y="6667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819774"/>
              <a:ext cx="5529580" cy="638175"/>
            </a:xfrm>
            <a:custGeom>
              <a:avLst/>
              <a:gdLst/>
              <a:ahLst/>
              <a:cxnLst/>
              <a:rect l="l" t="t" r="r" b="b"/>
              <a:pathLst>
                <a:path w="5529580" h="638175">
                  <a:moveTo>
                    <a:pt x="5529262" y="638175"/>
                  </a:moveTo>
                  <a:lnTo>
                    <a:pt x="0" y="638175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2" y="63817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819774"/>
              <a:ext cx="54610" cy="638175"/>
            </a:xfrm>
            <a:custGeom>
              <a:avLst/>
              <a:gdLst/>
              <a:ahLst/>
              <a:cxnLst/>
              <a:rect l="l" t="t" r="r" b="b"/>
              <a:pathLst>
                <a:path w="54609" h="638175">
                  <a:moveTo>
                    <a:pt x="47624" y="638174"/>
                  </a:moveTo>
                  <a:lnTo>
                    <a:pt x="0" y="638174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6"/>
                  </a:lnTo>
                  <a:lnTo>
                    <a:pt x="47624" y="57149"/>
                  </a:lnTo>
                  <a:lnTo>
                    <a:pt x="47624" y="63817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09917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870291"/>
            <a:ext cx="4381500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enum</a:t>
            </a:r>
            <a:r>
              <a:rPr dirty="0" sz="1350" spc="-47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dès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qu'une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variable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a</a:t>
            </a:r>
            <a:r>
              <a:rPr dirty="0" sz="135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un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nombre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fini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d'états.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791200"/>
            <a:ext cx="5623560" cy="666750"/>
            <a:chOff x="6132576" y="5791200"/>
            <a:chExt cx="5623560" cy="666750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791200"/>
              <a:ext cx="5623560" cy="666750"/>
            </a:xfrm>
            <a:custGeom>
              <a:avLst/>
              <a:gdLst/>
              <a:ahLst/>
              <a:cxnLst/>
              <a:rect l="l" t="t" r="r" b="b"/>
              <a:pathLst>
                <a:path w="5623559" h="666750">
                  <a:moveTo>
                    <a:pt x="49148" y="666749"/>
                  </a:moveTo>
                  <a:lnTo>
                    <a:pt x="0" y="666749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099"/>
                  </a:lnTo>
                  <a:lnTo>
                    <a:pt x="96773" y="38099"/>
                  </a:lnTo>
                  <a:lnTo>
                    <a:pt x="87271" y="38971"/>
                  </a:lnTo>
                  <a:lnTo>
                    <a:pt x="52635" y="67441"/>
                  </a:lnTo>
                  <a:lnTo>
                    <a:pt x="49148" y="85724"/>
                  </a:lnTo>
                  <a:lnTo>
                    <a:pt x="49148" y="666749"/>
                  </a:lnTo>
                  <a:close/>
                </a:path>
                <a:path w="5623559" h="666750">
                  <a:moveTo>
                    <a:pt x="5623560" y="666749"/>
                  </a:moveTo>
                  <a:lnTo>
                    <a:pt x="5573648" y="666749"/>
                  </a:lnTo>
                  <a:lnTo>
                    <a:pt x="5573648" y="85724"/>
                  </a:lnTo>
                  <a:lnTo>
                    <a:pt x="5572776" y="76222"/>
                  </a:lnTo>
                  <a:lnTo>
                    <a:pt x="5544305" y="41586"/>
                  </a:lnTo>
                  <a:lnTo>
                    <a:pt x="5526023" y="38099"/>
                  </a:lnTo>
                  <a:lnTo>
                    <a:pt x="5623560" y="38099"/>
                  </a:lnTo>
                  <a:lnTo>
                    <a:pt x="5623560" y="6667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819774"/>
              <a:ext cx="5520055" cy="638175"/>
            </a:xfrm>
            <a:custGeom>
              <a:avLst/>
              <a:gdLst/>
              <a:ahLst/>
              <a:cxnLst/>
              <a:rect l="l" t="t" r="r" b="b"/>
              <a:pathLst>
                <a:path w="5520055" h="638175">
                  <a:moveTo>
                    <a:pt x="5519737" y="638175"/>
                  </a:moveTo>
                  <a:lnTo>
                    <a:pt x="0" y="638175"/>
                  </a:lnTo>
                  <a:lnTo>
                    <a:pt x="0" y="49570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7" y="63817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819774"/>
              <a:ext cx="54610" cy="638175"/>
            </a:xfrm>
            <a:custGeom>
              <a:avLst/>
              <a:gdLst/>
              <a:ahLst/>
              <a:cxnLst/>
              <a:rect l="l" t="t" r="r" b="b"/>
              <a:pathLst>
                <a:path w="54610" h="638175">
                  <a:moveTo>
                    <a:pt x="47624" y="638174"/>
                  </a:moveTo>
                  <a:lnTo>
                    <a:pt x="0" y="63817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6"/>
                  </a:lnTo>
                  <a:lnTo>
                    <a:pt x="47624" y="57149"/>
                  </a:lnTo>
                  <a:lnTo>
                    <a:pt x="47624" y="6381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6099174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5900306"/>
            <a:ext cx="4718050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00" spc="-35" b="1">
                <a:solidFill>
                  <a:srgbClr val="1D3A8A"/>
                </a:solidFill>
                <a:latin typeface="Arial"/>
                <a:cs typeface="Arial"/>
              </a:rPr>
              <a:t>C++</a:t>
            </a:r>
            <a:r>
              <a:rPr dirty="0" sz="1300" spc="-6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vs</a:t>
            </a:r>
            <a:r>
              <a:rPr dirty="0" sz="1300" spc="-7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Java</a:t>
            </a:r>
            <a:r>
              <a:rPr dirty="0" sz="1300" spc="-5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4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110">
                <a:solidFill>
                  <a:srgbClr val="1D3A8A"/>
                </a:solidFill>
                <a:latin typeface="Arial"/>
                <a:cs typeface="Arial"/>
              </a:rPr>
              <a:t>En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D3A8A"/>
                </a:solidFill>
                <a:latin typeface="Arial"/>
                <a:cs typeface="Arial"/>
              </a:rPr>
              <a:t>Java,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une </a:t>
            </a:r>
            <a:r>
              <a:rPr dirty="0" sz="1400" spc="-40">
                <a:solidFill>
                  <a:srgbClr val="1D3A8A"/>
                </a:solidFill>
                <a:latin typeface="Arial"/>
                <a:cs typeface="Arial"/>
              </a:rPr>
              <a:t>enum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D3A8A"/>
                </a:solidFill>
                <a:latin typeface="Arial"/>
                <a:cs typeface="Arial"/>
              </a:rPr>
              <a:t>est</a:t>
            </a:r>
            <a:r>
              <a:rPr dirty="0" sz="1400" spc="-7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D3A8A"/>
                </a:solidFill>
                <a:latin typeface="Arial"/>
                <a:cs typeface="Arial"/>
              </a:rPr>
              <a:t>un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objet</a:t>
            </a:r>
            <a:r>
              <a:rPr dirty="0" sz="140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D3A8A"/>
                </a:solidFill>
                <a:latin typeface="Arial"/>
                <a:cs typeface="Arial"/>
              </a:rPr>
              <a:t>complet</a:t>
            </a:r>
            <a:r>
              <a:rPr dirty="0" sz="140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D3A8A"/>
                </a:solidFill>
                <a:latin typeface="Arial"/>
                <a:cs typeface="Arial"/>
              </a:rPr>
              <a:t>(pas</a:t>
            </a:r>
            <a:r>
              <a:rPr dirty="0" sz="140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D3A8A"/>
                </a:solidFill>
                <a:latin typeface="Arial"/>
                <a:cs typeface="Arial"/>
              </a:rPr>
              <a:t>un </a:t>
            </a: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int).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49424"/>
            <a:ext cx="12192000" cy="4218305"/>
            <a:chOff x="0" y="2249424"/>
            <a:chExt cx="12192000" cy="4218305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0624" y="2249424"/>
              <a:ext cx="11351260" cy="3502660"/>
            </a:xfrm>
            <a:custGeom>
              <a:avLst/>
              <a:gdLst/>
              <a:ahLst/>
              <a:cxnLst/>
              <a:rect l="l" t="t" r="r" b="b"/>
              <a:pathLst>
                <a:path w="11351260" h="3502660">
                  <a:moveTo>
                    <a:pt x="11350752" y="3502152"/>
                  </a:moveTo>
                  <a:lnTo>
                    <a:pt x="0" y="3502152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3351275"/>
                  </a:lnTo>
                  <a:lnTo>
                    <a:pt x="76377" y="3388324"/>
                  </a:lnTo>
                  <a:lnTo>
                    <a:pt x="106310" y="3412874"/>
                  </a:lnTo>
                  <a:lnTo>
                    <a:pt x="131825" y="3417950"/>
                  </a:lnTo>
                  <a:lnTo>
                    <a:pt x="11350752" y="3417950"/>
                  </a:lnTo>
                  <a:lnTo>
                    <a:pt x="11350752" y="3502152"/>
                  </a:lnTo>
                  <a:close/>
                </a:path>
                <a:path w="11351260" h="3502660">
                  <a:moveTo>
                    <a:pt x="11350752" y="3417950"/>
                  </a:moveTo>
                  <a:lnTo>
                    <a:pt x="11218925" y="3417950"/>
                  </a:lnTo>
                  <a:lnTo>
                    <a:pt x="11225493" y="3417633"/>
                  </a:lnTo>
                  <a:lnTo>
                    <a:pt x="11231935" y="3416681"/>
                  </a:lnTo>
                  <a:lnTo>
                    <a:pt x="11266071" y="3398421"/>
                  </a:lnTo>
                  <a:lnTo>
                    <a:pt x="11284331" y="3364285"/>
                  </a:lnTo>
                  <a:lnTo>
                    <a:pt x="11285600" y="335127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34179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90762"/>
              <a:ext cx="11229975" cy="3381375"/>
            </a:xfrm>
            <a:custGeom>
              <a:avLst/>
              <a:gdLst/>
              <a:ahLst/>
              <a:cxnLst/>
              <a:rect l="l" t="t" r="r" b="b"/>
              <a:pathLst>
                <a:path w="11229975" h="3381375">
                  <a:moveTo>
                    <a:pt x="11163227" y="3381374"/>
                  </a:moveTo>
                  <a:lnTo>
                    <a:pt x="66746" y="3381374"/>
                  </a:lnTo>
                  <a:lnTo>
                    <a:pt x="62101" y="3380917"/>
                  </a:lnTo>
                  <a:lnTo>
                    <a:pt x="24240" y="3363767"/>
                  </a:lnTo>
                  <a:lnTo>
                    <a:pt x="2287" y="3328473"/>
                  </a:lnTo>
                  <a:lnTo>
                    <a:pt x="0" y="3314627"/>
                  </a:lnTo>
                  <a:lnTo>
                    <a:pt x="0" y="33099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314627"/>
                  </a:lnTo>
                  <a:lnTo>
                    <a:pt x="11215327" y="3353525"/>
                  </a:lnTo>
                  <a:lnTo>
                    <a:pt x="11181539" y="3377730"/>
                  </a:lnTo>
                  <a:lnTo>
                    <a:pt x="11167872" y="3380917"/>
                  </a:lnTo>
                  <a:lnTo>
                    <a:pt x="11163227" y="33813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3381375"/>
            </a:xfrm>
            <a:custGeom>
              <a:avLst/>
              <a:gdLst/>
              <a:ahLst/>
              <a:cxnLst/>
              <a:rect l="l" t="t" r="r" b="b"/>
              <a:pathLst>
                <a:path w="11229975" h="3381375">
                  <a:moveTo>
                    <a:pt x="0" y="33099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309937"/>
                  </a:lnTo>
                  <a:lnTo>
                    <a:pt x="11229972" y="3314627"/>
                  </a:lnTo>
                  <a:lnTo>
                    <a:pt x="11229514" y="3319273"/>
                  </a:lnTo>
                  <a:lnTo>
                    <a:pt x="11228599" y="3323873"/>
                  </a:lnTo>
                  <a:lnTo>
                    <a:pt x="11227684" y="3328473"/>
                  </a:lnTo>
                  <a:lnTo>
                    <a:pt x="11205732" y="3363767"/>
                  </a:lnTo>
                  <a:lnTo>
                    <a:pt x="11198222" y="3369334"/>
                  </a:lnTo>
                  <a:lnTo>
                    <a:pt x="11194322" y="3371940"/>
                  </a:lnTo>
                  <a:lnTo>
                    <a:pt x="11163227" y="3381374"/>
                  </a:lnTo>
                  <a:lnTo>
                    <a:pt x="11158536" y="3381374"/>
                  </a:lnTo>
                  <a:lnTo>
                    <a:pt x="71437" y="3381374"/>
                  </a:lnTo>
                  <a:lnTo>
                    <a:pt x="66746" y="3381374"/>
                  </a:lnTo>
                  <a:lnTo>
                    <a:pt x="62101" y="3380917"/>
                  </a:lnTo>
                  <a:lnTo>
                    <a:pt x="57500" y="3380001"/>
                  </a:lnTo>
                  <a:lnTo>
                    <a:pt x="52900" y="3379085"/>
                  </a:lnTo>
                  <a:lnTo>
                    <a:pt x="20923" y="3360450"/>
                  </a:lnTo>
                  <a:lnTo>
                    <a:pt x="17606" y="3357134"/>
                  </a:lnTo>
                  <a:lnTo>
                    <a:pt x="1372" y="3323873"/>
                  </a:lnTo>
                  <a:lnTo>
                    <a:pt x="457" y="3319273"/>
                  </a:lnTo>
                  <a:lnTo>
                    <a:pt x="0" y="3314627"/>
                  </a:lnTo>
                  <a:lnTo>
                    <a:pt x="0" y="33099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4691"/>
            <a:ext cx="10650855" cy="21805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Définir</a:t>
            </a:r>
            <a:r>
              <a:rPr dirty="0" sz="135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un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ensemble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fini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valeurs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constantes.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</a:pPr>
            <a:r>
              <a:rPr dirty="0" sz="1650" spc="-7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enum</a:t>
            </a:r>
            <a:r>
              <a:rPr dirty="0" sz="1650" spc="-57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en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classe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spéciale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limite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création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d'objets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valeurs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prédéfinies.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34054"/>
                </a:solidFill>
                <a:latin typeface="Arial"/>
                <a:cs typeface="Arial"/>
              </a:rPr>
              <a:t>C'est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l'équivalent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moderne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typé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#define</a:t>
            </a:r>
            <a:r>
              <a:rPr dirty="0" sz="1650" spc="-57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enum</a:t>
            </a:r>
            <a:r>
              <a:rPr dirty="0" sz="1650" spc="-57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simples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C/C++.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b="1">
                <a:solidFill>
                  <a:srgbClr val="D63A49"/>
                </a:solidFill>
                <a:latin typeface="Times New Roman"/>
                <a:cs typeface="Times New Roman"/>
              </a:rPr>
              <a:t>enum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19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114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17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59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00" i="1">
                <a:solidFill>
                  <a:srgbClr val="6A737D"/>
                </a:solidFill>
                <a:latin typeface="Times New Roman"/>
                <a:cs typeface="Times New Roman"/>
              </a:rPr>
              <a:t>Les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65" i="1">
                <a:solidFill>
                  <a:srgbClr val="6A737D"/>
                </a:solidFill>
                <a:latin typeface="Times New Roman"/>
                <a:cs typeface="Times New Roman"/>
              </a:rPr>
              <a:t>constantes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20" i="1">
                <a:solidFill>
                  <a:srgbClr val="6A737D"/>
                </a:solidFill>
                <a:latin typeface="Times New Roman"/>
                <a:cs typeface="Times New Roman"/>
              </a:rPr>
              <a:t>sont,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04" i="1">
                <a:solidFill>
                  <a:srgbClr val="6A737D"/>
                </a:solidFill>
                <a:latin typeface="Times New Roman"/>
                <a:cs typeface="Times New Roman"/>
              </a:rPr>
              <a:t>par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60" i="1">
                <a:solidFill>
                  <a:srgbClr val="6A737D"/>
                </a:solidFill>
                <a:latin typeface="Times New Roman"/>
                <a:cs typeface="Times New Roman"/>
              </a:rPr>
              <a:t>convention,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90" i="1">
                <a:solidFill>
                  <a:srgbClr val="6A737D"/>
                </a:solidFill>
                <a:latin typeface="Times New Roman"/>
                <a:cs typeface="Times New Roman"/>
              </a:rPr>
              <a:t>en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-10" i="1">
                <a:solidFill>
                  <a:srgbClr val="6A737D"/>
                </a:solidFill>
                <a:latin typeface="Times New Roman"/>
                <a:cs typeface="Times New Roman"/>
              </a:rPr>
              <a:t>MAJUSCULES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2101850" y="3013921"/>
            <a:ext cx="3454400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60" i="1">
                <a:solidFill>
                  <a:srgbClr val="6A737D"/>
                </a:solidFill>
                <a:latin typeface="Times New Roman"/>
                <a:cs typeface="Times New Roman"/>
              </a:rPr>
              <a:t>Instance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15" i="1">
                <a:solidFill>
                  <a:srgbClr val="6A737D"/>
                </a:solidFill>
                <a:latin typeface="Times New Roman"/>
                <a:cs typeface="Times New Roman"/>
              </a:rPr>
              <a:t>unique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95" i="1">
                <a:solidFill>
                  <a:srgbClr val="6A737D"/>
                </a:solidFill>
                <a:latin typeface="Times New Roman"/>
                <a:cs typeface="Times New Roman"/>
              </a:rPr>
              <a:t>(singleton)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101850" y="3871171"/>
            <a:ext cx="5397500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70" i="1">
                <a:solidFill>
                  <a:srgbClr val="6A737D"/>
                </a:solidFill>
                <a:latin typeface="Times New Roman"/>
                <a:cs typeface="Times New Roman"/>
              </a:rPr>
              <a:t>Point-</a:t>
            </a:r>
            <a:r>
              <a:rPr dirty="0" sz="1500" spc="290" i="1">
                <a:solidFill>
                  <a:srgbClr val="6A737D"/>
                </a:solidFill>
                <a:latin typeface="Times New Roman"/>
                <a:cs typeface="Times New Roman"/>
              </a:rPr>
              <a:t>virgule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55" i="1">
                <a:solidFill>
                  <a:srgbClr val="6A737D"/>
                </a:solidFill>
                <a:latin typeface="Times New Roman"/>
                <a:cs typeface="Times New Roman"/>
              </a:rPr>
              <a:t>facultatif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95" i="1">
                <a:solidFill>
                  <a:srgbClr val="6A737D"/>
                </a:solidFill>
                <a:latin typeface="Times New Roman"/>
                <a:cs typeface="Times New Roman"/>
              </a:rPr>
              <a:t>ici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95" i="1">
                <a:solidFill>
                  <a:srgbClr val="6A737D"/>
                </a:solidFill>
                <a:latin typeface="Times New Roman"/>
                <a:cs typeface="Times New Roman"/>
              </a:rPr>
              <a:t>si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95" i="1">
                <a:solidFill>
                  <a:srgbClr val="6A737D"/>
                </a:solidFill>
                <a:latin typeface="Times New Roman"/>
                <a:cs typeface="Times New Roman"/>
              </a:rPr>
              <a:t>rien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80" i="1">
                <a:solidFill>
                  <a:srgbClr val="6A737D"/>
                </a:solidFill>
                <a:latin typeface="Times New Roman"/>
                <a:cs typeface="Times New Roman"/>
              </a:rPr>
              <a:t>d'autre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15949" y="2957499"/>
            <a:ext cx="1397000" cy="145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6364" marR="5080">
              <a:lnSpc>
                <a:spcPct val="133900"/>
              </a:lnSpc>
              <a:spcBef>
                <a:spcPts val="90"/>
              </a:spcBef>
            </a:pPr>
            <a:r>
              <a:rPr dirty="0" sz="1350" spc="70" b="1">
                <a:solidFill>
                  <a:srgbClr val="6F41C1"/>
                </a:solidFill>
                <a:latin typeface="Times New Roman"/>
                <a:cs typeface="Times New Roman"/>
              </a:rPr>
              <a:t>PASSABLE</a:t>
            </a:r>
            <a:r>
              <a:rPr dirty="0" sz="1400" spc="70">
                <a:solidFill>
                  <a:srgbClr val="334054"/>
                </a:solidFill>
                <a:latin typeface="Times New Roman"/>
                <a:cs typeface="Times New Roman"/>
              </a:rPr>
              <a:t>, </a:t>
            </a:r>
            <a:r>
              <a:rPr dirty="0" sz="1350" spc="100" b="1">
                <a:solidFill>
                  <a:srgbClr val="6F41C1"/>
                </a:solidFill>
                <a:latin typeface="Times New Roman"/>
                <a:cs typeface="Times New Roman"/>
              </a:rPr>
              <a:t>ASSEZ_BIEN</a:t>
            </a:r>
            <a:r>
              <a:rPr dirty="0" sz="1400" spc="100">
                <a:solidFill>
                  <a:srgbClr val="334054"/>
                </a:solidFill>
                <a:latin typeface="Times New Roman"/>
                <a:cs typeface="Times New Roman"/>
              </a:rPr>
              <a:t>, </a:t>
            </a:r>
            <a:r>
              <a:rPr dirty="0" sz="1350" spc="155" b="1">
                <a:solidFill>
                  <a:srgbClr val="6F41C1"/>
                </a:solidFill>
                <a:latin typeface="Times New Roman"/>
                <a:cs typeface="Times New Roman"/>
              </a:rPr>
              <a:t>BIEN</a:t>
            </a:r>
            <a:r>
              <a:rPr dirty="0" sz="1400" spc="155">
                <a:solidFill>
                  <a:srgbClr val="334054"/>
                </a:solidFill>
                <a:latin typeface="Times New Roman"/>
                <a:cs typeface="Times New Roman"/>
              </a:rPr>
              <a:t>, </a:t>
            </a:r>
            <a:r>
              <a:rPr dirty="0" sz="1350" spc="95" b="1">
                <a:solidFill>
                  <a:srgbClr val="6F41C1"/>
                </a:solidFill>
                <a:latin typeface="Times New Roman"/>
                <a:cs typeface="Times New Roman"/>
              </a:rPr>
              <a:t>TRES_BIEN</a:t>
            </a:r>
            <a:r>
              <a:rPr dirty="0" sz="1400" spc="95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400" spc="225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15949" y="4605087"/>
            <a:ext cx="6321425" cy="90233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10" i="1">
                <a:solidFill>
                  <a:srgbClr val="6A737D"/>
                </a:solidFill>
                <a:latin typeface="Times New Roman"/>
                <a:cs typeface="Times New Roman"/>
              </a:rPr>
              <a:t>Utilisation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95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29" i="1">
                <a:solidFill>
                  <a:srgbClr val="6A737D"/>
                </a:solidFill>
                <a:latin typeface="Times New Roman"/>
                <a:cs typeface="Times New Roman"/>
              </a:rPr>
              <a:t>typage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55" i="1">
                <a:solidFill>
                  <a:srgbClr val="6A737D"/>
                </a:solidFill>
                <a:latin typeface="Times New Roman"/>
                <a:cs typeface="Times New Roman"/>
              </a:rPr>
              <a:t>fort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54" i="1">
                <a:solidFill>
                  <a:srgbClr val="6A737D"/>
                </a:solidFill>
                <a:latin typeface="Times New Roman"/>
                <a:cs typeface="Times New Roman"/>
              </a:rPr>
              <a:t>garanti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450" spc="19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480">
                <a:solidFill>
                  <a:srgbClr val="005CC4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4054"/>
                </a:solidFill>
                <a:latin typeface="Times New Roman"/>
                <a:cs typeface="Times New Roman"/>
              </a:rPr>
              <a:t>m</a:t>
            </a:r>
            <a:r>
              <a:rPr dirty="0" sz="1400" spc="49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00" spc="10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7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00" spc="19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195" b="1">
                <a:solidFill>
                  <a:srgbClr val="6F41C1"/>
                </a:solidFill>
                <a:latin typeface="Times New Roman"/>
                <a:cs typeface="Times New Roman"/>
              </a:rPr>
              <a:t>BIEN</a:t>
            </a:r>
            <a:r>
              <a:rPr dirty="0" sz="1400" spc="195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6A737D"/>
                </a:solidFill>
                <a:latin typeface="Times New Roman"/>
                <a:cs typeface="Times New Roman"/>
              </a:rPr>
              <a:t>m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i="1">
                <a:solidFill>
                  <a:srgbClr val="6A737D"/>
                </a:solidFill>
                <a:latin typeface="Times New Roman"/>
                <a:cs typeface="Times New Roman"/>
              </a:rPr>
              <a:t>=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70" i="1">
                <a:solidFill>
                  <a:srgbClr val="6A737D"/>
                </a:solidFill>
                <a:latin typeface="Times New Roman"/>
                <a:cs typeface="Times New Roman"/>
              </a:rPr>
              <a:t>2;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800" spc="50">
                <a:solidFill>
                  <a:srgbClr val="6A737D"/>
                </a:solidFill>
                <a:latin typeface="Apple Color Emoji"/>
                <a:cs typeface="Apple Color Emoji"/>
              </a:rPr>
              <a:t>❌</a:t>
            </a:r>
            <a:r>
              <a:rPr dirty="0" sz="1800" spc="-900">
                <a:solidFill>
                  <a:srgbClr val="6A737D"/>
                </a:solidFill>
                <a:latin typeface="Apple Color Emoji"/>
                <a:cs typeface="Apple Color Emoji"/>
              </a:rPr>
              <a:t> </a:t>
            </a:r>
            <a:r>
              <a:rPr dirty="0" sz="1500" spc="215" i="1">
                <a:solidFill>
                  <a:srgbClr val="6A737D"/>
                </a:solidFill>
                <a:latin typeface="Times New Roman"/>
                <a:cs typeface="Times New Roman"/>
              </a:rPr>
              <a:t>Erreur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45" i="1">
                <a:solidFill>
                  <a:srgbClr val="6A737D"/>
                </a:solidFill>
                <a:latin typeface="Times New Roman"/>
                <a:cs typeface="Times New Roman"/>
              </a:rPr>
              <a:t>compilation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65" i="1">
                <a:solidFill>
                  <a:srgbClr val="6A737D"/>
                </a:solidFill>
                <a:latin typeface="Times New Roman"/>
                <a:cs typeface="Times New Roman"/>
              </a:rPr>
              <a:t>(impossible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90" i="1">
                <a:solidFill>
                  <a:srgbClr val="6A737D"/>
                </a:solidFill>
                <a:latin typeface="Times New Roman"/>
                <a:cs typeface="Times New Roman"/>
              </a:rPr>
              <a:t>en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20" i="1">
                <a:solidFill>
                  <a:srgbClr val="6A737D"/>
                </a:solidFill>
                <a:latin typeface="Times New Roman"/>
                <a:cs typeface="Times New Roman"/>
              </a:rPr>
              <a:t>Java)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dirty="0" spc="-70"/>
              <a:t> </a:t>
            </a:r>
            <a:r>
              <a:rPr dirty="0" spc="-170"/>
              <a:t>Enum</a:t>
            </a:r>
            <a:r>
              <a:rPr dirty="0" spc="-70"/>
              <a:t> </a:t>
            </a:r>
            <a:r>
              <a:rPr dirty="0" spc="-95"/>
              <a:t>avec</a:t>
            </a:r>
            <a:r>
              <a:rPr dirty="0" spc="-70"/>
              <a:t> </a:t>
            </a:r>
            <a:r>
              <a:rPr dirty="0" spc="-55"/>
              <a:t>attributs</a:t>
            </a:r>
            <a:r>
              <a:rPr dirty="0" spc="-65"/>
              <a:t> </a:t>
            </a:r>
            <a:r>
              <a:rPr dirty="0" spc="-650"/>
              <a:t>—</a:t>
            </a:r>
            <a:r>
              <a:rPr dirty="0" spc="-140"/>
              <a:t> </a:t>
            </a:r>
            <a:r>
              <a:rPr dirty="0" spc="-65"/>
              <a:t>TypeModule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943600"/>
            <a:ext cx="3728085" cy="514350"/>
            <a:chOff x="435863" y="5943600"/>
            <a:chExt cx="3728085" cy="51435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943600"/>
              <a:ext cx="3728085" cy="514350"/>
            </a:xfrm>
            <a:custGeom>
              <a:avLst/>
              <a:gdLst/>
              <a:ahLst/>
              <a:cxnLst/>
              <a:rect l="l" t="t" r="r" b="b"/>
              <a:pathLst>
                <a:path w="3728085" h="514350">
                  <a:moveTo>
                    <a:pt x="49910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514349"/>
                  </a:lnTo>
                  <a:close/>
                </a:path>
                <a:path w="3728085" h="514350">
                  <a:moveTo>
                    <a:pt x="3727704" y="514349"/>
                  </a:moveTo>
                  <a:lnTo>
                    <a:pt x="3678935" y="514349"/>
                  </a:lnTo>
                  <a:lnTo>
                    <a:pt x="3678935" y="85724"/>
                  </a:lnTo>
                  <a:lnTo>
                    <a:pt x="3678064" y="76222"/>
                  </a:lnTo>
                  <a:lnTo>
                    <a:pt x="3649593" y="41586"/>
                  </a:lnTo>
                  <a:lnTo>
                    <a:pt x="3631310" y="38099"/>
                  </a:lnTo>
                  <a:lnTo>
                    <a:pt x="3727704" y="38099"/>
                  </a:lnTo>
                  <a:lnTo>
                    <a:pt x="3727704" y="5143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972174"/>
              <a:ext cx="3624579" cy="485775"/>
            </a:xfrm>
            <a:custGeom>
              <a:avLst/>
              <a:gdLst/>
              <a:ahLst/>
              <a:cxnLst/>
              <a:rect l="l" t="t" r="r" b="b"/>
              <a:pathLst>
                <a:path w="3624579" h="485775">
                  <a:moveTo>
                    <a:pt x="3624262" y="485775"/>
                  </a:moveTo>
                  <a:lnTo>
                    <a:pt x="0" y="485775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3570864" y="0"/>
                  </a:lnTo>
                  <a:lnTo>
                    <a:pt x="3610176" y="19391"/>
                  </a:lnTo>
                  <a:lnTo>
                    <a:pt x="3624262" y="48577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972174"/>
              <a:ext cx="54610" cy="485775"/>
            </a:xfrm>
            <a:custGeom>
              <a:avLst/>
              <a:gdLst/>
              <a:ahLst/>
              <a:cxnLst/>
              <a:rect l="l" t="t" r="r" b="b"/>
              <a:pathLst>
                <a:path w="54609" h="485775">
                  <a:moveTo>
                    <a:pt x="47624" y="485774"/>
                  </a:moveTo>
                  <a:lnTo>
                    <a:pt x="0" y="485774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8577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25157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6083867"/>
            <a:ext cx="247459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1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1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400" spc="-2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532D"/>
                </a:solidFill>
                <a:latin typeface="Arial"/>
                <a:cs typeface="Arial"/>
              </a:rPr>
              <a:t>attributs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d'une</a:t>
            </a:r>
            <a:r>
              <a:rPr dirty="0" sz="1400" spc="-2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enum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227576" y="5943600"/>
            <a:ext cx="3736975" cy="514350"/>
            <a:chOff x="4227576" y="5943600"/>
            <a:chExt cx="3736975" cy="514350"/>
          </a:xfrm>
        </p:grpSpPr>
        <p:sp>
          <p:nvSpPr>
            <p:cNvPr id="10" name="object 10" descr=""/>
            <p:cNvSpPr/>
            <p:nvPr/>
          </p:nvSpPr>
          <p:spPr>
            <a:xfrm>
              <a:off x="4227576" y="5943600"/>
              <a:ext cx="3736975" cy="514350"/>
            </a:xfrm>
            <a:custGeom>
              <a:avLst/>
              <a:gdLst/>
              <a:ahLst/>
              <a:cxnLst/>
              <a:rect l="l" t="t" r="r" b="b"/>
              <a:pathLst>
                <a:path w="3736975" h="514350">
                  <a:moveTo>
                    <a:pt x="4914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3736848" y="0"/>
                  </a:lnTo>
                  <a:lnTo>
                    <a:pt x="3736848" y="38099"/>
                  </a:lnTo>
                  <a:lnTo>
                    <a:pt x="96773" y="38099"/>
                  </a:lnTo>
                  <a:lnTo>
                    <a:pt x="87271" y="38971"/>
                  </a:lnTo>
                  <a:lnTo>
                    <a:pt x="52635" y="67441"/>
                  </a:lnTo>
                  <a:lnTo>
                    <a:pt x="49148" y="85724"/>
                  </a:lnTo>
                  <a:lnTo>
                    <a:pt x="49148" y="514349"/>
                  </a:lnTo>
                  <a:close/>
                </a:path>
                <a:path w="3736975" h="514350">
                  <a:moveTo>
                    <a:pt x="3736848" y="514349"/>
                  </a:moveTo>
                  <a:lnTo>
                    <a:pt x="3687698" y="514349"/>
                  </a:lnTo>
                  <a:lnTo>
                    <a:pt x="3687698" y="85724"/>
                  </a:lnTo>
                  <a:lnTo>
                    <a:pt x="3686826" y="76222"/>
                  </a:lnTo>
                  <a:lnTo>
                    <a:pt x="3658356" y="41586"/>
                  </a:lnTo>
                  <a:lnTo>
                    <a:pt x="3640073" y="38099"/>
                  </a:lnTo>
                  <a:lnTo>
                    <a:pt x="3736848" y="38099"/>
                  </a:lnTo>
                  <a:lnTo>
                    <a:pt x="3736848" y="5143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91011" y="5972174"/>
              <a:ext cx="3634104" cy="485775"/>
            </a:xfrm>
            <a:custGeom>
              <a:avLst/>
              <a:gdLst/>
              <a:ahLst/>
              <a:cxnLst/>
              <a:rect l="l" t="t" r="r" b="b"/>
              <a:pathLst>
                <a:path w="3634104" h="485775">
                  <a:moveTo>
                    <a:pt x="3633787" y="485775"/>
                  </a:moveTo>
                  <a:lnTo>
                    <a:pt x="0" y="485775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3580389" y="0"/>
                  </a:lnTo>
                  <a:lnTo>
                    <a:pt x="3619700" y="19391"/>
                  </a:lnTo>
                  <a:lnTo>
                    <a:pt x="3633787" y="485775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67199" y="5972174"/>
              <a:ext cx="54610" cy="485775"/>
            </a:xfrm>
            <a:custGeom>
              <a:avLst/>
              <a:gdLst/>
              <a:ahLst/>
              <a:cxnLst/>
              <a:rect l="l" t="t" r="r" b="b"/>
              <a:pathLst>
                <a:path w="54610" h="485775">
                  <a:moveTo>
                    <a:pt x="47624" y="485774"/>
                  </a:moveTo>
                  <a:lnTo>
                    <a:pt x="0" y="485774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8577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650" y="6264274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733875" y="6083867"/>
            <a:ext cx="274002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5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7E1C1C"/>
                </a:solidFill>
                <a:latin typeface="Arial"/>
                <a:cs typeface="Arial"/>
              </a:rPr>
              <a:t>Le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constructeur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1C1C"/>
                </a:solidFill>
                <a:latin typeface="Arial"/>
                <a:cs typeface="Arial"/>
              </a:rPr>
              <a:t>est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toujours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028432" y="5943600"/>
            <a:ext cx="3728085" cy="514350"/>
            <a:chOff x="8028432" y="5943600"/>
            <a:chExt cx="3728085" cy="514350"/>
          </a:xfrm>
        </p:grpSpPr>
        <p:sp>
          <p:nvSpPr>
            <p:cNvPr id="16" name="object 16" descr=""/>
            <p:cNvSpPr/>
            <p:nvPr/>
          </p:nvSpPr>
          <p:spPr>
            <a:xfrm>
              <a:off x="8028432" y="5943600"/>
              <a:ext cx="3728085" cy="514350"/>
            </a:xfrm>
            <a:custGeom>
              <a:avLst/>
              <a:gdLst/>
              <a:ahLst/>
              <a:cxnLst/>
              <a:rect l="l" t="t" r="r" b="b"/>
              <a:pathLst>
                <a:path w="3728084" h="514350">
                  <a:moveTo>
                    <a:pt x="48767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099"/>
                  </a:lnTo>
                  <a:lnTo>
                    <a:pt x="96392" y="38099"/>
                  </a:lnTo>
                  <a:lnTo>
                    <a:pt x="86890" y="38971"/>
                  </a:lnTo>
                  <a:lnTo>
                    <a:pt x="52254" y="67441"/>
                  </a:lnTo>
                  <a:lnTo>
                    <a:pt x="48767" y="85724"/>
                  </a:lnTo>
                  <a:lnTo>
                    <a:pt x="48767" y="514349"/>
                  </a:lnTo>
                  <a:close/>
                </a:path>
                <a:path w="3728084" h="514350">
                  <a:moveTo>
                    <a:pt x="3727704" y="514349"/>
                  </a:moveTo>
                  <a:lnTo>
                    <a:pt x="3677792" y="514349"/>
                  </a:lnTo>
                  <a:lnTo>
                    <a:pt x="3677792" y="85724"/>
                  </a:lnTo>
                  <a:lnTo>
                    <a:pt x="3676920" y="76222"/>
                  </a:lnTo>
                  <a:lnTo>
                    <a:pt x="3648449" y="41586"/>
                  </a:lnTo>
                  <a:lnTo>
                    <a:pt x="3630167" y="38099"/>
                  </a:lnTo>
                  <a:lnTo>
                    <a:pt x="3727704" y="38099"/>
                  </a:lnTo>
                  <a:lnTo>
                    <a:pt x="3727704" y="5143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91486" y="5972174"/>
              <a:ext cx="3624579" cy="485775"/>
            </a:xfrm>
            <a:custGeom>
              <a:avLst/>
              <a:gdLst/>
              <a:ahLst/>
              <a:cxnLst/>
              <a:rect l="l" t="t" r="r" b="b"/>
              <a:pathLst>
                <a:path w="3624579" h="485775">
                  <a:moveTo>
                    <a:pt x="3624262" y="485775"/>
                  </a:moveTo>
                  <a:lnTo>
                    <a:pt x="0" y="485775"/>
                  </a:lnTo>
                  <a:lnTo>
                    <a:pt x="0" y="49570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3570863" y="0"/>
                  </a:lnTo>
                  <a:lnTo>
                    <a:pt x="3610176" y="19391"/>
                  </a:lnTo>
                  <a:lnTo>
                    <a:pt x="3624262" y="48577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67674" y="5972174"/>
              <a:ext cx="54610" cy="485775"/>
            </a:xfrm>
            <a:custGeom>
              <a:avLst/>
              <a:gdLst/>
              <a:ahLst/>
              <a:cxnLst/>
              <a:rect l="l" t="t" r="r" b="b"/>
              <a:pathLst>
                <a:path w="54609" h="485775">
                  <a:moveTo>
                    <a:pt x="47624" y="485774"/>
                  </a:moveTo>
                  <a:lnTo>
                    <a:pt x="0" y="485774"/>
                  </a:lnTo>
                  <a:lnTo>
                    <a:pt x="0" y="49568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857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8075" y="6251574"/>
              <a:ext cx="136525" cy="193675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8480325" y="6092824"/>
            <a:ext cx="28530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3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3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60">
                <a:solidFill>
                  <a:srgbClr val="1D3A8A"/>
                </a:solidFill>
                <a:latin typeface="Arial"/>
                <a:cs typeface="Arial"/>
              </a:rPr>
              <a:t>Une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enum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peut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implémenter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0" y="2231136"/>
            <a:ext cx="12192000" cy="4236720"/>
            <a:chOff x="0" y="2231136"/>
            <a:chExt cx="12192000" cy="4236720"/>
          </a:xfrm>
        </p:grpSpPr>
        <p:sp>
          <p:nvSpPr>
            <p:cNvPr id="22" name="object 22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20624" y="2231136"/>
              <a:ext cx="11351260" cy="3672840"/>
            </a:xfrm>
            <a:custGeom>
              <a:avLst/>
              <a:gdLst/>
              <a:ahLst/>
              <a:cxnLst/>
              <a:rect l="l" t="t" r="r" b="b"/>
              <a:pathLst>
                <a:path w="11351260" h="3672840">
                  <a:moveTo>
                    <a:pt x="11350752" y="3672840"/>
                  </a:moveTo>
                  <a:lnTo>
                    <a:pt x="0" y="3672840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521963"/>
                  </a:lnTo>
                  <a:lnTo>
                    <a:pt x="76377" y="3559012"/>
                  </a:lnTo>
                  <a:lnTo>
                    <a:pt x="106310" y="3583562"/>
                  </a:lnTo>
                  <a:lnTo>
                    <a:pt x="131825" y="3588638"/>
                  </a:lnTo>
                  <a:lnTo>
                    <a:pt x="11350752" y="3588638"/>
                  </a:lnTo>
                  <a:lnTo>
                    <a:pt x="11350752" y="3672840"/>
                  </a:lnTo>
                  <a:close/>
                </a:path>
                <a:path w="11351260" h="3672840">
                  <a:moveTo>
                    <a:pt x="11350752" y="3588638"/>
                  </a:moveTo>
                  <a:lnTo>
                    <a:pt x="11218925" y="3588638"/>
                  </a:lnTo>
                  <a:lnTo>
                    <a:pt x="11225493" y="3588321"/>
                  </a:lnTo>
                  <a:lnTo>
                    <a:pt x="11231935" y="3587369"/>
                  </a:lnTo>
                  <a:lnTo>
                    <a:pt x="11266071" y="3569109"/>
                  </a:lnTo>
                  <a:lnTo>
                    <a:pt x="11284331" y="3534973"/>
                  </a:lnTo>
                  <a:lnTo>
                    <a:pt x="11285600" y="352196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5886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1012" y="2271712"/>
              <a:ext cx="11229975" cy="3552825"/>
            </a:xfrm>
            <a:custGeom>
              <a:avLst/>
              <a:gdLst/>
              <a:ahLst/>
              <a:cxnLst/>
              <a:rect l="l" t="t" r="r" b="b"/>
              <a:pathLst>
                <a:path w="11229975" h="3552825">
                  <a:moveTo>
                    <a:pt x="11163227" y="3552824"/>
                  </a:moveTo>
                  <a:lnTo>
                    <a:pt x="66746" y="3552824"/>
                  </a:lnTo>
                  <a:lnTo>
                    <a:pt x="62101" y="3552367"/>
                  </a:lnTo>
                  <a:lnTo>
                    <a:pt x="24240" y="3535217"/>
                  </a:lnTo>
                  <a:lnTo>
                    <a:pt x="2287" y="3499923"/>
                  </a:lnTo>
                  <a:lnTo>
                    <a:pt x="0" y="3486077"/>
                  </a:lnTo>
                  <a:lnTo>
                    <a:pt x="0" y="34813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486077"/>
                  </a:lnTo>
                  <a:lnTo>
                    <a:pt x="11215327" y="3524974"/>
                  </a:lnTo>
                  <a:lnTo>
                    <a:pt x="11181539" y="3549181"/>
                  </a:lnTo>
                  <a:lnTo>
                    <a:pt x="11167872" y="3552367"/>
                  </a:lnTo>
                  <a:lnTo>
                    <a:pt x="11163227" y="35528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1012" y="2271712"/>
              <a:ext cx="11229975" cy="3552825"/>
            </a:xfrm>
            <a:custGeom>
              <a:avLst/>
              <a:gdLst/>
              <a:ahLst/>
              <a:cxnLst/>
              <a:rect l="l" t="t" r="r" b="b"/>
              <a:pathLst>
                <a:path w="11229975" h="3552825">
                  <a:moveTo>
                    <a:pt x="0" y="3481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3481387"/>
                  </a:lnTo>
                  <a:lnTo>
                    <a:pt x="11229972" y="3486077"/>
                  </a:lnTo>
                  <a:lnTo>
                    <a:pt x="11229514" y="3490723"/>
                  </a:lnTo>
                  <a:lnTo>
                    <a:pt x="11228599" y="3495323"/>
                  </a:lnTo>
                  <a:lnTo>
                    <a:pt x="11227684" y="3499923"/>
                  </a:lnTo>
                  <a:lnTo>
                    <a:pt x="11205732" y="3535217"/>
                  </a:lnTo>
                  <a:lnTo>
                    <a:pt x="11198222" y="3540784"/>
                  </a:lnTo>
                  <a:lnTo>
                    <a:pt x="11194322" y="3543390"/>
                  </a:lnTo>
                  <a:lnTo>
                    <a:pt x="11190206" y="3545591"/>
                  </a:lnTo>
                  <a:lnTo>
                    <a:pt x="11185873" y="3547386"/>
                  </a:lnTo>
                  <a:lnTo>
                    <a:pt x="11181539" y="3549181"/>
                  </a:lnTo>
                  <a:lnTo>
                    <a:pt x="11177072" y="3550536"/>
                  </a:lnTo>
                  <a:lnTo>
                    <a:pt x="11172472" y="3551451"/>
                  </a:lnTo>
                  <a:lnTo>
                    <a:pt x="11167872" y="3552367"/>
                  </a:lnTo>
                  <a:lnTo>
                    <a:pt x="11163227" y="3552824"/>
                  </a:lnTo>
                  <a:lnTo>
                    <a:pt x="11158536" y="3552824"/>
                  </a:lnTo>
                  <a:lnTo>
                    <a:pt x="71437" y="3552824"/>
                  </a:lnTo>
                  <a:lnTo>
                    <a:pt x="66746" y="3552824"/>
                  </a:lnTo>
                  <a:lnTo>
                    <a:pt x="62101" y="3552367"/>
                  </a:lnTo>
                  <a:lnTo>
                    <a:pt x="57500" y="3551451"/>
                  </a:lnTo>
                  <a:lnTo>
                    <a:pt x="52900" y="3550536"/>
                  </a:lnTo>
                  <a:lnTo>
                    <a:pt x="48433" y="3549181"/>
                  </a:lnTo>
                  <a:lnTo>
                    <a:pt x="44099" y="3547386"/>
                  </a:lnTo>
                  <a:lnTo>
                    <a:pt x="39765" y="3545591"/>
                  </a:lnTo>
                  <a:lnTo>
                    <a:pt x="35649" y="3543390"/>
                  </a:lnTo>
                  <a:lnTo>
                    <a:pt x="31748" y="3540784"/>
                  </a:lnTo>
                  <a:lnTo>
                    <a:pt x="27848" y="3538178"/>
                  </a:lnTo>
                  <a:lnTo>
                    <a:pt x="24240" y="3535217"/>
                  </a:lnTo>
                  <a:lnTo>
                    <a:pt x="20923" y="3531900"/>
                  </a:lnTo>
                  <a:lnTo>
                    <a:pt x="17606" y="3528583"/>
                  </a:lnTo>
                  <a:lnTo>
                    <a:pt x="1372" y="3495323"/>
                  </a:lnTo>
                  <a:lnTo>
                    <a:pt x="457" y="3490723"/>
                  </a:lnTo>
                  <a:lnTo>
                    <a:pt x="0" y="3486077"/>
                  </a:lnTo>
                  <a:lnTo>
                    <a:pt x="0" y="34813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3550" y="797492"/>
            <a:ext cx="10304145" cy="4854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Enrichir</a:t>
            </a:r>
            <a:r>
              <a:rPr dirty="0" sz="140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constantes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avec 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(état)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du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comportement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(méthodes).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000"/>
              </a:spcBef>
            </a:pP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Contrairement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au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14">
                <a:solidFill>
                  <a:srgbClr val="334054"/>
                </a:solidFill>
                <a:latin typeface="Arial"/>
                <a:cs typeface="Arial"/>
              </a:rPr>
              <a:t>C++,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enum</a:t>
            </a:r>
            <a:r>
              <a:rPr dirty="0" sz="1650" spc="-57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sont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véritables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classes.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Elles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peuvent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posséder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attributs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(état),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un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constructeur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méthodes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(comportement).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b="1">
                <a:solidFill>
                  <a:srgbClr val="D63A49"/>
                </a:solidFill>
                <a:latin typeface="Times New Roman"/>
                <a:cs typeface="Times New Roman"/>
              </a:rPr>
              <a:t>enum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145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50" spc="11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59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29" i="1">
                <a:solidFill>
                  <a:srgbClr val="6A737D"/>
                </a:solidFill>
                <a:latin typeface="Times New Roman"/>
                <a:cs typeface="Times New Roman"/>
              </a:rPr>
              <a:t>Constantes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40" i="1">
                <a:solidFill>
                  <a:srgbClr val="6A737D"/>
                </a:solidFill>
                <a:latin typeface="Times New Roman"/>
                <a:cs typeface="Times New Roman"/>
              </a:rPr>
              <a:t>appelant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55" i="1">
                <a:solidFill>
                  <a:srgbClr val="6A737D"/>
                </a:solidFill>
                <a:latin typeface="Times New Roman"/>
                <a:cs typeface="Times New Roman"/>
              </a:rPr>
              <a:t>le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54" i="1">
                <a:solidFill>
                  <a:srgbClr val="6A737D"/>
                </a:solidFill>
                <a:latin typeface="Times New Roman"/>
                <a:cs typeface="Times New Roman"/>
              </a:rPr>
              <a:t>constructeur</a:t>
            </a:r>
            <a:endParaRPr sz="15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500"/>
              </a:spcBef>
            </a:pPr>
            <a:r>
              <a:rPr dirty="0" sz="1350" spc="150" b="1">
                <a:solidFill>
                  <a:srgbClr val="6F41C1"/>
                </a:solidFill>
                <a:latin typeface="Times New Roman"/>
                <a:cs typeface="Times New Roman"/>
              </a:rPr>
              <a:t>CORE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(5),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110" b="1">
                <a:solidFill>
                  <a:srgbClr val="6F41C1"/>
                </a:solidFill>
                <a:latin typeface="Times New Roman"/>
                <a:cs typeface="Times New Roman"/>
              </a:rPr>
              <a:t>OPTIONAL</a:t>
            </a:r>
            <a:r>
              <a:rPr dirty="0" sz="1450" spc="110">
                <a:solidFill>
                  <a:srgbClr val="334054"/>
                </a:solidFill>
                <a:latin typeface="Times New Roman"/>
                <a:cs typeface="Times New Roman"/>
              </a:rPr>
              <a:t>(2);</a:t>
            </a:r>
            <a:endParaRPr sz="1450">
              <a:latin typeface="Times New Roman"/>
              <a:cs typeface="Times New Roman"/>
            </a:endParaRPr>
          </a:p>
          <a:p>
            <a:pPr marL="278765" marR="4872990">
              <a:lnSpc>
                <a:spcPts val="4050"/>
              </a:lnSpc>
              <a:spcBef>
                <a:spcPts val="520"/>
              </a:spcBef>
            </a:pPr>
            <a:r>
              <a:rPr dirty="0" sz="1450" spc="260" b="1">
                <a:solidFill>
                  <a:srgbClr val="D63A49"/>
                </a:solidFill>
                <a:latin typeface="Times New Roman"/>
                <a:cs typeface="Times New Roman"/>
              </a:rPr>
              <a:t>private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30" b="1">
                <a:solidFill>
                  <a:srgbClr val="D63A49"/>
                </a:solidFill>
                <a:latin typeface="Times New Roman"/>
                <a:cs typeface="Times New Roman"/>
              </a:rPr>
              <a:t>final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30" b="1">
                <a:solidFill>
                  <a:srgbClr val="D63A49"/>
                </a:solidFill>
                <a:latin typeface="Times New Roman"/>
                <a:cs typeface="Times New Roman"/>
              </a:rPr>
              <a:t>int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15">
                <a:solidFill>
                  <a:srgbClr val="334054"/>
                </a:solidFill>
                <a:latin typeface="Times New Roman"/>
                <a:cs typeface="Times New Roman"/>
              </a:rPr>
              <a:t>coef;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10" i="1">
                <a:solidFill>
                  <a:srgbClr val="6A737D"/>
                </a:solidFill>
                <a:latin typeface="Times New Roman"/>
                <a:cs typeface="Times New Roman"/>
              </a:rPr>
              <a:t>Attribut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80" i="1">
                <a:solidFill>
                  <a:srgbClr val="6A737D"/>
                </a:solidFill>
                <a:latin typeface="Times New Roman"/>
                <a:cs typeface="Times New Roman"/>
              </a:rPr>
              <a:t>immutable </a:t>
            </a:r>
            <a:r>
              <a:rPr dirty="0" sz="1450" spc="260" b="1">
                <a:solidFill>
                  <a:srgbClr val="D63A49"/>
                </a:solidFill>
                <a:latin typeface="Times New Roman"/>
                <a:cs typeface="Times New Roman"/>
              </a:rPr>
              <a:t>private</a:t>
            </a:r>
            <a:r>
              <a:rPr dirty="0" sz="1450" spc="8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04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50" spc="204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04" b="1">
                <a:solidFill>
                  <a:srgbClr val="D63A49"/>
                </a:solidFill>
                <a:latin typeface="Times New Roman"/>
                <a:cs typeface="Times New Roman"/>
              </a:rPr>
              <a:t>int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c)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25" b="1">
                <a:solidFill>
                  <a:srgbClr val="D63A49"/>
                </a:solidFill>
                <a:latin typeface="Times New Roman"/>
                <a:cs typeface="Times New Roman"/>
              </a:rPr>
              <a:t>this</a:t>
            </a:r>
            <a:r>
              <a:rPr dirty="0" sz="1450" spc="325">
                <a:solidFill>
                  <a:srgbClr val="334054"/>
                </a:solidFill>
                <a:latin typeface="Times New Roman"/>
                <a:cs typeface="Times New Roman"/>
              </a:rPr>
              <a:t>.coef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70">
                <a:solidFill>
                  <a:srgbClr val="334054"/>
                </a:solidFill>
                <a:latin typeface="Times New Roman"/>
                <a:cs typeface="Times New Roman"/>
              </a:rPr>
              <a:t>c;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} </a:t>
            </a: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30" b="1">
                <a:solidFill>
                  <a:srgbClr val="D63A49"/>
                </a:solidFill>
                <a:latin typeface="Times New Roman"/>
                <a:cs typeface="Times New Roman"/>
              </a:rPr>
              <a:t>int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80">
                <a:solidFill>
                  <a:srgbClr val="6F41C1"/>
                </a:solidFill>
                <a:latin typeface="Times New Roman"/>
                <a:cs typeface="Times New Roman"/>
              </a:rPr>
              <a:t>getCoef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0" b="1">
                <a:solidFill>
                  <a:srgbClr val="D63A49"/>
                </a:solidFill>
                <a:latin typeface="Times New Roman"/>
                <a:cs typeface="Times New Roman"/>
              </a:rPr>
              <a:t>return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15">
                <a:solidFill>
                  <a:srgbClr val="334054"/>
                </a:solidFill>
                <a:latin typeface="Times New Roman"/>
                <a:cs typeface="Times New Roman"/>
              </a:rPr>
              <a:t>coef;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ts val="1730"/>
              </a:lnSpc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04" b="1">
                <a:solidFill>
                  <a:srgbClr val="D63A49"/>
                </a:solidFill>
                <a:latin typeface="Times New Roman"/>
                <a:cs typeface="Times New Roman"/>
              </a:rPr>
              <a:t>boolean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85">
                <a:solidFill>
                  <a:srgbClr val="6F41C1"/>
                </a:solidFill>
                <a:latin typeface="Times New Roman"/>
                <a:cs typeface="Times New Roman"/>
              </a:rPr>
              <a:t>isMajor</a:t>
            </a:r>
            <a:r>
              <a:rPr dirty="0" sz="1450" spc="285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0" b="1">
                <a:solidFill>
                  <a:srgbClr val="D63A49"/>
                </a:solidFill>
                <a:latin typeface="Times New Roman"/>
                <a:cs typeface="Times New Roman"/>
              </a:rPr>
              <a:t>return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70">
                <a:solidFill>
                  <a:srgbClr val="334054"/>
                </a:solidFill>
                <a:latin typeface="Times New Roman"/>
                <a:cs typeface="Times New Roman"/>
              </a:rPr>
              <a:t>coef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3;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59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30" i="1">
                <a:solidFill>
                  <a:srgbClr val="6A737D"/>
                </a:solidFill>
                <a:latin typeface="Times New Roman"/>
                <a:cs typeface="Times New Roman"/>
              </a:rPr>
              <a:t>Usage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95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65" i="1">
                <a:solidFill>
                  <a:srgbClr val="6A737D"/>
                </a:solidFill>
                <a:latin typeface="Times New Roman"/>
                <a:cs typeface="Times New Roman"/>
              </a:rPr>
              <a:t>int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29" i="1">
                <a:solidFill>
                  <a:srgbClr val="6A737D"/>
                </a:solidFill>
                <a:latin typeface="Times New Roman"/>
                <a:cs typeface="Times New Roman"/>
              </a:rPr>
              <a:t>c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i="1">
                <a:solidFill>
                  <a:srgbClr val="6A737D"/>
                </a:solidFill>
                <a:latin typeface="Times New Roman"/>
                <a:cs typeface="Times New Roman"/>
              </a:rPr>
              <a:t>=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90" i="1">
                <a:solidFill>
                  <a:srgbClr val="6A737D"/>
                </a:solidFill>
                <a:latin typeface="Times New Roman"/>
                <a:cs typeface="Times New Roman"/>
              </a:rPr>
              <a:t>TypeModule.CORE.getCoef();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00" i="1">
                <a:solidFill>
                  <a:srgbClr val="6A737D"/>
                </a:solidFill>
                <a:latin typeface="Times New Roman"/>
                <a:cs typeface="Times New Roman"/>
              </a:rPr>
              <a:t>5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dirty="0" spc="-55"/>
              <a:t> </a:t>
            </a:r>
            <a:r>
              <a:rPr dirty="0" spc="-170"/>
              <a:t>Enum</a:t>
            </a:r>
            <a:r>
              <a:rPr dirty="0" spc="-50"/>
              <a:t> </a:t>
            </a:r>
            <a:r>
              <a:rPr dirty="0"/>
              <a:t>et</a:t>
            </a:r>
            <a:r>
              <a:rPr dirty="0" spc="-50"/>
              <a:t> </a:t>
            </a:r>
            <a:r>
              <a:rPr dirty="0" spc="-95"/>
              <a:t>constructeur</a:t>
            </a:r>
            <a:r>
              <a:rPr dirty="0" spc="-50"/>
              <a:t> </a:t>
            </a:r>
            <a:r>
              <a:rPr dirty="0" spc="-650"/>
              <a:t>—</a:t>
            </a:r>
            <a:r>
              <a:rPr dirty="0" spc="-55"/>
              <a:t> </a:t>
            </a:r>
            <a:r>
              <a:rPr dirty="0" spc="-135"/>
              <a:t>Cas</a:t>
            </a:r>
            <a:r>
              <a:rPr dirty="0" spc="-50"/>
              <a:t> </a:t>
            </a:r>
            <a:r>
              <a:rPr dirty="0" spc="-10"/>
              <a:t>métier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666232"/>
            <a:ext cx="5633085" cy="554990"/>
            <a:chOff x="435863" y="5666232"/>
            <a:chExt cx="5633085" cy="55499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666232"/>
              <a:ext cx="5633085" cy="554990"/>
            </a:xfrm>
            <a:custGeom>
              <a:avLst/>
              <a:gdLst/>
              <a:ahLst/>
              <a:cxnLst/>
              <a:rect l="l" t="t" r="r" b="b"/>
              <a:pathLst>
                <a:path w="5633085" h="554989">
                  <a:moveTo>
                    <a:pt x="5632704" y="554736"/>
                  </a:moveTo>
                  <a:lnTo>
                    <a:pt x="0" y="554736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9242"/>
                  </a:lnTo>
                  <a:lnTo>
                    <a:pt x="97535" y="39242"/>
                  </a:lnTo>
                  <a:lnTo>
                    <a:pt x="88033" y="40114"/>
                  </a:lnTo>
                  <a:lnTo>
                    <a:pt x="53398" y="68584"/>
                  </a:lnTo>
                  <a:lnTo>
                    <a:pt x="49910" y="86867"/>
                  </a:lnTo>
                  <a:lnTo>
                    <a:pt x="49910" y="448817"/>
                  </a:lnTo>
                  <a:lnTo>
                    <a:pt x="71195" y="488596"/>
                  </a:lnTo>
                  <a:lnTo>
                    <a:pt x="97535" y="496442"/>
                  </a:lnTo>
                  <a:lnTo>
                    <a:pt x="5632704" y="496442"/>
                  </a:lnTo>
                  <a:lnTo>
                    <a:pt x="5632704" y="554736"/>
                  </a:lnTo>
                  <a:close/>
                </a:path>
                <a:path w="5633085" h="554989">
                  <a:moveTo>
                    <a:pt x="5632704" y="496442"/>
                  </a:moveTo>
                  <a:lnTo>
                    <a:pt x="5536310" y="496442"/>
                  </a:lnTo>
                  <a:lnTo>
                    <a:pt x="5545812" y="495570"/>
                  </a:lnTo>
                  <a:lnTo>
                    <a:pt x="5554592" y="492955"/>
                  </a:lnTo>
                  <a:lnTo>
                    <a:pt x="5583063" y="458319"/>
                  </a:lnTo>
                  <a:lnTo>
                    <a:pt x="5583935" y="448817"/>
                  </a:lnTo>
                  <a:lnTo>
                    <a:pt x="5583935" y="86867"/>
                  </a:lnTo>
                  <a:lnTo>
                    <a:pt x="5562650" y="47088"/>
                  </a:lnTo>
                  <a:lnTo>
                    <a:pt x="5536310" y="39242"/>
                  </a:lnTo>
                  <a:lnTo>
                    <a:pt x="5632704" y="39242"/>
                  </a:lnTo>
                  <a:lnTo>
                    <a:pt x="5632704" y="49644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695949"/>
              <a:ext cx="5529580" cy="476250"/>
            </a:xfrm>
            <a:custGeom>
              <a:avLst/>
              <a:gdLst/>
              <a:ahLst/>
              <a:cxnLst/>
              <a:rect l="l" t="t" r="r" b="b"/>
              <a:pathLst>
                <a:path w="5529580" h="476250">
                  <a:moveTo>
                    <a:pt x="5475864" y="476249"/>
                  </a:moveTo>
                  <a:lnTo>
                    <a:pt x="28916" y="476249"/>
                  </a:lnTo>
                  <a:lnTo>
                    <a:pt x="845" y="433968"/>
                  </a:lnTo>
                  <a:lnTo>
                    <a:pt x="0" y="426677"/>
                  </a:lnTo>
                  <a:lnTo>
                    <a:pt x="0" y="419099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422852"/>
                  </a:lnTo>
                  <a:lnTo>
                    <a:pt x="5509869" y="462164"/>
                  </a:lnTo>
                  <a:lnTo>
                    <a:pt x="5479580" y="475883"/>
                  </a:lnTo>
                  <a:lnTo>
                    <a:pt x="5475864" y="4762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695949"/>
              <a:ext cx="54610" cy="476250"/>
            </a:xfrm>
            <a:custGeom>
              <a:avLst/>
              <a:gdLst/>
              <a:ahLst/>
              <a:cxnLst/>
              <a:rect l="l" t="t" r="r" b="b"/>
              <a:pathLst>
                <a:path w="54609" h="476250">
                  <a:moveTo>
                    <a:pt x="54519" y="476249"/>
                  </a:moveTo>
                  <a:lnTo>
                    <a:pt x="49571" y="476249"/>
                  </a:lnTo>
                  <a:lnTo>
                    <a:pt x="42281" y="474798"/>
                  </a:lnTo>
                  <a:lnTo>
                    <a:pt x="7250" y="447971"/>
                  </a:lnTo>
                  <a:lnTo>
                    <a:pt x="0" y="42667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19099"/>
                  </a:lnTo>
                  <a:lnTo>
                    <a:pt x="50414" y="459510"/>
                  </a:lnTo>
                  <a:lnTo>
                    <a:pt x="52274" y="470669"/>
                  </a:lnTo>
                  <a:lnTo>
                    <a:pt x="54519" y="4762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83247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798614"/>
            <a:ext cx="4848225" cy="229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30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250" spc="-1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50" spc="-6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250" spc="-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6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attributs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60">
                <a:solidFill>
                  <a:srgbClr val="13532D"/>
                </a:solidFill>
                <a:latin typeface="Arial"/>
                <a:cs typeface="Arial"/>
              </a:rPr>
              <a:t>d'une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13532D"/>
                </a:solidFill>
                <a:latin typeface="Arial"/>
                <a:cs typeface="Arial"/>
              </a:rPr>
              <a:t>enum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doivent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13532D"/>
                </a:solidFill>
                <a:latin typeface="Arial"/>
                <a:cs typeface="Arial"/>
              </a:rPr>
              <a:t>être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13532D"/>
                </a:solidFill>
                <a:latin typeface="Monaco"/>
                <a:cs typeface="Monaco"/>
              </a:rPr>
              <a:t>final</a:t>
            </a:r>
            <a:r>
              <a:rPr dirty="0" sz="1250" spc="-40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(immutabilité).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666232"/>
            <a:ext cx="5623560" cy="554990"/>
            <a:chOff x="6132576" y="5666232"/>
            <a:chExt cx="5623560" cy="554990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666232"/>
              <a:ext cx="5623560" cy="554990"/>
            </a:xfrm>
            <a:custGeom>
              <a:avLst/>
              <a:gdLst/>
              <a:ahLst/>
              <a:cxnLst/>
              <a:rect l="l" t="t" r="r" b="b"/>
              <a:pathLst>
                <a:path w="5623559" h="554989">
                  <a:moveTo>
                    <a:pt x="5623560" y="554736"/>
                  </a:moveTo>
                  <a:lnTo>
                    <a:pt x="0" y="554736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9242"/>
                  </a:lnTo>
                  <a:lnTo>
                    <a:pt x="96773" y="39242"/>
                  </a:lnTo>
                  <a:lnTo>
                    <a:pt x="87271" y="40114"/>
                  </a:lnTo>
                  <a:lnTo>
                    <a:pt x="52635" y="68584"/>
                  </a:lnTo>
                  <a:lnTo>
                    <a:pt x="49148" y="86867"/>
                  </a:lnTo>
                  <a:lnTo>
                    <a:pt x="49148" y="448817"/>
                  </a:lnTo>
                  <a:lnTo>
                    <a:pt x="70433" y="488596"/>
                  </a:lnTo>
                  <a:lnTo>
                    <a:pt x="96773" y="496442"/>
                  </a:lnTo>
                  <a:lnTo>
                    <a:pt x="5623560" y="496442"/>
                  </a:lnTo>
                  <a:lnTo>
                    <a:pt x="5623560" y="554736"/>
                  </a:lnTo>
                  <a:close/>
                </a:path>
                <a:path w="5623559" h="554989">
                  <a:moveTo>
                    <a:pt x="5623560" y="496442"/>
                  </a:moveTo>
                  <a:lnTo>
                    <a:pt x="5526023" y="496442"/>
                  </a:lnTo>
                  <a:lnTo>
                    <a:pt x="5535525" y="495570"/>
                  </a:lnTo>
                  <a:lnTo>
                    <a:pt x="5544305" y="492955"/>
                  </a:lnTo>
                  <a:lnTo>
                    <a:pt x="5572776" y="458319"/>
                  </a:lnTo>
                  <a:lnTo>
                    <a:pt x="5573648" y="448817"/>
                  </a:lnTo>
                  <a:lnTo>
                    <a:pt x="5573648" y="86867"/>
                  </a:lnTo>
                  <a:lnTo>
                    <a:pt x="5552363" y="47088"/>
                  </a:lnTo>
                  <a:lnTo>
                    <a:pt x="5526023" y="39242"/>
                  </a:lnTo>
                  <a:lnTo>
                    <a:pt x="5623560" y="39242"/>
                  </a:lnTo>
                  <a:lnTo>
                    <a:pt x="5623560" y="49644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695949"/>
              <a:ext cx="5520055" cy="476250"/>
            </a:xfrm>
            <a:custGeom>
              <a:avLst/>
              <a:gdLst/>
              <a:ahLst/>
              <a:cxnLst/>
              <a:rect l="l" t="t" r="r" b="b"/>
              <a:pathLst>
                <a:path w="5520055" h="476250">
                  <a:moveTo>
                    <a:pt x="5466338" y="476249"/>
                  </a:moveTo>
                  <a:lnTo>
                    <a:pt x="28916" y="476249"/>
                  </a:lnTo>
                  <a:lnTo>
                    <a:pt x="845" y="433968"/>
                  </a:lnTo>
                  <a:lnTo>
                    <a:pt x="0" y="426677"/>
                  </a:lnTo>
                  <a:lnTo>
                    <a:pt x="0" y="419099"/>
                  </a:lnTo>
                  <a:lnTo>
                    <a:pt x="0" y="49571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422852"/>
                  </a:lnTo>
                  <a:lnTo>
                    <a:pt x="5500342" y="462164"/>
                  </a:lnTo>
                  <a:lnTo>
                    <a:pt x="5470054" y="475883"/>
                  </a:lnTo>
                  <a:lnTo>
                    <a:pt x="5466338" y="47624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695949"/>
              <a:ext cx="54610" cy="476250"/>
            </a:xfrm>
            <a:custGeom>
              <a:avLst/>
              <a:gdLst/>
              <a:ahLst/>
              <a:cxnLst/>
              <a:rect l="l" t="t" r="r" b="b"/>
              <a:pathLst>
                <a:path w="54610" h="476250">
                  <a:moveTo>
                    <a:pt x="54519" y="476249"/>
                  </a:moveTo>
                  <a:lnTo>
                    <a:pt x="49570" y="476249"/>
                  </a:lnTo>
                  <a:lnTo>
                    <a:pt x="42280" y="474798"/>
                  </a:lnTo>
                  <a:lnTo>
                    <a:pt x="7249" y="447971"/>
                  </a:lnTo>
                  <a:lnTo>
                    <a:pt x="0" y="4266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19099"/>
                  </a:lnTo>
                  <a:lnTo>
                    <a:pt x="50414" y="459510"/>
                  </a:lnTo>
                  <a:lnTo>
                    <a:pt x="52274" y="470669"/>
                  </a:lnTo>
                  <a:lnTo>
                    <a:pt x="54519" y="4762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4762" y="5845174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630987" y="5805414"/>
            <a:ext cx="4937760" cy="22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1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250" spc="3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50" spc="-6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250" spc="3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E1C1C"/>
                </a:solidFill>
                <a:latin typeface="Arial"/>
                <a:cs typeface="Arial"/>
              </a:rPr>
              <a:t>Impossible</a:t>
            </a:r>
            <a:r>
              <a:rPr dirty="0" sz="1250" spc="3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E1C1C"/>
                </a:solidFill>
                <a:latin typeface="Arial"/>
                <a:cs typeface="Arial"/>
              </a:rPr>
              <a:t>de</a:t>
            </a:r>
            <a:r>
              <a:rPr dirty="0" sz="1250" spc="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E1C1C"/>
                </a:solidFill>
                <a:latin typeface="Arial"/>
                <a:cs typeface="Arial"/>
              </a:rPr>
              <a:t>faire</a:t>
            </a:r>
            <a:r>
              <a:rPr dirty="0" sz="1250" spc="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7E1C1C"/>
                </a:solidFill>
                <a:latin typeface="Monaco"/>
                <a:cs typeface="Monaco"/>
              </a:rPr>
              <a:t>new</a:t>
            </a:r>
            <a:r>
              <a:rPr dirty="0" sz="1250" spc="180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250">
                <a:solidFill>
                  <a:srgbClr val="7E1C1C"/>
                </a:solidFill>
                <a:latin typeface="Monaco"/>
                <a:cs typeface="Monaco"/>
              </a:rPr>
              <a:t>TypeModule(...)</a:t>
            </a:r>
            <a:r>
              <a:rPr dirty="0" sz="1250" spc="-370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250" spc="-10">
                <a:solidFill>
                  <a:srgbClr val="7E1C1C"/>
                </a:solidFill>
                <a:latin typeface="Arial"/>
                <a:cs typeface="Arial"/>
              </a:rPr>
              <a:t>manuellement.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420624" y="2231136"/>
            <a:ext cx="11351260" cy="3386454"/>
            <a:chOff x="420624" y="2231136"/>
            <a:chExt cx="11351260" cy="3386454"/>
          </a:xfrm>
        </p:grpSpPr>
        <p:sp>
          <p:nvSpPr>
            <p:cNvPr id="17" name="object 17" descr=""/>
            <p:cNvSpPr/>
            <p:nvPr/>
          </p:nvSpPr>
          <p:spPr>
            <a:xfrm>
              <a:off x="420624" y="2231136"/>
              <a:ext cx="11351260" cy="3386454"/>
            </a:xfrm>
            <a:custGeom>
              <a:avLst/>
              <a:gdLst/>
              <a:ahLst/>
              <a:cxnLst/>
              <a:rect l="l" t="t" r="r" b="b"/>
              <a:pathLst>
                <a:path w="11351260" h="3386454">
                  <a:moveTo>
                    <a:pt x="11350752" y="3386328"/>
                  </a:moveTo>
                  <a:lnTo>
                    <a:pt x="0" y="338632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236213"/>
                  </a:lnTo>
                  <a:lnTo>
                    <a:pt x="76377" y="3273262"/>
                  </a:lnTo>
                  <a:lnTo>
                    <a:pt x="106310" y="3297812"/>
                  </a:lnTo>
                  <a:lnTo>
                    <a:pt x="131825" y="3302888"/>
                  </a:lnTo>
                  <a:lnTo>
                    <a:pt x="11350752" y="3302888"/>
                  </a:lnTo>
                  <a:lnTo>
                    <a:pt x="11350752" y="3386328"/>
                  </a:lnTo>
                  <a:close/>
                </a:path>
                <a:path w="11351260" h="3386454">
                  <a:moveTo>
                    <a:pt x="11350752" y="3302888"/>
                  </a:moveTo>
                  <a:lnTo>
                    <a:pt x="11218925" y="3302888"/>
                  </a:lnTo>
                  <a:lnTo>
                    <a:pt x="11225493" y="3302571"/>
                  </a:lnTo>
                  <a:lnTo>
                    <a:pt x="11231935" y="3301619"/>
                  </a:lnTo>
                  <a:lnTo>
                    <a:pt x="11266071" y="3283359"/>
                  </a:lnTo>
                  <a:lnTo>
                    <a:pt x="11284331" y="3249223"/>
                  </a:lnTo>
                  <a:lnTo>
                    <a:pt x="11285600" y="32362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3028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71712"/>
              <a:ext cx="11229975" cy="3267075"/>
            </a:xfrm>
            <a:custGeom>
              <a:avLst/>
              <a:gdLst/>
              <a:ahLst/>
              <a:cxnLst/>
              <a:rect l="l" t="t" r="r" b="b"/>
              <a:pathLst>
                <a:path w="11229975" h="3267075">
                  <a:moveTo>
                    <a:pt x="11163227" y="3267074"/>
                  </a:moveTo>
                  <a:lnTo>
                    <a:pt x="66746" y="3267074"/>
                  </a:lnTo>
                  <a:lnTo>
                    <a:pt x="62101" y="3266617"/>
                  </a:lnTo>
                  <a:lnTo>
                    <a:pt x="24240" y="3249467"/>
                  </a:lnTo>
                  <a:lnTo>
                    <a:pt x="2287" y="3214173"/>
                  </a:lnTo>
                  <a:lnTo>
                    <a:pt x="0" y="3200327"/>
                  </a:lnTo>
                  <a:lnTo>
                    <a:pt x="0" y="31956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200327"/>
                  </a:lnTo>
                  <a:lnTo>
                    <a:pt x="11215327" y="3239225"/>
                  </a:lnTo>
                  <a:lnTo>
                    <a:pt x="11181539" y="3263431"/>
                  </a:lnTo>
                  <a:lnTo>
                    <a:pt x="11167872" y="3266617"/>
                  </a:lnTo>
                  <a:lnTo>
                    <a:pt x="11163227" y="32670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71712"/>
              <a:ext cx="11229975" cy="3267075"/>
            </a:xfrm>
            <a:custGeom>
              <a:avLst/>
              <a:gdLst/>
              <a:ahLst/>
              <a:cxnLst/>
              <a:rect l="l" t="t" r="r" b="b"/>
              <a:pathLst>
                <a:path w="11229975" h="3267075">
                  <a:moveTo>
                    <a:pt x="0" y="31956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3195637"/>
                  </a:lnTo>
                  <a:lnTo>
                    <a:pt x="11229972" y="3200327"/>
                  </a:lnTo>
                  <a:lnTo>
                    <a:pt x="11229514" y="3204973"/>
                  </a:lnTo>
                  <a:lnTo>
                    <a:pt x="11228599" y="3209573"/>
                  </a:lnTo>
                  <a:lnTo>
                    <a:pt x="11227684" y="3214173"/>
                  </a:lnTo>
                  <a:lnTo>
                    <a:pt x="11217932" y="3235324"/>
                  </a:lnTo>
                  <a:lnTo>
                    <a:pt x="11215327" y="3239225"/>
                  </a:lnTo>
                  <a:lnTo>
                    <a:pt x="11198222" y="3255034"/>
                  </a:lnTo>
                  <a:lnTo>
                    <a:pt x="11194322" y="3257640"/>
                  </a:lnTo>
                  <a:lnTo>
                    <a:pt x="11190206" y="3259841"/>
                  </a:lnTo>
                  <a:lnTo>
                    <a:pt x="11185873" y="3261636"/>
                  </a:lnTo>
                  <a:lnTo>
                    <a:pt x="11181539" y="3263431"/>
                  </a:lnTo>
                  <a:lnTo>
                    <a:pt x="11177072" y="3264786"/>
                  </a:lnTo>
                  <a:lnTo>
                    <a:pt x="11172472" y="3265701"/>
                  </a:lnTo>
                  <a:lnTo>
                    <a:pt x="11167872" y="3266617"/>
                  </a:lnTo>
                  <a:lnTo>
                    <a:pt x="11163227" y="3267074"/>
                  </a:lnTo>
                  <a:lnTo>
                    <a:pt x="11158536" y="3267074"/>
                  </a:lnTo>
                  <a:lnTo>
                    <a:pt x="71437" y="3267074"/>
                  </a:lnTo>
                  <a:lnTo>
                    <a:pt x="66746" y="3267074"/>
                  </a:lnTo>
                  <a:lnTo>
                    <a:pt x="62101" y="3266617"/>
                  </a:lnTo>
                  <a:lnTo>
                    <a:pt x="57500" y="3265701"/>
                  </a:lnTo>
                  <a:lnTo>
                    <a:pt x="52900" y="3264786"/>
                  </a:lnTo>
                  <a:lnTo>
                    <a:pt x="48433" y="3263431"/>
                  </a:lnTo>
                  <a:lnTo>
                    <a:pt x="44099" y="3261636"/>
                  </a:lnTo>
                  <a:lnTo>
                    <a:pt x="39765" y="3259841"/>
                  </a:lnTo>
                  <a:lnTo>
                    <a:pt x="35649" y="3257640"/>
                  </a:lnTo>
                  <a:lnTo>
                    <a:pt x="31748" y="3255034"/>
                  </a:lnTo>
                  <a:lnTo>
                    <a:pt x="27848" y="3252428"/>
                  </a:lnTo>
                  <a:lnTo>
                    <a:pt x="24240" y="3249467"/>
                  </a:lnTo>
                  <a:lnTo>
                    <a:pt x="20923" y="3246150"/>
                  </a:lnTo>
                  <a:lnTo>
                    <a:pt x="17606" y="3242834"/>
                  </a:lnTo>
                  <a:lnTo>
                    <a:pt x="5437" y="3222974"/>
                  </a:lnTo>
                  <a:lnTo>
                    <a:pt x="3642" y="3218641"/>
                  </a:lnTo>
                  <a:lnTo>
                    <a:pt x="2287" y="3214173"/>
                  </a:lnTo>
                  <a:lnTo>
                    <a:pt x="1372" y="3209573"/>
                  </a:lnTo>
                  <a:lnTo>
                    <a:pt x="457" y="3204973"/>
                  </a:lnTo>
                  <a:lnTo>
                    <a:pt x="0" y="3200327"/>
                  </a:lnTo>
                  <a:lnTo>
                    <a:pt x="0" y="31956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6450"/>
            <a:ext cx="10937875" cy="2674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Associer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immuables</a:t>
            </a:r>
            <a:r>
              <a:rPr dirty="0" sz="1350" spc="-2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aux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constantes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via</a:t>
            </a:r>
            <a:r>
              <a:rPr dirty="0" sz="1350" spc="-2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un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constructeur.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</a:pPr>
            <a:r>
              <a:rPr dirty="0" sz="1700" spc="-10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enum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peut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avoir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constructeur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(toujours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Courier New"/>
                <a:cs typeface="Courier New"/>
              </a:rPr>
              <a:t>private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)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initialiser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ses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attributs.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C'est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idéal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encapsuler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des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données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fixes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(ex: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coefficients)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avec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chaque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constante.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b="1">
                <a:solidFill>
                  <a:srgbClr val="D63A49"/>
                </a:solidFill>
                <a:latin typeface="Times New Roman"/>
                <a:cs typeface="Times New Roman"/>
              </a:rPr>
              <a:t>enum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145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50" spc="11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59"/>
              </a:spcBef>
            </a:pPr>
            <a:r>
              <a:rPr dirty="0" sz="1350" spc="150" b="1">
                <a:solidFill>
                  <a:srgbClr val="6F41C1"/>
                </a:solidFill>
                <a:latin typeface="Times New Roman"/>
                <a:cs typeface="Times New Roman"/>
              </a:rPr>
              <a:t>CORE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(5),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150" b="1">
                <a:solidFill>
                  <a:srgbClr val="6F41C1"/>
                </a:solidFill>
                <a:latin typeface="Times New Roman"/>
                <a:cs typeface="Times New Roman"/>
              </a:rPr>
              <a:t>OPTION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(3);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40" i="1">
                <a:solidFill>
                  <a:srgbClr val="6A737D"/>
                </a:solidFill>
                <a:latin typeface="Times New Roman"/>
                <a:cs typeface="Times New Roman"/>
              </a:rPr>
              <a:t>Appelle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55" i="1">
                <a:solidFill>
                  <a:srgbClr val="6A737D"/>
                </a:solidFill>
                <a:latin typeface="Times New Roman"/>
                <a:cs typeface="Times New Roman"/>
              </a:rPr>
              <a:t>le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54" i="1">
                <a:solidFill>
                  <a:srgbClr val="6A737D"/>
                </a:solidFill>
                <a:latin typeface="Times New Roman"/>
                <a:cs typeface="Times New Roman"/>
              </a:rPr>
              <a:t>constructeur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</a:pPr>
            <a:r>
              <a:rPr dirty="0" sz="1450" spc="260" b="1">
                <a:solidFill>
                  <a:srgbClr val="D63A49"/>
                </a:solidFill>
                <a:latin typeface="Times New Roman"/>
                <a:cs typeface="Times New Roman"/>
              </a:rPr>
              <a:t>private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30" b="1">
                <a:solidFill>
                  <a:srgbClr val="D63A49"/>
                </a:solidFill>
                <a:latin typeface="Times New Roman"/>
                <a:cs typeface="Times New Roman"/>
              </a:rPr>
              <a:t>final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30" b="1">
                <a:solidFill>
                  <a:srgbClr val="D63A49"/>
                </a:solidFill>
                <a:latin typeface="Times New Roman"/>
                <a:cs typeface="Times New Roman"/>
              </a:rPr>
              <a:t>int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15">
                <a:solidFill>
                  <a:srgbClr val="334054"/>
                </a:solidFill>
                <a:latin typeface="Times New Roman"/>
                <a:cs typeface="Times New Roman"/>
              </a:rPr>
              <a:t>coef;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10" i="1">
                <a:solidFill>
                  <a:srgbClr val="6A737D"/>
                </a:solidFill>
                <a:latin typeface="Times New Roman"/>
                <a:cs typeface="Times New Roman"/>
              </a:rPr>
              <a:t>Attribut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70" i="1">
                <a:solidFill>
                  <a:srgbClr val="6A737D"/>
                </a:solidFill>
                <a:latin typeface="Times New Roman"/>
                <a:cs typeface="Times New Roman"/>
              </a:rPr>
              <a:t>toujours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35" i="1">
                <a:solidFill>
                  <a:srgbClr val="6A737D"/>
                </a:solidFill>
                <a:latin typeface="Times New Roman"/>
                <a:cs typeface="Times New Roman"/>
              </a:rPr>
              <a:t>final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7016741" y="3736250"/>
            <a:ext cx="82550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275" i="1">
                <a:solidFill>
                  <a:srgbClr val="6A737D"/>
                </a:solidFill>
                <a:latin typeface="Times New Roman"/>
                <a:cs typeface="Times New Roman"/>
              </a:rPr>
              <a:t>public)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15949" y="3675149"/>
            <a:ext cx="6311900" cy="890269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610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35" i="1">
                <a:solidFill>
                  <a:srgbClr val="6A737D"/>
                </a:solidFill>
                <a:latin typeface="Times New Roman"/>
                <a:cs typeface="Times New Roman"/>
              </a:rPr>
              <a:t>Constructeur</a:t>
            </a:r>
            <a:r>
              <a:rPr dirty="0" sz="1500" spc="9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65" i="1">
                <a:solidFill>
                  <a:srgbClr val="6A737D"/>
                </a:solidFill>
                <a:latin typeface="Times New Roman"/>
                <a:cs typeface="Times New Roman"/>
              </a:rPr>
              <a:t>implicitement</a:t>
            </a:r>
            <a:r>
              <a:rPr dirty="0" sz="1500" spc="9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90" i="1">
                <a:solidFill>
                  <a:srgbClr val="6A737D"/>
                </a:solidFill>
                <a:latin typeface="Times New Roman"/>
                <a:cs typeface="Times New Roman"/>
              </a:rPr>
              <a:t>private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50" i="1">
                <a:solidFill>
                  <a:srgbClr val="6A737D"/>
                </a:solidFill>
                <a:latin typeface="Times New Roman"/>
                <a:cs typeface="Times New Roman"/>
              </a:rPr>
              <a:t>(interdit</a:t>
            </a:r>
            <a:r>
              <a:rPr dirty="0" sz="1500" spc="9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20" i="1">
                <a:solidFill>
                  <a:srgbClr val="6A737D"/>
                </a:solidFill>
                <a:latin typeface="Times New Roman"/>
                <a:cs typeface="Times New Roman"/>
              </a:rPr>
              <a:t>d'être</a:t>
            </a:r>
            <a:endParaRPr sz="15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500"/>
              </a:spcBef>
            </a:pPr>
            <a:r>
              <a:rPr dirty="0" sz="1450" spc="204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50" spc="204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04" b="1">
                <a:solidFill>
                  <a:srgbClr val="D63A49"/>
                </a:solidFill>
                <a:latin typeface="Times New Roman"/>
                <a:cs typeface="Times New Roman"/>
              </a:rPr>
              <a:t>int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00">
                <a:solidFill>
                  <a:srgbClr val="334054"/>
                </a:solidFill>
                <a:latin typeface="Times New Roman"/>
                <a:cs typeface="Times New Roman"/>
              </a:rPr>
              <a:t>coef)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25" b="1">
                <a:solidFill>
                  <a:srgbClr val="D63A49"/>
                </a:solidFill>
                <a:latin typeface="Times New Roman"/>
                <a:cs typeface="Times New Roman"/>
              </a:rPr>
              <a:t>this</a:t>
            </a:r>
            <a:r>
              <a:rPr dirty="0" sz="1450" spc="325">
                <a:solidFill>
                  <a:srgbClr val="334054"/>
                </a:solidFill>
                <a:latin typeface="Times New Roman"/>
                <a:cs typeface="Times New Roman"/>
              </a:rPr>
              <a:t>.coef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15">
                <a:solidFill>
                  <a:srgbClr val="334054"/>
                </a:solidFill>
                <a:latin typeface="Times New Roman"/>
                <a:cs typeface="Times New Roman"/>
              </a:rPr>
              <a:t>coef;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15949" y="4760999"/>
            <a:ext cx="5397500" cy="60452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30" i="1">
                <a:solidFill>
                  <a:srgbClr val="6A737D"/>
                </a:solidFill>
                <a:latin typeface="Times New Roman"/>
                <a:cs typeface="Times New Roman"/>
              </a:rPr>
              <a:t>Usage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95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50" i="1">
                <a:solidFill>
                  <a:srgbClr val="6A737D"/>
                </a:solidFill>
                <a:latin typeface="Times New Roman"/>
                <a:cs typeface="Times New Roman"/>
              </a:rPr>
              <a:t>encapsulation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20" i="1">
                <a:solidFill>
                  <a:srgbClr val="6A737D"/>
                </a:solidFill>
                <a:latin typeface="Times New Roman"/>
                <a:cs typeface="Times New Roman"/>
              </a:rPr>
              <a:t>forte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450" spc="14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50" spc="495">
                <a:solidFill>
                  <a:srgbClr val="005CC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334054"/>
                </a:solidFill>
                <a:latin typeface="Times New Roman"/>
                <a:cs typeface="Times New Roman"/>
              </a:rPr>
              <a:t>m</a:t>
            </a:r>
            <a:r>
              <a:rPr dirty="0" sz="1450" spc="49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6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7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45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50" spc="245">
                <a:solidFill>
                  <a:srgbClr val="334054"/>
                </a:solidFill>
                <a:latin typeface="Times New Roman"/>
                <a:cs typeface="Times New Roman"/>
              </a:rPr>
              <a:t>("Java",</a:t>
            </a:r>
            <a:r>
              <a:rPr dirty="0" sz="1450" spc="6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40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50" spc="14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140" b="1">
                <a:solidFill>
                  <a:srgbClr val="6F41C1"/>
                </a:solidFill>
                <a:latin typeface="Times New Roman"/>
                <a:cs typeface="Times New Roman"/>
              </a:rPr>
              <a:t>CORE</a:t>
            </a:r>
            <a:r>
              <a:rPr dirty="0" sz="1450" spc="14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dirty="0" spc="-55"/>
              <a:t> </a:t>
            </a:r>
            <a:r>
              <a:rPr dirty="0" spc="-170"/>
              <a:t>Enum</a:t>
            </a:r>
            <a:r>
              <a:rPr dirty="0" spc="-50"/>
              <a:t> </a:t>
            </a:r>
            <a:r>
              <a:rPr dirty="0" spc="-650"/>
              <a:t>—</a:t>
            </a:r>
            <a:r>
              <a:rPr dirty="0" spc="-50"/>
              <a:t> </a:t>
            </a:r>
            <a:r>
              <a:rPr dirty="0" spc="-65"/>
              <a:t>Méthodes</a:t>
            </a:r>
            <a:r>
              <a:rPr dirty="0" spc="-50"/>
              <a:t> </a:t>
            </a:r>
            <a:r>
              <a:rPr dirty="0" spc="-75"/>
              <a:t>pratiques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733288"/>
            <a:ext cx="5633085" cy="725170"/>
            <a:chOff x="435863" y="5733288"/>
            <a:chExt cx="5633085" cy="72517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733288"/>
              <a:ext cx="5633085" cy="725170"/>
            </a:xfrm>
            <a:custGeom>
              <a:avLst/>
              <a:gdLst/>
              <a:ahLst/>
              <a:cxnLst/>
              <a:rect l="l" t="t" r="r" b="b"/>
              <a:pathLst>
                <a:path w="5633085" h="725170">
                  <a:moveTo>
                    <a:pt x="49910" y="724661"/>
                  </a:moveTo>
                  <a:lnTo>
                    <a:pt x="0" y="724661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861"/>
                  </a:lnTo>
                  <a:lnTo>
                    <a:pt x="97535" y="38861"/>
                  </a:lnTo>
                  <a:lnTo>
                    <a:pt x="88033" y="39733"/>
                  </a:lnTo>
                  <a:lnTo>
                    <a:pt x="53398" y="68203"/>
                  </a:lnTo>
                  <a:lnTo>
                    <a:pt x="49910" y="86486"/>
                  </a:lnTo>
                  <a:lnTo>
                    <a:pt x="49910" y="724661"/>
                  </a:lnTo>
                  <a:close/>
                </a:path>
                <a:path w="5633085" h="725170">
                  <a:moveTo>
                    <a:pt x="5632704" y="724661"/>
                  </a:moveTo>
                  <a:lnTo>
                    <a:pt x="5583935" y="724661"/>
                  </a:lnTo>
                  <a:lnTo>
                    <a:pt x="5583935" y="86486"/>
                  </a:lnTo>
                  <a:lnTo>
                    <a:pt x="5583063" y="76984"/>
                  </a:lnTo>
                  <a:lnTo>
                    <a:pt x="5554592" y="42348"/>
                  </a:lnTo>
                  <a:lnTo>
                    <a:pt x="5536310" y="38861"/>
                  </a:lnTo>
                  <a:lnTo>
                    <a:pt x="5632704" y="38861"/>
                  </a:lnTo>
                  <a:lnTo>
                    <a:pt x="5632704" y="7246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762624"/>
              <a:ext cx="5529580" cy="695325"/>
            </a:xfrm>
            <a:custGeom>
              <a:avLst/>
              <a:gdLst/>
              <a:ahLst/>
              <a:cxnLst/>
              <a:rect l="l" t="t" r="r" b="b"/>
              <a:pathLst>
                <a:path w="5529580" h="695325">
                  <a:moveTo>
                    <a:pt x="5529262" y="695324"/>
                  </a:moveTo>
                  <a:lnTo>
                    <a:pt x="0" y="695324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2" y="6953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762624"/>
              <a:ext cx="54610" cy="695325"/>
            </a:xfrm>
            <a:custGeom>
              <a:avLst/>
              <a:gdLst/>
              <a:ahLst/>
              <a:cxnLst/>
              <a:rect l="l" t="t" r="r" b="b"/>
              <a:pathLst>
                <a:path w="54609" h="695325">
                  <a:moveTo>
                    <a:pt x="47624" y="695324"/>
                  </a:moveTo>
                  <a:lnTo>
                    <a:pt x="0" y="695324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953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04202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813141"/>
            <a:ext cx="4521835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350" spc="-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name()</a:t>
            </a:r>
            <a:r>
              <a:rPr dirty="0" sz="1350" spc="-44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obtenir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l'identifiant</a:t>
            </a:r>
            <a:r>
              <a:rPr dirty="0" sz="1350" spc="-1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exact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de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la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constante.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733288"/>
            <a:ext cx="5623560" cy="725170"/>
            <a:chOff x="6132576" y="5733288"/>
            <a:chExt cx="5623560" cy="725170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733288"/>
              <a:ext cx="5623560" cy="725170"/>
            </a:xfrm>
            <a:custGeom>
              <a:avLst/>
              <a:gdLst/>
              <a:ahLst/>
              <a:cxnLst/>
              <a:rect l="l" t="t" r="r" b="b"/>
              <a:pathLst>
                <a:path w="5623559" h="725170">
                  <a:moveTo>
                    <a:pt x="49148" y="724661"/>
                  </a:moveTo>
                  <a:lnTo>
                    <a:pt x="0" y="724661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861"/>
                  </a:lnTo>
                  <a:lnTo>
                    <a:pt x="96773" y="38861"/>
                  </a:lnTo>
                  <a:lnTo>
                    <a:pt x="87271" y="39733"/>
                  </a:lnTo>
                  <a:lnTo>
                    <a:pt x="52635" y="68203"/>
                  </a:lnTo>
                  <a:lnTo>
                    <a:pt x="49148" y="86486"/>
                  </a:lnTo>
                  <a:lnTo>
                    <a:pt x="49148" y="724661"/>
                  </a:lnTo>
                  <a:close/>
                </a:path>
                <a:path w="5623559" h="725170">
                  <a:moveTo>
                    <a:pt x="5623560" y="724661"/>
                  </a:moveTo>
                  <a:lnTo>
                    <a:pt x="5573648" y="724661"/>
                  </a:lnTo>
                  <a:lnTo>
                    <a:pt x="5573648" y="86486"/>
                  </a:lnTo>
                  <a:lnTo>
                    <a:pt x="5572776" y="76984"/>
                  </a:lnTo>
                  <a:lnTo>
                    <a:pt x="5544305" y="42348"/>
                  </a:lnTo>
                  <a:lnTo>
                    <a:pt x="5526023" y="38861"/>
                  </a:lnTo>
                  <a:lnTo>
                    <a:pt x="5623560" y="38861"/>
                  </a:lnTo>
                  <a:lnTo>
                    <a:pt x="5623560" y="7246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762624"/>
              <a:ext cx="5520055" cy="695325"/>
            </a:xfrm>
            <a:custGeom>
              <a:avLst/>
              <a:gdLst/>
              <a:ahLst/>
              <a:cxnLst/>
              <a:rect l="l" t="t" r="r" b="b"/>
              <a:pathLst>
                <a:path w="5520055" h="695325">
                  <a:moveTo>
                    <a:pt x="5519737" y="695324"/>
                  </a:moveTo>
                  <a:lnTo>
                    <a:pt x="0" y="695324"/>
                  </a:lnTo>
                  <a:lnTo>
                    <a:pt x="0" y="49571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7" y="69532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762624"/>
              <a:ext cx="54610" cy="695325"/>
            </a:xfrm>
            <a:custGeom>
              <a:avLst/>
              <a:gdLst/>
              <a:ahLst/>
              <a:cxnLst/>
              <a:rect l="l" t="t" r="r" b="b"/>
              <a:pathLst>
                <a:path w="54610" h="695325">
                  <a:moveTo>
                    <a:pt x="47624" y="695324"/>
                  </a:moveTo>
                  <a:lnTo>
                    <a:pt x="0" y="69532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953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4762" y="6054724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630987" y="5812688"/>
            <a:ext cx="43961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4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Monaco"/>
                <a:cs typeface="Monaco"/>
              </a:rPr>
              <a:t>valueOf()</a:t>
            </a:r>
            <a:r>
              <a:rPr dirty="0" sz="1350" spc="-470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plante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si</a:t>
            </a:r>
            <a:r>
              <a:rPr dirty="0" sz="1350" spc="-4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la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chaîne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ne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correspond</a:t>
            </a:r>
            <a:r>
              <a:rPr dirty="0" sz="1350" spc="-4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7E1C1C"/>
                </a:solidFill>
                <a:latin typeface="Arial"/>
                <a:cs typeface="Arial"/>
              </a:rPr>
              <a:t>pas 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exactement.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49424"/>
            <a:ext cx="12192000" cy="4218305"/>
            <a:chOff x="0" y="2249424"/>
            <a:chExt cx="12192000" cy="4218305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0624" y="2249424"/>
              <a:ext cx="11351260" cy="3444240"/>
            </a:xfrm>
            <a:custGeom>
              <a:avLst/>
              <a:gdLst/>
              <a:ahLst/>
              <a:cxnLst/>
              <a:rect l="l" t="t" r="r" b="b"/>
              <a:pathLst>
                <a:path w="11351260" h="3444240">
                  <a:moveTo>
                    <a:pt x="11350752" y="3444240"/>
                  </a:moveTo>
                  <a:lnTo>
                    <a:pt x="0" y="3444240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3294125"/>
                  </a:lnTo>
                  <a:lnTo>
                    <a:pt x="76377" y="3331174"/>
                  </a:lnTo>
                  <a:lnTo>
                    <a:pt x="106310" y="3355724"/>
                  </a:lnTo>
                  <a:lnTo>
                    <a:pt x="131825" y="3360800"/>
                  </a:lnTo>
                  <a:lnTo>
                    <a:pt x="11350752" y="3360800"/>
                  </a:lnTo>
                  <a:lnTo>
                    <a:pt x="11350752" y="3444240"/>
                  </a:lnTo>
                  <a:close/>
                </a:path>
                <a:path w="11351260" h="3444240">
                  <a:moveTo>
                    <a:pt x="11350752" y="3360800"/>
                  </a:moveTo>
                  <a:lnTo>
                    <a:pt x="11218925" y="3360800"/>
                  </a:lnTo>
                  <a:lnTo>
                    <a:pt x="11225493" y="3360483"/>
                  </a:lnTo>
                  <a:lnTo>
                    <a:pt x="11231935" y="3359531"/>
                  </a:lnTo>
                  <a:lnTo>
                    <a:pt x="11266071" y="3341271"/>
                  </a:lnTo>
                  <a:lnTo>
                    <a:pt x="11284331" y="3307135"/>
                  </a:lnTo>
                  <a:lnTo>
                    <a:pt x="11285600" y="329412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33608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90762"/>
              <a:ext cx="11229975" cy="3324225"/>
            </a:xfrm>
            <a:custGeom>
              <a:avLst/>
              <a:gdLst/>
              <a:ahLst/>
              <a:cxnLst/>
              <a:rect l="l" t="t" r="r" b="b"/>
              <a:pathLst>
                <a:path w="11229975" h="3324225">
                  <a:moveTo>
                    <a:pt x="11163227" y="3324224"/>
                  </a:moveTo>
                  <a:lnTo>
                    <a:pt x="66746" y="3324224"/>
                  </a:lnTo>
                  <a:lnTo>
                    <a:pt x="62101" y="3323766"/>
                  </a:lnTo>
                  <a:lnTo>
                    <a:pt x="24240" y="3306617"/>
                  </a:lnTo>
                  <a:lnTo>
                    <a:pt x="2287" y="3271323"/>
                  </a:lnTo>
                  <a:lnTo>
                    <a:pt x="0" y="3257477"/>
                  </a:lnTo>
                  <a:lnTo>
                    <a:pt x="0" y="3252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257477"/>
                  </a:lnTo>
                  <a:lnTo>
                    <a:pt x="11215327" y="3296375"/>
                  </a:lnTo>
                  <a:lnTo>
                    <a:pt x="11181539" y="3320581"/>
                  </a:lnTo>
                  <a:lnTo>
                    <a:pt x="11167872" y="3323766"/>
                  </a:lnTo>
                  <a:lnTo>
                    <a:pt x="11163227" y="33242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3324225"/>
            </a:xfrm>
            <a:custGeom>
              <a:avLst/>
              <a:gdLst/>
              <a:ahLst/>
              <a:cxnLst/>
              <a:rect l="l" t="t" r="r" b="b"/>
              <a:pathLst>
                <a:path w="11229975" h="3324225">
                  <a:moveTo>
                    <a:pt x="0" y="3252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252787"/>
                  </a:lnTo>
                  <a:lnTo>
                    <a:pt x="11229972" y="3257477"/>
                  </a:lnTo>
                  <a:lnTo>
                    <a:pt x="11229514" y="3262123"/>
                  </a:lnTo>
                  <a:lnTo>
                    <a:pt x="11228599" y="3266723"/>
                  </a:lnTo>
                  <a:lnTo>
                    <a:pt x="11227684" y="3271323"/>
                  </a:lnTo>
                  <a:lnTo>
                    <a:pt x="11205732" y="3306617"/>
                  </a:lnTo>
                  <a:lnTo>
                    <a:pt x="11198222" y="3312184"/>
                  </a:lnTo>
                  <a:lnTo>
                    <a:pt x="11194322" y="3314790"/>
                  </a:lnTo>
                  <a:lnTo>
                    <a:pt x="11158536" y="3324224"/>
                  </a:lnTo>
                  <a:lnTo>
                    <a:pt x="71437" y="3324224"/>
                  </a:lnTo>
                  <a:lnTo>
                    <a:pt x="31748" y="3312184"/>
                  </a:lnTo>
                  <a:lnTo>
                    <a:pt x="27848" y="3309579"/>
                  </a:lnTo>
                  <a:lnTo>
                    <a:pt x="24240" y="3306617"/>
                  </a:lnTo>
                  <a:lnTo>
                    <a:pt x="20923" y="3303300"/>
                  </a:lnTo>
                  <a:lnTo>
                    <a:pt x="17606" y="3299984"/>
                  </a:lnTo>
                  <a:lnTo>
                    <a:pt x="1372" y="3266723"/>
                  </a:lnTo>
                  <a:lnTo>
                    <a:pt x="457" y="3262123"/>
                  </a:lnTo>
                  <a:lnTo>
                    <a:pt x="0" y="3257477"/>
                  </a:lnTo>
                  <a:lnTo>
                    <a:pt x="0" y="3252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6450"/>
            <a:ext cx="10908665" cy="274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Itération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conversion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dynamique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String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vers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Enum.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compilateur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34054"/>
                </a:solidFill>
                <a:latin typeface="Arial"/>
                <a:cs typeface="Arial"/>
              </a:rPr>
              <a:t>génère</a:t>
            </a:r>
            <a:r>
              <a:rPr dirty="0" sz="1650" spc="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automatiquement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méthodes</a:t>
            </a:r>
            <a:r>
              <a:rPr dirty="0" sz="1650" spc="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statiques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values()</a:t>
            </a:r>
            <a:r>
              <a:rPr dirty="0" sz="1650" spc="-52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itérer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sur</a:t>
            </a:r>
            <a:r>
              <a:rPr dirty="0" sz="1650" spc="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toutes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constantes</a:t>
            </a:r>
            <a:r>
              <a:rPr dirty="0" sz="1650" spc="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34054"/>
                </a:solidFill>
                <a:latin typeface="Arial"/>
                <a:cs typeface="Arial"/>
              </a:rPr>
              <a:t>et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valueOf()</a:t>
            </a:r>
            <a:r>
              <a:rPr dirty="0" sz="1650" spc="-57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convertir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chaîne.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160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Parcourir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toutes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20" i="1">
                <a:solidFill>
                  <a:srgbClr val="6A737D"/>
                </a:solidFill>
                <a:latin typeface="Times New Roman"/>
                <a:cs typeface="Times New Roman"/>
              </a:rPr>
              <a:t>les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constantes</a:t>
            </a:r>
            <a:endParaRPr sz="1550">
              <a:latin typeface="Times New Roman"/>
              <a:cs typeface="Times New Roman"/>
            </a:endParaRPr>
          </a:p>
          <a:p>
            <a:pPr marL="278765" marR="4334510" indent="-114300">
              <a:lnSpc>
                <a:spcPts val="2250"/>
              </a:lnSpc>
              <a:spcBef>
                <a:spcPts val="140"/>
              </a:spcBef>
            </a:pPr>
            <a:r>
              <a:rPr dirty="0" sz="1450" spc="280" b="1">
                <a:solidFill>
                  <a:srgbClr val="D63A49"/>
                </a:solidFill>
                <a:latin typeface="Times New Roman"/>
                <a:cs typeface="Times New Roman"/>
              </a:rPr>
              <a:t>for</a:t>
            </a:r>
            <a:r>
              <a:rPr dirty="0" sz="1450" spc="7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2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7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>
                <a:solidFill>
                  <a:srgbClr val="334054"/>
                </a:solidFill>
                <a:latin typeface="Times New Roman"/>
                <a:cs typeface="Times New Roman"/>
              </a:rPr>
              <a:t>m</a:t>
            </a:r>
            <a:r>
              <a:rPr dirty="0" sz="1450" spc="7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495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dirty="0" sz="1450" spc="7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8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80">
                <a:solidFill>
                  <a:srgbClr val="6F41C1"/>
                </a:solidFill>
                <a:latin typeface="Times New Roman"/>
                <a:cs typeface="Times New Roman"/>
              </a:rPr>
              <a:t>values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())</a:t>
            </a:r>
            <a:r>
              <a:rPr dirty="0" sz="1450" spc="7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dirty="0" sz="1450" spc="275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.out.println(m.</a:t>
            </a:r>
            <a:r>
              <a:rPr dirty="0" sz="1450" spc="275">
                <a:solidFill>
                  <a:srgbClr val="6F41C1"/>
                </a:solidFill>
                <a:latin typeface="Times New Roman"/>
                <a:cs typeface="Times New Roman"/>
              </a:rPr>
              <a:t>name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21863A"/>
                </a:solidFill>
                <a:latin typeface="Times New Roman"/>
                <a:cs typeface="Times New Roman"/>
              </a:rPr>
              <a:t>"</a:t>
            </a:r>
            <a:r>
              <a:rPr dirty="0" sz="1450" spc="9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250">
                <a:solidFill>
                  <a:srgbClr val="21863A"/>
                </a:solidFill>
                <a:latin typeface="Times New Roman"/>
                <a:cs typeface="Times New Roman"/>
              </a:rPr>
              <a:t>index</a:t>
            </a:r>
            <a:r>
              <a:rPr dirty="0" sz="1450" spc="9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21863A"/>
                </a:solidFill>
                <a:latin typeface="Times New Roman"/>
                <a:cs typeface="Times New Roman"/>
              </a:rPr>
              <a:t>"</a:t>
            </a:r>
            <a:r>
              <a:rPr dirty="0" sz="1450" spc="8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10">
                <a:solidFill>
                  <a:srgbClr val="334054"/>
                </a:solidFill>
                <a:latin typeface="Times New Roman"/>
                <a:cs typeface="Times New Roman"/>
              </a:rPr>
              <a:t>m.ordinal());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50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5645143" y="3805185"/>
            <a:ext cx="128270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à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95" i="1">
                <a:solidFill>
                  <a:srgbClr val="6A737D"/>
                </a:solidFill>
                <a:latin typeface="Times New Roman"/>
                <a:cs typeface="Times New Roman"/>
              </a:rPr>
              <a:t>la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0" i="1">
                <a:solidFill>
                  <a:srgbClr val="6A737D"/>
                </a:solidFill>
                <a:latin typeface="Times New Roman"/>
                <a:cs typeface="Times New Roman"/>
              </a:rPr>
              <a:t>casse)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15949" y="3761432"/>
            <a:ext cx="5292725" cy="8890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Conversion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String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vers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Enum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75" i="1">
                <a:solidFill>
                  <a:srgbClr val="6A737D"/>
                </a:solidFill>
                <a:latin typeface="Times New Roman"/>
                <a:cs typeface="Times New Roman"/>
              </a:rPr>
              <a:t>(sensible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450" spc="19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8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>
                <a:solidFill>
                  <a:srgbClr val="334054"/>
                </a:solidFill>
                <a:latin typeface="Times New Roman"/>
                <a:cs typeface="Times New Roman"/>
              </a:rPr>
              <a:t>m1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35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23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35">
                <a:solidFill>
                  <a:srgbClr val="6F41C1"/>
                </a:solidFill>
                <a:latin typeface="Times New Roman"/>
                <a:cs typeface="Times New Roman"/>
              </a:rPr>
              <a:t>valueOf</a:t>
            </a:r>
            <a:r>
              <a:rPr dirty="0" sz="1450" spc="23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35">
                <a:solidFill>
                  <a:srgbClr val="21863A"/>
                </a:solidFill>
                <a:latin typeface="Times New Roman"/>
                <a:cs typeface="Times New Roman"/>
              </a:rPr>
              <a:t>"BIEN"</a:t>
            </a:r>
            <a:r>
              <a:rPr dirty="0" sz="1450" spc="235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-25" i="1">
                <a:solidFill>
                  <a:srgbClr val="6A737D"/>
                </a:solidFill>
                <a:latin typeface="Times New Roman"/>
                <a:cs typeface="Times New Roman"/>
              </a:rPr>
              <a:t>OK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7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55" i="1">
                <a:solidFill>
                  <a:srgbClr val="6A737D"/>
                </a:solidFill>
                <a:latin typeface="Times New Roman"/>
                <a:cs typeface="Times New Roman"/>
              </a:rPr>
              <a:t>Mention</a:t>
            </a:r>
            <a:r>
              <a:rPr dirty="0" sz="1550" spc="47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m2</a:t>
            </a:r>
            <a:r>
              <a:rPr dirty="0" sz="1550" spc="47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=</a:t>
            </a:r>
            <a:r>
              <a:rPr dirty="0" sz="1550" spc="47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Mention.valueOf("bien");</a:t>
            </a:r>
            <a:r>
              <a:rPr dirty="0" sz="1550" spc="47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7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6A737D"/>
                </a:solidFill>
                <a:latin typeface="Apple Color Emoji"/>
                <a:cs typeface="Apple Color Emoji"/>
              </a:rPr>
              <a:t>❌</a:t>
            </a:r>
            <a:endParaRPr sz="1800">
              <a:latin typeface="Apple Color Emoji"/>
              <a:cs typeface="Apple Color Emoj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997131" y="4376685"/>
            <a:ext cx="345440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140" i="1">
                <a:solidFill>
                  <a:srgbClr val="6A737D"/>
                </a:solidFill>
                <a:latin typeface="Times New Roman"/>
                <a:cs typeface="Times New Roman"/>
              </a:rPr>
              <a:t>Lance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IllegalArgumentException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15949" y="4847282"/>
            <a:ext cx="4940300" cy="5969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3.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5" i="1">
                <a:solidFill>
                  <a:srgbClr val="6A737D"/>
                </a:solidFill>
                <a:latin typeface="Times New Roman"/>
                <a:cs typeface="Times New Roman"/>
              </a:rPr>
              <a:t>Récupérer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5" i="1">
                <a:solidFill>
                  <a:srgbClr val="6A737D"/>
                </a:solidFill>
                <a:latin typeface="Times New Roman"/>
                <a:cs typeface="Times New Roman"/>
              </a:rPr>
              <a:t>le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nom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sous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0" i="1">
                <a:solidFill>
                  <a:srgbClr val="6A737D"/>
                </a:solidFill>
                <a:latin typeface="Times New Roman"/>
                <a:cs typeface="Times New Roman"/>
              </a:rPr>
              <a:t>forme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4" i="1">
                <a:solidFill>
                  <a:srgbClr val="6A737D"/>
                </a:solidFill>
                <a:latin typeface="Times New Roman"/>
                <a:cs typeface="Times New Roman"/>
              </a:rPr>
              <a:t>String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s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0">
                <a:solidFill>
                  <a:srgbClr val="334054"/>
                </a:solidFill>
                <a:latin typeface="Times New Roman"/>
                <a:cs typeface="Times New Roman"/>
              </a:rPr>
              <a:t>m1.</a:t>
            </a:r>
            <a:r>
              <a:rPr dirty="0" sz="1450" spc="220">
                <a:solidFill>
                  <a:srgbClr val="6F41C1"/>
                </a:solidFill>
                <a:latin typeface="Times New Roman"/>
                <a:cs typeface="Times New Roman"/>
              </a:rPr>
              <a:t>name</a:t>
            </a:r>
            <a:r>
              <a:rPr dirty="0" sz="1450" spc="22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95" i="1">
                <a:solidFill>
                  <a:srgbClr val="6A737D"/>
                </a:solidFill>
                <a:latin typeface="Times New Roman"/>
                <a:cs typeface="Times New Roman"/>
              </a:rPr>
              <a:t>"BIEN"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50" y="254000"/>
            <a:ext cx="453009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dirty="0" spc="-45"/>
              <a:t> </a:t>
            </a:r>
            <a:r>
              <a:rPr dirty="0" spc="-95"/>
              <a:t>Switch</a:t>
            </a:r>
            <a:r>
              <a:rPr dirty="0" spc="-40"/>
              <a:t> </a:t>
            </a:r>
            <a:r>
              <a:rPr dirty="0" spc="-95"/>
              <a:t>classique</a:t>
            </a:r>
            <a:r>
              <a:rPr dirty="0" spc="-40"/>
              <a:t> </a:t>
            </a:r>
            <a:r>
              <a:rPr dirty="0" spc="-114"/>
              <a:t>sur</a:t>
            </a:r>
            <a:r>
              <a:rPr dirty="0" spc="-40"/>
              <a:t> </a:t>
            </a:r>
            <a:r>
              <a:rPr dirty="0" spc="-60"/>
              <a:t>enum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562600"/>
            <a:ext cx="5633085" cy="859790"/>
            <a:chOff x="435863" y="5562600"/>
            <a:chExt cx="5633085" cy="85979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562600"/>
              <a:ext cx="5633085" cy="859790"/>
            </a:xfrm>
            <a:custGeom>
              <a:avLst/>
              <a:gdLst/>
              <a:ahLst/>
              <a:cxnLst/>
              <a:rect l="l" t="t" r="r" b="b"/>
              <a:pathLst>
                <a:path w="5633085" h="859789">
                  <a:moveTo>
                    <a:pt x="5632704" y="859536"/>
                  </a:moveTo>
                  <a:lnTo>
                    <a:pt x="0" y="859536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752474"/>
                  </a:lnTo>
                  <a:lnTo>
                    <a:pt x="71195" y="792252"/>
                  </a:lnTo>
                  <a:lnTo>
                    <a:pt x="97535" y="800099"/>
                  </a:lnTo>
                  <a:lnTo>
                    <a:pt x="5632704" y="800099"/>
                  </a:lnTo>
                  <a:lnTo>
                    <a:pt x="5632704" y="859536"/>
                  </a:lnTo>
                  <a:close/>
                </a:path>
                <a:path w="5633085" h="859789">
                  <a:moveTo>
                    <a:pt x="5632704" y="800099"/>
                  </a:moveTo>
                  <a:lnTo>
                    <a:pt x="5536310" y="800099"/>
                  </a:lnTo>
                  <a:lnTo>
                    <a:pt x="5545812" y="799227"/>
                  </a:lnTo>
                  <a:lnTo>
                    <a:pt x="5554592" y="796612"/>
                  </a:lnTo>
                  <a:lnTo>
                    <a:pt x="5583063" y="761976"/>
                  </a:lnTo>
                  <a:lnTo>
                    <a:pt x="5583935" y="752474"/>
                  </a:lnTo>
                  <a:lnTo>
                    <a:pt x="5583935" y="85724"/>
                  </a:lnTo>
                  <a:lnTo>
                    <a:pt x="5562650" y="45945"/>
                  </a:lnTo>
                  <a:lnTo>
                    <a:pt x="5536310" y="38099"/>
                  </a:lnTo>
                  <a:lnTo>
                    <a:pt x="5632704" y="38099"/>
                  </a:lnTo>
                  <a:lnTo>
                    <a:pt x="5632704" y="8000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591174"/>
              <a:ext cx="5529580" cy="781050"/>
            </a:xfrm>
            <a:custGeom>
              <a:avLst/>
              <a:gdLst/>
              <a:ahLst/>
              <a:cxnLst/>
              <a:rect l="l" t="t" r="r" b="b"/>
              <a:pathLst>
                <a:path w="5529580" h="781050">
                  <a:moveTo>
                    <a:pt x="5475864" y="781049"/>
                  </a:moveTo>
                  <a:lnTo>
                    <a:pt x="28916" y="781049"/>
                  </a:lnTo>
                  <a:lnTo>
                    <a:pt x="24664" y="779598"/>
                  </a:lnTo>
                  <a:lnTo>
                    <a:pt x="845" y="738767"/>
                  </a:lnTo>
                  <a:lnTo>
                    <a:pt x="0" y="731477"/>
                  </a:lnTo>
                  <a:lnTo>
                    <a:pt x="0" y="723899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727652"/>
                  </a:lnTo>
                  <a:lnTo>
                    <a:pt x="5509869" y="766963"/>
                  </a:lnTo>
                  <a:lnTo>
                    <a:pt x="5479580" y="780683"/>
                  </a:lnTo>
                  <a:lnTo>
                    <a:pt x="5475864" y="7810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591174"/>
              <a:ext cx="54610" cy="781050"/>
            </a:xfrm>
            <a:custGeom>
              <a:avLst/>
              <a:gdLst/>
              <a:ahLst/>
              <a:cxnLst/>
              <a:rect l="l" t="t" r="r" b="b"/>
              <a:pathLst>
                <a:path w="54609" h="781050">
                  <a:moveTo>
                    <a:pt x="54519" y="781049"/>
                  </a:moveTo>
                  <a:lnTo>
                    <a:pt x="49571" y="781049"/>
                  </a:lnTo>
                  <a:lnTo>
                    <a:pt x="42281" y="779598"/>
                  </a:lnTo>
                  <a:lnTo>
                    <a:pt x="7250" y="752771"/>
                  </a:lnTo>
                  <a:lnTo>
                    <a:pt x="0" y="73147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23899"/>
                  </a:lnTo>
                  <a:lnTo>
                    <a:pt x="50414" y="764310"/>
                  </a:lnTo>
                  <a:lnTo>
                    <a:pt x="52274" y="775469"/>
                  </a:lnTo>
                  <a:lnTo>
                    <a:pt x="54519" y="7810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880099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643131"/>
            <a:ext cx="4578350" cy="57785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13532D"/>
                </a:solidFill>
                <a:latin typeface="Arial"/>
                <a:cs typeface="Arial"/>
              </a:rPr>
              <a:t>Dans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3532D"/>
                </a:solidFill>
                <a:latin typeface="Monaco"/>
                <a:cs typeface="Monaco"/>
              </a:rPr>
              <a:t>case</a:t>
            </a:r>
            <a:r>
              <a:rPr dirty="0" sz="1400" spc="-25">
                <a:solidFill>
                  <a:srgbClr val="13532D"/>
                </a:solidFill>
                <a:latin typeface="Arial"/>
                <a:cs typeface="Arial"/>
              </a:rPr>
              <a:t>,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directement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532D"/>
                </a:solidFill>
                <a:latin typeface="Arial"/>
                <a:cs typeface="Arial"/>
              </a:rPr>
              <a:t>la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constante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(ex: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350" spc="-10">
                <a:solidFill>
                  <a:srgbClr val="13532D"/>
                </a:solidFill>
                <a:latin typeface="Monaco"/>
                <a:cs typeface="Monaco"/>
              </a:rPr>
              <a:t>BIEN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562600"/>
            <a:ext cx="5623560" cy="859790"/>
            <a:chOff x="6132576" y="5562600"/>
            <a:chExt cx="5623560" cy="859790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562600"/>
              <a:ext cx="5623560" cy="859790"/>
            </a:xfrm>
            <a:custGeom>
              <a:avLst/>
              <a:gdLst/>
              <a:ahLst/>
              <a:cxnLst/>
              <a:rect l="l" t="t" r="r" b="b"/>
              <a:pathLst>
                <a:path w="5623559" h="859789">
                  <a:moveTo>
                    <a:pt x="5623560" y="859536"/>
                  </a:moveTo>
                  <a:lnTo>
                    <a:pt x="0" y="859536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099"/>
                  </a:lnTo>
                  <a:lnTo>
                    <a:pt x="96773" y="38099"/>
                  </a:lnTo>
                  <a:lnTo>
                    <a:pt x="87271" y="38971"/>
                  </a:lnTo>
                  <a:lnTo>
                    <a:pt x="52635" y="67441"/>
                  </a:lnTo>
                  <a:lnTo>
                    <a:pt x="49148" y="85724"/>
                  </a:lnTo>
                  <a:lnTo>
                    <a:pt x="49148" y="752474"/>
                  </a:lnTo>
                  <a:lnTo>
                    <a:pt x="70433" y="792252"/>
                  </a:lnTo>
                  <a:lnTo>
                    <a:pt x="96773" y="800099"/>
                  </a:lnTo>
                  <a:lnTo>
                    <a:pt x="5623560" y="800099"/>
                  </a:lnTo>
                  <a:lnTo>
                    <a:pt x="5623560" y="859536"/>
                  </a:lnTo>
                  <a:close/>
                </a:path>
                <a:path w="5623559" h="859789">
                  <a:moveTo>
                    <a:pt x="5623560" y="800099"/>
                  </a:moveTo>
                  <a:lnTo>
                    <a:pt x="5526023" y="800099"/>
                  </a:lnTo>
                  <a:lnTo>
                    <a:pt x="5535525" y="799227"/>
                  </a:lnTo>
                  <a:lnTo>
                    <a:pt x="5544305" y="796612"/>
                  </a:lnTo>
                  <a:lnTo>
                    <a:pt x="5572776" y="761976"/>
                  </a:lnTo>
                  <a:lnTo>
                    <a:pt x="5573648" y="752474"/>
                  </a:lnTo>
                  <a:lnTo>
                    <a:pt x="5573648" y="85724"/>
                  </a:lnTo>
                  <a:lnTo>
                    <a:pt x="5552363" y="45945"/>
                  </a:lnTo>
                  <a:lnTo>
                    <a:pt x="5526023" y="38099"/>
                  </a:lnTo>
                  <a:lnTo>
                    <a:pt x="5623560" y="38099"/>
                  </a:lnTo>
                  <a:lnTo>
                    <a:pt x="5623560" y="8000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591174"/>
              <a:ext cx="5520055" cy="781050"/>
            </a:xfrm>
            <a:custGeom>
              <a:avLst/>
              <a:gdLst/>
              <a:ahLst/>
              <a:cxnLst/>
              <a:rect l="l" t="t" r="r" b="b"/>
              <a:pathLst>
                <a:path w="5520055" h="781050">
                  <a:moveTo>
                    <a:pt x="5466338" y="781049"/>
                  </a:moveTo>
                  <a:lnTo>
                    <a:pt x="28916" y="781049"/>
                  </a:lnTo>
                  <a:lnTo>
                    <a:pt x="24662" y="779598"/>
                  </a:lnTo>
                  <a:lnTo>
                    <a:pt x="845" y="738767"/>
                  </a:lnTo>
                  <a:lnTo>
                    <a:pt x="0" y="731477"/>
                  </a:lnTo>
                  <a:lnTo>
                    <a:pt x="0" y="723899"/>
                  </a:lnTo>
                  <a:lnTo>
                    <a:pt x="0" y="49570"/>
                  </a:lnTo>
                  <a:lnTo>
                    <a:pt x="12889" y="11380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727652"/>
                  </a:lnTo>
                  <a:lnTo>
                    <a:pt x="5500342" y="766963"/>
                  </a:lnTo>
                  <a:lnTo>
                    <a:pt x="5470054" y="780683"/>
                  </a:lnTo>
                  <a:lnTo>
                    <a:pt x="5466338" y="78104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591174"/>
              <a:ext cx="54610" cy="781050"/>
            </a:xfrm>
            <a:custGeom>
              <a:avLst/>
              <a:gdLst/>
              <a:ahLst/>
              <a:cxnLst/>
              <a:rect l="l" t="t" r="r" b="b"/>
              <a:pathLst>
                <a:path w="54610" h="781050">
                  <a:moveTo>
                    <a:pt x="54519" y="781049"/>
                  </a:moveTo>
                  <a:lnTo>
                    <a:pt x="49570" y="781049"/>
                  </a:lnTo>
                  <a:lnTo>
                    <a:pt x="42280" y="779598"/>
                  </a:lnTo>
                  <a:lnTo>
                    <a:pt x="7249" y="752771"/>
                  </a:lnTo>
                  <a:lnTo>
                    <a:pt x="0" y="7314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23899"/>
                  </a:lnTo>
                  <a:lnTo>
                    <a:pt x="50414" y="764310"/>
                  </a:lnTo>
                  <a:lnTo>
                    <a:pt x="52274" y="775469"/>
                  </a:lnTo>
                  <a:lnTo>
                    <a:pt x="54519" y="7810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4762" y="5892799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630987" y="5652656"/>
            <a:ext cx="4216400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5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5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7E1C1C"/>
                </a:solidFill>
                <a:latin typeface="Arial"/>
                <a:cs typeface="Arial"/>
              </a:rPr>
              <a:t>L'oubli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7E1C1C"/>
                </a:solidFill>
                <a:latin typeface="Arial"/>
                <a:cs typeface="Arial"/>
              </a:rPr>
              <a:t>du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Monaco"/>
                <a:cs typeface="Monaco"/>
              </a:rPr>
              <a:t>break</a:t>
            </a:r>
            <a:r>
              <a:rPr dirty="0" sz="1350" spc="-475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400" spc="-35">
                <a:solidFill>
                  <a:srgbClr val="7E1C1C"/>
                </a:solidFill>
                <a:latin typeface="Arial"/>
                <a:cs typeface="Arial"/>
              </a:rPr>
              <a:t>exécute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les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cas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suivants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("fall- through").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49424"/>
            <a:ext cx="12192000" cy="4218305"/>
            <a:chOff x="0" y="2249424"/>
            <a:chExt cx="12192000" cy="4218305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0624" y="2249424"/>
              <a:ext cx="11351260" cy="3274060"/>
            </a:xfrm>
            <a:custGeom>
              <a:avLst/>
              <a:gdLst/>
              <a:ahLst/>
              <a:cxnLst/>
              <a:rect l="l" t="t" r="r" b="b"/>
              <a:pathLst>
                <a:path w="11351260" h="3274060">
                  <a:moveTo>
                    <a:pt x="11350752" y="3273552"/>
                  </a:moveTo>
                  <a:lnTo>
                    <a:pt x="0" y="3273552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3122675"/>
                  </a:lnTo>
                  <a:lnTo>
                    <a:pt x="76377" y="3159724"/>
                  </a:lnTo>
                  <a:lnTo>
                    <a:pt x="106310" y="3184274"/>
                  </a:lnTo>
                  <a:lnTo>
                    <a:pt x="131825" y="3189350"/>
                  </a:lnTo>
                  <a:lnTo>
                    <a:pt x="11350752" y="3189350"/>
                  </a:lnTo>
                  <a:lnTo>
                    <a:pt x="11350752" y="3273552"/>
                  </a:lnTo>
                  <a:close/>
                </a:path>
                <a:path w="11351260" h="3274060">
                  <a:moveTo>
                    <a:pt x="11350752" y="3189350"/>
                  </a:moveTo>
                  <a:lnTo>
                    <a:pt x="11218925" y="3189350"/>
                  </a:lnTo>
                  <a:lnTo>
                    <a:pt x="11225493" y="3189033"/>
                  </a:lnTo>
                  <a:lnTo>
                    <a:pt x="11231934" y="3188081"/>
                  </a:lnTo>
                  <a:lnTo>
                    <a:pt x="11266071" y="3169821"/>
                  </a:lnTo>
                  <a:lnTo>
                    <a:pt x="11284331" y="3135685"/>
                  </a:lnTo>
                  <a:lnTo>
                    <a:pt x="11285600" y="312267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31893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90762"/>
              <a:ext cx="11229975" cy="3152775"/>
            </a:xfrm>
            <a:custGeom>
              <a:avLst/>
              <a:gdLst/>
              <a:ahLst/>
              <a:cxnLst/>
              <a:rect l="l" t="t" r="r" b="b"/>
              <a:pathLst>
                <a:path w="11229975" h="3152775">
                  <a:moveTo>
                    <a:pt x="11163227" y="3152774"/>
                  </a:moveTo>
                  <a:lnTo>
                    <a:pt x="66746" y="3152774"/>
                  </a:lnTo>
                  <a:lnTo>
                    <a:pt x="62101" y="3152316"/>
                  </a:lnTo>
                  <a:lnTo>
                    <a:pt x="24240" y="3135167"/>
                  </a:lnTo>
                  <a:lnTo>
                    <a:pt x="2287" y="3099874"/>
                  </a:lnTo>
                  <a:lnTo>
                    <a:pt x="0" y="3086028"/>
                  </a:lnTo>
                  <a:lnTo>
                    <a:pt x="0" y="30813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086028"/>
                  </a:lnTo>
                  <a:lnTo>
                    <a:pt x="11215327" y="3124925"/>
                  </a:lnTo>
                  <a:lnTo>
                    <a:pt x="11181539" y="3149131"/>
                  </a:lnTo>
                  <a:lnTo>
                    <a:pt x="11167872" y="3152316"/>
                  </a:lnTo>
                  <a:lnTo>
                    <a:pt x="11163227" y="31527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3152775"/>
            </a:xfrm>
            <a:custGeom>
              <a:avLst/>
              <a:gdLst/>
              <a:ahLst/>
              <a:cxnLst/>
              <a:rect l="l" t="t" r="r" b="b"/>
              <a:pathLst>
                <a:path w="11229975" h="3152775">
                  <a:moveTo>
                    <a:pt x="0" y="30813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081337"/>
                  </a:lnTo>
                  <a:lnTo>
                    <a:pt x="11217932" y="3121024"/>
                  </a:lnTo>
                  <a:lnTo>
                    <a:pt x="11215327" y="3124925"/>
                  </a:lnTo>
                  <a:lnTo>
                    <a:pt x="11198222" y="3140735"/>
                  </a:lnTo>
                  <a:lnTo>
                    <a:pt x="11194322" y="3143340"/>
                  </a:lnTo>
                  <a:lnTo>
                    <a:pt x="11172472" y="3151400"/>
                  </a:lnTo>
                  <a:lnTo>
                    <a:pt x="11167872" y="3152316"/>
                  </a:lnTo>
                  <a:lnTo>
                    <a:pt x="11163227" y="3152774"/>
                  </a:lnTo>
                  <a:lnTo>
                    <a:pt x="11158536" y="3152774"/>
                  </a:lnTo>
                  <a:lnTo>
                    <a:pt x="71437" y="3152774"/>
                  </a:lnTo>
                  <a:lnTo>
                    <a:pt x="66746" y="3152774"/>
                  </a:lnTo>
                  <a:lnTo>
                    <a:pt x="62101" y="3152316"/>
                  </a:lnTo>
                  <a:lnTo>
                    <a:pt x="57500" y="3151400"/>
                  </a:lnTo>
                  <a:lnTo>
                    <a:pt x="52900" y="3150486"/>
                  </a:lnTo>
                  <a:lnTo>
                    <a:pt x="31748" y="3140734"/>
                  </a:lnTo>
                  <a:lnTo>
                    <a:pt x="27848" y="3138128"/>
                  </a:lnTo>
                  <a:lnTo>
                    <a:pt x="24240" y="3135167"/>
                  </a:lnTo>
                  <a:lnTo>
                    <a:pt x="20923" y="3131850"/>
                  </a:lnTo>
                  <a:lnTo>
                    <a:pt x="17606" y="3128534"/>
                  </a:lnTo>
                  <a:lnTo>
                    <a:pt x="5437" y="3108674"/>
                  </a:lnTo>
                  <a:lnTo>
                    <a:pt x="3642" y="3104341"/>
                  </a:lnTo>
                  <a:lnTo>
                    <a:pt x="2287" y="3099874"/>
                  </a:lnTo>
                  <a:lnTo>
                    <a:pt x="1372" y="3095274"/>
                  </a:lnTo>
                  <a:lnTo>
                    <a:pt x="457" y="3090673"/>
                  </a:lnTo>
                  <a:lnTo>
                    <a:pt x="0" y="3086028"/>
                  </a:lnTo>
                  <a:lnTo>
                    <a:pt x="0" y="30813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4691"/>
            <a:ext cx="10944860" cy="24669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Utiliser</a:t>
            </a:r>
            <a:r>
              <a:rPr dirty="0" sz="1350" spc="-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une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 structure de contrôle familière </a:t>
            </a:r>
            <a:r>
              <a:rPr dirty="0" sz="1350" spc="-20">
                <a:solidFill>
                  <a:srgbClr val="64738B"/>
                </a:solidFill>
                <a:latin typeface="Arial"/>
                <a:cs typeface="Arial"/>
              </a:rPr>
              <a:t>avec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 vérification de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type.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115"/>
              </a:spcBef>
            </a:pP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switch</a:t>
            </a:r>
            <a:r>
              <a:rPr dirty="0" sz="1650" spc="-58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classique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permet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d'exécuter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bloc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code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spécifique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selon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valeur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l'énumération.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Contrairement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34054"/>
                </a:solidFill>
                <a:latin typeface="Arial"/>
                <a:cs typeface="Arial"/>
              </a:rPr>
              <a:t>au </a:t>
            </a:r>
            <a:r>
              <a:rPr dirty="0" sz="1650" spc="-85">
                <a:solidFill>
                  <a:srgbClr val="334054"/>
                </a:solidFill>
                <a:latin typeface="Arial"/>
                <a:cs typeface="Arial"/>
              </a:rPr>
              <a:t>C++,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vérifie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type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permet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d'omettre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nom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classe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dans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Monaco"/>
                <a:cs typeface="Monaco"/>
              </a:rPr>
              <a:t>case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1605"/>
              </a:spcBef>
            </a:pPr>
            <a:r>
              <a:rPr dirty="0" sz="1450" spc="235" b="1">
                <a:solidFill>
                  <a:srgbClr val="D63A49"/>
                </a:solidFill>
                <a:latin typeface="Times New Roman"/>
                <a:cs typeface="Times New Roman"/>
              </a:rPr>
              <a:t>switch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(mention)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mention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20" i="1">
                <a:solidFill>
                  <a:srgbClr val="6A737D"/>
                </a:solidFill>
                <a:latin typeface="Times New Roman"/>
                <a:cs typeface="Times New Roman"/>
              </a:rPr>
              <a:t>est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type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50" i="1">
                <a:solidFill>
                  <a:srgbClr val="6A737D"/>
                </a:solidFill>
                <a:latin typeface="Times New Roman"/>
                <a:cs typeface="Times New Roman"/>
              </a:rPr>
              <a:t>Mention</a:t>
            </a:r>
            <a:endParaRPr sz="15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390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case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70" b="1">
                <a:solidFill>
                  <a:srgbClr val="6F41C1"/>
                </a:solidFill>
                <a:latin typeface="Times New Roman"/>
                <a:cs typeface="Times New Roman"/>
              </a:rPr>
              <a:t>PASSABLE</a:t>
            </a:r>
            <a:r>
              <a:rPr dirty="0" sz="1450" spc="7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-265">
                <a:solidFill>
                  <a:srgbClr val="6A737D"/>
                </a:solidFill>
                <a:latin typeface="Hiragino Maru Gothic ProN"/>
                <a:cs typeface="Hiragino Maru Gothic ProN"/>
              </a:rPr>
              <a:t>⚠</a:t>
            </a:r>
            <a:r>
              <a:rPr dirty="0" sz="1550" spc="400">
                <a:solidFill>
                  <a:srgbClr val="6A737D"/>
                </a:solidFill>
                <a:latin typeface="Hiragino Maru Gothic ProN"/>
                <a:cs typeface="Hiragino Maru Gothic ProN"/>
              </a:rPr>
              <a:t>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Pas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00" i="1">
                <a:solidFill>
                  <a:srgbClr val="6A737D"/>
                </a:solidFill>
                <a:latin typeface="Times New Roman"/>
                <a:cs typeface="Times New Roman"/>
              </a:rPr>
              <a:t>Mention.PASSABLE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75" i="1">
                <a:solidFill>
                  <a:srgbClr val="6A737D"/>
                </a:solidFill>
                <a:latin typeface="Times New Roman"/>
                <a:cs typeface="Times New Roman"/>
              </a:rPr>
              <a:t>ici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0" i="1">
                <a:solidFill>
                  <a:srgbClr val="6A737D"/>
                </a:solidFill>
                <a:latin typeface="Times New Roman"/>
                <a:cs typeface="Times New Roman"/>
              </a:rPr>
              <a:t>!</a:t>
            </a:r>
            <a:endParaRPr sz="1550">
              <a:latin typeface="Times New Roman"/>
              <a:cs typeface="Times New Roman"/>
            </a:endParaRPr>
          </a:p>
          <a:p>
            <a:pPr marL="1078865">
              <a:lnSpc>
                <a:spcPct val="100000"/>
              </a:lnSpc>
              <a:spcBef>
                <a:spcPts val="390"/>
              </a:spcBef>
            </a:pPr>
            <a:r>
              <a:rPr dirty="0" sz="1450" spc="285">
                <a:solidFill>
                  <a:srgbClr val="334054"/>
                </a:solidFill>
                <a:latin typeface="Times New Roman"/>
                <a:cs typeface="Times New Roman"/>
              </a:rPr>
              <a:t>System.out.println(</a:t>
            </a:r>
            <a:r>
              <a:rPr dirty="0" sz="1550" spc="285">
                <a:solidFill>
                  <a:srgbClr val="21863A"/>
                </a:solidFill>
                <a:latin typeface="Times New Roman"/>
                <a:cs typeface="Times New Roman"/>
              </a:rPr>
              <a:t>"Peut</a:t>
            </a:r>
            <a:r>
              <a:rPr dirty="0" sz="1550" spc="9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120">
                <a:solidFill>
                  <a:srgbClr val="21863A"/>
                </a:solidFill>
                <a:latin typeface="Times New Roman"/>
                <a:cs typeface="Times New Roman"/>
              </a:rPr>
              <a:t>mieux</a:t>
            </a:r>
            <a:r>
              <a:rPr dirty="0" sz="1550" spc="9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340">
                <a:solidFill>
                  <a:srgbClr val="21863A"/>
                </a:solidFill>
                <a:latin typeface="Times New Roman"/>
                <a:cs typeface="Times New Roman"/>
              </a:rPr>
              <a:t>faire"</a:t>
            </a:r>
            <a:r>
              <a:rPr dirty="0" sz="1450" spc="34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1987550" y="3290835"/>
            <a:ext cx="3847465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-265">
                <a:solidFill>
                  <a:srgbClr val="6A737D"/>
                </a:solidFill>
                <a:latin typeface="Hiragino Maru Gothic ProN"/>
                <a:cs typeface="Hiragino Maru Gothic ProN"/>
              </a:rPr>
              <a:t>⚠</a:t>
            </a:r>
            <a:r>
              <a:rPr dirty="0" sz="1550" spc="395">
                <a:solidFill>
                  <a:srgbClr val="6A737D"/>
                </a:solidFill>
                <a:latin typeface="Hiragino Maru Gothic ProN"/>
                <a:cs typeface="Hiragino Maru Gothic ProN"/>
              </a:rPr>
              <a:t>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Important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20" i="1">
                <a:solidFill>
                  <a:srgbClr val="6A737D"/>
                </a:solidFill>
                <a:latin typeface="Times New Roman"/>
                <a:cs typeface="Times New Roman"/>
              </a:rPr>
              <a:t>sortir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du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switch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30249" y="3244316"/>
            <a:ext cx="1168400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95"/>
              </a:spcBef>
            </a:pPr>
            <a:r>
              <a:rPr dirty="0" sz="1450" spc="210" b="1">
                <a:solidFill>
                  <a:srgbClr val="D63A49"/>
                </a:solidFill>
                <a:latin typeface="Times New Roman"/>
                <a:cs typeface="Times New Roman"/>
              </a:rPr>
              <a:t>break</a:t>
            </a:r>
            <a:r>
              <a:rPr dirty="0" sz="1450" spc="210">
                <a:solidFill>
                  <a:srgbClr val="334054"/>
                </a:solidFill>
                <a:latin typeface="Times New Roman"/>
                <a:cs typeface="Times New Roman"/>
              </a:rPr>
              <a:t>; </a:t>
            </a: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case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140" b="1">
                <a:solidFill>
                  <a:srgbClr val="6F41C1"/>
                </a:solidFill>
                <a:latin typeface="Times New Roman"/>
                <a:cs typeface="Times New Roman"/>
              </a:rPr>
              <a:t>BIEN</a:t>
            </a:r>
            <a:r>
              <a:rPr dirty="0" sz="1450" spc="14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530348" y="3868356"/>
            <a:ext cx="3911600" cy="260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270">
                <a:solidFill>
                  <a:srgbClr val="334054"/>
                </a:solidFill>
                <a:latin typeface="Times New Roman"/>
                <a:cs typeface="Times New Roman"/>
              </a:rPr>
              <a:t>System.out.println(</a:t>
            </a:r>
            <a:r>
              <a:rPr dirty="0" sz="1550" spc="270">
                <a:solidFill>
                  <a:srgbClr val="21863A"/>
                </a:solidFill>
                <a:latin typeface="Times New Roman"/>
                <a:cs typeface="Times New Roman"/>
              </a:rPr>
              <a:t>"Bon</a:t>
            </a:r>
            <a:r>
              <a:rPr dirty="0" sz="1550" spc="7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335">
                <a:solidFill>
                  <a:srgbClr val="21863A"/>
                </a:solidFill>
                <a:latin typeface="Times New Roman"/>
                <a:cs typeface="Times New Roman"/>
              </a:rPr>
              <a:t>travail"</a:t>
            </a:r>
            <a:r>
              <a:rPr dirty="0" sz="1450" spc="335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0249" y="4101566"/>
            <a:ext cx="939800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95"/>
              </a:spcBef>
            </a:pPr>
            <a:r>
              <a:rPr dirty="0" sz="1450" spc="210" b="1">
                <a:solidFill>
                  <a:srgbClr val="D63A49"/>
                </a:solidFill>
                <a:latin typeface="Times New Roman"/>
                <a:cs typeface="Times New Roman"/>
              </a:rPr>
              <a:t>break</a:t>
            </a:r>
            <a:r>
              <a:rPr dirty="0" sz="1450" spc="210">
                <a:solidFill>
                  <a:srgbClr val="334054"/>
                </a:solidFill>
                <a:latin typeface="Times New Roman"/>
                <a:cs typeface="Times New Roman"/>
              </a:rPr>
              <a:t>; </a:t>
            </a:r>
            <a:r>
              <a:rPr dirty="0" sz="1450" spc="290" b="1">
                <a:solidFill>
                  <a:srgbClr val="D63A49"/>
                </a:solidFill>
                <a:latin typeface="Times New Roman"/>
                <a:cs typeface="Times New Roman"/>
              </a:rPr>
              <a:t>default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444749" y="4433835"/>
            <a:ext cx="528320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Gère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20" i="1">
                <a:solidFill>
                  <a:srgbClr val="6A737D"/>
                </a:solidFill>
                <a:latin typeface="Times New Roman"/>
                <a:cs typeface="Times New Roman"/>
              </a:rPr>
              <a:t>les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autres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cas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10" i="1">
                <a:solidFill>
                  <a:srgbClr val="6A737D"/>
                </a:solidFill>
                <a:latin typeface="Times New Roman"/>
                <a:cs typeface="Times New Roman"/>
              </a:rPr>
              <a:t>(ASSEZ_BIEN,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TRES_BIEN)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15949" y="4663326"/>
            <a:ext cx="5168900" cy="6070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926465">
              <a:lnSpc>
                <a:spcPct val="100000"/>
              </a:lnSpc>
              <a:spcBef>
                <a:spcPts val="580"/>
              </a:spcBef>
            </a:pP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System.out.println(</a:t>
            </a:r>
            <a:r>
              <a:rPr dirty="0" sz="1550" spc="280">
                <a:solidFill>
                  <a:srgbClr val="21863A"/>
                </a:solidFill>
                <a:latin typeface="Times New Roman"/>
                <a:cs typeface="Times New Roman"/>
              </a:rPr>
              <a:t>"Autre</a:t>
            </a:r>
            <a:r>
              <a:rPr dirty="0" sz="1550" spc="10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330">
                <a:solidFill>
                  <a:srgbClr val="21863A"/>
                </a:solidFill>
                <a:latin typeface="Times New Roman"/>
                <a:cs typeface="Times New Roman"/>
              </a:rPr>
              <a:t>résultat"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dirty="0" spc="-50"/>
              <a:t> </a:t>
            </a:r>
            <a:r>
              <a:rPr dirty="0" spc="-90"/>
              <a:t>switch</a:t>
            </a:r>
            <a:r>
              <a:rPr dirty="0" spc="-50"/>
              <a:t> </a:t>
            </a:r>
            <a:r>
              <a:rPr dirty="0" spc="-105"/>
              <a:t>expression</a:t>
            </a:r>
            <a:r>
              <a:rPr dirty="0" spc="-45"/>
              <a:t> </a:t>
            </a:r>
            <a:r>
              <a:rPr dirty="0" spc="-95"/>
              <a:t>avec</a:t>
            </a:r>
            <a:r>
              <a:rPr dirty="0" spc="-50"/>
              <a:t> →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6450"/>
            <a:ext cx="10453370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Une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syntaxe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concise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pour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retourner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directement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une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valeur.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Depuis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700" spc="-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14,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switch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peut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être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utilisé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comme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expression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retourne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résultat.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La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syntaxe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flèche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-</a:t>
            </a:r>
            <a:r>
              <a:rPr dirty="0" sz="1650" spc="-50">
                <a:solidFill>
                  <a:srgbClr val="334054"/>
                </a:solidFill>
                <a:latin typeface="Monaco"/>
                <a:cs typeface="Monaco"/>
              </a:rPr>
              <a:t>&gt;</a:t>
            </a:r>
            <a:endParaRPr sz="16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supprime</a:t>
            </a:r>
            <a:r>
              <a:rPr dirty="0" sz="1700" spc="-10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besoin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break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empêche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oublis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(plus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"fall-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through").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5863" y="5398008"/>
            <a:ext cx="5633085" cy="822960"/>
            <a:chOff x="435863" y="5398008"/>
            <a:chExt cx="5633085" cy="822960"/>
          </a:xfrm>
        </p:grpSpPr>
        <p:sp>
          <p:nvSpPr>
            <p:cNvPr id="5" name="object 5" descr=""/>
            <p:cNvSpPr/>
            <p:nvPr/>
          </p:nvSpPr>
          <p:spPr>
            <a:xfrm>
              <a:off x="435863" y="5398008"/>
              <a:ext cx="5633085" cy="822960"/>
            </a:xfrm>
            <a:custGeom>
              <a:avLst/>
              <a:gdLst/>
              <a:ahLst/>
              <a:cxnLst/>
              <a:rect l="l" t="t" r="r" b="b"/>
              <a:pathLst>
                <a:path w="5633085" h="822960">
                  <a:moveTo>
                    <a:pt x="5632704" y="822960"/>
                  </a:moveTo>
                  <a:lnTo>
                    <a:pt x="0" y="822960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40766"/>
                  </a:lnTo>
                  <a:lnTo>
                    <a:pt x="97535" y="40766"/>
                  </a:lnTo>
                  <a:lnTo>
                    <a:pt x="88033" y="41638"/>
                  </a:lnTo>
                  <a:lnTo>
                    <a:pt x="53398" y="70108"/>
                  </a:lnTo>
                  <a:lnTo>
                    <a:pt x="49910" y="88391"/>
                  </a:lnTo>
                  <a:lnTo>
                    <a:pt x="49910" y="717041"/>
                  </a:lnTo>
                  <a:lnTo>
                    <a:pt x="71195" y="756820"/>
                  </a:lnTo>
                  <a:lnTo>
                    <a:pt x="97535" y="764666"/>
                  </a:lnTo>
                  <a:lnTo>
                    <a:pt x="5632704" y="764666"/>
                  </a:lnTo>
                  <a:lnTo>
                    <a:pt x="5632704" y="822960"/>
                  </a:lnTo>
                  <a:close/>
                </a:path>
                <a:path w="5633085" h="822960">
                  <a:moveTo>
                    <a:pt x="5632704" y="764666"/>
                  </a:moveTo>
                  <a:lnTo>
                    <a:pt x="5536310" y="764666"/>
                  </a:lnTo>
                  <a:lnTo>
                    <a:pt x="5545812" y="763794"/>
                  </a:lnTo>
                  <a:lnTo>
                    <a:pt x="5554592" y="761179"/>
                  </a:lnTo>
                  <a:lnTo>
                    <a:pt x="5583063" y="726543"/>
                  </a:lnTo>
                  <a:lnTo>
                    <a:pt x="5583935" y="717041"/>
                  </a:lnTo>
                  <a:lnTo>
                    <a:pt x="5583935" y="88391"/>
                  </a:lnTo>
                  <a:lnTo>
                    <a:pt x="5562650" y="48612"/>
                  </a:lnTo>
                  <a:lnTo>
                    <a:pt x="5536310" y="40766"/>
                  </a:lnTo>
                  <a:lnTo>
                    <a:pt x="5632704" y="40766"/>
                  </a:lnTo>
                  <a:lnTo>
                    <a:pt x="5632704" y="76466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0062" y="5429249"/>
              <a:ext cx="5529580" cy="742950"/>
            </a:xfrm>
            <a:custGeom>
              <a:avLst/>
              <a:gdLst/>
              <a:ahLst/>
              <a:cxnLst/>
              <a:rect l="l" t="t" r="r" b="b"/>
              <a:pathLst>
                <a:path w="5529580" h="742950">
                  <a:moveTo>
                    <a:pt x="5475864" y="742949"/>
                  </a:moveTo>
                  <a:lnTo>
                    <a:pt x="28916" y="742949"/>
                  </a:lnTo>
                  <a:lnTo>
                    <a:pt x="845" y="700668"/>
                  </a:lnTo>
                  <a:lnTo>
                    <a:pt x="0" y="693377"/>
                  </a:lnTo>
                  <a:lnTo>
                    <a:pt x="0" y="6857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689552"/>
                  </a:lnTo>
                  <a:lnTo>
                    <a:pt x="5509869" y="728864"/>
                  </a:lnTo>
                  <a:lnTo>
                    <a:pt x="5479580" y="742583"/>
                  </a:lnTo>
                  <a:lnTo>
                    <a:pt x="5475864" y="7429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249" y="5429249"/>
              <a:ext cx="54610" cy="742950"/>
            </a:xfrm>
            <a:custGeom>
              <a:avLst/>
              <a:gdLst/>
              <a:ahLst/>
              <a:cxnLst/>
              <a:rect l="l" t="t" r="r" b="b"/>
              <a:pathLst>
                <a:path w="54609" h="742950">
                  <a:moveTo>
                    <a:pt x="54519" y="742949"/>
                  </a:moveTo>
                  <a:lnTo>
                    <a:pt x="49571" y="742949"/>
                  </a:lnTo>
                  <a:lnTo>
                    <a:pt x="42281" y="741498"/>
                  </a:lnTo>
                  <a:lnTo>
                    <a:pt x="7250" y="714671"/>
                  </a:lnTo>
                  <a:lnTo>
                    <a:pt x="0" y="69337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85799"/>
                  </a:lnTo>
                  <a:lnTo>
                    <a:pt x="50414" y="726210"/>
                  </a:lnTo>
                  <a:lnTo>
                    <a:pt x="52274" y="737369"/>
                  </a:lnTo>
                  <a:lnTo>
                    <a:pt x="54519" y="7429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699124"/>
              <a:ext cx="190500" cy="19367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939800" y="5673640"/>
            <a:ext cx="473011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Courier New"/>
                <a:cs typeface="Courier New"/>
              </a:rPr>
              <a:t>-&gt;</a:t>
            </a:r>
            <a:r>
              <a:rPr dirty="0" sz="1350" spc="-470">
                <a:solidFill>
                  <a:srgbClr val="13532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quand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chaque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cas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produit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une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seule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valeur.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132576" y="5398008"/>
            <a:ext cx="5623560" cy="822960"/>
            <a:chOff x="6132576" y="5398008"/>
            <a:chExt cx="5623560" cy="822960"/>
          </a:xfrm>
        </p:grpSpPr>
        <p:sp>
          <p:nvSpPr>
            <p:cNvPr id="11" name="object 11" descr=""/>
            <p:cNvSpPr/>
            <p:nvPr/>
          </p:nvSpPr>
          <p:spPr>
            <a:xfrm>
              <a:off x="6132576" y="5398008"/>
              <a:ext cx="5623560" cy="822960"/>
            </a:xfrm>
            <a:custGeom>
              <a:avLst/>
              <a:gdLst/>
              <a:ahLst/>
              <a:cxnLst/>
              <a:rect l="l" t="t" r="r" b="b"/>
              <a:pathLst>
                <a:path w="5623559" h="822960">
                  <a:moveTo>
                    <a:pt x="5623560" y="822960"/>
                  </a:moveTo>
                  <a:lnTo>
                    <a:pt x="0" y="822960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40766"/>
                  </a:lnTo>
                  <a:lnTo>
                    <a:pt x="96773" y="40766"/>
                  </a:lnTo>
                  <a:lnTo>
                    <a:pt x="87271" y="41638"/>
                  </a:lnTo>
                  <a:lnTo>
                    <a:pt x="52635" y="70108"/>
                  </a:lnTo>
                  <a:lnTo>
                    <a:pt x="49148" y="88391"/>
                  </a:lnTo>
                  <a:lnTo>
                    <a:pt x="49148" y="717041"/>
                  </a:lnTo>
                  <a:lnTo>
                    <a:pt x="70433" y="756820"/>
                  </a:lnTo>
                  <a:lnTo>
                    <a:pt x="96773" y="764666"/>
                  </a:lnTo>
                  <a:lnTo>
                    <a:pt x="5623560" y="764666"/>
                  </a:lnTo>
                  <a:lnTo>
                    <a:pt x="5623560" y="822960"/>
                  </a:lnTo>
                  <a:close/>
                </a:path>
                <a:path w="5623559" h="822960">
                  <a:moveTo>
                    <a:pt x="5623560" y="764666"/>
                  </a:moveTo>
                  <a:lnTo>
                    <a:pt x="5526023" y="764666"/>
                  </a:lnTo>
                  <a:lnTo>
                    <a:pt x="5535525" y="763794"/>
                  </a:lnTo>
                  <a:lnTo>
                    <a:pt x="5544305" y="761179"/>
                  </a:lnTo>
                  <a:lnTo>
                    <a:pt x="5572776" y="726543"/>
                  </a:lnTo>
                  <a:lnTo>
                    <a:pt x="5573648" y="717041"/>
                  </a:lnTo>
                  <a:lnTo>
                    <a:pt x="5573648" y="88391"/>
                  </a:lnTo>
                  <a:lnTo>
                    <a:pt x="5552363" y="48612"/>
                  </a:lnTo>
                  <a:lnTo>
                    <a:pt x="5526023" y="40766"/>
                  </a:lnTo>
                  <a:lnTo>
                    <a:pt x="5623560" y="40766"/>
                  </a:lnTo>
                  <a:lnTo>
                    <a:pt x="5623560" y="76466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96011" y="5429249"/>
              <a:ext cx="5520055" cy="742950"/>
            </a:xfrm>
            <a:custGeom>
              <a:avLst/>
              <a:gdLst/>
              <a:ahLst/>
              <a:cxnLst/>
              <a:rect l="l" t="t" r="r" b="b"/>
              <a:pathLst>
                <a:path w="5520055" h="742950">
                  <a:moveTo>
                    <a:pt x="5466338" y="742949"/>
                  </a:moveTo>
                  <a:lnTo>
                    <a:pt x="28916" y="742949"/>
                  </a:lnTo>
                  <a:lnTo>
                    <a:pt x="845" y="700668"/>
                  </a:lnTo>
                  <a:lnTo>
                    <a:pt x="0" y="693377"/>
                  </a:lnTo>
                  <a:lnTo>
                    <a:pt x="0" y="685799"/>
                  </a:lnTo>
                  <a:lnTo>
                    <a:pt x="0" y="49570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689552"/>
                  </a:lnTo>
                  <a:lnTo>
                    <a:pt x="5500342" y="728864"/>
                  </a:lnTo>
                  <a:lnTo>
                    <a:pt x="5470054" y="742583"/>
                  </a:lnTo>
                  <a:lnTo>
                    <a:pt x="5466338" y="7429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72199" y="5429249"/>
              <a:ext cx="54610" cy="742950"/>
            </a:xfrm>
            <a:custGeom>
              <a:avLst/>
              <a:gdLst/>
              <a:ahLst/>
              <a:cxnLst/>
              <a:rect l="l" t="t" r="r" b="b"/>
              <a:pathLst>
                <a:path w="54610" h="742950">
                  <a:moveTo>
                    <a:pt x="54519" y="742949"/>
                  </a:moveTo>
                  <a:lnTo>
                    <a:pt x="49570" y="742949"/>
                  </a:lnTo>
                  <a:lnTo>
                    <a:pt x="42280" y="741498"/>
                  </a:lnTo>
                  <a:lnTo>
                    <a:pt x="7249" y="714671"/>
                  </a:lnTo>
                  <a:lnTo>
                    <a:pt x="0" y="6933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85799"/>
                  </a:lnTo>
                  <a:lnTo>
                    <a:pt x="50414" y="726210"/>
                  </a:lnTo>
                  <a:lnTo>
                    <a:pt x="52274" y="737369"/>
                  </a:lnTo>
                  <a:lnTo>
                    <a:pt x="54519" y="7429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5699124"/>
              <a:ext cx="136525" cy="19367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6583362" y="5498816"/>
            <a:ext cx="476567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2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Arial"/>
                <a:cs typeface="Arial"/>
              </a:rPr>
              <a:t>Le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compilateur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vérifie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que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tous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les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cas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de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l'enum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Arial"/>
                <a:cs typeface="Arial"/>
              </a:rPr>
              <a:t>sont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couverts.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420624" y="2249424"/>
            <a:ext cx="11351260" cy="2929255"/>
            <a:chOff x="420624" y="2249424"/>
            <a:chExt cx="11351260" cy="2929255"/>
          </a:xfrm>
        </p:grpSpPr>
        <p:sp>
          <p:nvSpPr>
            <p:cNvPr id="18" name="object 18" descr=""/>
            <p:cNvSpPr/>
            <p:nvPr/>
          </p:nvSpPr>
          <p:spPr>
            <a:xfrm>
              <a:off x="420624" y="2249424"/>
              <a:ext cx="11351260" cy="2929255"/>
            </a:xfrm>
            <a:custGeom>
              <a:avLst/>
              <a:gdLst/>
              <a:ahLst/>
              <a:cxnLst/>
              <a:rect l="l" t="t" r="r" b="b"/>
              <a:pathLst>
                <a:path w="11351260" h="2929254">
                  <a:moveTo>
                    <a:pt x="11350752" y="2929128"/>
                  </a:moveTo>
                  <a:lnTo>
                    <a:pt x="0" y="292912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2779775"/>
                  </a:lnTo>
                  <a:lnTo>
                    <a:pt x="76377" y="2816824"/>
                  </a:lnTo>
                  <a:lnTo>
                    <a:pt x="106310" y="2841374"/>
                  </a:lnTo>
                  <a:lnTo>
                    <a:pt x="131825" y="2846450"/>
                  </a:lnTo>
                  <a:lnTo>
                    <a:pt x="11350752" y="2846450"/>
                  </a:lnTo>
                  <a:lnTo>
                    <a:pt x="11350752" y="2929128"/>
                  </a:lnTo>
                  <a:close/>
                </a:path>
                <a:path w="11351260" h="2929254">
                  <a:moveTo>
                    <a:pt x="11350752" y="2846450"/>
                  </a:moveTo>
                  <a:lnTo>
                    <a:pt x="11218925" y="2846450"/>
                  </a:lnTo>
                  <a:lnTo>
                    <a:pt x="11225493" y="2846133"/>
                  </a:lnTo>
                  <a:lnTo>
                    <a:pt x="11231935" y="2845181"/>
                  </a:lnTo>
                  <a:lnTo>
                    <a:pt x="11266071" y="2826921"/>
                  </a:lnTo>
                  <a:lnTo>
                    <a:pt x="11284331" y="2792785"/>
                  </a:lnTo>
                  <a:lnTo>
                    <a:pt x="11285600" y="277977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28464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2809875"/>
            </a:xfrm>
            <a:custGeom>
              <a:avLst/>
              <a:gdLst/>
              <a:ahLst/>
              <a:cxnLst/>
              <a:rect l="l" t="t" r="r" b="b"/>
              <a:pathLst>
                <a:path w="11229975" h="2809875">
                  <a:moveTo>
                    <a:pt x="11163227" y="2809874"/>
                  </a:moveTo>
                  <a:lnTo>
                    <a:pt x="66746" y="2809874"/>
                  </a:lnTo>
                  <a:lnTo>
                    <a:pt x="62101" y="2809416"/>
                  </a:lnTo>
                  <a:lnTo>
                    <a:pt x="24240" y="2792267"/>
                  </a:lnTo>
                  <a:lnTo>
                    <a:pt x="2287" y="2756973"/>
                  </a:lnTo>
                  <a:lnTo>
                    <a:pt x="0" y="2743127"/>
                  </a:lnTo>
                  <a:lnTo>
                    <a:pt x="0" y="27384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2743127"/>
                  </a:lnTo>
                  <a:lnTo>
                    <a:pt x="11215327" y="2782024"/>
                  </a:lnTo>
                  <a:lnTo>
                    <a:pt x="11181539" y="2806230"/>
                  </a:lnTo>
                  <a:lnTo>
                    <a:pt x="11167872" y="2809416"/>
                  </a:lnTo>
                  <a:lnTo>
                    <a:pt x="11163227" y="28098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1012" y="2290762"/>
              <a:ext cx="11229975" cy="2809875"/>
            </a:xfrm>
            <a:custGeom>
              <a:avLst/>
              <a:gdLst/>
              <a:ahLst/>
              <a:cxnLst/>
              <a:rect l="l" t="t" r="r" b="b"/>
              <a:pathLst>
                <a:path w="11229975" h="2809875">
                  <a:moveTo>
                    <a:pt x="0" y="27384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2738437"/>
                  </a:lnTo>
                  <a:lnTo>
                    <a:pt x="11229972" y="2743127"/>
                  </a:lnTo>
                  <a:lnTo>
                    <a:pt x="11229514" y="2747773"/>
                  </a:lnTo>
                  <a:lnTo>
                    <a:pt x="11228599" y="2752373"/>
                  </a:lnTo>
                  <a:lnTo>
                    <a:pt x="11227684" y="2756973"/>
                  </a:lnTo>
                  <a:lnTo>
                    <a:pt x="11205732" y="2792267"/>
                  </a:lnTo>
                  <a:lnTo>
                    <a:pt x="11198222" y="2797834"/>
                  </a:lnTo>
                  <a:lnTo>
                    <a:pt x="11194322" y="2800440"/>
                  </a:lnTo>
                  <a:lnTo>
                    <a:pt x="11158536" y="2809874"/>
                  </a:lnTo>
                  <a:lnTo>
                    <a:pt x="71437" y="2809874"/>
                  </a:lnTo>
                  <a:lnTo>
                    <a:pt x="31748" y="2797834"/>
                  </a:lnTo>
                  <a:lnTo>
                    <a:pt x="27848" y="2795228"/>
                  </a:lnTo>
                  <a:lnTo>
                    <a:pt x="3642" y="2761440"/>
                  </a:lnTo>
                  <a:lnTo>
                    <a:pt x="1372" y="2752373"/>
                  </a:lnTo>
                  <a:lnTo>
                    <a:pt x="457" y="2747773"/>
                  </a:lnTo>
                  <a:lnTo>
                    <a:pt x="0" y="2743127"/>
                  </a:lnTo>
                  <a:lnTo>
                    <a:pt x="0" y="27384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15949" y="2381491"/>
            <a:ext cx="5054600" cy="60261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29" i="1">
                <a:solidFill>
                  <a:srgbClr val="6A737D"/>
                </a:solidFill>
                <a:latin typeface="Times New Roman"/>
                <a:cs typeface="Times New Roman"/>
              </a:rPr>
              <a:t>Calcul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15" i="1">
                <a:solidFill>
                  <a:srgbClr val="6A737D"/>
                </a:solidFill>
                <a:latin typeface="Times New Roman"/>
                <a:cs typeface="Times New Roman"/>
              </a:rPr>
              <a:t>direct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54" i="1">
                <a:solidFill>
                  <a:srgbClr val="6A737D"/>
                </a:solidFill>
                <a:latin typeface="Times New Roman"/>
                <a:cs typeface="Times New Roman"/>
              </a:rPr>
              <a:t>d'un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80" i="1">
                <a:solidFill>
                  <a:srgbClr val="6A737D"/>
                </a:solidFill>
                <a:latin typeface="Times New Roman"/>
                <a:cs typeface="Times New Roman"/>
              </a:rPr>
              <a:t>bonus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65" i="1">
                <a:solidFill>
                  <a:srgbClr val="6A737D"/>
                </a:solidFill>
                <a:latin typeface="Times New Roman"/>
                <a:cs typeface="Times New Roman"/>
              </a:rPr>
              <a:t>selon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10" i="1">
                <a:solidFill>
                  <a:srgbClr val="6A737D"/>
                </a:solidFill>
                <a:latin typeface="Times New Roman"/>
                <a:cs typeface="Times New Roman"/>
              </a:rPr>
              <a:t>la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95" i="1">
                <a:solidFill>
                  <a:srgbClr val="6A737D"/>
                </a:solidFill>
                <a:latin typeface="Times New Roman"/>
                <a:cs typeface="Times New Roman"/>
              </a:rPr>
              <a:t>mention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450" spc="330" b="1">
                <a:solidFill>
                  <a:srgbClr val="D63A49"/>
                </a:solidFill>
                <a:latin typeface="Times New Roman"/>
                <a:cs typeface="Times New Roman"/>
              </a:rPr>
              <a:t>int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04">
                <a:solidFill>
                  <a:srgbClr val="334054"/>
                </a:solidFill>
                <a:latin typeface="Times New Roman"/>
                <a:cs typeface="Times New Roman"/>
              </a:rPr>
              <a:t>bonus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5" b="1">
                <a:solidFill>
                  <a:srgbClr val="D63A49"/>
                </a:solidFill>
                <a:latin typeface="Times New Roman"/>
                <a:cs typeface="Times New Roman"/>
              </a:rPr>
              <a:t>switch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787649" y="2672664"/>
            <a:ext cx="1282700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95"/>
              </a:spcBef>
            </a:pP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(mention)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dirty="0" sz="1450" spc="229">
                <a:solidFill>
                  <a:srgbClr val="334054"/>
                </a:solidFill>
                <a:latin typeface="Times New Roman"/>
                <a:cs typeface="Times New Roman"/>
              </a:rPr>
              <a:t>100;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30249" y="3304666"/>
            <a:ext cx="48260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229" b="1">
                <a:solidFill>
                  <a:srgbClr val="D63A49"/>
                </a:solidFill>
                <a:latin typeface="Times New Roman"/>
                <a:cs typeface="Times New Roman"/>
              </a:rPr>
              <a:t>case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0249" y="2957555"/>
            <a:ext cx="1968500" cy="598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3565" marR="5080" indent="-571500">
              <a:lnSpc>
                <a:spcPct val="129299"/>
              </a:lnSpc>
              <a:spcBef>
                <a:spcPts val="100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case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60" b="1">
                <a:solidFill>
                  <a:srgbClr val="6F41C1"/>
                </a:solidFill>
                <a:latin typeface="Times New Roman"/>
                <a:cs typeface="Times New Roman"/>
              </a:rPr>
              <a:t>TRES_BIEN</a:t>
            </a:r>
            <a:r>
              <a:rPr dirty="0" sz="1350" spc="114" b="1">
                <a:solidFill>
                  <a:srgbClr val="6F41C1"/>
                </a:solidFill>
                <a:latin typeface="Times New Roman"/>
                <a:cs typeface="Times New Roman"/>
              </a:rPr>
              <a:t>  </a:t>
            </a:r>
            <a:r>
              <a:rPr dirty="0" sz="1350" spc="445" b="1">
                <a:solidFill>
                  <a:srgbClr val="049569"/>
                </a:solidFill>
                <a:latin typeface="Times New Roman"/>
                <a:cs typeface="Times New Roman"/>
              </a:rPr>
              <a:t>-</a:t>
            </a:r>
            <a:r>
              <a:rPr dirty="0" sz="1350" spc="70" b="1">
                <a:solidFill>
                  <a:srgbClr val="049569"/>
                </a:solidFill>
                <a:latin typeface="Times New Roman"/>
                <a:cs typeface="Times New Roman"/>
              </a:rPr>
              <a:t>&gt; </a:t>
            </a:r>
            <a:r>
              <a:rPr dirty="0" sz="1350" spc="65" b="1">
                <a:solidFill>
                  <a:srgbClr val="6F41C1"/>
                </a:solidFill>
                <a:latin typeface="Times New Roman"/>
                <a:cs typeface="Times New Roman"/>
              </a:rPr>
              <a:t>BIEN</a:t>
            </a:r>
            <a:r>
              <a:rPr dirty="0" sz="1350" spc="114" b="1">
                <a:solidFill>
                  <a:srgbClr val="6F41C1"/>
                </a:solidFill>
                <a:latin typeface="Times New Roman"/>
                <a:cs typeface="Times New Roman"/>
              </a:rPr>
              <a:t>  </a:t>
            </a:r>
            <a:r>
              <a:rPr dirty="0" sz="1350" spc="445" b="1">
                <a:solidFill>
                  <a:srgbClr val="049569"/>
                </a:solidFill>
                <a:latin typeface="Times New Roman"/>
                <a:cs typeface="Times New Roman"/>
              </a:rPr>
              <a:t>-</a:t>
            </a:r>
            <a:r>
              <a:rPr dirty="0" sz="1350" spc="120" b="1">
                <a:solidFill>
                  <a:srgbClr val="049569"/>
                </a:solidFill>
                <a:latin typeface="Times New Roman"/>
                <a:cs typeface="Times New Roman"/>
              </a:rPr>
              <a:t>&gt;</a:t>
            </a:r>
            <a:r>
              <a:rPr dirty="0" sz="1350" spc="114" b="1">
                <a:solidFill>
                  <a:srgbClr val="049569"/>
                </a:solidFill>
                <a:latin typeface="Times New Roman"/>
                <a:cs typeface="Times New Roman"/>
              </a:rPr>
              <a:t>  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50;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15949" y="3530066"/>
            <a:ext cx="3568700" cy="883919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605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case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65" b="1">
                <a:solidFill>
                  <a:srgbClr val="6F41C1"/>
                </a:solidFill>
                <a:latin typeface="Times New Roman"/>
                <a:cs typeface="Times New Roman"/>
              </a:rPr>
              <a:t>ASSEZ_BIEN</a:t>
            </a:r>
            <a:r>
              <a:rPr dirty="0" sz="1350" spc="120" b="1">
                <a:solidFill>
                  <a:srgbClr val="6F41C1"/>
                </a:solidFill>
                <a:latin typeface="Times New Roman"/>
                <a:cs typeface="Times New Roman"/>
              </a:rPr>
              <a:t>  </a:t>
            </a:r>
            <a:r>
              <a:rPr dirty="0" sz="1350" spc="445" b="1">
                <a:solidFill>
                  <a:srgbClr val="049569"/>
                </a:solidFill>
                <a:latin typeface="Times New Roman"/>
                <a:cs typeface="Times New Roman"/>
              </a:rPr>
              <a:t>-</a:t>
            </a:r>
            <a:r>
              <a:rPr dirty="0" sz="1350" spc="120" b="1">
                <a:solidFill>
                  <a:srgbClr val="049569"/>
                </a:solidFill>
                <a:latin typeface="Times New Roman"/>
                <a:cs typeface="Times New Roman"/>
              </a:rPr>
              <a:t>&gt;</a:t>
            </a:r>
            <a:r>
              <a:rPr dirty="0" sz="1350" spc="120" b="1">
                <a:solidFill>
                  <a:srgbClr val="049569"/>
                </a:solidFill>
                <a:latin typeface="Times New Roman"/>
                <a:cs typeface="Times New Roman"/>
              </a:rPr>
              <a:t>  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20;</a:t>
            </a:r>
            <a:endParaRPr sz="145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509"/>
              </a:spcBef>
            </a:pPr>
            <a:r>
              <a:rPr dirty="0" sz="1450" spc="275" b="1">
                <a:solidFill>
                  <a:srgbClr val="D63A49"/>
                </a:solidFill>
                <a:latin typeface="Times New Roman"/>
                <a:cs typeface="Times New Roman"/>
              </a:rPr>
              <a:t>default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445" b="1">
                <a:solidFill>
                  <a:srgbClr val="049569"/>
                </a:solidFill>
                <a:latin typeface="Times New Roman"/>
                <a:cs typeface="Times New Roman"/>
              </a:rPr>
              <a:t>-</a:t>
            </a:r>
            <a:r>
              <a:rPr dirty="0" sz="1350" spc="120" b="1">
                <a:solidFill>
                  <a:srgbClr val="049569"/>
                </a:solidFill>
                <a:latin typeface="Times New Roman"/>
                <a:cs typeface="Times New Roman"/>
              </a:rPr>
              <a:t>&gt;</a:t>
            </a:r>
            <a:r>
              <a:rPr dirty="0" sz="1350" spc="114" b="1">
                <a:solidFill>
                  <a:srgbClr val="049569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334054"/>
                </a:solidFill>
                <a:latin typeface="Times New Roman"/>
                <a:cs typeface="Times New Roman"/>
              </a:rPr>
              <a:t>0;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450" spc="345">
                <a:solidFill>
                  <a:srgbClr val="334054"/>
                </a:solidFill>
                <a:latin typeface="Times New Roman"/>
                <a:cs typeface="Times New Roman"/>
              </a:rPr>
              <a:t>};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70" i="1">
                <a:solidFill>
                  <a:srgbClr val="6A737D"/>
                </a:solidFill>
                <a:latin typeface="Times New Roman"/>
                <a:cs typeface="Times New Roman"/>
              </a:rPr>
              <a:t>Point-</a:t>
            </a:r>
            <a:r>
              <a:rPr dirty="0" sz="1500" spc="290" i="1">
                <a:solidFill>
                  <a:srgbClr val="6A737D"/>
                </a:solidFill>
                <a:latin typeface="Times New Roman"/>
                <a:cs typeface="Times New Roman"/>
              </a:rPr>
              <a:t>virgule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-10" i="1">
                <a:solidFill>
                  <a:srgbClr val="6A737D"/>
                </a:solidFill>
                <a:latin typeface="Times New Roman"/>
                <a:cs typeface="Times New Roman"/>
              </a:rPr>
              <a:t>OBLIGATOIRE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273545" y="4156921"/>
            <a:ext cx="2654300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395" i="1">
                <a:solidFill>
                  <a:srgbClr val="6A737D"/>
                </a:solidFill>
                <a:latin typeface="Times New Roman"/>
                <a:cs typeface="Times New Roman"/>
              </a:rPr>
              <a:t>ici</a:t>
            </a:r>
            <a:r>
              <a:rPr dirty="0" sz="150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75" i="1">
                <a:solidFill>
                  <a:srgbClr val="6A737D"/>
                </a:solidFill>
                <a:latin typeface="Times New Roman"/>
                <a:cs typeface="Times New Roman"/>
              </a:rPr>
              <a:t>(fin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10" i="1">
                <a:solidFill>
                  <a:srgbClr val="6A737D"/>
                </a:solidFill>
                <a:latin typeface="Times New Roman"/>
                <a:cs typeface="Times New Roman"/>
              </a:rPr>
              <a:t>d'instruction)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15949" y="4677028"/>
            <a:ext cx="448310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295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r>
              <a:rPr dirty="0" sz="1400" spc="295">
                <a:solidFill>
                  <a:srgbClr val="21863A"/>
                </a:solidFill>
                <a:latin typeface="Times New Roman"/>
                <a:cs typeface="Times New Roman"/>
              </a:rPr>
              <a:t>"Bonus</a:t>
            </a:r>
            <a:r>
              <a:rPr dirty="0" sz="1400" spc="10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00" spc="505">
                <a:solidFill>
                  <a:srgbClr val="21863A"/>
                </a:solidFill>
                <a:latin typeface="Times New Roman"/>
                <a:cs typeface="Times New Roman"/>
              </a:rPr>
              <a:t>:</a:t>
            </a:r>
            <a:r>
              <a:rPr dirty="0" sz="1400" spc="10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00" spc="325">
                <a:solidFill>
                  <a:srgbClr val="21863A"/>
                </a:solidFill>
                <a:latin typeface="Times New Roman"/>
                <a:cs typeface="Times New Roman"/>
              </a:rPr>
              <a:t>"</a:t>
            </a:r>
            <a:r>
              <a:rPr dirty="0" sz="1400" spc="10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65">
                <a:solidFill>
                  <a:srgbClr val="334054"/>
                </a:solidFill>
                <a:latin typeface="Times New Roman"/>
                <a:cs typeface="Times New Roman"/>
              </a:rPr>
              <a:t>bonus);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50" y="254000"/>
            <a:ext cx="484060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dirty="0" spc="-50"/>
              <a:t> </a:t>
            </a:r>
            <a:r>
              <a:rPr dirty="0" spc="-95"/>
              <a:t>Switch</a:t>
            </a:r>
            <a:r>
              <a:rPr dirty="0" spc="-45"/>
              <a:t> </a:t>
            </a:r>
            <a:r>
              <a:rPr dirty="0" spc="-105"/>
              <a:t>expression</a:t>
            </a:r>
            <a:r>
              <a:rPr dirty="0" spc="-45"/>
              <a:t> </a:t>
            </a:r>
            <a:r>
              <a:rPr dirty="0" spc="-95"/>
              <a:t>avec</a:t>
            </a:r>
            <a:r>
              <a:rPr dirty="0" spc="-50"/>
              <a:t> yield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379720"/>
            <a:ext cx="5633085" cy="841375"/>
            <a:chOff x="435863" y="5379720"/>
            <a:chExt cx="5633085" cy="841375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379720"/>
              <a:ext cx="5633085" cy="841375"/>
            </a:xfrm>
            <a:custGeom>
              <a:avLst/>
              <a:gdLst/>
              <a:ahLst/>
              <a:cxnLst/>
              <a:rect l="l" t="t" r="r" b="b"/>
              <a:pathLst>
                <a:path w="5633085" h="841375">
                  <a:moveTo>
                    <a:pt x="5632704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40004"/>
                  </a:lnTo>
                  <a:lnTo>
                    <a:pt x="97535" y="40004"/>
                  </a:lnTo>
                  <a:lnTo>
                    <a:pt x="88033" y="40876"/>
                  </a:lnTo>
                  <a:lnTo>
                    <a:pt x="53398" y="69346"/>
                  </a:lnTo>
                  <a:lnTo>
                    <a:pt x="49910" y="87629"/>
                  </a:lnTo>
                  <a:lnTo>
                    <a:pt x="49910" y="735329"/>
                  </a:lnTo>
                  <a:lnTo>
                    <a:pt x="71195" y="775108"/>
                  </a:lnTo>
                  <a:lnTo>
                    <a:pt x="97535" y="782954"/>
                  </a:lnTo>
                  <a:lnTo>
                    <a:pt x="5632704" y="782954"/>
                  </a:lnTo>
                  <a:lnTo>
                    <a:pt x="5632704" y="841248"/>
                  </a:lnTo>
                  <a:close/>
                </a:path>
                <a:path w="5633085" h="841375">
                  <a:moveTo>
                    <a:pt x="5632704" y="782954"/>
                  </a:moveTo>
                  <a:lnTo>
                    <a:pt x="5536310" y="782954"/>
                  </a:lnTo>
                  <a:lnTo>
                    <a:pt x="5545812" y="782082"/>
                  </a:lnTo>
                  <a:lnTo>
                    <a:pt x="5554592" y="779467"/>
                  </a:lnTo>
                  <a:lnTo>
                    <a:pt x="5583063" y="744831"/>
                  </a:lnTo>
                  <a:lnTo>
                    <a:pt x="5583935" y="735329"/>
                  </a:lnTo>
                  <a:lnTo>
                    <a:pt x="5583935" y="87629"/>
                  </a:lnTo>
                  <a:lnTo>
                    <a:pt x="5562650" y="47850"/>
                  </a:lnTo>
                  <a:lnTo>
                    <a:pt x="5536310" y="40004"/>
                  </a:lnTo>
                  <a:lnTo>
                    <a:pt x="5632704" y="40004"/>
                  </a:lnTo>
                  <a:lnTo>
                    <a:pt x="5632704" y="7829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410199"/>
              <a:ext cx="5529580" cy="762000"/>
            </a:xfrm>
            <a:custGeom>
              <a:avLst/>
              <a:gdLst/>
              <a:ahLst/>
              <a:cxnLst/>
              <a:rect l="l" t="t" r="r" b="b"/>
              <a:pathLst>
                <a:path w="5529580" h="762000">
                  <a:moveTo>
                    <a:pt x="5475864" y="761999"/>
                  </a:moveTo>
                  <a:lnTo>
                    <a:pt x="28916" y="761999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708602"/>
                  </a:lnTo>
                  <a:lnTo>
                    <a:pt x="5509869" y="747914"/>
                  </a:lnTo>
                  <a:lnTo>
                    <a:pt x="5479580" y="761633"/>
                  </a:lnTo>
                  <a:lnTo>
                    <a:pt x="5475864" y="7619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410199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09" h="762000">
                  <a:moveTo>
                    <a:pt x="54519" y="761999"/>
                  </a:moveTo>
                  <a:lnTo>
                    <a:pt x="49571" y="761999"/>
                  </a:lnTo>
                  <a:lnTo>
                    <a:pt x="42281" y="760548"/>
                  </a:lnTo>
                  <a:lnTo>
                    <a:pt x="7250" y="733721"/>
                  </a:lnTo>
                  <a:lnTo>
                    <a:pt x="0" y="71242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689599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460263"/>
            <a:ext cx="4801870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2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1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350" spc="-1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yield</a:t>
            </a:r>
            <a:r>
              <a:rPr dirty="0" sz="1350" spc="-45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uniquement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dans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blocs</a:t>
            </a:r>
            <a:r>
              <a:rPr dirty="0" sz="1350" spc="-1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{...}</a:t>
            </a:r>
            <a:r>
              <a:rPr dirty="0" sz="1350" spc="-450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d'une expression.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379720"/>
            <a:ext cx="5623560" cy="841375"/>
            <a:chOff x="6132576" y="5379720"/>
            <a:chExt cx="5623560" cy="841375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379720"/>
              <a:ext cx="5623560" cy="841375"/>
            </a:xfrm>
            <a:custGeom>
              <a:avLst/>
              <a:gdLst/>
              <a:ahLst/>
              <a:cxnLst/>
              <a:rect l="l" t="t" r="r" b="b"/>
              <a:pathLst>
                <a:path w="5623559" h="841375">
                  <a:moveTo>
                    <a:pt x="5623560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40004"/>
                  </a:lnTo>
                  <a:lnTo>
                    <a:pt x="96773" y="40004"/>
                  </a:lnTo>
                  <a:lnTo>
                    <a:pt x="87271" y="40876"/>
                  </a:lnTo>
                  <a:lnTo>
                    <a:pt x="52635" y="69346"/>
                  </a:lnTo>
                  <a:lnTo>
                    <a:pt x="49148" y="87629"/>
                  </a:lnTo>
                  <a:lnTo>
                    <a:pt x="49148" y="735329"/>
                  </a:lnTo>
                  <a:lnTo>
                    <a:pt x="70433" y="775108"/>
                  </a:lnTo>
                  <a:lnTo>
                    <a:pt x="96773" y="782954"/>
                  </a:lnTo>
                  <a:lnTo>
                    <a:pt x="5623560" y="782954"/>
                  </a:lnTo>
                  <a:lnTo>
                    <a:pt x="5623560" y="841248"/>
                  </a:lnTo>
                  <a:close/>
                </a:path>
                <a:path w="5623559" h="841375">
                  <a:moveTo>
                    <a:pt x="5623560" y="782954"/>
                  </a:moveTo>
                  <a:lnTo>
                    <a:pt x="5526023" y="782954"/>
                  </a:lnTo>
                  <a:lnTo>
                    <a:pt x="5535525" y="782082"/>
                  </a:lnTo>
                  <a:lnTo>
                    <a:pt x="5544305" y="779467"/>
                  </a:lnTo>
                  <a:lnTo>
                    <a:pt x="5572776" y="744831"/>
                  </a:lnTo>
                  <a:lnTo>
                    <a:pt x="5573648" y="735329"/>
                  </a:lnTo>
                  <a:lnTo>
                    <a:pt x="5573648" y="87629"/>
                  </a:lnTo>
                  <a:lnTo>
                    <a:pt x="5552363" y="47850"/>
                  </a:lnTo>
                  <a:lnTo>
                    <a:pt x="5526023" y="40004"/>
                  </a:lnTo>
                  <a:lnTo>
                    <a:pt x="5623560" y="40004"/>
                  </a:lnTo>
                  <a:lnTo>
                    <a:pt x="5623560" y="7829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410199"/>
              <a:ext cx="5520055" cy="762000"/>
            </a:xfrm>
            <a:custGeom>
              <a:avLst/>
              <a:gdLst/>
              <a:ahLst/>
              <a:cxnLst/>
              <a:rect l="l" t="t" r="r" b="b"/>
              <a:pathLst>
                <a:path w="5520055" h="762000">
                  <a:moveTo>
                    <a:pt x="5466338" y="761999"/>
                  </a:moveTo>
                  <a:lnTo>
                    <a:pt x="28916" y="761999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89" y="11380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708602"/>
                  </a:lnTo>
                  <a:lnTo>
                    <a:pt x="5500342" y="747914"/>
                  </a:lnTo>
                  <a:lnTo>
                    <a:pt x="5470054" y="761633"/>
                  </a:lnTo>
                  <a:lnTo>
                    <a:pt x="5466338" y="7619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410199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10" h="762000">
                  <a:moveTo>
                    <a:pt x="54519" y="761999"/>
                  </a:moveTo>
                  <a:lnTo>
                    <a:pt x="49570" y="761999"/>
                  </a:lnTo>
                  <a:lnTo>
                    <a:pt x="42280" y="760548"/>
                  </a:lnTo>
                  <a:lnTo>
                    <a:pt x="7249" y="733721"/>
                  </a:lnTo>
                  <a:lnTo>
                    <a:pt x="0" y="71242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4762" y="5702299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630987" y="5462156"/>
            <a:ext cx="4749800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5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4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7E1C1C"/>
                </a:solidFill>
                <a:latin typeface="Arial"/>
                <a:cs typeface="Arial"/>
              </a:rPr>
              <a:t>Ne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confondez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pas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avec </a:t>
            </a:r>
            <a:r>
              <a:rPr dirty="0" sz="1350">
                <a:solidFill>
                  <a:srgbClr val="7E1C1C"/>
                </a:solidFill>
                <a:latin typeface="Monaco"/>
                <a:cs typeface="Monaco"/>
              </a:rPr>
              <a:t>return</a:t>
            </a:r>
            <a:r>
              <a:rPr dirty="0" sz="1350" spc="-480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(qui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1C1C"/>
                </a:solidFill>
                <a:latin typeface="Arial"/>
                <a:cs typeface="Arial"/>
              </a:rPr>
              <a:t>quitte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1C1C"/>
                </a:solidFill>
                <a:latin typeface="Arial"/>
                <a:cs typeface="Arial"/>
              </a:rPr>
              <a:t>la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méthode entière).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420624" y="2249424"/>
            <a:ext cx="11351260" cy="2700655"/>
            <a:chOff x="420624" y="2249424"/>
            <a:chExt cx="11351260" cy="2700655"/>
          </a:xfrm>
        </p:grpSpPr>
        <p:sp>
          <p:nvSpPr>
            <p:cNvPr id="17" name="object 17" descr=""/>
            <p:cNvSpPr/>
            <p:nvPr/>
          </p:nvSpPr>
          <p:spPr>
            <a:xfrm>
              <a:off x="420624" y="2249424"/>
              <a:ext cx="11351260" cy="2700655"/>
            </a:xfrm>
            <a:custGeom>
              <a:avLst/>
              <a:gdLst/>
              <a:ahLst/>
              <a:cxnLst/>
              <a:rect l="l" t="t" r="r" b="b"/>
              <a:pathLst>
                <a:path w="11351260" h="2700654">
                  <a:moveTo>
                    <a:pt x="11350752" y="2700528"/>
                  </a:moveTo>
                  <a:lnTo>
                    <a:pt x="0" y="270052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2551175"/>
                  </a:lnTo>
                  <a:lnTo>
                    <a:pt x="76377" y="2588224"/>
                  </a:lnTo>
                  <a:lnTo>
                    <a:pt x="106310" y="2612774"/>
                  </a:lnTo>
                  <a:lnTo>
                    <a:pt x="131825" y="2617850"/>
                  </a:lnTo>
                  <a:lnTo>
                    <a:pt x="11350752" y="2617850"/>
                  </a:lnTo>
                  <a:lnTo>
                    <a:pt x="11350752" y="2700528"/>
                  </a:lnTo>
                  <a:close/>
                </a:path>
                <a:path w="11351260" h="2700654">
                  <a:moveTo>
                    <a:pt x="11350752" y="2617850"/>
                  </a:moveTo>
                  <a:lnTo>
                    <a:pt x="11218925" y="2617850"/>
                  </a:lnTo>
                  <a:lnTo>
                    <a:pt x="11225493" y="2617533"/>
                  </a:lnTo>
                  <a:lnTo>
                    <a:pt x="11231935" y="2616581"/>
                  </a:lnTo>
                  <a:lnTo>
                    <a:pt x="11266071" y="2598321"/>
                  </a:lnTo>
                  <a:lnTo>
                    <a:pt x="11284331" y="2564185"/>
                  </a:lnTo>
                  <a:lnTo>
                    <a:pt x="11285600" y="255117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26178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90762"/>
              <a:ext cx="11229975" cy="2581275"/>
            </a:xfrm>
            <a:custGeom>
              <a:avLst/>
              <a:gdLst/>
              <a:ahLst/>
              <a:cxnLst/>
              <a:rect l="l" t="t" r="r" b="b"/>
              <a:pathLst>
                <a:path w="11229975" h="2581275">
                  <a:moveTo>
                    <a:pt x="11163227" y="2581274"/>
                  </a:moveTo>
                  <a:lnTo>
                    <a:pt x="66746" y="2581274"/>
                  </a:lnTo>
                  <a:lnTo>
                    <a:pt x="62101" y="2580816"/>
                  </a:lnTo>
                  <a:lnTo>
                    <a:pt x="24240" y="2563668"/>
                  </a:lnTo>
                  <a:lnTo>
                    <a:pt x="2287" y="2528374"/>
                  </a:lnTo>
                  <a:lnTo>
                    <a:pt x="0" y="2514527"/>
                  </a:lnTo>
                  <a:lnTo>
                    <a:pt x="0" y="2509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2514527"/>
                  </a:lnTo>
                  <a:lnTo>
                    <a:pt x="11215327" y="2553425"/>
                  </a:lnTo>
                  <a:lnTo>
                    <a:pt x="11181539" y="2577631"/>
                  </a:lnTo>
                  <a:lnTo>
                    <a:pt x="11167872" y="2580816"/>
                  </a:lnTo>
                  <a:lnTo>
                    <a:pt x="11163227" y="25812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2581275"/>
            </a:xfrm>
            <a:custGeom>
              <a:avLst/>
              <a:gdLst/>
              <a:ahLst/>
              <a:cxnLst/>
              <a:rect l="l" t="t" r="r" b="b"/>
              <a:pathLst>
                <a:path w="11229975" h="2581275">
                  <a:moveTo>
                    <a:pt x="0" y="2509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2509837"/>
                  </a:lnTo>
                  <a:lnTo>
                    <a:pt x="11217932" y="2549525"/>
                  </a:lnTo>
                  <a:lnTo>
                    <a:pt x="11198222" y="2569235"/>
                  </a:lnTo>
                  <a:lnTo>
                    <a:pt x="11194322" y="2571841"/>
                  </a:lnTo>
                  <a:lnTo>
                    <a:pt x="11158536" y="2581274"/>
                  </a:lnTo>
                  <a:lnTo>
                    <a:pt x="71437" y="2581274"/>
                  </a:lnTo>
                  <a:lnTo>
                    <a:pt x="66746" y="2581274"/>
                  </a:lnTo>
                  <a:lnTo>
                    <a:pt x="62101" y="2580816"/>
                  </a:lnTo>
                  <a:lnTo>
                    <a:pt x="57500" y="2579901"/>
                  </a:lnTo>
                  <a:lnTo>
                    <a:pt x="52900" y="2578986"/>
                  </a:lnTo>
                  <a:lnTo>
                    <a:pt x="31748" y="2569235"/>
                  </a:lnTo>
                  <a:lnTo>
                    <a:pt x="27848" y="2566629"/>
                  </a:lnTo>
                  <a:lnTo>
                    <a:pt x="24240" y="2563668"/>
                  </a:lnTo>
                  <a:lnTo>
                    <a:pt x="20923" y="2560351"/>
                  </a:lnTo>
                  <a:lnTo>
                    <a:pt x="17606" y="2557034"/>
                  </a:lnTo>
                  <a:lnTo>
                    <a:pt x="5437" y="2537174"/>
                  </a:lnTo>
                  <a:lnTo>
                    <a:pt x="3642" y="2532841"/>
                  </a:lnTo>
                  <a:lnTo>
                    <a:pt x="2287" y="2528374"/>
                  </a:lnTo>
                  <a:lnTo>
                    <a:pt x="1372" y="2523773"/>
                  </a:lnTo>
                  <a:lnTo>
                    <a:pt x="457" y="2519173"/>
                  </a:lnTo>
                  <a:lnTo>
                    <a:pt x="0" y="2514527"/>
                  </a:lnTo>
                  <a:lnTo>
                    <a:pt x="0" y="25098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6450"/>
            <a:ext cx="11054715" cy="246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64738B"/>
                </a:solidFill>
                <a:latin typeface="Arial"/>
                <a:cs typeface="Arial"/>
              </a:rPr>
              <a:t>Gérer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logique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complexe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au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sein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expressions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switch.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125"/>
              </a:spcBef>
            </a:pP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branche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switch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nécessite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plusieurs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instructions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(ex: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calculs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intermédiaires,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logs),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on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utilise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bloc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{</a:t>
            </a:r>
            <a:r>
              <a:rPr dirty="0" sz="1650" spc="1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...</a:t>
            </a:r>
            <a:r>
              <a:rPr dirty="0" sz="1650" spc="1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 spc="-25">
                <a:solidFill>
                  <a:srgbClr val="334054"/>
                </a:solidFill>
                <a:latin typeface="Monaco"/>
                <a:cs typeface="Monaco"/>
              </a:rPr>
              <a:t>}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. 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mot-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clé</a:t>
            </a:r>
            <a:r>
              <a:rPr dirty="0" sz="1700" spc="-12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yield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permet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alors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renvoyer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valeur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finale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bloc.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90">
                <a:solidFill>
                  <a:srgbClr val="334054"/>
                </a:solidFill>
                <a:latin typeface="Times New Roman"/>
                <a:cs typeface="Times New Roman"/>
              </a:rPr>
              <a:t>message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35" b="1">
                <a:solidFill>
                  <a:srgbClr val="D63A49"/>
                </a:solidFill>
                <a:latin typeface="Times New Roman"/>
                <a:cs typeface="Times New Roman"/>
              </a:rPr>
              <a:t>switch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(mention)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09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case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105" b="1">
                <a:solidFill>
                  <a:srgbClr val="6F41C1"/>
                </a:solidFill>
                <a:latin typeface="Times New Roman"/>
                <a:cs typeface="Times New Roman"/>
              </a:rPr>
              <a:t>TRES_BIEN</a:t>
            </a:r>
            <a:r>
              <a:rPr dirty="0" sz="1450" spc="105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65" b="1">
                <a:solidFill>
                  <a:srgbClr val="6F41C1"/>
                </a:solidFill>
                <a:latin typeface="Times New Roman"/>
                <a:cs typeface="Times New Roman"/>
              </a:rPr>
              <a:t>BIEN</a:t>
            </a:r>
            <a:r>
              <a:rPr dirty="0" sz="1350" spc="120" b="1">
                <a:solidFill>
                  <a:srgbClr val="6F41C1"/>
                </a:solidFill>
                <a:latin typeface="Times New Roman"/>
                <a:cs typeface="Times New Roman"/>
              </a:rPr>
              <a:t>  </a:t>
            </a:r>
            <a:r>
              <a:rPr dirty="0" sz="1450" spc="415">
                <a:solidFill>
                  <a:srgbClr val="334054"/>
                </a:solidFill>
                <a:latin typeface="Times New Roman"/>
                <a:cs typeface="Times New Roman"/>
              </a:rPr>
              <a:t>-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300">
                <a:solidFill>
                  <a:srgbClr val="21863A"/>
                </a:solidFill>
                <a:latin typeface="Times New Roman"/>
                <a:cs typeface="Times New Roman"/>
              </a:rPr>
              <a:t>"Félicitations</a:t>
            </a:r>
            <a:r>
              <a:rPr dirty="0" sz="1550" spc="7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380">
                <a:solidFill>
                  <a:srgbClr val="21863A"/>
                </a:solidFill>
                <a:latin typeface="Times New Roman"/>
                <a:cs typeface="Times New Roman"/>
              </a:rPr>
              <a:t>!"</a:t>
            </a:r>
            <a:r>
              <a:rPr dirty="0" sz="1450" spc="38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95" i="1">
                <a:solidFill>
                  <a:srgbClr val="6A737D"/>
                </a:solidFill>
                <a:latin typeface="Times New Roman"/>
                <a:cs typeface="Times New Roman"/>
              </a:rPr>
              <a:t>Cas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0" i="1">
                <a:solidFill>
                  <a:srgbClr val="6A737D"/>
                </a:solidFill>
                <a:latin typeface="Times New Roman"/>
                <a:cs typeface="Times New Roman"/>
              </a:rPr>
              <a:t>simple</a:t>
            </a:r>
            <a:endParaRPr sz="15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90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case</a:t>
            </a:r>
            <a:r>
              <a:rPr dirty="0" sz="1450" spc="114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b="1">
                <a:solidFill>
                  <a:srgbClr val="6F41C1"/>
                </a:solidFill>
                <a:latin typeface="Times New Roman"/>
                <a:cs typeface="Times New Roman"/>
              </a:rPr>
              <a:t>PASSABLE</a:t>
            </a:r>
            <a:r>
              <a:rPr dirty="0" sz="1350" spc="145" b="1">
                <a:solidFill>
                  <a:srgbClr val="6F41C1"/>
                </a:solidFill>
                <a:latin typeface="Times New Roman"/>
                <a:cs typeface="Times New Roman"/>
              </a:rPr>
              <a:t>  </a:t>
            </a:r>
            <a:r>
              <a:rPr dirty="0" sz="1450" spc="415">
                <a:solidFill>
                  <a:srgbClr val="334054"/>
                </a:solidFill>
                <a:latin typeface="Times New Roman"/>
                <a:cs typeface="Times New Roman"/>
              </a:rPr>
              <a:t>-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114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3816348" y="3247083"/>
            <a:ext cx="4254500" cy="5969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550" spc="465">
                <a:solidFill>
                  <a:srgbClr val="21863A"/>
                </a:solidFill>
                <a:latin typeface="Times New Roman"/>
                <a:cs typeface="Times New Roman"/>
              </a:rPr>
              <a:t>:</a:t>
            </a:r>
            <a:r>
              <a:rPr dirty="0" sz="1550" spc="6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325">
                <a:solidFill>
                  <a:srgbClr val="21863A"/>
                </a:solidFill>
                <a:latin typeface="Times New Roman"/>
                <a:cs typeface="Times New Roman"/>
              </a:rPr>
              <a:t>limite"</a:t>
            </a:r>
            <a:r>
              <a:rPr dirty="0" sz="1450" spc="325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0" i="1">
                <a:solidFill>
                  <a:srgbClr val="6A737D"/>
                </a:solidFill>
                <a:latin typeface="Times New Roman"/>
                <a:cs typeface="Times New Roman"/>
              </a:rPr>
              <a:t>Logique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0" i="1">
                <a:solidFill>
                  <a:srgbClr val="6A737D"/>
                </a:solidFill>
                <a:latin typeface="Times New Roman"/>
                <a:cs typeface="Times New Roman"/>
              </a:rPr>
              <a:t>supplémentaire</a:t>
            </a:r>
            <a:endParaRPr sz="15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39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90" i="1">
                <a:solidFill>
                  <a:srgbClr val="6A737D"/>
                </a:solidFill>
                <a:latin typeface="Times New Roman"/>
                <a:cs typeface="Times New Roman"/>
              </a:rPr>
              <a:t>Valeur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retournée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par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5" i="1">
                <a:solidFill>
                  <a:srgbClr val="6A737D"/>
                </a:solidFill>
                <a:latin typeface="Times New Roman"/>
                <a:cs typeface="Times New Roman"/>
              </a:rPr>
              <a:t>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bloc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15949" y="3245878"/>
            <a:ext cx="3111500" cy="1452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marR="5080">
              <a:lnSpc>
                <a:spcPct val="121000"/>
              </a:lnSpc>
              <a:spcBef>
                <a:spcPts val="100"/>
              </a:spcBef>
            </a:pPr>
            <a:r>
              <a:rPr dirty="0" sz="1450" spc="280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r>
              <a:rPr dirty="0" sz="1550" spc="280">
                <a:solidFill>
                  <a:srgbClr val="21863A"/>
                </a:solidFill>
                <a:latin typeface="Times New Roman"/>
                <a:cs typeface="Times New Roman"/>
              </a:rPr>
              <a:t>"Alerte </a:t>
            </a:r>
            <a:r>
              <a:rPr dirty="0" sz="1450" spc="300" b="1">
                <a:solidFill>
                  <a:srgbClr val="D63A49"/>
                </a:solidFill>
                <a:latin typeface="Times New Roman"/>
                <a:cs typeface="Times New Roman"/>
              </a:rPr>
              <a:t>yield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550" spc="215">
                <a:solidFill>
                  <a:srgbClr val="21863A"/>
                </a:solidFill>
                <a:latin typeface="Times New Roman"/>
                <a:cs typeface="Times New Roman"/>
              </a:rPr>
              <a:t>"Peut</a:t>
            </a:r>
            <a:r>
              <a:rPr dirty="0" sz="1550" spc="6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120">
                <a:solidFill>
                  <a:srgbClr val="21863A"/>
                </a:solidFill>
                <a:latin typeface="Times New Roman"/>
                <a:cs typeface="Times New Roman"/>
              </a:rPr>
              <a:t>mieux</a:t>
            </a:r>
            <a:r>
              <a:rPr dirty="0" sz="1550" spc="6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330">
                <a:solidFill>
                  <a:srgbClr val="21863A"/>
                </a:solidFill>
                <a:latin typeface="Times New Roman"/>
                <a:cs typeface="Times New Roman"/>
              </a:rPr>
              <a:t>faire"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4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490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409"/>
              </a:spcBef>
            </a:pPr>
            <a:r>
              <a:rPr dirty="0" sz="1450" spc="275" b="1">
                <a:solidFill>
                  <a:srgbClr val="D63A49"/>
                </a:solidFill>
                <a:latin typeface="Times New Roman"/>
                <a:cs typeface="Times New Roman"/>
              </a:rPr>
              <a:t>default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415">
                <a:solidFill>
                  <a:srgbClr val="334054"/>
                </a:solidFill>
                <a:latin typeface="Times New Roman"/>
                <a:cs typeface="Times New Roman"/>
              </a:rPr>
              <a:t>-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70">
                <a:solidFill>
                  <a:srgbClr val="21863A"/>
                </a:solidFill>
                <a:latin typeface="Times New Roman"/>
                <a:cs typeface="Times New Roman"/>
              </a:rPr>
              <a:t>"Non</a:t>
            </a:r>
            <a:r>
              <a:rPr dirty="0" sz="1550" spc="6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204">
                <a:solidFill>
                  <a:srgbClr val="21863A"/>
                </a:solidFill>
                <a:latin typeface="Times New Roman"/>
                <a:cs typeface="Times New Roman"/>
              </a:rPr>
              <a:t>admis"</a:t>
            </a:r>
            <a:r>
              <a:rPr dirty="0" sz="1450" spc="204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450" spc="320">
                <a:solidFill>
                  <a:srgbClr val="334054"/>
                </a:solidFill>
                <a:latin typeface="Times New Roman"/>
                <a:cs typeface="Times New Roman"/>
              </a:rPr>
              <a:t>};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50" y="250483"/>
            <a:ext cx="4883785" cy="4413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9.</a:t>
            </a:r>
            <a:r>
              <a:rPr dirty="0" spc="-70"/>
              <a:t> Comparatif</a:t>
            </a:r>
            <a:r>
              <a:rPr dirty="0" spc="-65"/>
              <a:t> </a:t>
            </a:r>
            <a:r>
              <a:rPr dirty="0" spc="-650"/>
              <a:t>—</a:t>
            </a:r>
            <a:r>
              <a:rPr dirty="0" spc="-65"/>
              <a:t> </a:t>
            </a:r>
            <a:r>
              <a:rPr dirty="0" spc="-90"/>
              <a:t>class</a:t>
            </a:r>
            <a:r>
              <a:rPr dirty="0" spc="-65"/>
              <a:t> </a:t>
            </a:r>
            <a:r>
              <a:rPr dirty="0" spc="-135"/>
              <a:t>vs</a:t>
            </a:r>
            <a:r>
              <a:rPr dirty="0" spc="-65"/>
              <a:t> </a:t>
            </a:r>
            <a:r>
              <a:rPr dirty="0" spc="-75"/>
              <a:t>record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6450"/>
            <a:ext cx="10085070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Quand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choisir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l'un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ou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l'autre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64738B"/>
                </a:solidFill>
                <a:latin typeface="Arial"/>
                <a:cs typeface="Arial"/>
              </a:rPr>
              <a:t>?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</a:pP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records</a:t>
            </a:r>
            <a:r>
              <a:rPr dirty="0" sz="1650" spc="-58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(Java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14+)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simplifient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création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classes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"porteuses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données"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immutables.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Ils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réduisent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considérablement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code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"boilerplate"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(code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répétitif).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20624" y="2279904"/>
            <a:ext cx="11351260" cy="2822575"/>
          </a:xfrm>
          <a:custGeom>
            <a:avLst/>
            <a:gdLst/>
            <a:ahLst/>
            <a:cxnLst/>
            <a:rect l="l" t="t" r="r" b="b"/>
            <a:pathLst>
              <a:path w="11351260" h="2822575">
                <a:moveTo>
                  <a:pt x="11350752" y="2822448"/>
                </a:moveTo>
                <a:lnTo>
                  <a:pt x="0" y="2822448"/>
                </a:lnTo>
                <a:lnTo>
                  <a:pt x="0" y="0"/>
                </a:lnTo>
                <a:lnTo>
                  <a:pt x="11350752" y="0"/>
                </a:lnTo>
                <a:lnTo>
                  <a:pt x="11350752" y="34670"/>
                </a:lnTo>
                <a:lnTo>
                  <a:pt x="131825" y="34670"/>
                </a:lnTo>
                <a:lnTo>
                  <a:pt x="124319" y="35033"/>
                </a:lnTo>
                <a:lnTo>
                  <a:pt x="83508" y="51937"/>
                </a:lnTo>
                <a:lnTo>
                  <a:pt x="58888" y="88783"/>
                </a:lnTo>
                <a:lnTo>
                  <a:pt x="55625" y="110870"/>
                </a:lnTo>
                <a:lnTo>
                  <a:pt x="55625" y="2673095"/>
                </a:lnTo>
                <a:lnTo>
                  <a:pt x="68456" y="2715437"/>
                </a:lnTo>
                <a:lnTo>
                  <a:pt x="102665" y="2743494"/>
                </a:lnTo>
                <a:lnTo>
                  <a:pt x="131825" y="2749295"/>
                </a:lnTo>
                <a:lnTo>
                  <a:pt x="11350752" y="2749295"/>
                </a:lnTo>
                <a:lnTo>
                  <a:pt x="11350752" y="2822448"/>
                </a:lnTo>
                <a:close/>
              </a:path>
              <a:path w="11351260" h="2822575">
                <a:moveTo>
                  <a:pt x="11350752" y="2749295"/>
                </a:moveTo>
                <a:lnTo>
                  <a:pt x="11218925" y="2749295"/>
                </a:lnTo>
                <a:lnTo>
                  <a:pt x="11226431" y="2748932"/>
                </a:lnTo>
                <a:lnTo>
                  <a:pt x="11233793" y="2747844"/>
                </a:lnTo>
                <a:lnTo>
                  <a:pt x="11272805" y="2726976"/>
                </a:lnTo>
                <a:lnTo>
                  <a:pt x="11293674" y="2687963"/>
                </a:lnTo>
                <a:lnTo>
                  <a:pt x="11295125" y="2673095"/>
                </a:lnTo>
                <a:lnTo>
                  <a:pt x="11295125" y="110870"/>
                </a:lnTo>
                <a:lnTo>
                  <a:pt x="11282293" y="68528"/>
                </a:lnTo>
                <a:lnTo>
                  <a:pt x="11248084" y="40470"/>
                </a:lnTo>
                <a:lnTo>
                  <a:pt x="11218925" y="34670"/>
                </a:lnTo>
                <a:lnTo>
                  <a:pt x="11350752" y="34670"/>
                </a:lnTo>
                <a:lnTo>
                  <a:pt x="11350752" y="2749295"/>
                </a:lnTo>
                <a:close/>
              </a:path>
            </a:pathLst>
          </a:custGeom>
          <a:solidFill>
            <a:srgbClr val="000000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76250" y="2314575"/>
            <a:ext cx="11239500" cy="2714625"/>
            <a:chOff x="476250" y="2314575"/>
            <a:chExt cx="11239500" cy="2714625"/>
          </a:xfrm>
        </p:grpSpPr>
        <p:sp>
          <p:nvSpPr>
            <p:cNvPr id="6" name="object 6" descr=""/>
            <p:cNvSpPr/>
            <p:nvPr/>
          </p:nvSpPr>
          <p:spPr>
            <a:xfrm>
              <a:off x="476250" y="2314575"/>
              <a:ext cx="2809875" cy="581025"/>
            </a:xfrm>
            <a:custGeom>
              <a:avLst/>
              <a:gdLst/>
              <a:ahLst/>
              <a:cxnLst/>
              <a:rect l="l" t="t" r="r" b="b"/>
              <a:pathLst>
                <a:path w="2809875" h="581025">
                  <a:moveTo>
                    <a:pt x="2809874" y="581024"/>
                  </a:moveTo>
                  <a:lnTo>
                    <a:pt x="0" y="5810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809874" y="0"/>
                  </a:lnTo>
                  <a:lnTo>
                    <a:pt x="2809874" y="5810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05700" y="2314575"/>
              <a:ext cx="4210050" cy="581025"/>
            </a:xfrm>
            <a:custGeom>
              <a:avLst/>
              <a:gdLst/>
              <a:ahLst/>
              <a:cxnLst/>
              <a:rect l="l" t="t" r="r" b="b"/>
              <a:pathLst>
                <a:path w="4210050" h="581025">
                  <a:moveTo>
                    <a:pt x="4210049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4133849" y="0"/>
                  </a:lnTo>
                  <a:lnTo>
                    <a:pt x="4141355" y="362"/>
                  </a:lnTo>
                  <a:lnTo>
                    <a:pt x="4182165" y="17266"/>
                  </a:lnTo>
                  <a:lnTo>
                    <a:pt x="4206785" y="54113"/>
                  </a:lnTo>
                  <a:lnTo>
                    <a:pt x="4210049" y="76198"/>
                  </a:lnTo>
                  <a:lnTo>
                    <a:pt x="4210049" y="5810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86124" y="2895599"/>
              <a:ext cx="4219575" cy="533400"/>
            </a:xfrm>
            <a:custGeom>
              <a:avLst/>
              <a:gdLst/>
              <a:ahLst/>
              <a:cxnLst/>
              <a:rect l="l" t="t" r="r" b="b"/>
              <a:pathLst>
                <a:path w="4219575" h="533400">
                  <a:moveTo>
                    <a:pt x="421957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9574" y="0"/>
                  </a:lnTo>
                  <a:lnTo>
                    <a:pt x="4219574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505687" y="2895599"/>
              <a:ext cx="4210050" cy="2133600"/>
            </a:xfrm>
            <a:custGeom>
              <a:avLst/>
              <a:gdLst/>
              <a:ahLst/>
              <a:cxnLst/>
              <a:rect l="l" t="t" r="r" b="b"/>
              <a:pathLst>
                <a:path w="4210050" h="2133600">
                  <a:moveTo>
                    <a:pt x="421005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0" y="1066800"/>
                  </a:lnTo>
                  <a:lnTo>
                    <a:pt x="0" y="1600200"/>
                  </a:lnTo>
                  <a:lnTo>
                    <a:pt x="0" y="2133600"/>
                  </a:lnTo>
                  <a:lnTo>
                    <a:pt x="4133862" y="2133600"/>
                  </a:lnTo>
                  <a:lnTo>
                    <a:pt x="4176191" y="2120773"/>
                  </a:lnTo>
                  <a:lnTo>
                    <a:pt x="4204258" y="2086571"/>
                  </a:lnTo>
                  <a:lnTo>
                    <a:pt x="4210050" y="2057412"/>
                  </a:lnTo>
                  <a:lnTo>
                    <a:pt x="4210050" y="1600200"/>
                  </a:lnTo>
                  <a:lnTo>
                    <a:pt x="4210050" y="1066800"/>
                  </a:lnTo>
                  <a:lnTo>
                    <a:pt x="4210050" y="533400"/>
                  </a:lnTo>
                  <a:lnTo>
                    <a:pt x="4210050" y="0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76624" y="3047999"/>
              <a:ext cx="714375" cy="266700"/>
            </a:xfrm>
            <a:custGeom>
              <a:avLst/>
              <a:gdLst/>
              <a:ahLst/>
              <a:cxnLst/>
              <a:rect l="l" t="t" r="r" b="b"/>
              <a:pathLst>
                <a:path w="714375" h="266700">
                  <a:moveTo>
                    <a:pt x="681327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1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681327" y="0"/>
                  </a:lnTo>
                  <a:lnTo>
                    <a:pt x="713407" y="28187"/>
                  </a:lnTo>
                  <a:lnTo>
                    <a:pt x="714374" y="33047"/>
                  </a:lnTo>
                  <a:lnTo>
                    <a:pt x="714374" y="233652"/>
                  </a:lnTo>
                  <a:lnTo>
                    <a:pt x="686186" y="265732"/>
                  </a:lnTo>
                  <a:lnTo>
                    <a:pt x="681327" y="2666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696187" y="3047999"/>
              <a:ext cx="1085850" cy="1333500"/>
            </a:xfrm>
            <a:custGeom>
              <a:avLst/>
              <a:gdLst/>
              <a:ahLst/>
              <a:cxnLst/>
              <a:rect l="l" t="t" r="r" b="b"/>
              <a:pathLst>
                <a:path w="1085850" h="1333500">
                  <a:moveTo>
                    <a:pt x="742950" y="566458"/>
                  </a:moveTo>
                  <a:lnTo>
                    <a:pt x="714768" y="534377"/>
                  </a:lnTo>
                  <a:lnTo>
                    <a:pt x="709904" y="533400"/>
                  </a:lnTo>
                  <a:lnTo>
                    <a:pt x="33058" y="533400"/>
                  </a:lnTo>
                  <a:lnTo>
                    <a:pt x="965" y="561594"/>
                  </a:lnTo>
                  <a:lnTo>
                    <a:pt x="0" y="566458"/>
                  </a:lnTo>
                  <a:lnTo>
                    <a:pt x="0" y="762000"/>
                  </a:lnTo>
                  <a:lnTo>
                    <a:pt x="0" y="767054"/>
                  </a:lnTo>
                  <a:lnTo>
                    <a:pt x="28194" y="799134"/>
                  </a:lnTo>
                  <a:lnTo>
                    <a:pt x="33058" y="800100"/>
                  </a:lnTo>
                  <a:lnTo>
                    <a:pt x="709904" y="800100"/>
                  </a:lnTo>
                  <a:lnTo>
                    <a:pt x="741984" y="771918"/>
                  </a:lnTo>
                  <a:lnTo>
                    <a:pt x="742950" y="767054"/>
                  </a:lnTo>
                  <a:lnTo>
                    <a:pt x="742950" y="566458"/>
                  </a:lnTo>
                  <a:close/>
                </a:path>
                <a:path w="1085850" h="1333500">
                  <a:moveTo>
                    <a:pt x="762000" y="33058"/>
                  </a:moveTo>
                  <a:lnTo>
                    <a:pt x="733818" y="977"/>
                  </a:lnTo>
                  <a:lnTo>
                    <a:pt x="728954" y="0"/>
                  </a:lnTo>
                  <a:lnTo>
                    <a:pt x="33058" y="0"/>
                  </a:lnTo>
                  <a:lnTo>
                    <a:pt x="965" y="28194"/>
                  </a:lnTo>
                  <a:lnTo>
                    <a:pt x="0" y="33058"/>
                  </a:lnTo>
                  <a:lnTo>
                    <a:pt x="0" y="228600"/>
                  </a:lnTo>
                  <a:lnTo>
                    <a:pt x="0" y="233654"/>
                  </a:lnTo>
                  <a:lnTo>
                    <a:pt x="28194" y="265734"/>
                  </a:lnTo>
                  <a:lnTo>
                    <a:pt x="33058" y="266700"/>
                  </a:lnTo>
                  <a:lnTo>
                    <a:pt x="728954" y="266700"/>
                  </a:lnTo>
                  <a:lnTo>
                    <a:pt x="761034" y="238518"/>
                  </a:lnTo>
                  <a:lnTo>
                    <a:pt x="762000" y="233654"/>
                  </a:lnTo>
                  <a:lnTo>
                    <a:pt x="762000" y="33058"/>
                  </a:lnTo>
                  <a:close/>
                </a:path>
                <a:path w="1085850" h="1333500">
                  <a:moveTo>
                    <a:pt x="1085850" y="1099858"/>
                  </a:moveTo>
                  <a:lnTo>
                    <a:pt x="1057668" y="1067777"/>
                  </a:lnTo>
                  <a:lnTo>
                    <a:pt x="1052804" y="1066800"/>
                  </a:lnTo>
                  <a:lnTo>
                    <a:pt x="33058" y="1066800"/>
                  </a:lnTo>
                  <a:lnTo>
                    <a:pt x="965" y="1094994"/>
                  </a:lnTo>
                  <a:lnTo>
                    <a:pt x="0" y="1099858"/>
                  </a:lnTo>
                  <a:lnTo>
                    <a:pt x="0" y="1295400"/>
                  </a:lnTo>
                  <a:lnTo>
                    <a:pt x="0" y="1300454"/>
                  </a:lnTo>
                  <a:lnTo>
                    <a:pt x="28194" y="1332534"/>
                  </a:lnTo>
                  <a:lnTo>
                    <a:pt x="33058" y="1333500"/>
                  </a:lnTo>
                  <a:lnTo>
                    <a:pt x="1052804" y="1333500"/>
                  </a:lnTo>
                  <a:lnTo>
                    <a:pt x="1084884" y="1305318"/>
                  </a:lnTo>
                  <a:lnTo>
                    <a:pt x="1085850" y="1300454"/>
                  </a:lnTo>
                  <a:lnTo>
                    <a:pt x="1085850" y="1099858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96198" y="4648199"/>
              <a:ext cx="904875" cy="266700"/>
            </a:xfrm>
            <a:custGeom>
              <a:avLst/>
              <a:gdLst/>
              <a:ahLst/>
              <a:cxnLst/>
              <a:rect l="l" t="t" r="r" b="b"/>
              <a:pathLst>
                <a:path w="904875" h="266700">
                  <a:moveTo>
                    <a:pt x="871826" y="266699"/>
                  </a:moveTo>
                  <a:lnTo>
                    <a:pt x="33047" y="266699"/>
                  </a:lnTo>
                  <a:lnTo>
                    <a:pt x="28187" y="265732"/>
                  </a:lnTo>
                  <a:lnTo>
                    <a:pt x="966" y="238511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71826" y="0"/>
                  </a:lnTo>
                  <a:lnTo>
                    <a:pt x="903907" y="28186"/>
                  </a:lnTo>
                  <a:lnTo>
                    <a:pt x="904874" y="33047"/>
                  </a:lnTo>
                  <a:lnTo>
                    <a:pt x="904874" y="233652"/>
                  </a:lnTo>
                  <a:lnTo>
                    <a:pt x="876686" y="265732"/>
                  </a:lnTo>
                  <a:lnTo>
                    <a:pt x="871826" y="2666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476250" y="2314575"/>
          <a:ext cx="11239500" cy="2712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9875"/>
                <a:gridCol w="4219575"/>
                <a:gridCol w="4210050"/>
              </a:tblGrid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Critère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B w="19050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1550" spc="-95" b="1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Class</a:t>
                      </a:r>
                      <a:r>
                        <a:rPr dirty="0" sz="1550" spc="-30" b="1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80" b="1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standard</a:t>
                      </a:r>
                      <a:r>
                        <a:rPr dirty="0" sz="1550" spc="-25" b="1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(POJO)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55575">
                    <a:lnB w="19050">
                      <a:solidFill>
                        <a:srgbClr val="E2E7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1550" spc="-10" b="1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Record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55575">
                    <a:lnB w="19050">
                      <a:solidFill>
                        <a:srgbClr val="E2E7F0"/>
                      </a:solidFill>
                      <a:prstDash val="solid"/>
                    </a:lnB>
                  </a:tcPr>
                </a:tc>
              </a:tr>
              <a:tr h="53784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Verbosité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42875"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b="1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Verbeux</a:t>
                      </a:r>
                      <a:r>
                        <a:rPr dirty="0" sz="1200" spc="325" b="1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getters/setters/constr.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6525"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Compact</a:t>
                      </a:r>
                      <a:r>
                        <a:rPr dirty="0" sz="1200" spc="38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550" spc="-10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ligne</a:t>
                      </a:r>
                      <a:r>
                        <a:rPr dirty="0" sz="1550" spc="-9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suffit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6525"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Immutabilité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50" spc="-3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Optionnelle</a:t>
                      </a:r>
                      <a:r>
                        <a:rPr dirty="0" sz="1550" spc="-4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(champs</a:t>
                      </a:r>
                      <a:r>
                        <a:rPr dirty="0" sz="1550" spc="-4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mutable)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20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Implicite</a:t>
                      </a:r>
                      <a:r>
                        <a:rPr dirty="0" sz="1200" spc="49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(final</a:t>
                      </a:r>
                      <a:r>
                        <a:rPr dirty="0" sz="1550" spc="-10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3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par</a:t>
                      </a:r>
                      <a:r>
                        <a:rPr dirty="0" sz="1550" spc="-7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défaut)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Méthodes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50" spc="-3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equals/hashCode</a:t>
                      </a:r>
                      <a:r>
                        <a:rPr dirty="0" sz="1550" spc="1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manuels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200" spc="-35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Auto-</a:t>
                      </a:r>
                      <a:r>
                        <a:rPr dirty="0" sz="120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générés</a:t>
                      </a:r>
                      <a:r>
                        <a:rPr dirty="0" sz="1200" spc="42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sur</a:t>
                      </a:r>
                      <a:r>
                        <a:rPr dirty="0" sz="1550" spc="-9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tous</a:t>
                      </a:r>
                      <a:r>
                        <a:rPr dirty="0" sz="1550" spc="-1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champs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Héritage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550" spc="-2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Possible</a:t>
                      </a:r>
                      <a:r>
                        <a:rPr dirty="0" sz="1550" spc="-5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(extends)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200" spc="-10" b="1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Impossible</a:t>
                      </a:r>
                      <a:r>
                        <a:rPr dirty="0" sz="1200" spc="380" b="1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(final)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14" name="object 14" descr=""/>
          <p:cNvGrpSpPr/>
          <p:nvPr/>
        </p:nvGrpSpPr>
        <p:grpSpPr>
          <a:xfrm>
            <a:off x="435863" y="5638800"/>
            <a:ext cx="5633085" cy="582295"/>
            <a:chOff x="435863" y="5638800"/>
            <a:chExt cx="5633085" cy="582295"/>
          </a:xfrm>
        </p:grpSpPr>
        <p:sp>
          <p:nvSpPr>
            <p:cNvPr id="15" name="object 15" descr=""/>
            <p:cNvSpPr/>
            <p:nvPr/>
          </p:nvSpPr>
          <p:spPr>
            <a:xfrm>
              <a:off x="435863" y="5638800"/>
              <a:ext cx="5633085" cy="582295"/>
            </a:xfrm>
            <a:custGeom>
              <a:avLst/>
              <a:gdLst/>
              <a:ahLst/>
              <a:cxnLst/>
              <a:rect l="l" t="t" r="r" b="b"/>
              <a:pathLst>
                <a:path w="5633085" h="582295">
                  <a:moveTo>
                    <a:pt x="5632704" y="582168"/>
                  </a:moveTo>
                  <a:lnTo>
                    <a:pt x="0" y="582168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476249"/>
                  </a:lnTo>
                  <a:lnTo>
                    <a:pt x="71195" y="516028"/>
                  </a:lnTo>
                  <a:lnTo>
                    <a:pt x="97535" y="523874"/>
                  </a:lnTo>
                  <a:lnTo>
                    <a:pt x="5632704" y="523874"/>
                  </a:lnTo>
                  <a:lnTo>
                    <a:pt x="5632704" y="582168"/>
                  </a:lnTo>
                  <a:close/>
                </a:path>
                <a:path w="5633085" h="582295">
                  <a:moveTo>
                    <a:pt x="5632704" y="523874"/>
                  </a:moveTo>
                  <a:lnTo>
                    <a:pt x="5536310" y="523874"/>
                  </a:lnTo>
                  <a:lnTo>
                    <a:pt x="5545812" y="523002"/>
                  </a:lnTo>
                  <a:lnTo>
                    <a:pt x="5554592" y="520387"/>
                  </a:lnTo>
                  <a:lnTo>
                    <a:pt x="5583063" y="485751"/>
                  </a:lnTo>
                  <a:lnTo>
                    <a:pt x="5583935" y="476249"/>
                  </a:lnTo>
                  <a:lnTo>
                    <a:pt x="5583935" y="85724"/>
                  </a:lnTo>
                  <a:lnTo>
                    <a:pt x="5562650" y="45945"/>
                  </a:lnTo>
                  <a:lnTo>
                    <a:pt x="5536310" y="38099"/>
                  </a:lnTo>
                  <a:lnTo>
                    <a:pt x="5632704" y="38099"/>
                  </a:lnTo>
                  <a:lnTo>
                    <a:pt x="5632704" y="52387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0062" y="5667374"/>
              <a:ext cx="5529580" cy="504825"/>
            </a:xfrm>
            <a:custGeom>
              <a:avLst/>
              <a:gdLst/>
              <a:ahLst/>
              <a:cxnLst/>
              <a:rect l="l" t="t" r="r" b="b"/>
              <a:pathLst>
                <a:path w="5529580" h="504825">
                  <a:moveTo>
                    <a:pt x="5475864" y="504824"/>
                  </a:moveTo>
                  <a:lnTo>
                    <a:pt x="28916" y="504824"/>
                  </a:lnTo>
                  <a:lnTo>
                    <a:pt x="845" y="462543"/>
                  </a:lnTo>
                  <a:lnTo>
                    <a:pt x="0" y="455252"/>
                  </a:lnTo>
                  <a:lnTo>
                    <a:pt x="0" y="447674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451427"/>
                  </a:lnTo>
                  <a:lnTo>
                    <a:pt x="5509869" y="490739"/>
                  </a:lnTo>
                  <a:lnTo>
                    <a:pt x="5479580" y="504458"/>
                  </a:lnTo>
                  <a:lnTo>
                    <a:pt x="5475864" y="5048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6249" y="5667374"/>
              <a:ext cx="54610" cy="504825"/>
            </a:xfrm>
            <a:custGeom>
              <a:avLst/>
              <a:gdLst/>
              <a:ahLst/>
              <a:cxnLst/>
              <a:rect l="l" t="t" r="r" b="b"/>
              <a:pathLst>
                <a:path w="54609" h="504825">
                  <a:moveTo>
                    <a:pt x="54519" y="504824"/>
                  </a:moveTo>
                  <a:lnTo>
                    <a:pt x="49571" y="504824"/>
                  </a:lnTo>
                  <a:lnTo>
                    <a:pt x="42281" y="503373"/>
                  </a:lnTo>
                  <a:lnTo>
                    <a:pt x="7250" y="476546"/>
                  </a:lnTo>
                  <a:lnTo>
                    <a:pt x="0" y="455252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47674"/>
                  </a:lnTo>
                  <a:lnTo>
                    <a:pt x="50414" y="488085"/>
                  </a:lnTo>
                  <a:lnTo>
                    <a:pt x="52274" y="499244"/>
                  </a:lnTo>
                  <a:lnTo>
                    <a:pt x="54519" y="5048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822949"/>
              <a:ext cx="190500" cy="193675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939800" y="5787940"/>
            <a:ext cx="4252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2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record</a:t>
            </a:r>
            <a:r>
              <a:rPr dirty="0" sz="1350" spc="-46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13532D"/>
                </a:solidFill>
                <a:latin typeface="Arial"/>
                <a:cs typeface="Arial"/>
              </a:rPr>
              <a:t>DTOs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et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Value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Objects.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132576" y="5638800"/>
            <a:ext cx="5623560" cy="582295"/>
            <a:chOff x="6132576" y="5638800"/>
            <a:chExt cx="5623560" cy="582295"/>
          </a:xfrm>
        </p:grpSpPr>
        <p:sp>
          <p:nvSpPr>
            <p:cNvPr id="21" name="object 21" descr=""/>
            <p:cNvSpPr/>
            <p:nvPr/>
          </p:nvSpPr>
          <p:spPr>
            <a:xfrm>
              <a:off x="6132576" y="5638800"/>
              <a:ext cx="5623560" cy="582295"/>
            </a:xfrm>
            <a:custGeom>
              <a:avLst/>
              <a:gdLst/>
              <a:ahLst/>
              <a:cxnLst/>
              <a:rect l="l" t="t" r="r" b="b"/>
              <a:pathLst>
                <a:path w="5623559" h="582295">
                  <a:moveTo>
                    <a:pt x="5623560" y="582168"/>
                  </a:moveTo>
                  <a:lnTo>
                    <a:pt x="0" y="582168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099"/>
                  </a:lnTo>
                  <a:lnTo>
                    <a:pt x="96773" y="38099"/>
                  </a:lnTo>
                  <a:lnTo>
                    <a:pt x="87271" y="38971"/>
                  </a:lnTo>
                  <a:lnTo>
                    <a:pt x="52635" y="67441"/>
                  </a:lnTo>
                  <a:lnTo>
                    <a:pt x="49148" y="85724"/>
                  </a:lnTo>
                  <a:lnTo>
                    <a:pt x="49148" y="476249"/>
                  </a:lnTo>
                  <a:lnTo>
                    <a:pt x="70433" y="516028"/>
                  </a:lnTo>
                  <a:lnTo>
                    <a:pt x="96773" y="523874"/>
                  </a:lnTo>
                  <a:lnTo>
                    <a:pt x="5623560" y="523874"/>
                  </a:lnTo>
                  <a:lnTo>
                    <a:pt x="5623560" y="582168"/>
                  </a:lnTo>
                  <a:close/>
                </a:path>
                <a:path w="5623559" h="582295">
                  <a:moveTo>
                    <a:pt x="5623560" y="523874"/>
                  </a:moveTo>
                  <a:lnTo>
                    <a:pt x="5526023" y="523874"/>
                  </a:lnTo>
                  <a:lnTo>
                    <a:pt x="5535525" y="523002"/>
                  </a:lnTo>
                  <a:lnTo>
                    <a:pt x="5544305" y="520387"/>
                  </a:lnTo>
                  <a:lnTo>
                    <a:pt x="5572776" y="485751"/>
                  </a:lnTo>
                  <a:lnTo>
                    <a:pt x="5573648" y="476249"/>
                  </a:lnTo>
                  <a:lnTo>
                    <a:pt x="5573648" y="85724"/>
                  </a:lnTo>
                  <a:lnTo>
                    <a:pt x="5552363" y="45945"/>
                  </a:lnTo>
                  <a:lnTo>
                    <a:pt x="5526023" y="38099"/>
                  </a:lnTo>
                  <a:lnTo>
                    <a:pt x="5623560" y="38099"/>
                  </a:lnTo>
                  <a:lnTo>
                    <a:pt x="5623560" y="52387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96011" y="5667374"/>
              <a:ext cx="5520055" cy="504825"/>
            </a:xfrm>
            <a:custGeom>
              <a:avLst/>
              <a:gdLst/>
              <a:ahLst/>
              <a:cxnLst/>
              <a:rect l="l" t="t" r="r" b="b"/>
              <a:pathLst>
                <a:path w="5520055" h="504825">
                  <a:moveTo>
                    <a:pt x="5466338" y="504824"/>
                  </a:moveTo>
                  <a:lnTo>
                    <a:pt x="28916" y="504824"/>
                  </a:lnTo>
                  <a:lnTo>
                    <a:pt x="845" y="462543"/>
                  </a:lnTo>
                  <a:lnTo>
                    <a:pt x="0" y="455252"/>
                  </a:lnTo>
                  <a:lnTo>
                    <a:pt x="0" y="447674"/>
                  </a:lnTo>
                  <a:lnTo>
                    <a:pt x="0" y="49570"/>
                  </a:lnTo>
                  <a:lnTo>
                    <a:pt x="12889" y="11378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451427"/>
                  </a:lnTo>
                  <a:lnTo>
                    <a:pt x="5500342" y="490739"/>
                  </a:lnTo>
                  <a:lnTo>
                    <a:pt x="5470054" y="504458"/>
                  </a:lnTo>
                  <a:lnTo>
                    <a:pt x="5466338" y="5048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172199" y="5667374"/>
              <a:ext cx="54610" cy="504825"/>
            </a:xfrm>
            <a:custGeom>
              <a:avLst/>
              <a:gdLst/>
              <a:ahLst/>
              <a:cxnLst/>
              <a:rect l="l" t="t" r="r" b="b"/>
              <a:pathLst>
                <a:path w="54610" h="504825">
                  <a:moveTo>
                    <a:pt x="54519" y="504824"/>
                  </a:moveTo>
                  <a:lnTo>
                    <a:pt x="49570" y="504824"/>
                  </a:lnTo>
                  <a:lnTo>
                    <a:pt x="42280" y="503373"/>
                  </a:lnTo>
                  <a:lnTo>
                    <a:pt x="7249" y="476546"/>
                  </a:lnTo>
                  <a:lnTo>
                    <a:pt x="0" y="45525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47674"/>
                  </a:lnTo>
                  <a:lnTo>
                    <a:pt x="50414" y="488085"/>
                  </a:lnTo>
                  <a:lnTo>
                    <a:pt x="52274" y="499244"/>
                  </a:lnTo>
                  <a:lnTo>
                    <a:pt x="54519" y="5048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5822949"/>
              <a:ext cx="136525" cy="193675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6583362" y="5795791"/>
            <a:ext cx="3990975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3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1D3A8A"/>
                </a:solidFill>
                <a:latin typeface="Arial"/>
                <a:cs typeface="Arial"/>
              </a:rPr>
              <a:t>Un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record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peut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implémenter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des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interfaces.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300">
              <a:lnSpc>
                <a:spcPts val="1019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 </a:t>
            </a:r>
            <a:r>
              <a:rPr dirty="0" spc="110"/>
              <a:t>/</a:t>
            </a:r>
            <a:r>
              <a:rPr dirty="0" spc="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</a:t>
            </a:r>
            <a:r>
              <a:rPr dirty="0" spc="-75"/>
              <a:t> </a:t>
            </a:r>
            <a:r>
              <a:rPr dirty="0" spc="-100"/>
              <a:t>record</a:t>
            </a:r>
            <a:r>
              <a:rPr dirty="0" spc="-70"/>
              <a:t> </a:t>
            </a:r>
            <a:r>
              <a:rPr dirty="0" spc="-650"/>
              <a:t>—</a:t>
            </a:r>
            <a:r>
              <a:rPr dirty="0" spc="-70"/>
              <a:t> </a:t>
            </a:r>
            <a:r>
              <a:rPr dirty="0" spc="-45"/>
              <a:t>Immutabilité</a:t>
            </a:r>
            <a:r>
              <a:rPr dirty="0" spc="-70"/>
              <a:t> </a:t>
            </a:r>
            <a:r>
              <a:rPr dirty="0"/>
              <a:t>et</a:t>
            </a:r>
            <a:r>
              <a:rPr dirty="0" spc="-70"/>
              <a:t> </a:t>
            </a:r>
            <a:r>
              <a:rPr dirty="0" spc="-80"/>
              <a:t>accesseurs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675376"/>
            <a:ext cx="5633085" cy="782955"/>
            <a:chOff x="435863" y="5675376"/>
            <a:chExt cx="5633085" cy="782955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675376"/>
              <a:ext cx="5633085" cy="782955"/>
            </a:xfrm>
            <a:custGeom>
              <a:avLst/>
              <a:gdLst/>
              <a:ahLst/>
              <a:cxnLst/>
              <a:rect l="l" t="t" r="r" b="b"/>
              <a:pathLst>
                <a:path w="5633085" h="782954">
                  <a:moveTo>
                    <a:pt x="59435" y="782573"/>
                  </a:moveTo>
                  <a:lnTo>
                    <a:pt x="0" y="782573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9623"/>
                  </a:lnTo>
                  <a:lnTo>
                    <a:pt x="97535" y="39623"/>
                  </a:lnTo>
                  <a:lnTo>
                    <a:pt x="88033" y="40495"/>
                  </a:lnTo>
                  <a:lnTo>
                    <a:pt x="53398" y="68965"/>
                  </a:lnTo>
                  <a:lnTo>
                    <a:pt x="49910" y="87248"/>
                  </a:lnTo>
                  <a:lnTo>
                    <a:pt x="49910" y="753998"/>
                  </a:lnTo>
                  <a:lnTo>
                    <a:pt x="50506" y="761737"/>
                  </a:lnTo>
                  <a:lnTo>
                    <a:pt x="52292" y="769079"/>
                  </a:lnTo>
                  <a:lnTo>
                    <a:pt x="55268" y="776025"/>
                  </a:lnTo>
                  <a:lnTo>
                    <a:pt x="59435" y="782573"/>
                  </a:lnTo>
                  <a:close/>
                </a:path>
                <a:path w="5633085" h="782954">
                  <a:moveTo>
                    <a:pt x="5632704" y="782573"/>
                  </a:moveTo>
                  <a:lnTo>
                    <a:pt x="5574410" y="782573"/>
                  </a:lnTo>
                  <a:lnTo>
                    <a:pt x="5578578" y="776025"/>
                  </a:lnTo>
                  <a:lnTo>
                    <a:pt x="5581554" y="769079"/>
                  </a:lnTo>
                  <a:lnTo>
                    <a:pt x="5583340" y="761737"/>
                  </a:lnTo>
                  <a:lnTo>
                    <a:pt x="5583935" y="753998"/>
                  </a:lnTo>
                  <a:lnTo>
                    <a:pt x="5583935" y="87248"/>
                  </a:lnTo>
                  <a:lnTo>
                    <a:pt x="5562650" y="47469"/>
                  </a:lnTo>
                  <a:lnTo>
                    <a:pt x="5536310" y="39623"/>
                  </a:lnTo>
                  <a:lnTo>
                    <a:pt x="5632704" y="39623"/>
                  </a:lnTo>
                  <a:lnTo>
                    <a:pt x="5632704" y="78257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705474"/>
              <a:ext cx="5529580" cy="752475"/>
            </a:xfrm>
            <a:custGeom>
              <a:avLst/>
              <a:gdLst/>
              <a:ahLst/>
              <a:cxnLst/>
              <a:rect l="l" t="t" r="r" b="b"/>
              <a:pathLst>
                <a:path w="5529580" h="752475">
                  <a:moveTo>
                    <a:pt x="5521744" y="752475"/>
                  </a:moveTo>
                  <a:lnTo>
                    <a:pt x="4157" y="752475"/>
                  </a:lnTo>
                  <a:lnTo>
                    <a:pt x="841" y="738729"/>
                  </a:lnTo>
                  <a:lnTo>
                    <a:pt x="0" y="731477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7" y="19391"/>
                  </a:lnTo>
                  <a:lnTo>
                    <a:pt x="5529261" y="53397"/>
                  </a:lnTo>
                  <a:lnTo>
                    <a:pt x="5529261" y="727652"/>
                  </a:lnTo>
                  <a:lnTo>
                    <a:pt x="5521744" y="75247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705474"/>
              <a:ext cx="54610" cy="752475"/>
            </a:xfrm>
            <a:custGeom>
              <a:avLst/>
              <a:gdLst/>
              <a:ahLst/>
              <a:cxnLst/>
              <a:rect l="l" t="t" r="r" b="b"/>
              <a:pathLst>
                <a:path w="54609" h="752475">
                  <a:moveTo>
                    <a:pt x="48901" y="752474"/>
                  </a:moveTo>
                  <a:lnTo>
                    <a:pt x="7127" y="752474"/>
                  </a:lnTo>
                  <a:lnTo>
                    <a:pt x="1450" y="738767"/>
                  </a:lnTo>
                  <a:lnTo>
                    <a:pt x="0" y="73147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704" y="731428"/>
                  </a:lnTo>
                  <a:lnTo>
                    <a:pt x="48342" y="745715"/>
                  </a:lnTo>
                  <a:lnTo>
                    <a:pt x="48901" y="75247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994399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795531"/>
            <a:ext cx="4364990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Idéal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objets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de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valeur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85">
                <a:solidFill>
                  <a:srgbClr val="13532D"/>
                </a:solidFill>
                <a:latin typeface="Arial"/>
                <a:cs typeface="Arial"/>
              </a:rPr>
              <a:t>(DTO)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sans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logique complexe.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675376"/>
            <a:ext cx="5623560" cy="782955"/>
            <a:chOff x="6132576" y="5675376"/>
            <a:chExt cx="5623560" cy="782955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675376"/>
              <a:ext cx="5623560" cy="782955"/>
            </a:xfrm>
            <a:custGeom>
              <a:avLst/>
              <a:gdLst/>
              <a:ahLst/>
              <a:cxnLst/>
              <a:rect l="l" t="t" r="r" b="b"/>
              <a:pathLst>
                <a:path w="5623559" h="782954">
                  <a:moveTo>
                    <a:pt x="58673" y="782573"/>
                  </a:moveTo>
                  <a:lnTo>
                    <a:pt x="0" y="782573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9623"/>
                  </a:lnTo>
                  <a:lnTo>
                    <a:pt x="96773" y="39623"/>
                  </a:lnTo>
                  <a:lnTo>
                    <a:pt x="87271" y="40495"/>
                  </a:lnTo>
                  <a:lnTo>
                    <a:pt x="52635" y="68965"/>
                  </a:lnTo>
                  <a:lnTo>
                    <a:pt x="49148" y="87248"/>
                  </a:lnTo>
                  <a:lnTo>
                    <a:pt x="49148" y="753998"/>
                  </a:lnTo>
                  <a:lnTo>
                    <a:pt x="49743" y="761737"/>
                  </a:lnTo>
                  <a:lnTo>
                    <a:pt x="51529" y="769079"/>
                  </a:lnTo>
                  <a:lnTo>
                    <a:pt x="54506" y="776025"/>
                  </a:lnTo>
                  <a:lnTo>
                    <a:pt x="58673" y="782573"/>
                  </a:lnTo>
                  <a:close/>
                </a:path>
                <a:path w="5623559" h="782954">
                  <a:moveTo>
                    <a:pt x="5623560" y="782573"/>
                  </a:moveTo>
                  <a:lnTo>
                    <a:pt x="5564123" y="782573"/>
                  </a:lnTo>
                  <a:lnTo>
                    <a:pt x="5568290" y="776025"/>
                  </a:lnTo>
                  <a:lnTo>
                    <a:pt x="5571267" y="769079"/>
                  </a:lnTo>
                  <a:lnTo>
                    <a:pt x="5573053" y="761737"/>
                  </a:lnTo>
                  <a:lnTo>
                    <a:pt x="5573648" y="753998"/>
                  </a:lnTo>
                  <a:lnTo>
                    <a:pt x="5573648" y="87248"/>
                  </a:lnTo>
                  <a:lnTo>
                    <a:pt x="5552363" y="47469"/>
                  </a:lnTo>
                  <a:lnTo>
                    <a:pt x="5526023" y="39623"/>
                  </a:lnTo>
                  <a:lnTo>
                    <a:pt x="5623560" y="39623"/>
                  </a:lnTo>
                  <a:lnTo>
                    <a:pt x="5623560" y="78257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705474"/>
              <a:ext cx="5520055" cy="752475"/>
            </a:xfrm>
            <a:custGeom>
              <a:avLst/>
              <a:gdLst/>
              <a:ahLst/>
              <a:cxnLst/>
              <a:rect l="l" t="t" r="r" b="b"/>
              <a:pathLst>
                <a:path w="5520055" h="752475">
                  <a:moveTo>
                    <a:pt x="5512218" y="752475"/>
                  </a:moveTo>
                  <a:lnTo>
                    <a:pt x="4156" y="752475"/>
                  </a:lnTo>
                  <a:lnTo>
                    <a:pt x="841" y="738729"/>
                  </a:lnTo>
                  <a:lnTo>
                    <a:pt x="0" y="731477"/>
                  </a:lnTo>
                  <a:lnTo>
                    <a:pt x="0" y="49570"/>
                  </a:lnTo>
                  <a:lnTo>
                    <a:pt x="12889" y="11378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727652"/>
                  </a:lnTo>
                  <a:lnTo>
                    <a:pt x="5512218" y="75247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705474"/>
              <a:ext cx="54610" cy="752475"/>
            </a:xfrm>
            <a:custGeom>
              <a:avLst/>
              <a:gdLst/>
              <a:ahLst/>
              <a:cxnLst/>
              <a:rect l="l" t="t" r="r" b="b"/>
              <a:pathLst>
                <a:path w="54610" h="752475">
                  <a:moveTo>
                    <a:pt x="48901" y="752474"/>
                  </a:moveTo>
                  <a:lnTo>
                    <a:pt x="7126" y="752474"/>
                  </a:lnTo>
                  <a:lnTo>
                    <a:pt x="1449" y="738767"/>
                  </a:lnTo>
                  <a:lnTo>
                    <a:pt x="0" y="7314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704" y="731428"/>
                  </a:lnTo>
                  <a:lnTo>
                    <a:pt x="48342" y="745715"/>
                  </a:lnTo>
                  <a:lnTo>
                    <a:pt x="48901" y="7524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5994399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5757431"/>
            <a:ext cx="4063365" cy="57785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2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D3A8A"/>
                </a:solidFill>
                <a:latin typeface="Arial"/>
                <a:cs typeface="Arial"/>
              </a:rPr>
              <a:t>Les</a:t>
            </a:r>
            <a:r>
              <a:rPr dirty="0" sz="140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D3A8A"/>
                </a:solidFill>
                <a:latin typeface="Arial"/>
                <a:cs typeface="Arial"/>
              </a:rPr>
              <a:t>accesseurs</a:t>
            </a:r>
            <a:r>
              <a:rPr dirty="0" sz="140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D3A8A"/>
                </a:solidFill>
                <a:latin typeface="Arial"/>
                <a:cs typeface="Arial"/>
              </a:rPr>
              <a:t>n'ont</a:t>
            </a:r>
            <a:r>
              <a:rPr dirty="0" sz="140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D3A8A"/>
                </a:solidFill>
                <a:latin typeface="Arial"/>
                <a:cs typeface="Arial"/>
              </a:rPr>
              <a:t>pas</a:t>
            </a:r>
            <a:r>
              <a:rPr dirty="0" sz="140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de</a:t>
            </a:r>
            <a:r>
              <a:rPr dirty="0" sz="140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D3A8A"/>
                </a:solidFill>
                <a:latin typeface="Arial"/>
                <a:cs typeface="Arial"/>
              </a:rPr>
              <a:t>préfixe</a:t>
            </a:r>
            <a:r>
              <a:rPr dirty="0" sz="140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get</a:t>
            </a:r>
            <a:r>
              <a:rPr dirty="0" sz="1350" spc="-475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400" spc="-20">
                <a:solidFill>
                  <a:srgbClr val="1D3A8A"/>
                </a:solidFill>
                <a:latin typeface="Arial"/>
                <a:cs typeface="Arial"/>
              </a:rPr>
              <a:t>(ex: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350" spc="-10">
                <a:solidFill>
                  <a:srgbClr val="1D3A8A"/>
                </a:solidFill>
                <a:latin typeface="Monaco"/>
                <a:cs typeface="Monaco"/>
              </a:rPr>
              <a:t>.valeur()</a:t>
            </a: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49424"/>
            <a:ext cx="12192000" cy="4218305"/>
            <a:chOff x="0" y="2249424"/>
            <a:chExt cx="12192000" cy="4218305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0624" y="2249424"/>
              <a:ext cx="11351260" cy="3386454"/>
            </a:xfrm>
            <a:custGeom>
              <a:avLst/>
              <a:gdLst/>
              <a:ahLst/>
              <a:cxnLst/>
              <a:rect l="l" t="t" r="r" b="b"/>
              <a:pathLst>
                <a:path w="11351260" h="3386454">
                  <a:moveTo>
                    <a:pt x="11350752" y="3386328"/>
                  </a:moveTo>
                  <a:lnTo>
                    <a:pt x="0" y="338632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3236975"/>
                  </a:lnTo>
                  <a:lnTo>
                    <a:pt x="76377" y="3274024"/>
                  </a:lnTo>
                  <a:lnTo>
                    <a:pt x="106310" y="3298574"/>
                  </a:lnTo>
                  <a:lnTo>
                    <a:pt x="131825" y="3303650"/>
                  </a:lnTo>
                  <a:lnTo>
                    <a:pt x="11350752" y="3303650"/>
                  </a:lnTo>
                  <a:lnTo>
                    <a:pt x="11350752" y="3386328"/>
                  </a:lnTo>
                  <a:close/>
                </a:path>
                <a:path w="11351260" h="3386454">
                  <a:moveTo>
                    <a:pt x="11350752" y="3303650"/>
                  </a:moveTo>
                  <a:lnTo>
                    <a:pt x="11218925" y="3303650"/>
                  </a:lnTo>
                  <a:lnTo>
                    <a:pt x="11225493" y="3303333"/>
                  </a:lnTo>
                  <a:lnTo>
                    <a:pt x="11231935" y="3302381"/>
                  </a:lnTo>
                  <a:lnTo>
                    <a:pt x="11266071" y="3284121"/>
                  </a:lnTo>
                  <a:lnTo>
                    <a:pt x="11284331" y="3249985"/>
                  </a:lnTo>
                  <a:lnTo>
                    <a:pt x="11285600" y="323697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33036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90762"/>
              <a:ext cx="11229975" cy="3267075"/>
            </a:xfrm>
            <a:custGeom>
              <a:avLst/>
              <a:gdLst/>
              <a:ahLst/>
              <a:cxnLst/>
              <a:rect l="l" t="t" r="r" b="b"/>
              <a:pathLst>
                <a:path w="11229975" h="3267075">
                  <a:moveTo>
                    <a:pt x="11163227" y="3267074"/>
                  </a:moveTo>
                  <a:lnTo>
                    <a:pt x="66746" y="3267074"/>
                  </a:lnTo>
                  <a:lnTo>
                    <a:pt x="62101" y="3266616"/>
                  </a:lnTo>
                  <a:lnTo>
                    <a:pt x="24240" y="3249467"/>
                  </a:lnTo>
                  <a:lnTo>
                    <a:pt x="2287" y="3214173"/>
                  </a:lnTo>
                  <a:lnTo>
                    <a:pt x="0" y="3200328"/>
                  </a:lnTo>
                  <a:lnTo>
                    <a:pt x="0" y="31956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200328"/>
                  </a:lnTo>
                  <a:lnTo>
                    <a:pt x="11215327" y="3239225"/>
                  </a:lnTo>
                  <a:lnTo>
                    <a:pt x="11181539" y="3263430"/>
                  </a:lnTo>
                  <a:lnTo>
                    <a:pt x="11167872" y="3266616"/>
                  </a:lnTo>
                  <a:lnTo>
                    <a:pt x="11163227" y="32670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3267075"/>
            </a:xfrm>
            <a:custGeom>
              <a:avLst/>
              <a:gdLst/>
              <a:ahLst/>
              <a:cxnLst/>
              <a:rect l="l" t="t" r="r" b="b"/>
              <a:pathLst>
                <a:path w="11229975" h="3267075">
                  <a:moveTo>
                    <a:pt x="0" y="31956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195637"/>
                  </a:lnTo>
                  <a:lnTo>
                    <a:pt x="11229972" y="3200328"/>
                  </a:lnTo>
                  <a:lnTo>
                    <a:pt x="11229514" y="3204973"/>
                  </a:lnTo>
                  <a:lnTo>
                    <a:pt x="11228599" y="3209573"/>
                  </a:lnTo>
                  <a:lnTo>
                    <a:pt x="11227684" y="3214173"/>
                  </a:lnTo>
                  <a:lnTo>
                    <a:pt x="11205732" y="3249467"/>
                  </a:lnTo>
                  <a:lnTo>
                    <a:pt x="11198222" y="3255034"/>
                  </a:lnTo>
                  <a:lnTo>
                    <a:pt x="11194322" y="3257640"/>
                  </a:lnTo>
                  <a:lnTo>
                    <a:pt x="11158536" y="3267074"/>
                  </a:lnTo>
                  <a:lnTo>
                    <a:pt x="71437" y="3267074"/>
                  </a:lnTo>
                  <a:lnTo>
                    <a:pt x="31748" y="3255034"/>
                  </a:lnTo>
                  <a:lnTo>
                    <a:pt x="20923" y="3246150"/>
                  </a:lnTo>
                  <a:lnTo>
                    <a:pt x="17606" y="3242834"/>
                  </a:lnTo>
                  <a:lnTo>
                    <a:pt x="1372" y="3209573"/>
                  </a:lnTo>
                  <a:lnTo>
                    <a:pt x="457" y="3204973"/>
                  </a:lnTo>
                  <a:lnTo>
                    <a:pt x="0" y="3200328"/>
                  </a:lnTo>
                  <a:lnTo>
                    <a:pt x="0" y="31956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6450"/>
            <a:ext cx="10682605" cy="4586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5">
                <a:solidFill>
                  <a:srgbClr val="64738B"/>
                </a:solidFill>
                <a:latin typeface="Arial"/>
                <a:cs typeface="Arial"/>
              </a:rPr>
              <a:t>Un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conteneur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immuable,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concis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sécurisé.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Introduit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en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14,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record</a:t>
            </a:r>
            <a:r>
              <a:rPr dirty="0" sz="1650" spc="-57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remplace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80">
                <a:solidFill>
                  <a:srgbClr val="334054"/>
                </a:solidFill>
                <a:latin typeface="Arial"/>
                <a:cs typeface="Arial"/>
              </a:rPr>
              <a:t>POJO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verbeux.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Il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34054"/>
                </a:solidFill>
                <a:latin typeface="Arial"/>
                <a:cs typeface="Arial"/>
              </a:rPr>
              <a:t>génère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automatiquement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constructeur,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accesseurs,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650" spc="-20">
                <a:solidFill>
                  <a:srgbClr val="334054"/>
                </a:solidFill>
                <a:latin typeface="Monaco"/>
                <a:cs typeface="Monaco"/>
              </a:rPr>
              <a:t>equals</a:t>
            </a: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hashCode</a:t>
            </a:r>
            <a:r>
              <a:rPr dirty="0" sz="1650" spc="-57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65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Monaco"/>
                <a:cs typeface="Monaco"/>
              </a:rPr>
              <a:t>toString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160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5" i="1">
                <a:solidFill>
                  <a:srgbClr val="6A737D"/>
                </a:solidFill>
                <a:latin typeface="Times New Roman"/>
                <a:cs typeface="Times New Roman"/>
              </a:rPr>
              <a:t>Déclaration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concise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5" i="1">
                <a:solidFill>
                  <a:srgbClr val="6A737D"/>
                </a:solidFill>
                <a:latin typeface="Times New Roman"/>
                <a:cs typeface="Times New Roman"/>
              </a:rPr>
              <a:t>(champs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private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0" i="1">
                <a:solidFill>
                  <a:srgbClr val="6A737D"/>
                </a:solidFill>
                <a:latin typeface="Times New Roman"/>
                <a:cs typeface="Times New Roman"/>
              </a:rPr>
              <a:t>final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90" i="1">
                <a:solidFill>
                  <a:srgbClr val="6A737D"/>
                </a:solidFill>
                <a:latin typeface="Times New Roman"/>
                <a:cs typeface="Times New Roman"/>
              </a:rPr>
              <a:t>implicites)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90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10" b="1">
                <a:solidFill>
                  <a:srgbClr val="D63A49"/>
                </a:solidFill>
                <a:latin typeface="Times New Roman"/>
                <a:cs typeface="Times New Roman"/>
              </a:rPr>
              <a:t>record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15">
                <a:solidFill>
                  <a:srgbClr val="005CC4"/>
                </a:solidFill>
                <a:latin typeface="Times New Roman"/>
                <a:cs typeface="Times New Roman"/>
              </a:rPr>
              <a:t>Note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15" b="1">
                <a:solidFill>
                  <a:srgbClr val="D63A49"/>
                </a:solidFill>
                <a:latin typeface="Times New Roman"/>
                <a:cs typeface="Times New Roman"/>
              </a:rPr>
              <a:t>double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25">
                <a:solidFill>
                  <a:srgbClr val="334054"/>
                </a:solidFill>
                <a:latin typeface="Times New Roman"/>
                <a:cs typeface="Times New Roman"/>
              </a:rPr>
              <a:t>valeur,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matiere)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75">
                <a:solidFill>
                  <a:srgbClr val="334054"/>
                </a:solidFill>
                <a:latin typeface="Times New Roman"/>
                <a:cs typeface="Times New Roman"/>
              </a:rPr>
              <a:t>{}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90" i="1">
                <a:solidFill>
                  <a:srgbClr val="6A737D"/>
                </a:solidFill>
                <a:latin typeface="Times New Roman"/>
                <a:cs typeface="Times New Roman"/>
              </a:rPr>
              <a:t>Utilisation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0" i="1">
                <a:solidFill>
                  <a:srgbClr val="6A737D"/>
                </a:solidFill>
                <a:latin typeface="Times New Roman"/>
                <a:cs typeface="Times New Roman"/>
              </a:rPr>
              <a:t>simple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90"/>
              </a:spcBef>
            </a:pPr>
            <a:r>
              <a:rPr dirty="0" sz="1450" spc="195" b="1">
                <a:solidFill>
                  <a:srgbClr val="D63A49"/>
                </a:solidFill>
                <a:latin typeface="Times New Roman"/>
                <a:cs typeface="Times New Roman"/>
              </a:rPr>
              <a:t>var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n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75">
                <a:solidFill>
                  <a:srgbClr val="005CC4"/>
                </a:solidFill>
                <a:latin typeface="Times New Roman"/>
                <a:cs typeface="Times New Roman"/>
              </a:rPr>
              <a:t>Note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(15.5,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320">
                <a:solidFill>
                  <a:srgbClr val="21863A"/>
                </a:solidFill>
                <a:latin typeface="Times New Roman"/>
                <a:cs typeface="Times New Roman"/>
              </a:rPr>
              <a:t>"Java"</a:t>
            </a:r>
            <a:r>
              <a:rPr dirty="0" sz="1450" spc="32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Accesseurs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0" i="1">
                <a:solidFill>
                  <a:srgbClr val="6A737D"/>
                </a:solidFill>
                <a:latin typeface="Times New Roman"/>
                <a:cs typeface="Times New Roman"/>
              </a:rPr>
              <a:t>automatiques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95" i="1">
                <a:solidFill>
                  <a:srgbClr val="6A737D"/>
                </a:solidFill>
                <a:latin typeface="Times New Roman"/>
                <a:cs typeface="Times New Roman"/>
              </a:rPr>
              <a:t>(nom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du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0" i="1">
                <a:solidFill>
                  <a:srgbClr val="6A737D"/>
                </a:solidFill>
                <a:latin typeface="Times New Roman"/>
                <a:cs typeface="Times New Roman"/>
              </a:rPr>
              <a:t>champ,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5" i="1">
                <a:solidFill>
                  <a:srgbClr val="6A737D"/>
                </a:solidFill>
                <a:latin typeface="Times New Roman"/>
                <a:cs typeface="Times New Roman"/>
              </a:rPr>
              <a:t>pas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0" i="1">
                <a:solidFill>
                  <a:srgbClr val="6A737D"/>
                </a:solidFill>
                <a:latin typeface="Times New Roman"/>
                <a:cs typeface="Times New Roman"/>
              </a:rPr>
              <a:t>getXxx)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</a:pPr>
            <a:r>
              <a:rPr dirty="0" sz="1450" spc="315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50" spc="315">
                <a:solidFill>
                  <a:srgbClr val="334054"/>
                </a:solidFill>
                <a:latin typeface="Times New Roman"/>
                <a:cs typeface="Times New Roman"/>
              </a:rPr>
              <a:t>.out.println(n.</a:t>
            </a:r>
            <a:r>
              <a:rPr dirty="0" sz="1450" spc="315">
                <a:solidFill>
                  <a:srgbClr val="6F41C1"/>
                </a:solidFill>
                <a:latin typeface="Times New Roman"/>
                <a:cs typeface="Times New Roman"/>
              </a:rPr>
              <a:t>matiere</a:t>
            </a:r>
            <a:r>
              <a:rPr dirty="0" sz="1450" spc="315">
                <a:solidFill>
                  <a:srgbClr val="334054"/>
                </a:solidFill>
                <a:latin typeface="Times New Roman"/>
                <a:cs typeface="Times New Roman"/>
              </a:rPr>
              <a:t>());</a:t>
            </a:r>
            <a:r>
              <a:rPr dirty="0" sz="1450" spc="114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9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Affiche</a:t>
            </a:r>
            <a:r>
              <a:rPr dirty="0" sz="1550" spc="9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"Java"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35" i="1">
                <a:solidFill>
                  <a:srgbClr val="6A737D"/>
                </a:solidFill>
                <a:latin typeface="Times New Roman"/>
                <a:cs typeface="Times New Roman"/>
              </a:rPr>
              <a:t>Immutabilité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0" i="1">
                <a:solidFill>
                  <a:srgbClr val="6A737D"/>
                </a:solidFill>
                <a:latin typeface="Times New Roman"/>
                <a:cs typeface="Times New Roman"/>
              </a:rPr>
              <a:t>stricte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14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0" i="1">
                <a:solidFill>
                  <a:srgbClr val="6A737D"/>
                </a:solidFill>
                <a:latin typeface="Times New Roman"/>
                <a:cs typeface="Times New Roman"/>
              </a:rPr>
              <a:t>n.setValeur(18);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800" spc="50">
                <a:solidFill>
                  <a:srgbClr val="6A737D"/>
                </a:solidFill>
                <a:latin typeface="Apple Color Emoji"/>
                <a:cs typeface="Apple Color Emoji"/>
              </a:rPr>
              <a:t>❌</a:t>
            </a:r>
            <a:r>
              <a:rPr dirty="0" sz="1800" spc="-890">
                <a:solidFill>
                  <a:srgbClr val="6A737D"/>
                </a:solidFill>
                <a:latin typeface="Apple Color Emoji"/>
                <a:cs typeface="Apple Color Emoji"/>
              </a:rPr>
              <a:t> </a:t>
            </a:r>
            <a:r>
              <a:rPr dirty="0" sz="1550" spc="190" i="1">
                <a:solidFill>
                  <a:srgbClr val="6A737D"/>
                </a:solidFill>
                <a:latin typeface="Times New Roman"/>
                <a:cs typeface="Times New Roman"/>
              </a:rPr>
              <a:t>Erreur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compilation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5" i="1">
                <a:solidFill>
                  <a:srgbClr val="6A737D"/>
                </a:solidFill>
                <a:latin typeface="Times New Roman"/>
                <a:cs typeface="Times New Roman"/>
              </a:rPr>
              <a:t>pas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setters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0" i="1">
                <a:solidFill>
                  <a:srgbClr val="6A737D"/>
                </a:solidFill>
                <a:latin typeface="Times New Roman"/>
                <a:cs typeface="Times New Roman"/>
              </a:rPr>
              <a:t>!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50" y="254000"/>
            <a:ext cx="547370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11.</a:t>
            </a:r>
            <a:r>
              <a:rPr dirty="0" spc="-50"/>
              <a:t> </a:t>
            </a:r>
            <a:r>
              <a:rPr dirty="0" spc="-100"/>
              <a:t>record</a:t>
            </a:r>
            <a:r>
              <a:rPr dirty="0" spc="-50"/>
              <a:t> </a:t>
            </a:r>
            <a:r>
              <a:rPr dirty="0" spc="-650"/>
              <a:t>—</a:t>
            </a:r>
            <a:r>
              <a:rPr dirty="0" spc="-50"/>
              <a:t> </a:t>
            </a:r>
            <a:r>
              <a:rPr dirty="0" spc="-95"/>
              <a:t>Constructeur</a:t>
            </a:r>
            <a:r>
              <a:rPr dirty="0" spc="-50"/>
              <a:t> </a:t>
            </a:r>
            <a:r>
              <a:rPr dirty="0" spc="-60"/>
              <a:t>compact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6038088"/>
            <a:ext cx="5633085" cy="502920"/>
            <a:chOff x="435863" y="6038088"/>
            <a:chExt cx="5633085" cy="50292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6038088"/>
              <a:ext cx="5633085" cy="420370"/>
            </a:xfrm>
            <a:custGeom>
              <a:avLst/>
              <a:gdLst/>
              <a:ahLst/>
              <a:cxnLst/>
              <a:rect l="l" t="t" r="r" b="b"/>
              <a:pathLst>
                <a:path w="5633085" h="420370">
                  <a:moveTo>
                    <a:pt x="49910" y="419861"/>
                  </a:moveTo>
                  <a:lnTo>
                    <a:pt x="0" y="419861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861"/>
                  </a:lnTo>
                  <a:lnTo>
                    <a:pt x="97535" y="38861"/>
                  </a:lnTo>
                  <a:lnTo>
                    <a:pt x="88033" y="39733"/>
                  </a:lnTo>
                  <a:lnTo>
                    <a:pt x="53398" y="68203"/>
                  </a:lnTo>
                  <a:lnTo>
                    <a:pt x="49910" y="86486"/>
                  </a:lnTo>
                  <a:lnTo>
                    <a:pt x="49910" y="419861"/>
                  </a:lnTo>
                  <a:close/>
                </a:path>
                <a:path w="5633085" h="420370">
                  <a:moveTo>
                    <a:pt x="5632704" y="419861"/>
                  </a:moveTo>
                  <a:lnTo>
                    <a:pt x="5583935" y="419861"/>
                  </a:lnTo>
                  <a:lnTo>
                    <a:pt x="5583935" y="86486"/>
                  </a:lnTo>
                  <a:lnTo>
                    <a:pt x="5583063" y="76983"/>
                  </a:lnTo>
                  <a:lnTo>
                    <a:pt x="5554592" y="42348"/>
                  </a:lnTo>
                  <a:lnTo>
                    <a:pt x="5536310" y="38861"/>
                  </a:lnTo>
                  <a:lnTo>
                    <a:pt x="5632704" y="38861"/>
                  </a:lnTo>
                  <a:lnTo>
                    <a:pt x="5632704" y="4198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6067424"/>
              <a:ext cx="5529580" cy="390525"/>
            </a:xfrm>
            <a:custGeom>
              <a:avLst/>
              <a:gdLst/>
              <a:ahLst/>
              <a:cxnLst/>
              <a:rect l="l" t="t" r="r" b="b"/>
              <a:pathLst>
                <a:path w="5529580" h="390525">
                  <a:moveTo>
                    <a:pt x="5529262" y="390525"/>
                  </a:moveTo>
                  <a:lnTo>
                    <a:pt x="0" y="390525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2" y="39052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6067424"/>
              <a:ext cx="54610" cy="390525"/>
            </a:xfrm>
            <a:custGeom>
              <a:avLst/>
              <a:gdLst/>
              <a:ahLst/>
              <a:cxnLst/>
              <a:rect l="l" t="t" r="r" b="b"/>
              <a:pathLst>
                <a:path w="54609" h="390525">
                  <a:moveTo>
                    <a:pt x="47624" y="390524"/>
                  </a:moveTo>
                  <a:lnTo>
                    <a:pt x="0" y="390524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3905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34682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6188642"/>
            <a:ext cx="4808220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532D"/>
                </a:solidFill>
                <a:latin typeface="Arial"/>
                <a:cs typeface="Arial"/>
              </a:rPr>
              <a:t>Validez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toujours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532D"/>
                </a:solidFill>
                <a:latin typeface="Arial"/>
                <a:cs typeface="Arial"/>
              </a:rPr>
              <a:t>données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532D"/>
                </a:solidFill>
                <a:latin typeface="Arial"/>
                <a:cs typeface="Arial"/>
              </a:rPr>
              <a:t>dans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le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constructeur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("Fail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6038088"/>
            <a:ext cx="5623560" cy="502920"/>
            <a:chOff x="6132576" y="6038088"/>
            <a:chExt cx="5623560" cy="502920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6038088"/>
              <a:ext cx="5623560" cy="420370"/>
            </a:xfrm>
            <a:custGeom>
              <a:avLst/>
              <a:gdLst/>
              <a:ahLst/>
              <a:cxnLst/>
              <a:rect l="l" t="t" r="r" b="b"/>
              <a:pathLst>
                <a:path w="5623559" h="420370">
                  <a:moveTo>
                    <a:pt x="49148" y="419861"/>
                  </a:moveTo>
                  <a:lnTo>
                    <a:pt x="0" y="419861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861"/>
                  </a:lnTo>
                  <a:lnTo>
                    <a:pt x="96773" y="38861"/>
                  </a:lnTo>
                  <a:lnTo>
                    <a:pt x="87271" y="39733"/>
                  </a:lnTo>
                  <a:lnTo>
                    <a:pt x="52635" y="68203"/>
                  </a:lnTo>
                  <a:lnTo>
                    <a:pt x="49148" y="86486"/>
                  </a:lnTo>
                  <a:lnTo>
                    <a:pt x="49148" y="419861"/>
                  </a:lnTo>
                  <a:close/>
                </a:path>
                <a:path w="5623559" h="420370">
                  <a:moveTo>
                    <a:pt x="5623560" y="419861"/>
                  </a:moveTo>
                  <a:lnTo>
                    <a:pt x="5573648" y="419861"/>
                  </a:lnTo>
                  <a:lnTo>
                    <a:pt x="5573648" y="86486"/>
                  </a:lnTo>
                  <a:lnTo>
                    <a:pt x="5572776" y="76983"/>
                  </a:lnTo>
                  <a:lnTo>
                    <a:pt x="5544305" y="42348"/>
                  </a:lnTo>
                  <a:lnTo>
                    <a:pt x="5526023" y="38861"/>
                  </a:lnTo>
                  <a:lnTo>
                    <a:pt x="5623560" y="38861"/>
                  </a:lnTo>
                  <a:lnTo>
                    <a:pt x="5623560" y="4198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6067424"/>
              <a:ext cx="5520055" cy="390525"/>
            </a:xfrm>
            <a:custGeom>
              <a:avLst/>
              <a:gdLst/>
              <a:ahLst/>
              <a:cxnLst/>
              <a:rect l="l" t="t" r="r" b="b"/>
              <a:pathLst>
                <a:path w="5520055" h="390525">
                  <a:moveTo>
                    <a:pt x="5519737" y="390525"/>
                  </a:moveTo>
                  <a:lnTo>
                    <a:pt x="0" y="390525"/>
                  </a:lnTo>
                  <a:lnTo>
                    <a:pt x="0" y="49570"/>
                  </a:lnTo>
                  <a:lnTo>
                    <a:pt x="12889" y="11378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7" y="39052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6067424"/>
              <a:ext cx="54610" cy="390525"/>
            </a:xfrm>
            <a:custGeom>
              <a:avLst/>
              <a:gdLst/>
              <a:ahLst/>
              <a:cxnLst/>
              <a:rect l="l" t="t" r="r" b="b"/>
              <a:pathLst>
                <a:path w="54610" h="390525">
                  <a:moveTo>
                    <a:pt x="47624" y="390524"/>
                  </a:moveTo>
                  <a:lnTo>
                    <a:pt x="0" y="39052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3905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6346824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6186316"/>
            <a:ext cx="4853940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L'affectation</a:t>
            </a:r>
            <a:r>
              <a:rPr dirty="0" sz="1350" spc="-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this.valeur</a:t>
            </a:r>
            <a:r>
              <a:rPr dirty="0" sz="1350" spc="85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=</a:t>
            </a:r>
            <a:r>
              <a:rPr dirty="0" sz="1350" spc="90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valeur</a:t>
            </a:r>
            <a:r>
              <a:rPr dirty="0" sz="1350" spc="-434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est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implicite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à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12848"/>
            <a:ext cx="12192000" cy="4645660"/>
            <a:chOff x="0" y="2212848"/>
            <a:chExt cx="12192000" cy="4645660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400050"/>
            </a:xfrm>
            <a:custGeom>
              <a:avLst/>
              <a:gdLst/>
              <a:ahLst/>
              <a:cxnLst/>
              <a:rect l="l" t="t" r="r" b="b"/>
              <a:pathLst>
                <a:path w="12192000" h="400050">
                  <a:moveTo>
                    <a:pt x="12191999" y="400049"/>
                  </a:moveTo>
                  <a:lnTo>
                    <a:pt x="0" y="4000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0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20624" y="2212848"/>
              <a:ext cx="11351260" cy="3785870"/>
            </a:xfrm>
            <a:custGeom>
              <a:avLst/>
              <a:gdLst/>
              <a:ahLst/>
              <a:cxnLst/>
              <a:rect l="l" t="t" r="r" b="b"/>
              <a:pathLst>
                <a:path w="11351260" h="3785870">
                  <a:moveTo>
                    <a:pt x="11350752" y="3785616"/>
                  </a:moveTo>
                  <a:lnTo>
                    <a:pt x="0" y="3785616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4576"/>
                  </a:lnTo>
                  <a:lnTo>
                    <a:pt x="131825" y="44576"/>
                  </a:lnTo>
                  <a:lnTo>
                    <a:pt x="125257" y="44893"/>
                  </a:lnTo>
                  <a:lnTo>
                    <a:pt x="89548" y="59685"/>
                  </a:lnTo>
                  <a:lnTo>
                    <a:pt x="68005" y="91925"/>
                  </a:lnTo>
                  <a:lnTo>
                    <a:pt x="65150" y="111251"/>
                  </a:lnTo>
                  <a:lnTo>
                    <a:pt x="65150" y="3635501"/>
                  </a:lnTo>
                  <a:lnTo>
                    <a:pt x="76377" y="3672550"/>
                  </a:lnTo>
                  <a:lnTo>
                    <a:pt x="106310" y="3697100"/>
                  </a:lnTo>
                  <a:lnTo>
                    <a:pt x="131825" y="3702176"/>
                  </a:lnTo>
                  <a:lnTo>
                    <a:pt x="11350752" y="3702176"/>
                  </a:lnTo>
                  <a:lnTo>
                    <a:pt x="11350752" y="3785616"/>
                  </a:lnTo>
                  <a:close/>
                </a:path>
                <a:path w="11351260" h="3785870">
                  <a:moveTo>
                    <a:pt x="11350752" y="3702176"/>
                  </a:moveTo>
                  <a:lnTo>
                    <a:pt x="11218925" y="3702176"/>
                  </a:lnTo>
                  <a:lnTo>
                    <a:pt x="11225493" y="3701859"/>
                  </a:lnTo>
                  <a:lnTo>
                    <a:pt x="11231935" y="3700907"/>
                  </a:lnTo>
                  <a:lnTo>
                    <a:pt x="11266071" y="3682647"/>
                  </a:lnTo>
                  <a:lnTo>
                    <a:pt x="11284331" y="3648511"/>
                  </a:lnTo>
                  <a:lnTo>
                    <a:pt x="11285600" y="3635501"/>
                  </a:lnTo>
                  <a:lnTo>
                    <a:pt x="11285600" y="111251"/>
                  </a:lnTo>
                  <a:lnTo>
                    <a:pt x="11274372" y="74201"/>
                  </a:lnTo>
                  <a:lnTo>
                    <a:pt x="11244439" y="49651"/>
                  </a:lnTo>
                  <a:lnTo>
                    <a:pt x="11218925" y="44576"/>
                  </a:lnTo>
                  <a:lnTo>
                    <a:pt x="11350752" y="44576"/>
                  </a:lnTo>
                  <a:lnTo>
                    <a:pt x="11350752" y="370217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52662"/>
              <a:ext cx="11229975" cy="3667125"/>
            </a:xfrm>
            <a:custGeom>
              <a:avLst/>
              <a:gdLst/>
              <a:ahLst/>
              <a:cxnLst/>
              <a:rect l="l" t="t" r="r" b="b"/>
              <a:pathLst>
                <a:path w="11229975" h="3667125">
                  <a:moveTo>
                    <a:pt x="11163227" y="3667124"/>
                  </a:moveTo>
                  <a:lnTo>
                    <a:pt x="66746" y="3667124"/>
                  </a:lnTo>
                  <a:lnTo>
                    <a:pt x="62101" y="3666666"/>
                  </a:lnTo>
                  <a:lnTo>
                    <a:pt x="24240" y="3649517"/>
                  </a:lnTo>
                  <a:lnTo>
                    <a:pt x="2287" y="3614223"/>
                  </a:lnTo>
                  <a:lnTo>
                    <a:pt x="0" y="3600377"/>
                  </a:lnTo>
                  <a:lnTo>
                    <a:pt x="0" y="3595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600377"/>
                  </a:lnTo>
                  <a:lnTo>
                    <a:pt x="11215327" y="3639275"/>
                  </a:lnTo>
                  <a:lnTo>
                    <a:pt x="11181539" y="3663481"/>
                  </a:lnTo>
                  <a:lnTo>
                    <a:pt x="11167872" y="3666666"/>
                  </a:lnTo>
                  <a:lnTo>
                    <a:pt x="11163227" y="36671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1012" y="2252662"/>
              <a:ext cx="11229975" cy="3667125"/>
            </a:xfrm>
            <a:custGeom>
              <a:avLst/>
              <a:gdLst/>
              <a:ahLst/>
              <a:cxnLst/>
              <a:rect l="l" t="t" r="r" b="b"/>
              <a:pathLst>
                <a:path w="11229975" h="3667125">
                  <a:moveTo>
                    <a:pt x="0" y="3595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8599" y="57500"/>
                  </a:lnTo>
                  <a:lnTo>
                    <a:pt x="11229514" y="62100"/>
                  </a:lnTo>
                  <a:lnTo>
                    <a:pt x="11229972" y="66746"/>
                  </a:lnTo>
                  <a:lnTo>
                    <a:pt x="11229974" y="71437"/>
                  </a:lnTo>
                  <a:lnTo>
                    <a:pt x="11229974" y="3595687"/>
                  </a:lnTo>
                  <a:lnTo>
                    <a:pt x="11229972" y="3600377"/>
                  </a:lnTo>
                  <a:lnTo>
                    <a:pt x="11229514" y="3605023"/>
                  </a:lnTo>
                  <a:lnTo>
                    <a:pt x="11228599" y="3609623"/>
                  </a:lnTo>
                  <a:lnTo>
                    <a:pt x="11227684" y="3614223"/>
                  </a:lnTo>
                  <a:lnTo>
                    <a:pt x="11205732" y="3649517"/>
                  </a:lnTo>
                  <a:lnTo>
                    <a:pt x="11198222" y="3655084"/>
                  </a:lnTo>
                  <a:lnTo>
                    <a:pt x="11194322" y="3657690"/>
                  </a:lnTo>
                  <a:lnTo>
                    <a:pt x="11190206" y="3659891"/>
                  </a:lnTo>
                  <a:lnTo>
                    <a:pt x="11185873" y="3661686"/>
                  </a:lnTo>
                  <a:lnTo>
                    <a:pt x="11181539" y="3663481"/>
                  </a:lnTo>
                  <a:lnTo>
                    <a:pt x="11158536" y="3667124"/>
                  </a:lnTo>
                  <a:lnTo>
                    <a:pt x="71437" y="3667124"/>
                  </a:lnTo>
                  <a:lnTo>
                    <a:pt x="66746" y="3667124"/>
                  </a:lnTo>
                  <a:lnTo>
                    <a:pt x="62101" y="3666666"/>
                  </a:lnTo>
                  <a:lnTo>
                    <a:pt x="57500" y="3665751"/>
                  </a:lnTo>
                  <a:lnTo>
                    <a:pt x="52900" y="3664836"/>
                  </a:lnTo>
                  <a:lnTo>
                    <a:pt x="48433" y="3663481"/>
                  </a:lnTo>
                  <a:lnTo>
                    <a:pt x="44099" y="3661686"/>
                  </a:lnTo>
                  <a:lnTo>
                    <a:pt x="39765" y="3659891"/>
                  </a:lnTo>
                  <a:lnTo>
                    <a:pt x="35649" y="3657690"/>
                  </a:lnTo>
                  <a:lnTo>
                    <a:pt x="31748" y="3655084"/>
                  </a:lnTo>
                  <a:lnTo>
                    <a:pt x="27848" y="3652478"/>
                  </a:lnTo>
                  <a:lnTo>
                    <a:pt x="24240" y="3649517"/>
                  </a:lnTo>
                  <a:lnTo>
                    <a:pt x="20923" y="3646200"/>
                  </a:lnTo>
                  <a:lnTo>
                    <a:pt x="17606" y="3642883"/>
                  </a:lnTo>
                  <a:lnTo>
                    <a:pt x="1372" y="3609623"/>
                  </a:lnTo>
                  <a:lnTo>
                    <a:pt x="457" y="3605023"/>
                  </a:lnTo>
                  <a:lnTo>
                    <a:pt x="0" y="3600377"/>
                  </a:lnTo>
                  <a:lnTo>
                    <a:pt x="0" y="35956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63550" y="806450"/>
            <a:ext cx="10772140" cy="4948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Validation</a:t>
            </a:r>
            <a:r>
              <a:rPr dirty="0" sz="1350" spc="-2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normalisation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sans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répétition.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34054"/>
                </a:solidFill>
                <a:latin typeface="Arial"/>
                <a:cs typeface="Arial"/>
              </a:rPr>
              <a:t>constructeur</a:t>
            </a:r>
            <a:r>
              <a:rPr dirty="0" sz="1550" spc="-25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34054"/>
                </a:solidFill>
                <a:latin typeface="Arial"/>
                <a:cs typeface="Arial"/>
              </a:rPr>
              <a:t>compact</a:t>
            </a:r>
            <a:r>
              <a:rPr dirty="0" sz="1550" spc="-25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permet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valider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données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sans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répéter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signature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constructeur.</a:t>
            </a:r>
            <a:r>
              <a:rPr dirty="0" sz="165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Il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s'exécute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 i="1">
                <a:solidFill>
                  <a:srgbClr val="334054"/>
                </a:solidFill>
                <a:latin typeface="Arial"/>
                <a:cs typeface="Arial"/>
              </a:rPr>
              <a:t>avant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l'affectation</a:t>
            </a:r>
            <a:r>
              <a:rPr dirty="0" sz="1650" spc="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finale</a:t>
            </a:r>
            <a:r>
              <a:rPr dirty="0" sz="1650" spc="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650" spc="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champs.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10" b="1">
                <a:solidFill>
                  <a:srgbClr val="D63A49"/>
                </a:solidFill>
                <a:latin typeface="Times New Roman"/>
                <a:cs typeface="Times New Roman"/>
              </a:rPr>
              <a:t>record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35">
                <a:solidFill>
                  <a:srgbClr val="005CC4"/>
                </a:solidFill>
                <a:latin typeface="Times New Roman"/>
                <a:cs typeface="Times New Roman"/>
              </a:rPr>
              <a:t>Note</a:t>
            </a:r>
            <a:r>
              <a:rPr dirty="0" sz="1500" spc="23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35">
                <a:solidFill>
                  <a:srgbClr val="005CC4"/>
                </a:solidFill>
                <a:latin typeface="Times New Roman"/>
                <a:cs typeface="Times New Roman"/>
              </a:rPr>
              <a:t>double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500" spc="290">
                <a:solidFill>
                  <a:srgbClr val="334054"/>
                </a:solidFill>
                <a:latin typeface="Times New Roman"/>
                <a:cs typeface="Times New Roman"/>
              </a:rPr>
              <a:t>valeur)</a:t>
            </a:r>
            <a:r>
              <a:rPr dirty="0" sz="15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13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0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5" i="1">
                <a:solidFill>
                  <a:srgbClr val="6A737D"/>
                </a:solidFill>
                <a:latin typeface="Times New Roman"/>
                <a:cs typeface="Times New Roman"/>
              </a:rPr>
              <a:t>Constructeur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5" i="1">
                <a:solidFill>
                  <a:srgbClr val="6A737D"/>
                </a:solidFill>
                <a:latin typeface="Times New Roman"/>
                <a:cs typeface="Times New Roman"/>
              </a:rPr>
              <a:t>compact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(pas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parenthèses)</a:t>
            </a:r>
            <a:endParaRPr sz="15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40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500" spc="165">
                <a:solidFill>
                  <a:srgbClr val="334054"/>
                </a:solidFill>
                <a:latin typeface="Times New Roman"/>
                <a:cs typeface="Times New Roman"/>
              </a:rPr>
              <a:t>Note</a:t>
            </a:r>
            <a:r>
              <a:rPr dirty="0" sz="15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13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50"/>
              </a:spcBef>
            </a:pPr>
            <a:r>
              <a:rPr dirty="0" sz="1450" spc="455" b="1">
                <a:solidFill>
                  <a:srgbClr val="D63A49"/>
                </a:solidFill>
                <a:latin typeface="Times New Roman"/>
                <a:cs typeface="Times New Roman"/>
              </a:rPr>
              <a:t>if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500" spc="290">
                <a:solidFill>
                  <a:srgbClr val="334054"/>
                </a:solidFill>
                <a:latin typeface="Times New Roman"/>
                <a:cs typeface="Times New Roman"/>
              </a:rPr>
              <a:t>(valeur</a:t>
            </a:r>
            <a:r>
              <a:rPr dirty="0" sz="15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5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5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150">
                <a:solidFill>
                  <a:srgbClr val="334054"/>
                </a:solidFill>
                <a:latin typeface="Times New Roman"/>
                <a:cs typeface="Times New Roman"/>
              </a:rPr>
              <a:t>0</a:t>
            </a:r>
            <a:r>
              <a:rPr dirty="0" sz="1500" spc="53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500" spc="595">
                <a:solidFill>
                  <a:srgbClr val="334054"/>
                </a:solidFill>
                <a:latin typeface="Times New Roman"/>
                <a:cs typeface="Times New Roman"/>
              </a:rPr>
              <a:t>||</a:t>
            </a:r>
            <a:r>
              <a:rPr dirty="0" sz="1500" spc="53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500" spc="270">
                <a:solidFill>
                  <a:srgbClr val="334054"/>
                </a:solidFill>
                <a:latin typeface="Times New Roman"/>
                <a:cs typeface="Times New Roman"/>
              </a:rPr>
              <a:t>valeur</a:t>
            </a:r>
            <a:r>
              <a:rPr dirty="0" sz="1500" spc="7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5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5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229">
                <a:solidFill>
                  <a:srgbClr val="334054"/>
                </a:solidFill>
                <a:latin typeface="Times New Roman"/>
                <a:cs typeface="Times New Roman"/>
              </a:rPr>
              <a:t>20)</a:t>
            </a:r>
            <a:r>
              <a:rPr dirty="0" sz="15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13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5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50"/>
              </a:spcBef>
            </a:pPr>
            <a:r>
              <a:rPr dirty="0" sz="1450" spc="150" b="1">
                <a:solidFill>
                  <a:srgbClr val="D63A49"/>
                </a:solidFill>
                <a:latin typeface="Times New Roman"/>
                <a:cs typeface="Times New Roman"/>
              </a:rPr>
              <a:t>throw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50">
                <a:solidFill>
                  <a:srgbClr val="005CC4"/>
                </a:solidFill>
                <a:latin typeface="Times New Roman"/>
                <a:cs typeface="Times New Roman"/>
              </a:rPr>
              <a:t>IllegalArgumentException</a:t>
            </a:r>
            <a:r>
              <a:rPr dirty="0" sz="1500" spc="25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50">
                <a:solidFill>
                  <a:srgbClr val="21863A"/>
                </a:solidFill>
                <a:latin typeface="Times New Roman"/>
                <a:cs typeface="Times New Roman"/>
              </a:rPr>
              <a:t>"Note</a:t>
            </a:r>
            <a:r>
              <a:rPr dirty="0" sz="1450" spc="9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310">
                <a:solidFill>
                  <a:srgbClr val="21863A"/>
                </a:solidFill>
                <a:latin typeface="Times New Roman"/>
                <a:cs typeface="Times New Roman"/>
              </a:rPr>
              <a:t>invalide</a:t>
            </a:r>
            <a:r>
              <a:rPr dirty="0" sz="1450" spc="9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495">
                <a:solidFill>
                  <a:srgbClr val="21863A"/>
                </a:solidFill>
                <a:latin typeface="Times New Roman"/>
                <a:cs typeface="Times New Roman"/>
              </a:rPr>
              <a:t>:</a:t>
            </a:r>
            <a:r>
              <a:rPr dirty="0" sz="1450" spc="9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21863A"/>
                </a:solidFill>
                <a:latin typeface="Times New Roman"/>
                <a:cs typeface="Times New Roman"/>
              </a:rPr>
              <a:t>"</a:t>
            </a:r>
            <a:r>
              <a:rPr dirty="0" sz="1450" spc="9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00" spc="5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dirty="0" sz="15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305">
                <a:solidFill>
                  <a:srgbClr val="334054"/>
                </a:solidFill>
                <a:latin typeface="Times New Roman"/>
                <a:cs typeface="Times New Roman"/>
              </a:rPr>
              <a:t>valeur);</a:t>
            </a:r>
            <a:endParaRPr sz="15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450"/>
              </a:spcBef>
            </a:pPr>
            <a:r>
              <a:rPr dirty="0" sz="1500" spc="18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0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Normalisation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0" i="1">
                <a:solidFill>
                  <a:srgbClr val="6A737D"/>
                </a:solidFill>
                <a:latin typeface="Times New Roman"/>
                <a:cs typeface="Times New Roman"/>
              </a:rPr>
              <a:t>possible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35" i="1">
                <a:solidFill>
                  <a:srgbClr val="6A737D"/>
                </a:solidFill>
                <a:latin typeface="Times New Roman"/>
                <a:cs typeface="Times New Roman"/>
              </a:rPr>
              <a:t>valeur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=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10" i="1">
                <a:solidFill>
                  <a:srgbClr val="6A737D"/>
                </a:solidFill>
                <a:latin typeface="Times New Roman"/>
                <a:cs typeface="Times New Roman"/>
              </a:rPr>
              <a:t>Math.round(valeur);</a:t>
            </a:r>
            <a:endParaRPr sz="155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  <a:spcBef>
                <a:spcPts val="440"/>
              </a:spcBef>
            </a:pPr>
            <a:r>
              <a:rPr dirty="0" sz="1500" spc="18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50"/>
              </a:spcBef>
            </a:pPr>
            <a:r>
              <a:rPr dirty="0" sz="1500" spc="18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Utilisation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140"/>
              </a:spcBef>
            </a:pPr>
            <a:r>
              <a:rPr dirty="0" sz="1450" spc="280">
                <a:solidFill>
                  <a:srgbClr val="005CC4"/>
                </a:solidFill>
                <a:latin typeface="Times New Roman"/>
                <a:cs typeface="Times New Roman"/>
              </a:rPr>
              <a:t>var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500" spc="150">
                <a:solidFill>
                  <a:srgbClr val="334054"/>
                </a:solidFill>
                <a:latin typeface="Times New Roman"/>
                <a:cs typeface="Times New Roman"/>
              </a:rPr>
              <a:t>n</a:t>
            </a:r>
            <a:r>
              <a:rPr dirty="0" sz="1500" spc="7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5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5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60">
                <a:solidFill>
                  <a:srgbClr val="005CC4"/>
                </a:solidFill>
                <a:latin typeface="Times New Roman"/>
                <a:cs typeface="Times New Roman"/>
              </a:rPr>
              <a:t>Note</a:t>
            </a:r>
            <a:r>
              <a:rPr dirty="0" sz="1500" spc="260">
                <a:solidFill>
                  <a:srgbClr val="334054"/>
                </a:solidFill>
                <a:latin typeface="Times New Roman"/>
                <a:cs typeface="Times New Roman"/>
              </a:rPr>
              <a:t>(22);</a:t>
            </a:r>
            <a:r>
              <a:rPr dirty="0" sz="1500" spc="7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800" spc="50">
                <a:solidFill>
                  <a:srgbClr val="6A737D"/>
                </a:solidFill>
                <a:latin typeface="Apple Color Emoji"/>
                <a:cs typeface="Apple Color Emoji"/>
              </a:rPr>
              <a:t>❌</a:t>
            </a:r>
            <a:r>
              <a:rPr dirty="0" sz="1800" spc="-894">
                <a:solidFill>
                  <a:srgbClr val="6A737D"/>
                </a:solidFill>
                <a:latin typeface="Apple Color Emoji"/>
                <a:cs typeface="Apple Color Emoji"/>
              </a:rPr>
              <a:t> </a:t>
            </a:r>
            <a:r>
              <a:rPr dirty="0" sz="1550" spc="160" i="1">
                <a:solidFill>
                  <a:srgbClr val="6A737D"/>
                </a:solidFill>
                <a:latin typeface="Times New Roman"/>
                <a:cs typeface="Times New Roman"/>
              </a:rPr>
              <a:t>Lève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IllegalArgumentException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50" y="253832"/>
            <a:ext cx="6737984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12.</a:t>
            </a:r>
            <a:r>
              <a:rPr dirty="0" spc="-60"/>
              <a:t> </a:t>
            </a:r>
            <a:r>
              <a:rPr dirty="0" spc="-100"/>
              <a:t>record</a:t>
            </a:r>
            <a:r>
              <a:rPr dirty="0" spc="-55"/>
              <a:t> </a:t>
            </a:r>
            <a:r>
              <a:rPr dirty="0" spc="-650"/>
              <a:t>—</a:t>
            </a:r>
            <a:r>
              <a:rPr dirty="0" spc="-55"/>
              <a:t> </a:t>
            </a:r>
            <a:r>
              <a:rPr dirty="0" spc="-80"/>
              <a:t>Value</a:t>
            </a:r>
            <a:r>
              <a:rPr dirty="0" spc="-55"/>
              <a:t> </a:t>
            </a:r>
            <a:r>
              <a:rPr dirty="0" spc="-100"/>
              <a:t>Object</a:t>
            </a:r>
            <a:r>
              <a:rPr dirty="0" spc="-60"/>
              <a:t> </a:t>
            </a:r>
            <a:r>
              <a:rPr dirty="0" spc="-135"/>
              <a:t>vs</a:t>
            </a:r>
            <a:r>
              <a:rPr dirty="0" spc="-55"/>
              <a:t> </a:t>
            </a:r>
            <a:r>
              <a:rPr dirty="0" spc="-85"/>
              <a:t>Entité</a:t>
            </a:r>
            <a:r>
              <a:rPr dirty="0" spc="-55"/>
              <a:t> </a:t>
            </a:r>
            <a:r>
              <a:rPr dirty="0" spc="-40"/>
              <a:t>mutable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4691"/>
            <a:ext cx="4679315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Comprendre</a:t>
            </a:r>
            <a:r>
              <a:rPr dirty="0" sz="1350" spc="1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dirty="0" sz="1350" spc="1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distinction</a:t>
            </a:r>
            <a:r>
              <a:rPr dirty="0" sz="1350" spc="1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fondamentale</a:t>
            </a:r>
            <a:r>
              <a:rPr dirty="0" sz="1350" spc="2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pour</a:t>
            </a:r>
            <a:r>
              <a:rPr dirty="0" sz="1350" spc="1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bien</a:t>
            </a:r>
            <a:r>
              <a:rPr dirty="0" sz="1350" spc="1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modéliser.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499" y="1911350"/>
            <a:ext cx="228600" cy="2349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9" y="3222624"/>
            <a:ext cx="257175" cy="2032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273799" y="1724742"/>
            <a:ext cx="5408930" cy="270446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1195"/>
              </a:spcBef>
            </a:pPr>
            <a:r>
              <a:rPr dirty="0" sz="1800" spc="-60" b="1">
                <a:solidFill>
                  <a:srgbClr val="1D293B"/>
                </a:solidFill>
                <a:latin typeface="Arial"/>
                <a:cs typeface="Arial"/>
              </a:rPr>
              <a:t>Value</a:t>
            </a:r>
            <a:r>
              <a:rPr dirty="0" sz="1800" spc="-3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D293B"/>
                </a:solidFill>
                <a:latin typeface="Arial"/>
                <a:cs typeface="Arial"/>
              </a:rPr>
              <a:t>Object</a:t>
            </a:r>
            <a:endParaRPr sz="1800">
              <a:latin typeface="Arial"/>
              <a:cs typeface="Arial"/>
            </a:endParaRPr>
          </a:p>
          <a:p>
            <a:pPr marL="12700" marR="80645">
              <a:lnSpc>
                <a:spcPct val="110300"/>
              </a:lnSpc>
              <a:spcBef>
                <a:spcPts val="880"/>
              </a:spcBef>
            </a:pPr>
            <a:r>
              <a:rPr dirty="0" sz="1700" spc="-135">
                <a:solidFill>
                  <a:srgbClr val="465469"/>
                </a:solidFill>
                <a:latin typeface="Arial"/>
                <a:cs typeface="Arial"/>
              </a:rPr>
              <a:t>Représente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35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55" b="1">
                <a:solidFill>
                  <a:srgbClr val="465469"/>
                </a:solidFill>
                <a:latin typeface="Arial"/>
                <a:cs typeface="Arial"/>
              </a:rPr>
              <a:t>valeur</a:t>
            </a:r>
            <a:r>
              <a:rPr dirty="0" sz="1500" spc="-2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10">
                <a:solidFill>
                  <a:srgbClr val="465469"/>
                </a:solidFill>
                <a:latin typeface="Arial"/>
                <a:cs typeface="Arial"/>
              </a:rPr>
              <a:t>(ex: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45">
                <a:solidFill>
                  <a:srgbClr val="465469"/>
                </a:solidFill>
                <a:latin typeface="Arial"/>
                <a:cs typeface="Arial"/>
              </a:rPr>
              <a:t>Date,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20">
                <a:solidFill>
                  <a:srgbClr val="465469"/>
                </a:solidFill>
                <a:latin typeface="Arial"/>
                <a:cs typeface="Arial"/>
              </a:rPr>
              <a:t>Monnaie,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90">
                <a:solidFill>
                  <a:srgbClr val="465469"/>
                </a:solidFill>
                <a:latin typeface="Arial"/>
                <a:cs typeface="Arial"/>
              </a:rPr>
              <a:t>Note).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60">
                <a:solidFill>
                  <a:srgbClr val="465469"/>
                </a:solidFill>
                <a:latin typeface="Arial"/>
                <a:cs typeface="Arial"/>
              </a:rPr>
              <a:t>Deux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465469"/>
                </a:solidFill>
                <a:latin typeface="Arial"/>
                <a:cs typeface="Arial"/>
              </a:rPr>
              <a:t>objets 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sont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30">
                <a:solidFill>
                  <a:srgbClr val="465469"/>
                </a:solidFill>
                <a:latin typeface="Arial"/>
                <a:cs typeface="Arial"/>
              </a:rPr>
              <a:t>égaux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465469"/>
                </a:solidFill>
                <a:latin typeface="Arial"/>
                <a:cs typeface="Arial"/>
              </a:rPr>
              <a:t>s'ils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465469"/>
                </a:solidFill>
                <a:latin typeface="Arial"/>
                <a:cs typeface="Arial"/>
              </a:rPr>
              <a:t>ont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25">
                <a:solidFill>
                  <a:srgbClr val="465469"/>
                </a:solidFill>
                <a:latin typeface="Arial"/>
                <a:cs typeface="Arial"/>
              </a:rPr>
              <a:t>mêmes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465469"/>
                </a:solidFill>
                <a:latin typeface="Arial"/>
                <a:cs typeface="Arial"/>
              </a:rPr>
              <a:t>attributs.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L'immutabilité est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465469"/>
                </a:solidFill>
                <a:latin typeface="Arial"/>
                <a:cs typeface="Arial"/>
              </a:rPr>
              <a:t>clé.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Arial"/>
              <a:cs typeface="Arial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solidFill>
                  <a:srgbClr val="1D293B"/>
                </a:solidFill>
                <a:latin typeface="Arial"/>
                <a:cs typeface="Arial"/>
              </a:rPr>
              <a:t>Entité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0300"/>
              </a:lnSpc>
              <a:spcBef>
                <a:spcPts val="880"/>
              </a:spcBef>
            </a:pPr>
            <a:r>
              <a:rPr dirty="0" sz="1700" spc="-135">
                <a:solidFill>
                  <a:srgbClr val="465469"/>
                </a:solidFill>
                <a:latin typeface="Arial"/>
                <a:cs typeface="Arial"/>
              </a:rPr>
              <a:t>Représente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30">
                <a:solidFill>
                  <a:srgbClr val="465469"/>
                </a:solidFill>
                <a:latin typeface="Arial"/>
                <a:cs typeface="Arial"/>
              </a:rPr>
              <a:t>un</a:t>
            </a:r>
            <a:r>
              <a:rPr dirty="0" sz="170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465469"/>
                </a:solidFill>
                <a:latin typeface="Arial"/>
                <a:cs typeface="Arial"/>
              </a:rPr>
              <a:t>objet</a:t>
            </a:r>
            <a:r>
              <a:rPr dirty="0" sz="1500" spc="-2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55" b="1">
                <a:solidFill>
                  <a:srgbClr val="465469"/>
                </a:solidFill>
                <a:latin typeface="Arial"/>
                <a:cs typeface="Arial"/>
              </a:rPr>
              <a:t>avec</a:t>
            </a:r>
            <a:r>
              <a:rPr dirty="0" sz="1500" spc="-2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65" b="1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dirty="0" sz="1500" spc="-2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465469"/>
                </a:solidFill>
                <a:latin typeface="Arial"/>
                <a:cs typeface="Arial"/>
              </a:rPr>
              <a:t>vie</a:t>
            </a:r>
            <a:r>
              <a:rPr dirty="0" sz="1500" spc="-2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10">
                <a:solidFill>
                  <a:srgbClr val="465469"/>
                </a:solidFill>
                <a:latin typeface="Arial"/>
                <a:cs typeface="Arial"/>
              </a:rPr>
              <a:t>(ex: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10">
                <a:solidFill>
                  <a:srgbClr val="465469"/>
                </a:solidFill>
                <a:latin typeface="Arial"/>
                <a:cs typeface="Arial"/>
              </a:rPr>
              <a:t>Étudiant,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30">
                <a:solidFill>
                  <a:srgbClr val="465469"/>
                </a:solidFill>
                <a:latin typeface="Arial"/>
                <a:cs typeface="Arial"/>
              </a:rPr>
              <a:t>Commande).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465469"/>
                </a:solidFill>
                <a:latin typeface="Arial"/>
                <a:cs typeface="Arial"/>
              </a:rPr>
              <a:t>Il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465469"/>
                </a:solidFill>
                <a:latin typeface="Arial"/>
                <a:cs typeface="Arial"/>
              </a:rPr>
              <a:t>a </a:t>
            </a:r>
            <a:r>
              <a:rPr dirty="0" sz="1700" spc="-135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465469"/>
                </a:solidFill>
                <a:latin typeface="Arial"/>
                <a:cs typeface="Arial"/>
              </a:rPr>
              <a:t>identité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05">
                <a:solidFill>
                  <a:srgbClr val="465469"/>
                </a:solidFill>
                <a:latin typeface="Arial"/>
                <a:cs typeface="Arial"/>
              </a:rPr>
              <a:t>propre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10">
                <a:solidFill>
                  <a:srgbClr val="465469"/>
                </a:solidFill>
                <a:latin typeface="Arial"/>
                <a:cs typeface="Arial"/>
              </a:rPr>
              <a:t>(ID)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80">
                <a:solidFill>
                  <a:srgbClr val="465469"/>
                </a:solidFill>
                <a:latin typeface="Arial"/>
                <a:cs typeface="Arial"/>
              </a:rPr>
              <a:t>qui 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persiste </a:t>
            </a:r>
            <a:r>
              <a:rPr dirty="0" sz="1700" spc="-135">
                <a:solidFill>
                  <a:srgbClr val="465469"/>
                </a:solidFill>
                <a:latin typeface="Arial"/>
                <a:cs typeface="Arial"/>
              </a:rPr>
              <a:t>même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465469"/>
                </a:solidFill>
                <a:latin typeface="Arial"/>
                <a:cs typeface="Arial"/>
              </a:rPr>
              <a:t>si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05">
                <a:solidFill>
                  <a:srgbClr val="465469"/>
                </a:solidFill>
                <a:latin typeface="Arial"/>
                <a:cs typeface="Arial"/>
              </a:rPr>
              <a:t>ses</a:t>
            </a:r>
            <a:r>
              <a:rPr dirty="0" sz="170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465469"/>
                </a:solidFill>
                <a:latin typeface="Arial"/>
                <a:cs typeface="Arial"/>
              </a:rPr>
              <a:t>attributs changent.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35863" y="5227320"/>
            <a:ext cx="5605780" cy="899160"/>
            <a:chOff x="435863" y="5227320"/>
            <a:chExt cx="5605780" cy="899160"/>
          </a:xfrm>
        </p:grpSpPr>
        <p:sp>
          <p:nvSpPr>
            <p:cNvPr id="8" name="object 8" descr=""/>
            <p:cNvSpPr/>
            <p:nvPr/>
          </p:nvSpPr>
          <p:spPr>
            <a:xfrm>
              <a:off x="435863" y="5227320"/>
              <a:ext cx="5605780" cy="899160"/>
            </a:xfrm>
            <a:custGeom>
              <a:avLst/>
              <a:gdLst/>
              <a:ahLst/>
              <a:cxnLst/>
              <a:rect l="l" t="t" r="r" b="b"/>
              <a:pathLst>
                <a:path w="5605780" h="899160">
                  <a:moveTo>
                    <a:pt x="5605272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40004"/>
                  </a:lnTo>
                  <a:lnTo>
                    <a:pt x="97535" y="40004"/>
                  </a:lnTo>
                  <a:lnTo>
                    <a:pt x="88033" y="40876"/>
                  </a:lnTo>
                  <a:lnTo>
                    <a:pt x="53398" y="69346"/>
                  </a:lnTo>
                  <a:lnTo>
                    <a:pt x="49910" y="87629"/>
                  </a:lnTo>
                  <a:lnTo>
                    <a:pt x="49910" y="792479"/>
                  </a:lnTo>
                  <a:lnTo>
                    <a:pt x="71195" y="832257"/>
                  </a:lnTo>
                  <a:lnTo>
                    <a:pt x="97535" y="840104"/>
                  </a:lnTo>
                  <a:lnTo>
                    <a:pt x="5605272" y="840104"/>
                  </a:lnTo>
                  <a:lnTo>
                    <a:pt x="5605272" y="899160"/>
                  </a:lnTo>
                  <a:close/>
                </a:path>
                <a:path w="5605780" h="899160">
                  <a:moveTo>
                    <a:pt x="5605272" y="840104"/>
                  </a:moveTo>
                  <a:lnTo>
                    <a:pt x="5507735" y="840104"/>
                  </a:lnTo>
                  <a:lnTo>
                    <a:pt x="5517237" y="839232"/>
                  </a:lnTo>
                  <a:lnTo>
                    <a:pt x="5526017" y="836617"/>
                  </a:lnTo>
                  <a:lnTo>
                    <a:pt x="5554488" y="801981"/>
                  </a:lnTo>
                  <a:lnTo>
                    <a:pt x="5555360" y="792479"/>
                  </a:lnTo>
                  <a:lnTo>
                    <a:pt x="5555360" y="87629"/>
                  </a:lnTo>
                  <a:lnTo>
                    <a:pt x="5534075" y="47850"/>
                  </a:lnTo>
                  <a:lnTo>
                    <a:pt x="5507735" y="40004"/>
                  </a:lnTo>
                  <a:lnTo>
                    <a:pt x="5605272" y="40004"/>
                  </a:lnTo>
                  <a:lnTo>
                    <a:pt x="5605272" y="84010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0062" y="5257799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9" y="819149"/>
                  </a:moveTo>
                  <a:lnTo>
                    <a:pt x="28916" y="819149"/>
                  </a:lnTo>
                  <a:lnTo>
                    <a:pt x="24664" y="817699"/>
                  </a:lnTo>
                  <a:lnTo>
                    <a:pt x="845" y="776868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1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47289" y="0"/>
                  </a:lnTo>
                  <a:lnTo>
                    <a:pt x="5486601" y="19392"/>
                  </a:lnTo>
                  <a:lnTo>
                    <a:pt x="5500687" y="53397"/>
                  </a:lnTo>
                  <a:lnTo>
                    <a:pt x="5500687" y="765752"/>
                  </a:lnTo>
                  <a:lnTo>
                    <a:pt x="5481294" y="805064"/>
                  </a:lnTo>
                  <a:lnTo>
                    <a:pt x="5451005" y="818783"/>
                  </a:lnTo>
                  <a:lnTo>
                    <a:pt x="5447289" y="8191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6249" y="5257799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09" h="819150">
                  <a:moveTo>
                    <a:pt x="54519" y="819149"/>
                  </a:moveTo>
                  <a:lnTo>
                    <a:pt x="49571" y="819149"/>
                  </a:lnTo>
                  <a:lnTo>
                    <a:pt x="42281" y="817699"/>
                  </a:lnTo>
                  <a:lnTo>
                    <a:pt x="7250" y="790870"/>
                  </a:lnTo>
                  <a:lnTo>
                    <a:pt x="0" y="76957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69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374" y="5559424"/>
              <a:ext cx="209550" cy="21272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054100" y="5338331"/>
            <a:ext cx="4149725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record</a:t>
            </a:r>
            <a:r>
              <a:rPr dirty="0" sz="1350" spc="-47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par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défaut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532D"/>
                </a:solidFill>
                <a:latin typeface="Arial"/>
                <a:cs typeface="Arial"/>
              </a:rPr>
              <a:t>tout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ce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532D"/>
                </a:solidFill>
                <a:latin typeface="Arial"/>
                <a:cs typeface="Arial"/>
              </a:rPr>
              <a:t>qui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3532D"/>
                </a:solidFill>
                <a:latin typeface="Arial"/>
                <a:cs typeface="Arial"/>
              </a:rPr>
              <a:t>est 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"donnée"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25">
                <a:solidFill>
                  <a:srgbClr val="13532D"/>
                </a:solidFill>
                <a:latin typeface="Arial"/>
                <a:cs typeface="Arial"/>
              </a:rPr>
              <a:t>(DTO,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VO).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150864" y="5227320"/>
            <a:ext cx="5605780" cy="899160"/>
            <a:chOff x="6150864" y="5227320"/>
            <a:chExt cx="5605780" cy="899160"/>
          </a:xfrm>
        </p:grpSpPr>
        <p:sp>
          <p:nvSpPr>
            <p:cNvPr id="14" name="object 14" descr=""/>
            <p:cNvSpPr/>
            <p:nvPr/>
          </p:nvSpPr>
          <p:spPr>
            <a:xfrm>
              <a:off x="6150864" y="5227320"/>
              <a:ext cx="5605780" cy="899160"/>
            </a:xfrm>
            <a:custGeom>
              <a:avLst/>
              <a:gdLst/>
              <a:ahLst/>
              <a:cxnLst/>
              <a:rect l="l" t="t" r="r" b="b"/>
              <a:pathLst>
                <a:path w="5605780" h="899160">
                  <a:moveTo>
                    <a:pt x="5605272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40004"/>
                  </a:lnTo>
                  <a:lnTo>
                    <a:pt x="97535" y="40004"/>
                  </a:lnTo>
                  <a:lnTo>
                    <a:pt x="88033" y="40876"/>
                  </a:lnTo>
                  <a:lnTo>
                    <a:pt x="53397" y="69346"/>
                  </a:lnTo>
                  <a:lnTo>
                    <a:pt x="49910" y="87629"/>
                  </a:lnTo>
                  <a:lnTo>
                    <a:pt x="49910" y="792479"/>
                  </a:lnTo>
                  <a:lnTo>
                    <a:pt x="71195" y="832257"/>
                  </a:lnTo>
                  <a:lnTo>
                    <a:pt x="97535" y="840104"/>
                  </a:lnTo>
                  <a:lnTo>
                    <a:pt x="5605272" y="840104"/>
                  </a:lnTo>
                  <a:lnTo>
                    <a:pt x="5605272" y="899160"/>
                  </a:lnTo>
                  <a:close/>
                </a:path>
                <a:path w="5605780" h="899160">
                  <a:moveTo>
                    <a:pt x="5605272" y="840104"/>
                  </a:moveTo>
                  <a:lnTo>
                    <a:pt x="5507735" y="840104"/>
                  </a:lnTo>
                  <a:lnTo>
                    <a:pt x="5517237" y="839232"/>
                  </a:lnTo>
                  <a:lnTo>
                    <a:pt x="5526017" y="836617"/>
                  </a:lnTo>
                  <a:lnTo>
                    <a:pt x="5554488" y="801981"/>
                  </a:lnTo>
                  <a:lnTo>
                    <a:pt x="5555360" y="792479"/>
                  </a:lnTo>
                  <a:lnTo>
                    <a:pt x="5555360" y="87629"/>
                  </a:lnTo>
                  <a:lnTo>
                    <a:pt x="5534075" y="47850"/>
                  </a:lnTo>
                  <a:lnTo>
                    <a:pt x="5507735" y="40004"/>
                  </a:lnTo>
                  <a:lnTo>
                    <a:pt x="5605272" y="40004"/>
                  </a:lnTo>
                  <a:lnTo>
                    <a:pt x="5605272" y="84010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215061" y="5257799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8" y="819149"/>
                  </a:moveTo>
                  <a:lnTo>
                    <a:pt x="28916" y="819149"/>
                  </a:lnTo>
                  <a:lnTo>
                    <a:pt x="24664" y="817699"/>
                  </a:lnTo>
                  <a:lnTo>
                    <a:pt x="845" y="776868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1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47288" y="0"/>
                  </a:lnTo>
                  <a:lnTo>
                    <a:pt x="5486601" y="19392"/>
                  </a:lnTo>
                  <a:lnTo>
                    <a:pt x="5500686" y="53397"/>
                  </a:lnTo>
                  <a:lnTo>
                    <a:pt x="5500686" y="765752"/>
                  </a:lnTo>
                  <a:lnTo>
                    <a:pt x="5481292" y="805064"/>
                  </a:lnTo>
                  <a:lnTo>
                    <a:pt x="5451004" y="818783"/>
                  </a:lnTo>
                  <a:lnTo>
                    <a:pt x="5447288" y="8191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191249" y="5257799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10" h="819150">
                  <a:moveTo>
                    <a:pt x="54519" y="819149"/>
                  </a:moveTo>
                  <a:lnTo>
                    <a:pt x="49570" y="819149"/>
                  </a:lnTo>
                  <a:lnTo>
                    <a:pt x="42280" y="817699"/>
                  </a:lnTo>
                  <a:lnTo>
                    <a:pt x="7249" y="790870"/>
                  </a:lnTo>
                  <a:lnTo>
                    <a:pt x="0" y="7695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69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5724" y="5559424"/>
              <a:ext cx="146050" cy="21272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6716712" y="5338331"/>
            <a:ext cx="4283710" cy="57785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3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3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90">
                <a:solidFill>
                  <a:srgbClr val="1D3A8A"/>
                </a:solidFill>
                <a:latin typeface="Arial"/>
                <a:cs typeface="Arial"/>
              </a:rPr>
              <a:t>Une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D3A8A"/>
                </a:solidFill>
                <a:latin typeface="Arial"/>
                <a:cs typeface="Arial"/>
              </a:rPr>
              <a:t>Entité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D3A8A"/>
                </a:solidFill>
                <a:latin typeface="Arial"/>
                <a:cs typeface="Arial"/>
              </a:rPr>
              <a:t>(JPA)</a:t>
            </a:r>
            <a:r>
              <a:rPr dirty="0" sz="1400" spc="-6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D3A8A"/>
                </a:solidFill>
                <a:latin typeface="Arial"/>
                <a:cs typeface="Arial"/>
              </a:rPr>
              <a:t>doit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1D3A8A"/>
                </a:solidFill>
                <a:latin typeface="Arial"/>
                <a:cs typeface="Arial"/>
              </a:rPr>
              <a:t>souvent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D3A8A"/>
                </a:solidFill>
                <a:latin typeface="Arial"/>
                <a:cs typeface="Arial"/>
              </a:rPr>
              <a:t>rester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une </a:t>
            </a:r>
            <a:r>
              <a:rPr dirty="0" sz="1350" spc="-10">
                <a:solidFill>
                  <a:srgbClr val="1D3A8A"/>
                </a:solidFill>
                <a:latin typeface="Monaco"/>
                <a:cs typeface="Monaco"/>
              </a:rPr>
              <a:t>class</a:t>
            </a:r>
            <a:endParaRPr sz="13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classique.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420624" y="1478280"/>
            <a:ext cx="5538470" cy="3444240"/>
            <a:chOff x="420624" y="1478280"/>
            <a:chExt cx="5538470" cy="3444240"/>
          </a:xfrm>
        </p:grpSpPr>
        <p:sp>
          <p:nvSpPr>
            <p:cNvPr id="21" name="object 21" descr=""/>
            <p:cNvSpPr/>
            <p:nvPr/>
          </p:nvSpPr>
          <p:spPr>
            <a:xfrm>
              <a:off x="420624" y="1478280"/>
              <a:ext cx="5538470" cy="3444240"/>
            </a:xfrm>
            <a:custGeom>
              <a:avLst/>
              <a:gdLst/>
              <a:ahLst/>
              <a:cxnLst/>
              <a:rect l="l" t="t" r="r" b="b"/>
              <a:pathLst>
                <a:path w="5538470" h="3444240">
                  <a:moveTo>
                    <a:pt x="5538216" y="3444240"/>
                  </a:moveTo>
                  <a:lnTo>
                    <a:pt x="0" y="3444240"/>
                  </a:lnTo>
                  <a:lnTo>
                    <a:pt x="0" y="0"/>
                  </a:lnTo>
                  <a:lnTo>
                    <a:pt x="5538216" y="0"/>
                  </a:lnTo>
                  <a:lnTo>
                    <a:pt x="5538216" y="45719"/>
                  </a:lnTo>
                  <a:lnTo>
                    <a:pt x="131825" y="45719"/>
                  </a:lnTo>
                  <a:lnTo>
                    <a:pt x="125257" y="46037"/>
                  </a:lnTo>
                  <a:lnTo>
                    <a:pt x="89548" y="60828"/>
                  </a:lnTo>
                  <a:lnTo>
                    <a:pt x="68005" y="93068"/>
                  </a:lnTo>
                  <a:lnTo>
                    <a:pt x="65150" y="112394"/>
                  </a:lnTo>
                  <a:lnTo>
                    <a:pt x="65150" y="3293744"/>
                  </a:lnTo>
                  <a:lnTo>
                    <a:pt x="76377" y="3330793"/>
                  </a:lnTo>
                  <a:lnTo>
                    <a:pt x="106310" y="3355343"/>
                  </a:lnTo>
                  <a:lnTo>
                    <a:pt x="131825" y="3360419"/>
                  </a:lnTo>
                  <a:lnTo>
                    <a:pt x="5538216" y="3360419"/>
                  </a:lnTo>
                  <a:lnTo>
                    <a:pt x="5538216" y="3444240"/>
                  </a:lnTo>
                  <a:close/>
                </a:path>
                <a:path w="5538470" h="3444240">
                  <a:moveTo>
                    <a:pt x="5538216" y="3360419"/>
                  </a:moveTo>
                  <a:lnTo>
                    <a:pt x="5408675" y="3360419"/>
                  </a:lnTo>
                  <a:lnTo>
                    <a:pt x="5415243" y="3360102"/>
                  </a:lnTo>
                  <a:lnTo>
                    <a:pt x="5421685" y="3359150"/>
                  </a:lnTo>
                  <a:lnTo>
                    <a:pt x="5455821" y="3340890"/>
                  </a:lnTo>
                  <a:lnTo>
                    <a:pt x="5474081" y="3306754"/>
                  </a:lnTo>
                  <a:lnTo>
                    <a:pt x="5475350" y="3293744"/>
                  </a:lnTo>
                  <a:lnTo>
                    <a:pt x="5475350" y="112394"/>
                  </a:lnTo>
                  <a:lnTo>
                    <a:pt x="5464123" y="75344"/>
                  </a:lnTo>
                  <a:lnTo>
                    <a:pt x="5434190" y="50795"/>
                  </a:lnTo>
                  <a:lnTo>
                    <a:pt x="5408675" y="45719"/>
                  </a:lnTo>
                  <a:lnTo>
                    <a:pt x="5538216" y="45719"/>
                  </a:lnTo>
                  <a:lnTo>
                    <a:pt x="5538216" y="336041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1012" y="1519237"/>
              <a:ext cx="5419725" cy="3324225"/>
            </a:xfrm>
            <a:custGeom>
              <a:avLst/>
              <a:gdLst/>
              <a:ahLst/>
              <a:cxnLst/>
              <a:rect l="l" t="t" r="r" b="b"/>
              <a:pathLst>
                <a:path w="5419725" h="3324225">
                  <a:moveTo>
                    <a:pt x="5352978" y="3324224"/>
                  </a:moveTo>
                  <a:lnTo>
                    <a:pt x="66746" y="3324224"/>
                  </a:lnTo>
                  <a:lnTo>
                    <a:pt x="62101" y="3323766"/>
                  </a:lnTo>
                  <a:lnTo>
                    <a:pt x="24240" y="3306617"/>
                  </a:lnTo>
                  <a:lnTo>
                    <a:pt x="2287" y="3271324"/>
                  </a:lnTo>
                  <a:lnTo>
                    <a:pt x="0" y="3257477"/>
                  </a:lnTo>
                  <a:lnTo>
                    <a:pt x="0" y="3252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352978" y="0"/>
                  </a:lnTo>
                  <a:lnTo>
                    <a:pt x="5391875" y="14645"/>
                  </a:lnTo>
                  <a:lnTo>
                    <a:pt x="5416080" y="48433"/>
                  </a:lnTo>
                  <a:lnTo>
                    <a:pt x="5419723" y="66746"/>
                  </a:lnTo>
                  <a:lnTo>
                    <a:pt x="5419723" y="3257477"/>
                  </a:lnTo>
                  <a:lnTo>
                    <a:pt x="5405078" y="3296375"/>
                  </a:lnTo>
                  <a:lnTo>
                    <a:pt x="5371290" y="3320581"/>
                  </a:lnTo>
                  <a:lnTo>
                    <a:pt x="5357623" y="3323766"/>
                  </a:lnTo>
                  <a:lnTo>
                    <a:pt x="5352978" y="33242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1012" y="1519237"/>
              <a:ext cx="5419725" cy="3324225"/>
            </a:xfrm>
            <a:custGeom>
              <a:avLst/>
              <a:gdLst/>
              <a:ahLst/>
              <a:cxnLst/>
              <a:rect l="l" t="t" r="r" b="b"/>
              <a:pathLst>
                <a:path w="5419725" h="3324225">
                  <a:moveTo>
                    <a:pt x="0" y="3252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348287" y="0"/>
                  </a:lnTo>
                  <a:lnTo>
                    <a:pt x="5352978" y="0"/>
                  </a:lnTo>
                  <a:lnTo>
                    <a:pt x="5357623" y="457"/>
                  </a:lnTo>
                  <a:lnTo>
                    <a:pt x="5395483" y="17606"/>
                  </a:lnTo>
                  <a:lnTo>
                    <a:pt x="5398800" y="20923"/>
                  </a:lnTo>
                  <a:lnTo>
                    <a:pt x="5402116" y="24240"/>
                  </a:lnTo>
                  <a:lnTo>
                    <a:pt x="5405078" y="27848"/>
                  </a:lnTo>
                  <a:lnTo>
                    <a:pt x="5407683" y="31748"/>
                  </a:lnTo>
                  <a:lnTo>
                    <a:pt x="5410289" y="35648"/>
                  </a:lnTo>
                  <a:lnTo>
                    <a:pt x="5412490" y="39765"/>
                  </a:lnTo>
                  <a:lnTo>
                    <a:pt x="5414285" y="44099"/>
                  </a:lnTo>
                  <a:lnTo>
                    <a:pt x="5416080" y="48433"/>
                  </a:lnTo>
                  <a:lnTo>
                    <a:pt x="5417435" y="52900"/>
                  </a:lnTo>
                  <a:lnTo>
                    <a:pt x="5418350" y="57500"/>
                  </a:lnTo>
                  <a:lnTo>
                    <a:pt x="5419266" y="62101"/>
                  </a:lnTo>
                  <a:lnTo>
                    <a:pt x="5419723" y="66746"/>
                  </a:lnTo>
                  <a:lnTo>
                    <a:pt x="5419724" y="71437"/>
                  </a:lnTo>
                  <a:lnTo>
                    <a:pt x="5419724" y="3252787"/>
                  </a:lnTo>
                  <a:lnTo>
                    <a:pt x="5419723" y="3257477"/>
                  </a:lnTo>
                  <a:lnTo>
                    <a:pt x="5419266" y="3262122"/>
                  </a:lnTo>
                  <a:lnTo>
                    <a:pt x="5418350" y="3266723"/>
                  </a:lnTo>
                  <a:lnTo>
                    <a:pt x="5417435" y="3271324"/>
                  </a:lnTo>
                  <a:lnTo>
                    <a:pt x="5416080" y="3275791"/>
                  </a:lnTo>
                  <a:lnTo>
                    <a:pt x="5414285" y="3280124"/>
                  </a:lnTo>
                  <a:lnTo>
                    <a:pt x="5412490" y="3284457"/>
                  </a:lnTo>
                  <a:lnTo>
                    <a:pt x="5410289" y="3288574"/>
                  </a:lnTo>
                  <a:lnTo>
                    <a:pt x="5407683" y="3292474"/>
                  </a:lnTo>
                  <a:lnTo>
                    <a:pt x="5405078" y="3296375"/>
                  </a:lnTo>
                  <a:lnTo>
                    <a:pt x="5375624" y="3318786"/>
                  </a:lnTo>
                  <a:lnTo>
                    <a:pt x="5371290" y="3320581"/>
                  </a:lnTo>
                  <a:lnTo>
                    <a:pt x="5366823" y="3321936"/>
                  </a:lnTo>
                  <a:lnTo>
                    <a:pt x="5362223" y="3322851"/>
                  </a:lnTo>
                  <a:lnTo>
                    <a:pt x="5357623" y="3323766"/>
                  </a:lnTo>
                  <a:lnTo>
                    <a:pt x="5352978" y="3324224"/>
                  </a:lnTo>
                  <a:lnTo>
                    <a:pt x="5348287" y="3324224"/>
                  </a:lnTo>
                  <a:lnTo>
                    <a:pt x="71437" y="3324224"/>
                  </a:lnTo>
                  <a:lnTo>
                    <a:pt x="66746" y="3324224"/>
                  </a:lnTo>
                  <a:lnTo>
                    <a:pt x="62101" y="3323766"/>
                  </a:lnTo>
                  <a:lnTo>
                    <a:pt x="57500" y="3322851"/>
                  </a:lnTo>
                  <a:lnTo>
                    <a:pt x="52900" y="3321936"/>
                  </a:lnTo>
                  <a:lnTo>
                    <a:pt x="48433" y="3320581"/>
                  </a:lnTo>
                  <a:lnTo>
                    <a:pt x="44099" y="3318786"/>
                  </a:lnTo>
                  <a:lnTo>
                    <a:pt x="39765" y="3316991"/>
                  </a:lnTo>
                  <a:lnTo>
                    <a:pt x="35649" y="3314790"/>
                  </a:lnTo>
                  <a:lnTo>
                    <a:pt x="31748" y="3312184"/>
                  </a:lnTo>
                  <a:lnTo>
                    <a:pt x="27848" y="3309578"/>
                  </a:lnTo>
                  <a:lnTo>
                    <a:pt x="3642" y="3275791"/>
                  </a:lnTo>
                  <a:lnTo>
                    <a:pt x="1372" y="3266723"/>
                  </a:lnTo>
                  <a:lnTo>
                    <a:pt x="457" y="3262122"/>
                  </a:lnTo>
                  <a:lnTo>
                    <a:pt x="0" y="3257477"/>
                  </a:lnTo>
                  <a:lnTo>
                    <a:pt x="0" y="3252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63574" y="1663916"/>
            <a:ext cx="4043679" cy="21494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90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50" i="1">
                <a:solidFill>
                  <a:srgbClr val="6A737D"/>
                </a:solidFill>
                <a:latin typeface="Times New Roman"/>
                <a:cs typeface="Times New Roman"/>
              </a:rPr>
              <a:t>Value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85" i="1">
                <a:solidFill>
                  <a:srgbClr val="6A737D"/>
                </a:solidFill>
                <a:latin typeface="Times New Roman"/>
                <a:cs typeface="Times New Roman"/>
              </a:rPr>
              <a:t>Object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75" i="1">
                <a:solidFill>
                  <a:srgbClr val="6A737D"/>
                </a:solidFill>
                <a:latin typeface="Times New Roman"/>
                <a:cs typeface="Times New Roman"/>
              </a:rPr>
              <a:t>(Record)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25" i="1">
                <a:solidFill>
                  <a:srgbClr val="6A737D"/>
                </a:solidFill>
                <a:latin typeface="Times New Roman"/>
                <a:cs typeface="Times New Roman"/>
              </a:rPr>
              <a:t>Défini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55" i="1">
                <a:solidFill>
                  <a:srgbClr val="6A737D"/>
                </a:solidFill>
                <a:latin typeface="Times New Roman"/>
                <a:cs typeface="Times New Roman"/>
              </a:rPr>
              <a:t>par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40" i="1">
                <a:solidFill>
                  <a:srgbClr val="6A737D"/>
                </a:solidFill>
                <a:latin typeface="Times New Roman"/>
                <a:cs typeface="Times New Roman"/>
              </a:rPr>
              <a:t>ses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20" i="1">
                <a:solidFill>
                  <a:srgbClr val="6A737D"/>
                </a:solidFill>
                <a:latin typeface="Times New Roman"/>
                <a:cs typeface="Times New Roman"/>
              </a:rPr>
              <a:t>valeurs</a:t>
            </a:r>
            <a:r>
              <a:rPr dirty="0" sz="150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50" i="1">
                <a:solidFill>
                  <a:srgbClr val="6A737D"/>
                </a:solidFill>
                <a:latin typeface="Times New Roman"/>
                <a:cs typeface="Times New Roman"/>
              </a:rPr>
              <a:t>(immuable)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400" spc="225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00" spc="7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00" spc="190" b="1">
                <a:solidFill>
                  <a:srgbClr val="D63A49"/>
                </a:solidFill>
                <a:latin typeface="Times New Roman"/>
                <a:cs typeface="Times New Roman"/>
              </a:rPr>
              <a:t>record</a:t>
            </a:r>
            <a:r>
              <a:rPr dirty="0" sz="140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200">
                <a:solidFill>
                  <a:srgbClr val="005CC4"/>
                </a:solidFill>
                <a:latin typeface="Times New Roman"/>
                <a:cs typeface="Times New Roman"/>
              </a:rPr>
              <a:t>Note</a:t>
            </a:r>
            <a:r>
              <a:rPr dirty="0" sz="1400" spc="20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00" spc="200" b="1">
                <a:solidFill>
                  <a:srgbClr val="D63A49"/>
                </a:solidFill>
                <a:latin typeface="Times New Roman"/>
                <a:cs typeface="Times New Roman"/>
              </a:rPr>
              <a:t>double</a:t>
            </a:r>
            <a:r>
              <a:rPr dirty="0" sz="140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00" spc="285">
                <a:solidFill>
                  <a:srgbClr val="334054"/>
                </a:solidFill>
                <a:latin typeface="Times New Roman"/>
                <a:cs typeface="Times New Roman"/>
              </a:rPr>
              <a:t>valeur)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155">
                <a:solidFill>
                  <a:srgbClr val="334054"/>
                </a:solidFill>
                <a:latin typeface="Times New Roman"/>
                <a:cs typeface="Times New Roman"/>
              </a:rPr>
              <a:t>{}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90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54" i="1">
                <a:solidFill>
                  <a:srgbClr val="6A737D"/>
                </a:solidFill>
                <a:latin typeface="Times New Roman"/>
                <a:cs typeface="Times New Roman"/>
              </a:rPr>
              <a:t>Entité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20" i="1">
                <a:solidFill>
                  <a:srgbClr val="6A737D"/>
                </a:solidFill>
                <a:latin typeface="Times New Roman"/>
                <a:cs typeface="Times New Roman"/>
              </a:rPr>
              <a:t>(Class)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20" i="1">
                <a:solidFill>
                  <a:srgbClr val="6A737D"/>
                </a:solidFill>
                <a:latin typeface="Times New Roman"/>
                <a:cs typeface="Times New Roman"/>
              </a:rPr>
              <a:t>Définie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55" i="1">
                <a:solidFill>
                  <a:srgbClr val="6A737D"/>
                </a:solidFill>
                <a:latin typeface="Times New Roman"/>
                <a:cs typeface="Times New Roman"/>
              </a:rPr>
              <a:t>par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55" i="1">
                <a:solidFill>
                  <a:srgbClr val="6A737D"/>
                </a:solidFill>
                <a:latin typeface="Times New Roman"/>
                <a:cs typeface="Times New Roman"/>
              </a:rPr>
              <a:t>son</a:t>
            </a:r>
            <a:r>
              <a:rPr dirty="0" sz="150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90" i="1">
                <a:solidFill>
                  <a:srgbClr val="6A737D"/>
                </a:solidFill>
                <a:latin typeface="Times New Roman"/>
                <a:cs typeface="Times New Roman"/>
              </a:rPr>
              <a:t>identité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95" i="1">
                <a:solidFill>
                  <a:srgbClr val="6A737D"/>
                </a:solidFill>
                <a:latin typeface="Times New Roman"/>
                <a:cs typeface="Times New Roman"/>
              </a:rPr>
              <a:t>(mutable)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400" spc="225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0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00" spc="290" b="1">
                <a:solidFill>
                  <a:srgbClr val="D63A49"/>
                </a:solidFill>
                <a:latin typeface="Times New Roman"/>
                <a:cs typeface="Times New Roman"/>
              </a:rPr>
              <a:t>class</a:t>
            </a:r>
            <a:r>
              <a:rPr dirty="0" sz="140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275">
                <a:solidFill>
                  <a:srgbClr val="005CC4"/>
                </a:solidFill>
                <a:latin typeface="Times New Roman"/>
                <a:cs typeface="Times New Roman"/>
              </a:rPr>
              <a:t>Etudiant</a:t>
            </a:r>
            <a:r>
              <a:rPr dirty="0" sz="135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13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  <a:spcBef>
                <a:spcPts val="395"/>
              </a:spcBef>
            </a:pPr>
            <a:r>
              <a:rPr dirty="0" sz="1400" spc="240" b="1">
                <a:solidFill>
                  <a:srgbClr val="D63A49"/>
                </a:solidFill>
                <a:latin typeface="Times New Roman"/>
                <a:cs typeface="Times New Roman"/>
              </a:rPr>
              <a:t>private</a:t>
            </a:r>
            <a:r>
              <a:rPr dirty="0" sz="1400" spc="8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00" spc="305" b="1">
                <a:solidFill>
                  <a:srgbClr val="D63A49"/>
                </a:solidFill>
                <a:latin typeface="Times New Roman"/>
                <a:cs typeface="Times New Roman"/>
              </a:rPr>
              <a:t>final</a:t>
            </a:r>
            <a:r>
              <a:rPr dirty="0" sz="140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135">
                <a:solidFill>
                  <a:srgbClr val="005CC4"/>
                </a:solidFill>
                <a:latin typeface="Times New Roman"/>
                <a:cs typeface="Times New Roman"/>
              </a:rPr>
              <a:t>Long</a:t>
            </a:r>
            <a:r>
              <a:rPr dirty="0" sz="13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355">
                <a:solidFill>
                  <a:srgbClr val="334054"/>
                </a:solidFill>
                <a:latin typeface="Times New Roman"/>
                <a:cs typeface="Times New Roman"/>
              </a:rPr>
              <a:t>id;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70" i="1">
                <a:solidFill>
                  <a:srgbClr val="6A737D"/>
                </a:solidFill>
                <a:latin typeface="Times New Roman"/>
                <a:cs typeface="Times New Roman"/>
              </a:rPr>
              <a:t>Identité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772219" y="3837933"/>
            <a:ext cx="20891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240" b="1">
                <a:solidFill>
                  <a:srgbClr val="D63A49"/>
                </a:solidFill>
                <a:latin typeface="Times New Roman"/>
                <a:cs typeface="Times New Roman"/>
              </a:rPr>
              <a:t>private</a:t>
            </a:r>
            <a:r>
              <a:rPr dirty="0" sz="1400" spc="8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300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3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110">
                <a:solidFill>
                  <a:srgbClr val="334054"/>
                </a:solidFill>
                <a:latin typeface="Times New Roman"/>
                <a:cs typeface="Times New Roman"/>
              </a:rPr>
              <a:t>nom;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70001" y="3824793"/>
            <a:ext cx="1654175" cy="255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65" i="1">
                <a:solidFill>
                  <a:srgbClr val="6A737D"/>
                </a:solidFill>
                <a:latin typeface="Times New Roman"/>
                <a:cs typeface="Times New Roman"/>
              </a:rPr>
              <a:t>Peut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40" i="1">
                <a:solidFill>
                  <a:srgbClr val="6A737D"/>
                </a:solidFill>
                <a:latin typeface="Times New Roman"/>
                <a:cs typeface="Times New Roman"/>
              </a:rPr>
              <a:t>changer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3574" y="4046399"/>
            <a:ext cx="4043679" cy="57404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1285">
              <a:lnSpc>
                <a:spcPct val="100000"/>
              </a:lnSpc>
              <a:spcBef>
                <a:spcPts val="535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35" i="1">
                <a:solidFill>
                  <a:srgbClr val="6A737D"/>
                </a:solidFill>
                <a:latin typeface="Times New Roman"/>
                <a:cs typeface="Times New Roman"/>
              </a:rPr>
              <a:t>equals()</a:t>
            </a:r>
            <a:r>
              <a:rPr dirty="0" sz="150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65" i="1">
                <a:solidFill>
                  <a:srgbClr val="6A737D"/>
                </a:solidFill>
                <a:latin typeface="Times New Roman"/>
                <a:cs typeface="Times New Roman"/>
              </a:rPr>
              <a:t>basé</a:t>
            </a:r>
            <a:r>
              <a:rPr dirty="0" sz="150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10" i="1">
                <a:solidFill>
                  <a:srgbClr val="6A737D"/>
                </a:solidFill>
                <a:latin typeface="Times New Roman"/>
                <a:cs typeface="Times New Roman"/>
              </a:rPr>
              <a:t>sur</a:t>
            </a:r>
            <a:r>
              <a:rPr dirty="0" sz="150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70" i="1">
                <a:solidFill>
                  <a:srgbClr val="6A737D"/>
                </a:solidFill>
                <a:latin typeface="Times New Roman"/>
                <a:cs typeface="Times New Roman"/>
              </a:rPr>
              <a:t>id</a:t>
            </a:r>
            <a:r>
              <a:rPr dirty="0" sz="150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50" i="1">
                <a:solidFill>
                  <a:srgbClr val="6A737D"/>
                </a:solidFill>
                <a:latin typeface="Times New Roman"/>
                <a:cs typeface="Times New Roman"/>
              </a:rPr>
              <a:t>uniquement</a:t>
            </a:r>
            <a:r>
              <a:rPr dirty="0" sz="150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00" i="1">
                <a:solidFill>
                  <a:srgbClr val="6A737D"/>
                </a:solidFill>
                <a:latin typeface="Times New Roman"/>
                <a:cs typeface="Times New Roman"/>
              </a:rPr>
              <a:t>!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400" spc="18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13.</a:t>
            </a:r>
            <a:r>
              <a:rPr dirty="0" spc="-25"/>
              <a:t> </a:t>
            </a:r>
            <a:r>
              <a:rPr dirty="0" spc="-105"/>
              <a:t>Optional</a:t>
            </a:r>
            <a:r>
              <a:rPr dirty="0" spc="-25"/>
              <a:t> </a:t>
            </a:r>
            <a:r>
              <a:rPr dirty="0" spc="-650"/>
              <a:t>—</a:t>
            </a:r>
            <a:r>
              <a:rPr dirty="0" spc="-20"/>
              <a:t> </a:t>
            </a:r>
            <a:r>
              <a:rPr dirty="0" spc="-75"/>
              <a:t>Création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6450"/>
            <a:ext cx="11241405" cy="1252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Représenter</a:t>
            </a:r>
            <a:r>
              <a:rPr dirty="0" sz="1350" spc="-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explicitement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l'absence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 de</a:t>
            </a:r>
            <a:r>
              <a:rPr dirty="0" sz="1350" spc="-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valeur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 sans utiliser</a:t>
            </a:r>
            <a:r>
              <a:rPr dirty="0" sz="1350" spc="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Monaco"/>
                <a:cs typeface="Monaco"/>
              </a:rPr>
              <a:t>null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1500"/>
              </a:lnSpc>
              <a:spcBef>
                <a:spcPts val="1065"/>
              </a:spcBef>
            </a:pPr>
            <a:r>
              <a:rPr dirty="0" sz="1800">
                <a:solidFill>
                  <a:srgbClr val="334054"/>
                </a:solidFill>
                <a:latin typeface="Monaco"/>
                <a:cs typeface="Monaco"/>
              </a:rPr>
              <a:t>Optional&lt;T&gt;</a:t>
            </a:r>
            <a:r>
              <a:rPr dirty="0" sz="1800" spc="-63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conteneur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peut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contenir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non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valeur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non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nulle.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Il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force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développeur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dirty="0" sz="18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gérer</a:t>
            </a:r>
            <a:r>
              <a:rPr dirty="0" sz="18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334054"/>
                </a:solidFill>
                <a:latin typeface="Arial"/>
                <a:cs typeface="Arial"/>
              </a:rPr>
              <a:t>le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cas</a:t>
            </a:r>
            <a:r>
              <a:rPr dirty="0" sz="1800" spc="-25">
                <a:solidFill>
                  <a:srgbClr val="334054"/>
                </a:solidFill>
                <a:latin typeface="Arial"/>
                <a:cs typeface="Arial"/>
              </a:rPr>
              <a:t> "vide"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dès</a:t>
            </a:r>
            <a:r>
              <a:rPr dirty="0" sz="1800" spc="-2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800" spc="-2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compilation,</a:t>
            </a:r>
            <a:r>
              <a:rPr dirty="0" sz="1800" spc="-2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évitant</a:t>
            </a:r>
            <a:r>
              <a:rPr dirty="0" sz="1800" spc="-2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800" spc="-2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34054"/>
                </a:solidFill>
                <a:latin typeface="Monaco"/>
                <a:cs typeface="Monaco"/>
              </a:rPr>
              <a:t>NullPointerException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5863" y="5334000"/>
            <a:ext cx="5605780" cy="954405"/>
            <a:chOff x="435863" y="5334000"/>
            <a:chExt cx="5605780" cy="954405"/>
          </a:xfrm>
        </p:grpSpPr>
        <p:sp>
          <p:nvSpPr>
            <p:cNvPr id="5" name="object 5" descr=""/>
            <p:cNvSpPr/>
            <p:nvPr/>
          </p:nvSpPr>
          <p:spPr>
            <a:xfrm>
              <a:off x="435863" y="5334000"/>
              <a:ext cx="5605780" cy="954405"/>
            </a:xfrm>
            <a:custGeom>
              <a:avLst/>
              <a:gdLst/>
              <a:ahLst/>
              <a:cxnLst/>
              <a:rect l="l" t="t" r="r" b="b"/>
              <a:pathLst>
                <a:path w="5605780" h="954404">
                  <a:moveTo>
                    <a:pt x="5605272" y="954024"/>
                  </a:moveTo>
                  <a:lnTo>
                    <a:pt x="0" y="954024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847724"/>
                  </a:lnTo>
                  <a:lnTo>
                    <a:pt x="71195" y="887502"/>
                  </a:lnTo>
                  <a:lnTo>
                    <a:pt x="97535" y="895349"/>
                  </a:lnTo>
                  <a:lnTo>
                    <a:pt x="5605272" y="895349"/>
                  </a:lnTo>
                  <a:lnTo>
                    <a:pt x="5605272" y="954024"/>
                  </a:lnTo>
                  <a:close/>
                </a:path>
                <a:path w="5605780" h="954404">
                  <a:moveTo>
                    <a:pt x="5605272" y="895349"/>
                  </a:moveTo>
                  <a:lnTo>
                    <a:pt x="5507735" y="895349"/>
                  </a:lnTo>
                  <a:lnTo>
                    <a:pt x="5517237" y="894477"/>
                  </a:lnTo>
                  <a:lnTo>
                    <a:pt x="5526017" y="891861"/>
                  </a:lnTo>
                  <a:lnTo>
                    <a:pt x="5554488" y="857226"/>
                  </a:lnTo>
                  <a:lnTo>
                    <a:pt x="5555360" y="847724"/>
                  </a:lnTo>
                  <a:lnTo>
                    <a:pt x="5555360" y="85724"/>
                  </a:lnTo>
                  <a:lnTo>
                    <a:pt x="5534075" y="45945"/>
                  </a:lnTo>
                  <a:lnTo>
                    <a:pt x="5507735" y="38099"/>
                  </a:lnTo>
                  <a:lnTo>
                    <a:pt x="5605272" y="38099"/>
                  </a:lnTo>
                  <a:lnTo>
                    <a:pt x="5605272" y="8953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0062" y="5362574"/>
              <a:ext cx="5501005" cy="876300"/>
            </a:xfrm>
            <a:custGeom>
              <a:avLst/>
              <a:gdLst/>
              <a:ahLst/>
              <a:cxnLst/>
              <a:rect l="l" t="t" r="r" b="b"/>
              <a:pathLst>
                <a:path w="5501005" h="876300">
                  <a:moveTo>
                    <a:pt x="5447289" y="876299"/>
                  </a:moveTo>
                  <a:lnTo>
                    <a:pt x="28916" y="876299"/>
                  </a:lnTo>
                  <a:lnTo>
                    <a:pt x="24664" y="874848"/>
                  </a:lnTo>
                  <a:lnTo>
                    <a:pt x="845" y="834017"/>
                  </a:lnTo>
                  <a:lnTo>
                    <a:pt x="0" y="826727"/>
                  </a:lnTo>
                  <a:lnTo>
                    <a:pt x="0" y="81914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9" y="0"/>
                  </a:lnTo>
                  <a:lnTo>
                    <a:pt x="5486601" y="19391"/>
                  </a:lnTo>
                  <a:lnTo>
                    <a:pt x="5500687" y="53397"/>
                  </a:lnTo>
                  <a:lnTo>
                    <a:pt x="5500687" y="822902"/>
                  </a:lnTo>
                  <a:lnTo>
                    <a:pt x="5481294" y="862214"/>
                  </a:lnTo>
                  <a:lnTo>
                    <a:pt x="5451005" y="875933"/>
                  </a:lnTo>
                  <a:lnTo>
                    <a:pt x="5447289" y="8762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249" y="5362574"/>
              <a:ext cx="54610" cy="876300"/>
            </a:xfrm>
            <a:custGeom>
              <a:avLst/>
              <a:gdLst/>
              <a:ahLst/>
              <a:cxnLst/>
              <a:rect l="l" t="t" r="r" b="b"/>
              <a:pathLst>
                <a:path w="54609" h="876300">
                  <a:moveTo>
                    <a:pt x="54519" y="876299"/>
                  </a:moveTo>
                  <a:lnTo>
                    <a:pt x="49571" y="876299"/>
                  </a:lnTo>
                  <a:lnTo>
                    <a:pt x="42281" y="874849"/>
                  </a:lnTo>
                  <a:lnTo>
                    <a:pt x="7250" y="848021"/>
                  </a:lnTo>
                  <a:lnTo>
                    <a:pt x="0" y="82672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819149"/>
                  </a:lnTo>
                  <a:lnTo>
                    <a:pt x="50414" y="859560"/>
                  </a:lnTo>
                  <a:lnTo>
                    <a:pt x="52274" y="870719"/>
                  </a:lnTo>
                  <a:lnTo>
                    <a:pt x="54519" y="8762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4" y="5686424"/>
              <a:ext cx="228600" cy="22860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73150" y="5654581"/>
            <a:ext cx="46793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50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50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Monaco"/>
                <a:cs typeface="Monaco"/>
              </a:rPr>
              <a:t>ofNullable</a:t>
            </a:r>
            <a:r>
              <a:rPr dirty="0" sz="1500" spc="-520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si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la</a:t>
            </a:r>
            <a:r>
              <a:rPr dirty="0" sz="15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source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peut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être</a:t>
            </a:r>
            <a:r>
              <a:rPr dirty="0" sz="15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3532D"/>
                </a:solidFill>
                <a:latin typeface="Arial"/>
                <a:cs typeface="Arial"/>
              </a:rPr>
              <a:t>null.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150864" y="5334000"/>
            <a:ext cx="5605780" cy="954405"/>
            <a:chOff x="6150864" y="5334000"/>
            <a:chExt cx="5605780" cy="954405"/>
          </a:xfrm>
        </p:grpSpPr>
        <p:sp>
          <p:nvSpPr>
            <p:cNvPr id="11" name="object 11" descr=""/>
            <p:cNvSpPr/>
            <p:nvPr/>
          </p:nvSpPr>
          <p:spPr>
            <a:xfrm>
              <a:off x="6150864" y="5334000"/>
              <a:ext cx="5605780" cy="954405"/>
            </a:xfrm>
            <a:custGeom>
              <a:avLst/>
              <a:gdLst/>
              <a:ahLst/>
              <a:cxnLst/>
              <a:rect l="l" t="t" r="r" b="b"/>
              <a:pathLst>
                <a:path w="5605780" h="954404">
                  <a:moveTo>
                    <a:pt x="5605272" y="954024"/>
                  </a:moveTo>
                  <a:lnTo>
                    <a:pt x="0" y="954024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7" y="67441"/>
                  </a:lnTo>
                  <a:lnTo>
                    <a:pt x="49910" y="85724"/>
                  </a:lnTo>
                  <a:lnTo>
                    <a:pt x="49910" y="847724"/>
                  </a:lnTo>
                  <a:lnTo>
                    <a:pt x="71195" y="887502"/>
                  </a:lnTo>
                  <a:lnTo>
                    <a:pt x="97535" y="895349"/>
                  </a:lnTo>
                  <a:lnTo>
                    <a:pt x="5605272" y="895349"/>
                  </a:lnTo>
                  <a:lnTo>
                    <a:pt x="5605272" y="954024"/>
                  </a:lnTo>
                  <a:close/>
                </a:path>
                <a:path w="5605780" h="954404">
                  <a:moveTo>
                    <a:pt x="5605272" y="895349"/>
                  </a:moveTo>
                  <a:lnTo>
                    <a:pt x="5507735" y="895349"/>
                  </a:lnTo>
                  <a:lnTo>
                    <a:pt x="5517237" y="894477"/>
                  </a:lnTo>
                  <a:lnTo>
                    <a:pt x="5526017" y="891861"/>
                  </a:lnTo>
                  <a:lnTo>
                    <a:pt x="5554488" y="857226"/>
                  </a:lnTo>
                  <a:lnTo>
                    <a:pt x="5555360" y="847724"/>
                  </a:lnTo>
                  <a:lnTo>
                    <a:pt x="5555360" y="85724"/>
                  </a:lnTo>
                  <a:lnTo>
                    <a:pt x="5534075" y="45945"/>
                  </a:lnTo>
                  <a:lnTo>
                    <a:pt x="5507735" y="38099"/>
                  </a:lnTo>
                  <a:lnTo>
                    <a:pt x="5605272" y="38099"/>
                  </a:lnTo>
                  <a:lnTo>
                    <a:pt x="5605272" y="8953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15061" y="5362574"/>
              <a:ext cx="5501005" cy="876300"/>
            </a:xfrm>
            <a:custGeom>
              <a:avLst/>
              <a:gdLst/>
              <a:ahLst/>
              <a:cxnLst/>
              <a:rect l="l" t="t" r="r" b="b"/>
              <a:pathLst>
                <a:path w="5501005" h="876300">
                  <a:moveTo>
                    <a:pt x="5447288" y="876299"/>
                  </a:moveTo>
                  <a:lnTo>
                    <a:pt x="28916" y="876299"/>
                  </a:lnTo>
                  <a:lnTo>
                    <a:pt x="24664" y="874848"/>
                  </a:lnTo>
                  <a:lnTo>
                    <a:pt x="845" y="834017"/>
                  </a:lnTo>
                  <a:lnTo>
                    <a:pt x="0" y="826727"/>
                  </a:lnTo>
                  <a:lnTo>
                    <a:pt x="0" y="81914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8" y="0"/>
                  </a:lnTo>
                  <a:lnTo>
                    <a:pt x="5486601" y="19391"/>
                  </a:lnTo>
                  <a:lnTo>
                    <a:pt x="5500686" y="53397"/>
                  </a:lnTo>
                  <a:lnTo>
                    <a:pt x="5500686" y="822902"/>
                  </a:lnTo>
                  <a:lnTo>
                    <a:pt x="5481292" y="862214"/>
                  </a:lnTo>
                  <a:lnTo>
                    <a:pt x="5451004" y="875933"/>
                  </a:lnTo>
                  <a:lnTo>
                    <a:pt x="5447288" y="8762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91249" y="5362574"/>
              <a:ext cx="54610" cy="876300"/>
            </a:xfrm>
            <a:custGeom>
              <a:avLst/>
              <a:gdLst/>
              <a:ahLst/>
              <a:cxnLst/>
              <a:rect l="l" t="t" r="r" b="b"/>
              <a:pathLst>
                <a:path w="54610" h="876300">
                  <a:moveTo>
                    <a:pt x="54519" y="876299"/>
                  </a:moveTo>
                  <a:lnTo>
                    <a:pt x="49570" y="876299"/>
                  </a:lnTo>
                  <a:lnTo>
                    <a:pt x="42280" y="874849"/>
                  </a:lnTo>
                  <a:lnTo>
                    <a:pt x="7249" y="848021"/>
                  </a:lnTo>
                  <a:lnTo>
                    <a:pt x="0" y="82672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819149"/>
                  </a:lnTo>
                  <a:lnTo>
                    <a:pt x="50414" y="859560"/>
                  </a:lnTo>
                  <a:lnTo>
                    <a:pt x="52274" y="870719"/>
                  </a:lnTo>
                  <a:lnTo>
                    <a:pt x="54519" y="876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724" y="5686424"/>
              <a:ext cx="158750" cy="2286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6731000" y="5435600"/>
            <a:ext cx="38919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1450" spc="-20" b="1">
                <a:solidFill>
                  <a:srgbClr val="1D3A8A"/>
                </a:solidFill>
                <a:latin typeface="Arial"/>
                <a:cs typeface="Arial"/>
              </a:rPr>
              <a:t>Astuce </a:t>
            </a:r>
            <a:r>
              <a:rPr dirty="0" sz="145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450" spc="-2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D3A8A"/>
                </a:solidFill>
                <a:latin typeface="Arial"/>
                <a:cs typeface="Arial"/>
              </a:rPr>
              <a:t>Ne</a:t>
            </a:r>
            <a:r>
              <a:rPr dirty="0" sz="150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jamais</a:t>
            </a:r>
            <a:r>
              <a:rPr dirty="0" sz="150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utiliser</a:t>
            </a:r>
            <a:r>
              <a:rPr dirty="0" sz="1500" spc="-2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Courier New"/>
                <a:cs typeface="Courier New"/>
              </a:rPr>
              <a:t>Optional</a:t>
            </a:r>
            <a:r>
              <a:rPr dirty="0" sz="1500" spc="-515">
                <a:solidFill>
                  <a:srgbClr val="1D3A8A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1D3A8A"/>
                </a:solidFill>
                <a:latin typeface="Arial"/>
                <a:cs typeface="Arial"/>
              </a:rPr>
              <a:t>comme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paramètre</a:t>
            </a:r>
            <a:r>
              <a:rPr dirty="0" sz="1500" spc="-8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de</a:t>
            </a:r>
            <a:r>
              <a:rPr dirty="0" sz="1500" spc="-8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D3A8A"/>
                </a:solidFill>
                <a:latin typeface="Arial"/>
                <a:cs typeface="Arial"/>
              </a:rPr>
              <a:t>méthode.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420624" y="2346960"/>
            <a:ext cx="11351260" cy="2898775"/>
            <a:chOff x="420624" y="2346960"/>
            <a:chExt cx="11351260" cy="2898775"/>
          </a:xfrm>
        </p:grpSpPr>
        <p:sp>
          <p:nvSpPr>
            <p:cNvPr id="18" name="object 18" descr=""/>
            <p:cNvSpPr/>
            <p:nvPr/>
          </p:nvSpPr>
          <p:spPr>
            <a:xfrm>
              <a:off x="420624" y="2346960"/>
              <a:ext cx="11351260" cy="2898775"/>
            </a:xfrm>
            <a:custGeom>
              <a:avLst/>
              <a:gdLst/>
              <a:ahLst/>
              <a:cxnLst/>
              <a:rect l="l" t="t" r="r" b="b"/>
              <a:pathLst>
                <a:path w="11351260" h="2898775">
                  <a:moveTo>
                    <a:pt x="11350752" y="2898648"/>
                  </a:moveTo>
                  <a:lnTo>
                    <a:pt x="0" y="289864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3814"/>
                  </a:lnTo>
                  <a:lnTo>
                    <a:pt x="131825" y="43814"/>
                  </a:lnTo>
                  <a:lnTo>
                    <a:pt x="125257" y="44131"/>
                  </a:lnTo>
                  <a:lnTo>
                    <a:pt x="89548" y="58923"/>
                  </a:lnTo>
                  <a:lnTo>
                    <a:pt x="68005" y="91163"/>
                  </a:lnTo>
                  <a:lnTo>
                    <a:pt x="65150" y="110489"/>
                  </a:lnTo>
                  <a:lnTo>
                    <a:pt x="65150" y="2748914"/>
                  </a:lnTo>
                  <a:lnTo>
                    <a:pt x="76377" y="2785963"/>
                  </a:lnTo>
                  <a:lnTo>
                    <a:pt x="106310" y="2810513"/>
                  </a:lnTo>
                  <a:lnTo>
                    <a:pt x="131825" y="2815589"/>
                  </a:lnTo>
                  <a:lnTo>
                    <a:pt x="11350752" y="2815589"/>
                  </a:lnTo>
                  <a:lnTo>
                    <a:pt x="11350752" y="2898648"/>
                  </a:lnTo>
                  <a:close/>
                </a:path>
                <a:path w="11351260" h="2898775">
                  <a:moveTo>
                    <a:pt x="11350752" y="2815589"/>
                  </a:moveTo>
                  <a:lnTo>
                    <a:pt x="11218925" y="2815589"/>
                  </a:lnTo>
                  <a:lnTo>
                    <a:pt x="11225493" y="2815272"/>
                  </a:lnTo>
                  <a:lnTo>
                    <a:pt x="11231934" y="2814320"/>
                  </a:lnTo>
                  <a:lnTo>
                    <a:pt x="11266071" y="2796060"/>
                  </a:lnTo>
                  <a:lnTo>
                    <a:pt x="11284331" y="2761924"/>
                  </a:lnTo>
                  <a:lnTo>
                    <a:pt x="11285600" y="2748914"/>
                  </a:lnTo>
                  <a:lnTo>
                    <a:pt x="11285600" y="110489"/>
                  </a:lnTo>
                  <a:lnTo>
                    <a:pt x="11274372" y="73439"/>
                  </a:lnTo>
                  <a:lnTo>
                    <a:pt x="11244439" y="48889"/>
                  </a:lnTo>
                  <a:lnTo>
                    <a:pt x="11218925" y="43814"/>
                  </a:lnTo>
                  <a:lnTo>
                    <a:pt x="11350752" y="43814"/>
                  </a:lnTo>
                  <a:lnTo>
                    <a:pt x="11350752" y="281558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386012"/>
              <a:ext cx="11229975" cy="2781300"/>
            </a:xfrm>
            <a:custGeom>
              <a:avLst/>
              <a:gdLst/>
              <a:ahLst/>
              <a:cxnLst/>
              <a:rect l="l" t="t" r="r" b="b"/>
              <a:pathLst>
                <a:path w="11229975" h="2781300">
                  <a:moveTo>
                    <a:pt x="11163227" y="2781299"/>
                  </a:moveTo>
                  <a:lnTo>
                    <a:pt x="66746" y="2781299"/>
                  </a:lnTo>
                  <a:lnTo>
                    <a:pt x="62101" y="2780841"/>
                  </a:lnTo>
                  <a:lnTo>
                    <a:pt x="24240" y="2763692"/>
                  </a:lnTo>
                  <a:lnTo>
                    <a:pt x="2287" y="2728398"/>
                  </a:lnTo>
                  <a:lnTo>
                    <a:pt x="0" y="2714552"/>
                  </a:lnTo>
                  <a:lnTo>
                    <a:pt x="0" y="2709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2714552"/>
                  </a:lnTo>
                  <a:lnTo>
                    <a:pt x="11215327" y="2753450"/>
                  </a:lnTo>
                  <a:lnTo>
                    <a:pt x="11181539" y="2777656"/>
                  </a:lnTo>
                  <a:lnTo>
                    <a:pt x="11167872" y="2780841"/>
                  </a:lnTo>
                  <a:lnTo>
                    <a:pt x="11163227" y="27812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1012" y="2386012"/>
              <a:ext cx="11229975" cy="2781300"/>
            </a:xfrm>
            <a:custGeom>
              <a:avLst/>
              <a:gdLst/>
              <a:ahLst/>
              <a:cxnLst/>
              <a:rect l="l" t="t" r="r" b="b"/>
              <a:pathLst>
                <a:path w="11229975" h="2781300">
                  <a:moveTo>
                    <a:pt x="0" y="2709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2709862"/>
                  </a:lnTo>
                  <a:lnTo>
                    <a:pt x="11229972" y="2714552"/>
                  </a:lnTo>
                  <a:lnTo>
                    <a:pt x="11229514" y="2719198"/>
                  </a:lnTo>
                  <a:lnTo>
                    <a:pt x="11228599" y="2723798"/>
                  </a:lnTo>
                  <a:lnTo>
                    <a:pt x="11227684" y="2728398"/>
                  </a:lnTo>
                  <a:lnTo>
                    <a:pt x="11205732" y="2763692"/>
                  </a:lnTo>
                  <a:lnTo>
                    <a:pt x="11198222" y="2769259"/>
                  </a:lnTo>
                  <a:lnTo>
                    <a:pt x="11194322" y="2771866"/>
                  </a:lnTo>
                  <a:lnTo>
                    <a:pt x="11190206" y="2774066"/>
                  </a:lnTo>
                  <a:lnTo>
                    <a:pt x="11185873" y="2775861"/>
                  </a:lnTo>
                  <a:lnTo>
                    <a:pt x="11181539" y="2777656"/>
                  </a:lnTo>
                  <a:lnTo>
                    <a:pt x="11158536" y="2781299"/>
                  </a:lnTo>
                  <a:lnTo>
                    <a:pt x="71437" y="2781299"/>
                  </a:lnTo>
                  <a:lnTo>
                    <a:pt x="66746" y="2781299"/>
                  </a:lnTo>
                  <a:lnTo>
                    <a:pt x="62101" y="2780841"/>
                  </a:lnTo>
                  <a:lnTo>
                    <a:pt x="57500" y="2779926"/>
                  </a:lnTo>
                  <a:lnTo>
                    <a:pt x="52900" y="2779011"/>
                  </a:lnTo>
                  <a:lnTo>
                    <a:pt x="48433" y="2777656"/>
                  </a:lnTo>
                  <a:lnTo>
                    <a:pt x="44099" y="2775861"/>
                  </a:lnTo>
                  <a:lnTo>
                    <a:pt x="39765" y="2774066"/>
                  </a:lnTo>
                  <a:lnTo>
                    <a:pt x="35649" y="2771866"/>
                  </a:lnTo>
                  <a:lnTo>
                    <a:pt x="31748" y="2769259"/>
                  </a:lnTo>
                  <a:lnTo>
                    <a:pt x="27848" y="2766654"/>
                  </a:lnTo>
                  <a:lnTo>
                    <a:pt x="24240" y="2763692"/>
                  </a:lnTo>
                  <a:lnTo>
                    <a:pt x="20923" y="2760376"/>
                  </a:lnTo>
                  <a:lnTo>
                    <a:pt x="17606" y="2757059"/>
                  </a:lnTo>
                  <a:lnTo>
                    <a:pt x="14645" y="2753450"/>
                  </a:lnTo>
                  <a:lnTo>
                    <a:pt x="12039" y="2749550"/>
                  </a:lnTo>
                  <a:lnTo>
                    <a:pt x="9433" y="2745650"/>
                  </a:lnTo>
                  <a:lnTo>
                    <a:pt x="1372" y="2723798"/>
                  </a:lnTo>
                  <a:lnTo>
                    <a:pt x="457" y="2719198"/>
                  </a:lnTo>
                  <a:lnTo>
                    <a:pt x="0" y="2714552"/>
                  </a:lnTo>
                  <a:lnTo>
                    <a:pt x="0" y="270986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63574" y="2591396"/>
            <a:ext cx="518096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275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600" spc="275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600" spc="27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600" spc="275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60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270">
                <a:solidFill>
                  <a:srgbClr val="334054"/>
                </a:solidFill>
                <a:latin typeface="Times New Roman"/>
                <a:cs typeface="Times New Roman"/>
              </a:rPr>
              <a:t>opt1</a:t>
            </a:r>
            <a:r>
              <a:rPr dirty="0" sz="160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60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295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600" spc="29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600" spc="295">
                <a:solidFill>
                  <a:srgbClr val="6F41C1"/>
                </a:solidFill>
                <a:latin typeface="Times New Roman"/>
                <a:cs typeface="Times New Roman"/>
              </a:rPr>
              <a:t>empty</a:t>
            </a:r>
            <a:r>
              <a:rPr dirty="0" sz="1600" spc="29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6196260" y="2575343"/>
            <a:ext cx="905510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50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7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160" i="1">
                <a:solidFill>
                  <a:srgbClr val="6A737D"/>
                </a:solidFill>
                <a:latin typeface="Times New Roman"/>
                <a:cs typeface="Times New Roman"/>
              </a:rPr>
              <a:t>Vide</a:t>
            </a:r>
            <a:endParaRPr sz="1750">
              <a:latin typeface="Times New Roman"/>
              <a:cs typeface="Times New Roman"/>
            </a:endParaRPr>
          </a:p>
        </p:txBody>
      </p:sp>
      <p:graphicFrame>
        <p:nvGraphicFramePr>
          <p:cNvPr id="23" name="object 23" descr=""/>
          <p:cNvGraphicFramePr>
            <a:graphicFrameLocks noGrp="1"/>
          </p:cNvGraphicFramePr>
          <p:nvPr/>
        </p:nvGraphicFramePr>
        <p:xfrm>
          <a:off x="644524" y="2956368"/>
          <a:ext cx="8865235" cy="529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6295"/>
                <a:gridCol w="628650"/>
                <a:gridCol w="251460"/>
                <a:gridCol w="4149725"/>
                <a:gridCol w="1729104"/>
              </a:tblGrid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639"/>
                        </a:lnSpc>
                      </a:pPr>
                      <a:r>
                        <a:rPr dirty="0" sz="1600" spc="265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Optional</a:t>
                      </a:r>
                      <a:r>
                        <a:rPr dirty="0" sz="1600" spc="26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dirty="0" sz="1600" spc="265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dirty="0" sz="1600" spc="26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39"/>
                        </a:lnSpc>
                      </a:pPr>
                      <a:r>
                        <a:rPr dirty="0" sz="1600" spc="25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opt2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dirty="0" sz="160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ts val="1670"/>
                        </a:lnSpc>
                      </a:pPr>
                      <a:r>
                        <a:rPr dirty="0" sz="1600" spc="335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Optional</a:t>
                      </a:r>
                      <a:r>
                        <a:rPr dirty="0" sz="1600" spc="33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00" spc="335">
                          <a:solidFill>
                            <a:srgbClr val="6F41C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33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1600" spc="335">
                          <a:solidFill>
                            <a:srgbClr val="21863A"/>
                          </a:solidFill>
                          <a:latin typeface="Times New Roman"/>
                          <a:cs typeface="Times New Roman"/>
                        </a:rPr>
                        <a:t>"Java"</a:t>
                      </a:r>
                      <a:r>
                        <a:rPr dirty="0" sz="1600" spc="33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);</a:t>
                      </a:r>
                      <a:r>
                        <a:rPr dirty="0" sz="1600" spc="10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50" spc="500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dirty="0" sz="1750" spc="65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50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r>
                        <a:rPr dirty="0" sz="1750" spc="65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50" spc="285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null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70"/>
                        </a:lnSpc>
                      </a:pPr>
                      <a:r>
                        <a:rPr dirty="0" sz="1750" spc="254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(sinon</a:t>
                      </a:r>
                      <a:r>
                        <a:rPr dirty="0" sz="1750" spc="65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50" spc="195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throw)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  <a:spcBef>
                          <a:spcPts val="105"/>
                        </a:spcBef>
                      </a:pPr>
                      <a:r>
                        <a:rPr dirty="0" sz="1600" spc="265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Optional</a:t>
                      </a:r>
                      <a:r>
                        <a:rPr dirty="0" sz="1600" spc="26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dirty="0" sz="1600" spc="265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dirty="0" sz="1600" spc="26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80"/>
                        </a:lnSpc>
                        <a:spcBef>
                          <a:spcPts val="105"/>
                        </a:spcBef>
                      </a:pPr>
                      <a:r>
                        <a:rPr dirty="0" sz="1600" spc="25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opt3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  <a:spcBef>
                          <a:spcPts val="105"/>
                        </a:spcBef>
                      </a:pPr>
                      <a:r>
                        <a:rPr dirty="0" sz="160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ts val="1880"/>
                        </a:lnSpc>
                        <a:spcBef>
                          <a:spcPts val="105"/>
                        </a:spcBef>
                      </a:pPr>
                      <a:r>
                        <a:rPr dirty="0" sz="1600" spc="315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Optional</a:t>
                      </a:r>
                      <a:r>
                        <a:rPr dirty="0" sz="1600" spc="31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00" spc="315">
                          <a:solidFill>
                            <a:srgbClr val="6F41C1"/>
                          </a:solidFill>
                          <a:latin typeface="Times New Roman"/>
                          <a:cs typeface="Times New Roman"/>
                        </a:rPr>
                        <a:t>ofNullable</a:t>
                      </a:r>
                      <a:r>
                        <a:rPr dirty="0" sz="1600" spc="31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(emailSaisi);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89"/>
                        </a:lnSpc>
                      </a:pPr>
                      <a:r>
                        <a:rPr dirty="0" sz="1750" spc="500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dirty="0" sz="1750" spc="55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750" spc="210" i="1">
                          <a:solidFill>
                            <a:srgbClr val="6A737D"/>
                          </a:solidFill>
                          <a:latin typeface="Times New Roman"/>
                          <a:cs typeface="Times New Roman"/>
                        </a:rPr>
                        <a:t>Safe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4" name="object 24" descr=""/>
          <p:cNvSpPr txBox="1"/>
          <p:nvPr/>
        </p:nvSpPr>
        <p:spPr>
          <a:xfrm>
            <a:off x="663574" y="3707486"/>
            <a:ext cx="7695565" cy="123317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750" spc="50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305" i="1">
                <a:solidFill>
                  <a:srgbClr val="6A737D"/>
                </a:solidFill>
                <a:latin typeface="Times New Roman"/>
                <a:cs typeface="Times New Roman"/>
              </a:rPr>
              <a:t>Fil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170" i="1">
                <a:solidFill>
                  <a:srgbClr val="6A737D"/>
                </a:solidFill>
                <a:latin typeface="Times New Roman"/>
                <a:cs typeface="Times New Roman"/>
              </a:rPr>
              <a:t>rouge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40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35" i="1">
                <a:solidFill>
                  <a:srgbClr val="6A737D"/>
                </a:solidFill>
                <a:latin typeface="Times New Roman"/>
                <a:cs typeface="Times New Roman"/>
              </a:rPr>
              <a:t>L'email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35" i="1">
                <a:solidFill>
                  <a:srgbClr val="6A737D"/>
                </a:solidFill>
                <a:latin typeface="Times New Roman"/>
                <a:cs typeface="Times New Roman"/>
              </a:rPr>
              <a:t>d'un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70" i="1">
                <a:solidFill>
                  <a:srgbClr val="6A737D"/>
                </a:solidFill>
                <a:latin typeface="Times New Roman"/>
                <a:cs typeface="Times New Roman"/>
              </a:rPr>
              <a:t>étudiant</a:t>
            </a:r>
            <a:r>
              <a:rPr dirty="0" sz="17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335" i="1">
                <a:solidFill>
                  <a:srgbClr val="6A737D"/>
                </a:solidFill>
                <a:latin typeface="Times New Roman"/>
                <a:cs typeface="Times New Roman"/>
              </a:rPr>
              <a:t>est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40" i="1">
                <a:solidFill>
                  <a:srgbClr val="6A737D"/>
                </a:solidFill>
                <a:latin typeface="Times New Roman"/>
                <a:cs typeface="Times New Roman"/>
              </a:rPr>
              <a:t>optionnel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600" spc="275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600" spc="10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00" spc="229" b="1">
                <a:solidFill>
                  <a:srgbClr val="D63A49"/>
                </a:solidFill>
                <a:latin typeface="Times New Roman"/>
                <a:cs typeface="Times New Roman"/>
              </a:rPr>
              <a:t>record</a:t>
            </a:r>
            <a:r>
              <a:rPr dirty="0" sz="1600" spc="10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00" spc="325">
                <a:solidFill>
                  <a:srgbClr val="005CC4"/>
                </a:solidFill>
                <a:latin typeface="Times New Roman"/>
                <a:cs typeface="Times New Roman"/>
              </a:rPr>
              <a:t>Etudiant</a:t>
            </a:r>
            <a:r>
              <a:rPr dirty="0" sz="1600" spc="32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600" spc="32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600" spc="10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600" spc="170">
                <a:solidFill>
                  <a:srgbClr val="334054"/>
                </a:solidFill>
                <a:latin typeface="Times New Roman"/>
                <a:cs typeface="Times New Roman"/>
              </a:rPr>
              <a:t>nom,</a:t>
            </a:r>
            <a:r>
              <a:rPr dirty="0" sz="160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275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600" spc="275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600" spc="27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600" spc="275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60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305">
                <a:solidFill>
                  <a:srgbClr val="334054"/>
                </a:solidFill>
                <a:latin typeface="Times New Roman"/>
                <a:cs typeface="Times New Roman"/>
              </a:rPr>
              <a:t>email)</a:t>
            </a:r>
            <a:r>
              <a:rPr dirty="0" sz="160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190">
                <a:solidFill>
                  <a:srgbClr val="334054"/>
                </a:solidFill>
                <a:latin typeface="Times New Roman"/>
                <a:cs typeface="Times New Roman"/>
              </a:rPr>
              <a:t>{}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300">
                <a:solidFill>
                  <a:srgbClr val="005CC4"/>
                </a:solidFill>
                <a:latin typeface="Times New Roman"/>
                <a:cs typeface="Times New Roman"/>
              </a:rPr>
              <a:t>var</a:t>
            </a:r>
            <a:r>
              <a:rPr dirty="0" sz="160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600" spc="330">
                <a:solidFill>
                  <a:srgbClr val="334054"/>
                </a:solidFill>
                <a:latin typeface="Times New Roman"/>
                <a:cs typeface="Times New Roman"/>
              </a:rPr>
              <a:t>etu</a:t>
            </a:r>
            <a:r>
              <a:rPr dirty="0" sz="160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60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65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600" spc="10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00" spc="330">
                <a:solidFill>
                  <a:srgbClr val="005CC4"/>
                </a:solidFill>
                <a:latin typeface="Times New Roman"/>
                <a:cs typeface="Times New Roman"/>
              </a:rPr>
              <a:t>Etudiant</a:t>
            </a:r>
            <a:r>
              <a:rPr dirty="0" sz="1600" spc="33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600" spc="330">
                <a:solidFill>
                  <a:srgbClr val="21863A"/>
                </a:solidFill>
                <a:latin typeface="Times New Roman"/>
                <a:cs typeface="Times New Roman"/>
              </a:rPr>
              <a:t>"Alice"</a:t>
            </a:r>
            <a:r>
              <a:rPr dirty="0" sz="1600" spc="33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60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325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600" spc="32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600" spc="325">
                <a:solidFill>
                  <a:srgbClr val="6F41C1"/>
                </a:solidFill>
                <a:latin typeface="Times New Roman"/>
                <a:cs typeface="Times New Roman"/>
              </a:rPr>
              <a:t>ofNullable</a:t>
            </a:r>
            <a:r>
              <a:rPr dirty="0" sz="1600" spc="32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600" spc="325" b="1">
                <a:solidFill>
                  <a:srgbClr val="D63A49"/>
                </a:solidFill>
                <a:latin typeface="Times New Roman"/>
                <a:cs typeface="Times New Roman"/>
              </a:rPr>
              <a:t>null</a:t>
            </a:r>
            <a:r>
              <a:rPr dirty="0" sz="1600" spc="325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14a.</a:t>
            </a:r>
            <a:r>
              <a:rPr dirty="0" spc="-60"/>
              <a:t> </a:t>
            </a:r>
            <a:r>
              <a:rPr dirty="0" spc="-105"/>
              <a:t>Optional</a:t>
            </a:r>
            <a:r>
              <a:rPr dirty="0" spc="-60"/>
              <a:t> </a:t>
            </a:r>
            <a:r>
              <a:rPr dirty="0" spc="-650"/>
              <a:t>—</a:t>
            </a:r>
            <a:r>
              <a:rPr dirty="0" spc="-55"/>
              <a:t> </a:t>
            </a:r>
            <a:r>
              <a:rPr dirty="0" spc="-85"/>
              <a:t>map</a:t>
            </a:r>
            <a:r>
              <a:rPr dirty="0" spc="-60"/>
              <a:t> </a:t>
            </a:r>
            <a:r>
              <a:rPr dirty="0" spc="-185"/>
              <a:t>&amp;</a:t>
            </a:r>
            <a:r>
              <a:rPr dirty="0" spc="-55"/>
              <a:t> </a:t>
            </a:r>
            <a:r>
              <a:rPr dirty="0" spc="-100"/>
              <a:t>orElseGet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638299" y="1438274"/>
            <a:ext cx="466725" cy="276225"/>
          </a:xfrm>
          <a:custGeom>
            <a:avLst/>
            <a:gdLst/>
            <a:ahLst/>
            <a:cxnLst/>
            <a:rect l="l" t="t" r="r" b="b"/>
            <a:pathLst>
              <a:path w="466725" h="276225">
                <a:moveTo>
                  <a:pt x="433677" y="276224"/>
                </a:moveTo>
                <a:lnTo>
                  <a:pt x="33047" y="276224"/>
                </a:lnTo>
                <a:lnTo>
                  <a:pt x="28187" y="275258"/>
                </a:lnTo>
                <a:lnTo>
                  <a:pt x="966" y="248037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433677" y="0"/>
                </a:lnTo>
                <a:lnTo>
                  <a:pt x="465758" y="28187"/>
                </a:lnTo>
                <a:lnTo>
                  <a:pt x="466724" y="33047"/>
                </a:lnTo>
                <a:lnTo>
                  <a:pt x="466724" y="243177"/>
                </a:lnTo>
                <a:lnTo>
                  <a:pt x="438537" y="275258"/>
                </a:lnTo>
                <a:lnTo>
                  <a:pt x="433677" y="2762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153148" y="1438274"/>
            <a:ext cx="1352550" cy="276225"/>
          </a:xfrm>
          <a:custGeom>
            <a:avLst/>
            <a:gdLst/>
            <a:ahLst/>
            <a:cxnLst/>
            <a:rect l="l" t="t" r="r" b="b"/>
            <a:pathLst>
              <a:path w="1352550" h="276225">
                <a:moveTo>
                  <a:pt x="1319502" y="276224"/>
                </a:moveTo>
                <a:lnTo>
                  <a:pt x="33047" y="276224"/>
                </a:lnTo>
                <a:lnTo>
                  <a:pt x="28187" y="275258"/>
                </a:lnTo>
                <a:lnTo>
                  <a:pt x="966" y="248037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319502" y="0"/>
                </a:lnTo>
                <a:lnTo>
                  <a:pt x="1351583" y="28187"/>
                </a:lnTo>
                <a:lnTo>
                  <a:pt x="1352549" y="33047"/>
                </a:lnTo>
                <a:lnTo>
                  <a:pt x="1352549" y="243177"/>
                </a:lnTo>
                <a:lnTo>
                  <a:pt x="1324362" y="275258"/>
                </a:lnTo>
                <a:lnTo>
                  <a:pt x="1319502" y="2762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686673" y="1438274"/>
            <a:ext cx="1228725" cy="276225"/>
          </a:xfrm>
          <a:custGeom>
            <a:avLst/>
            <a:gdLst/>
            <a:ahLst/>
            <a:cxnLst/>
            <a:rect l="l" t="t" r="r" b="b"/>
            <a:pathLst>
              <a:path w="1228725" h="276225">
                <a:moveTo>
                  <a:pt x="1195676" y="276224"/>
                </a:moveTo>
                <a:lnTo>
                  <a:pt x="33047" y="276224"/>
                </a:lnTo>
                <a:lnTo>
                  <a:pt x="28187" y="275258"/>
                </a:lnTo>
                <a:lnTo>
                  <a:pt x="966" y="248037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95676" y="0"/>
                </a:lnTo>
                <a:lnTo>
                  <a:pt x="1227757" y="28187"/>
                </a:lnTo>
                <a:lnTo>
                  <a:pt x="1228724" y="33047"/>
                </a:lnTo>
                <a:lnTo>
                  <a:pt x="1228724" y="243177"/>
                </a:lnTo>
                <a:lnTo>
                  <a:pt x="1200537" y="275258"/>
                </a:lnTo>
                <a:lnTo>
                  <a:pt x="1195676" y="2762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435863" y="5361432"/>
            <a:ext cx="5633085" cy="859790"/>
            <a:chOff x="435863" y="5361432"/>
            <a:chExt cx="5633085" cy="859790"/>
          </a:xfrm>
        </p:grpSpPr>
        <p:sp>
          <p:nvSpPr>
            <p:cNvPr id="7" name="object 7" descr=""/>
            <p:cNvSpPr/>
            <p:nvPr/>
          </p:nvSpPr>
          <p:spPr>
            <a:xfrm>
              <a:off x="435863" y="5361432"/>
              <a:ext cx="5633085" cy="859790"/>
            </a:xfrm>
            <a:custGeom>
              <a:avLst/>
              <a:gdLst/>
              <a:ahLst/>
              <a:cxnLst/>
              <a:rect l="l" t="t" r="r" b="b"/>
              <a:pathLst>
                <a:path w="5633085" h="859789">
                  <a:moveTo>
                    <a:pt x="5632704" y="859536"/>
                  </a:moveTo>
                  <a:lnTo>
                    <a:pt x="0" y="859536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9242"/>
                  </a:lnTo>
                  <a:lnTo>
                    <a:pt x="97535" y="39242"/>
                  </a:lnTo>
                  <a:lnTo>
                    <a:pt x="88033" y="40114"/>
                  </a:lnTo>
                  <a:lnTo>
                    <a:pt x="53398" y="68584"/>
                  </a:lnTo>
                  <a:lnTo>
                    <a:pt x="49910" y="86867"/>
                  </a:lnTo>
                  <a:lnTo>
                    <a:pt x="49910" y="753617"/>
                  </a:lnTo>
                  <a:lnTo>
                    <a:pt x="71195" y="793396"/>
                  </a:lnTo>
                  <a:lnTo>
                    <a:pt x="97535" y="801242"/>
                  </a:lnTo>
                  <a:lnTo>
                    <a:pt x="5632704" y="801242"/>
                  </a:lnTo>
                  <a:lnTo>
                    <a:pt x="5632704" y="859536"/>
                  </a:lnTo>
                  <a:close/>
                </a:path>
                <a:path w="5633085" h="859789">
                  <a:moveTo>
                    <a:pt x="5632704" y="801242"/>
                  </a:moveTo>
                  <a:lnTo>
                    <a:pt x="5536310" y="801242"/>
                  </a:lnTo>
                  <a:lnTo>
                    <a:pt x="5545812" y="800370"/>
                  </a:lnTo>
                  <a:lnTo>
                    <a:pt x="5554592" y="797755"/>
                  </a:lnTo>
                  <a:lnTo>
                    <a:pt x="5583063" y="763119"/>
                  </a:lnTo>
                  <a:lnTo>
                    <a:pt x="5583935" y="753617"/>
                  </a:lnTo>
                  <a:lnTo>
                    <a:pt x="5583935" y="86867"/>
                  </a:lnTo>
                  <a:lnTo>
                    <a:pt x="5562650" y="47088"/>
                  </a:lnTo>
                  <a:lnTo>
                    <a:pt x="5536310" y="39242"/>
                  </a:lnTo>
                  <a:lnTo>
                    <a:pt x="5632704" y="39242"/>
                  </a:lnTo>
                  <a:lnTo>
                    <a:pt x="5632704" y="80124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0062" y="5391149"/>
              <a:ext cx="5529580" cy="781050"/>
            </a:xfrm>
            <a:custGeom>
              <a:avLst/>
              <a:gdLst/>
              <a:ahLst/>
              <a:cxnLst/>
              <a:rect l="l" t="t" r="r" b="b"/>
              <a:pathLst>
                <a:path w="5529580" h="781050">
                  <a:moveTo>
                    <a:pt x="5475864" y="781049"/>
                  </a:moveTo>
                  <a:lnTo>
                    <a:pt x="28916" y="781049"/>
                  </a:lnTo>
                  <a:lnTo>
                    <a:pt x="845" y="738768"/>
                  </a:lnTo>
                  <a:lnTo>
                    <a:pt x="0" y="731477"/>
                  </a:lnTo>
                  <a:lnTo>
                    <a:pt x="0" y="723899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2"/>
                  </a:lnTo>
                  <a:lnTo>
                    <a:pt x="5529261" y="53397"/>
                  </a:lnTo>
                  <a:lnTo>
                    <a:pt x="5529261" y="727652"/>
                  </a:lnTo>
                  <a:lnTo>
                    <a:pt x="5509869" y="766964"/>
                  </a:lnTo>
                  <a:lnTo>
                    <a:pt x="5479580" y="780683"/>
                  </a:lnTo>
                  <a:lnTo>
                    <a:pt x="5475864" y="7810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6249" y="5391149"/>
              <a:ext cx="54610" cy="781050"/>
            </a:xfrm>
            <a:custGeom>
              <a:avLst/>
              <a:gdLst/>
              <a:ahLst/>
              <a:cxnLst/>
              <a:rect l="l" t="t" r="r" b="b"/>
              <a:pathLst>
                <a:path w="54609" h="781050">
                  <a:moveTo>
                    <a:pt x="54519" y="781049"/>
                  </a:moveTo>
                  <a:lnTo>
                    <a:pt x="49571" y="781049"/>
                  </a:lnTo>
                  <a:lnTo>
                    <a:pt x="42281" y="779598"/>
                  </a:lnTo>
                  <a:lnTo>
                    <a:pt x="7250" y="752771"/>
                  </a:lnTo>
                  <a:lnTo>
                    <a:pt x="0" y="73147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23899"/>
                  </a:lnTo>
                  <a:lnTo>
                    <a:pt x="50414" y="764310"/>
                  </a:lnTo>
                  <a:lnTo>
                    <a:pt x="52274" y="775469"/>
                  </a:lnTo>
                  <a:lnTo>
                    <a:pt x="54519" y="7810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680074"/>
              <a:ext cx="190500" cy="19367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52487" y="5534024"/>
              <a:ext cx="1781175" cy="504825"/>
            </a:xfrm>
            <a:custGeom>
              <a:avLst/>
              <a:gdLst/>
              <a:ahLst/>
              <a:cxnLst/>
              <a:rect l="l" t="t" r="r" b="b"/>
              <a:pathLst>
                <a:path w="1781175" h="504825">
                  <a:moveTo>
                    <a:pt x="1228725" y="309283"/>
                  </a:moveTo>
                  <a:lnTo>
                    <a:pt x="1200543" y="277202"/>
                  </a:lnTo>
                  <a:lnTo>
                    <a:pt x="1195679" y="276225"/>
                  </a:lnTo>
                  <a:lnTo>
                    <a:pt x="33058" y="276225"/>
                  </a:lnTo>
                  <a:lnTo>
                    <a:pt x="977" y="304419"/>
                  </a:lnTo>
                  <a:lnTo>
                    <a:pt x="0" y="309283"/>
                  </a:lnTo>
                  <a:lnTo>
                    <a:pt x="0" y="466725"/>
                  </a:lnTo>
                  <a:lnTo>
                    <a:pt x="0" y="471779"/>
                  </a:lnTo>
                  <a:lnTo>
                    <a:pt x="28194" y="503859"/>
                  </a:lnTo>
                  <a:lnTo>
                    <a:pt x="33058" y="504825"/>
                  </a:lnTo>
                  <a:lnTo>
                    <a:pt x="1195679" y="504825"/>
                  </a:lnTo>
                  <a:lnTo>
                    <a:pt x="1227759" y="476643"/>
                  </a:lnTo>
                  <a:lnTo>
                    <a:pt x="1228725" y="471779"/>
                  </a:lnTo>
                  <a:lnTo>
                    <a:pt x="1228725" y="309283"/>
                  </a:lnTo>
                  <a:close/>
                </a:path>
                <a:path w="1781175" h="504825">
                  <a:moveTo>
                    <a:pt x="1781175" y="33058"/>
                  </a:moveTo>
                  <a:lnTo>
                    <a:pt x="1752993" y="977"/>
                  </a:lnTo>
                  <a:lnTo>
                    <a:pt x="1748129" y="0"/>
                  </a:lnTo>
                  <a:lnTo>
                    <a:pt x="1204633" y="0"/>
                  </a:lnTo>
                  <a:lnTo>
                    <a:pt x="1172552" y="28194"/>
                  </a:lnTo>
                  <a:lnTo>
                    <a:pt x="1171575" y="33058"/>
                  </a:lnTo>
                  <a:lnTo>
                    <a:pt x="1171575" y="190500"/>
                  </a:lnTo>
                  <a:lnTo>
                    <a:pt x="1171575" y="195554"/>
                  </a:lnTo>
                  <a:lnTo>
                    <a:pt x="1199769" y="227634"/>
                  </a:lnTo>
                  <a:lnTo>
                    <a:pt x="1204633" y="228600"/>
                  </a:lnTo>
                  <a:lnTo>
                    <a:pt x="1748129" y="228600"/>
                  </a:lnTo>
                  <a:lnTo>
                    <a:pt x="1780209" y="200418"/>
                  </a:lnTo>
                  <a:lnTo>
                    <a:pt x="1781175" y="195554"/>
                  </a:lnTo>
                  <a:lnTo>
                    <a:pt x="1781175" y="330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39800" y="5441666"/>
            <a:ext cx="4081779" cy="57785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1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1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350" spc="39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53383"/>
                </a:solidFill>
                <a:latin typeface="Monaco"/>
                <a:cs typeface="Monaco"/>
              </a:rPr>
              <a:t>map()</a:t>
            </a:r>
            <a:r>
              <a:rPr dirty="0" sz="1350" spc="-40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350" spc="-1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transformations,</a:t>
            </a:r>
            <a:r>
              <a:rPr dirty="0" sz="1350" spc="-1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pas</a:t>
            </a:r>
            <a:endParaRPr sz="135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555"/>
              </a:spcBef>
            </a:pPr>
            <a:r>
              <a:rPr dirty="0" sz="1350">
                <a:solidFill>
                  <a:srgbClr val="D53383"/>
                </a:solidFill>
                <a:latin typeface="Monaco"/>
                <a:cs typeface="Monaco"/>
              </a:rPr>
              <a:t>isPresent()</a:t>
            </a:r>
            <a:r>
              <a:rPr dirty="0" sz="1350" spc="-434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350" spc="-50">
                <a:solidFill>
                  <a:srgbClr val="13532D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132576" y="5361432"/>
            <a:ext cx="5623560" cy="859790"/>
            <a:chOff x="6132576" y="5361432"/>
            <a:chExt cx="5623560" cy="859790"/>
          </a:xfrm>
        </p:grpSpPr>
        <p:sp>
          <p:nvSpPr>
            <p:cNvPr id="14" name="object 14" descr=""/>
            <p:cNvSpPr/>
            <p:nvPr/>
          </p:nvSpPr>
          <p:spPr>
            <a:xfrm>
              <a:off x="6132576" y="5361432"/>
              <a:ext cx="5623560" cy="859790"/>
            </a:xfrm>
            <a:custGeom>
              <a:avLst/>
              <a:gdLst/>
              <a:ahLst/>
              <a:cxnLst/>
              <a:rect l="l" t="t" r="r" b="b"/>
              <a:pathLst>
                <a:path w="5623559" h="859789">
                  <a:moveTo>
                    <a:pt x="5623560" y="859536"/>
                  </a:moveTo>
                  <a:lnTo>
                    <a:pt x="0" y="859536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9242"/>
                  </a:lnTo>
                  <a:lnTo>
                    <a:pt x="96773" y="39242"/>
                  </a:lnTo>
                  <a:lnTo>
                    <a:pt x="87271" y="40114"/>
                  </a:lnTo>
                  <a:lnTo>
                    <a:pt x="52635" y="68584"/>
                  </a:lnTo>
                  <a:lnTo>
                    <a:pt x="49148" y="86867"/>
                  </a:lnTo>
                  <a:lnTo>
                    <a:pt x="49148" y="753617"/>
                  </a:lnTo>
                  <a:lnTo>
                    <a:pt x="70433" y="793396"/>
                  </a:lnTo>
                  <a:lnTo>
                    <a:pt x="96773" y="801242"/>
                  </a:lnTo>
                  <a:lnTo>
                    <a:pt x="5623560" y="801242"/>
                  </a:lnTo>
                  <a:lnTo>
                    <a:pt x="5623560" y="859536"/>
                  </a:lnTo>
                  <a:close/>
                </a:path>
                <a:path w="5623559" h="859789">
                  <a:moveTo>
                    <a:pt x="5623560" y="801242"/>
                  </a:moveTo>
                  <a:lnTo>
                    <a:pt x="5526023" y="801242"/>
                  </a:lnTo>
                  <a:lnTo>
                    <a:pt x="5535525" y="800370"/>
                  </a:lnTo>
                  <a:lnTo>
                    <a:pt x="5544305" y="797755"/>
                  </a:lnTo>
                  <a:lnTo>
                    <a:pt x="5572776" y="763119"/>
                  </a:lnTo>
                  <a:lnTo>
                    <a:pt x="5573648" y="753617"/>
                  </a:lnTo>
                  <a:lnTo>
                    <a:pt x="5573648" y="86867"/>
                  </a:lnTo>
                  <a:lnTo>
                    <a:pt x="5552363" y="47088"/>
                  </a:lnTo>
                  <a:lnTo>
                    <a:pt x="5526023" y="39242"/>
                  </a:lnTo>
                  <a:lnTo>
                    <a:pt x="5623560" y="39242"/>
                  </a:lnTo>
                  <a:lnTo>
                    <a:pt x="5623560" y="80124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96011" y="5391149"/>
              <a:ext cx="5520055" cy="781050"/>
            </a:xfrm>
            <a:custGeom>
              <a:avLst/>
              <a:gdLst/>
              <a:ahLst/>
              <a:cxnLst/>
              <a:rect l="l" t="t" r="r" b="b"/>
              <a:pathLst>
                <a:path w="5520055" h="781050">
                  <a:moveTo>
                    <a:pt x="5466338" y="781049"/>
                  </a:moveTo>
                  <a:lnTo>
                    <a:pt x="28916" y="781049"/>
                  </a:lnTo>
                  <a:lnTo>
                    <a:pt x="845" y="738768"/>
                  </a:lnTo>
                  <a:lnTo>
                    <a:pt x="0" y="731477"/>
                  </a:lnTo>
                  <a:lnTo>
                    <a:pt x="0" y="723899"/>
                  </a:lnTo>
                  <a:lnTo>
                    <a:pt x="0" y="49570"/>
                  </a:lnTo>
                  <a:lnTo>
                    <a:pt x="12889" y="11378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2"/>
                  </a:lnTo>
                  <a:lnTo>
                    <a:pt x="5519736" y="53397"/>
                  </a:lnTo>
                  <a:lnTo>
                    <a:pt x="5519736" y="727652"/>
                  </a:lnTo>
                  <a:lnTo>
                    <a:pt x="5500342" y="766964"/>
                  </a:lnTo>
                  <a:lnTo>
                    <a:pt x="5470054" y="780683"/>
                  </a:lnTo>
                  <a:lnTo>
                    <a:pt x="5466338" y="7810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172199" y="5391149"/>
              <a:ext cx="54610" cy="781050"/>
            </a:xfrm>
            <a:custGeom>
              <a:avLst/>
              <a:gdLst/>
              <a:ahLst/>
              <a:cxnLst/>
              <a:rect l="l" t="t" r="r" b="b"/>
              <a:pathLst>
                <a:path w="54610" h="781050">
                  <a:moveTo>
                    <a:pt x="54519" y="781049"/>
                  </a:moveTo>
                  <a:lnTo>
                    <a:pt x="49570" y="781049"/>
                  </a:lnTo>
                  <a:lnTo>
                    <a:pt x="42280" y="779598"/>
                  </a:lnTo>
                  <a:lnTo>
                    <a:pt x="7249" y="752771"/>
                  </a:lnTo>
                  <a:lnTo>
                    <a:pt x="0" y="7314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23899"/>
                  </a:lnTo>
                  <a:lnTo>
                    <a:pt x="50414" y="764310"/>
                  </a:lnTo>
                  <a:lnTo>
                    <a:pt x="52274" y="775469"/>
                  </a:lnTo>
                  <a:lnTo>
                    <a:pt x="54519" y="7810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5680074"/>
              <a:ext cx="136525" cy="19367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600812" y="5534024"/>
              <a:ext cx="2609850" cy="504825"/>
            </a:xfrm>
            <a:custGeom>
              <a:avLst/>
              <a:gdLst/>
              <a:ahLst/>
              <a:cxnLst/>
              <a:rect l="l" t="t" r="r" b="b"/>
              <a:pathLst>
                <a:path w="2609850" h="504825">
                  <a:moveTo>
                    <a:pt x="1219200" y="309283"/>
                  </a:moveTo>
                  <a:lnTo>
                    <a:pt x="1191018" y="277202"/>
                  </a:lnTo>
                  <a:lnTo>
                    <a:pt x="1186154" y="276225"/>
                  </a:lnTo>
                  <a:lnTo>
                    <a:pt x="33058" y="276225"/>
                  </a:lnTo>
                  <a:lnTo>
                    <a:pt x="977" y="304419"/>
                  </a:lnTo>
                  <a:lnTo>
                    <a:pt x="0" y="309283"/>
                  </a:lnTo>
                  <a:lnTo>
                    <a:pt x="0" y="466725"/>
                  </a:lnTo>
                  <a:lnTo>
                    <a:pt x="0" y="471779"/>
                  </a:lnTo>
                  <a:lnTo>
                    <a:pt x="28194" y="503859"/>
                  </a:lnTo>
                  <a:lnTo>
                    <a:pt x="33058" y="504825"/>
                  </a:lnTo>
                  <a:lnTo>
                    <a:pt x="1186154" y="504825"/>
                  </a:lnTo>
                  <a:lnTo>
                    <a:pt x="1218234" y="476643"/>
                  </a:lnTo>
                  <a:lnTo>
                    <a:pt x="1219200" y="471779"/>
                  </a:lnTo>
                  <a:lnTo>
                    <a:pt x="1219200" y="309283"/>
                  </a:lnTo>
                  <a:close/>
                </a:path>
                <a:path w="2609850" h="504825">
                  <a:moveTo>
                    <a:pt x="2609850" y="33058"/>
                  </a:moveTo>
                  <a:lnTo>
                    <a:pt x="2581668" y="977"/>
                  </a:lnTo>
                  <a:lnTo>
                    <a:pt x="2576804" y="0"/>
                  </a:lnTo>
                  <a:lnTo>
                    <a:pt x="490258" y="0"/>
                  </a:lnTo>
                  <a:lnTo>
                    <a:pt x="458177" y="28194"/>
                  </a:lnTo>
                  <a:lnTo>
                    <a:pt x="457200" y="33058"/>
                  </a:lnTo>
                  <a:lnTo>
                    <a:pt x="457200" y="190500"/>
                  </a:lnTo>
                  <a:lnTo>
                    <a:pt x="457200" y="195554"/>
                  </a:lnTo>
                  <a:lnTo>
                    <a:pt x="485394" y="227634"/>
                  </a:lnTo>
                  <a:lnTo>
                    <a:pt x="490258" y="228600"/>
                  </a:lnTo>
                  <a:lnTo>
                    <a:pt x="2576804" y="228600"/>
                  </a:lnTo>
                  <a:lnTo>
                    <a:pt x="2608884" y="200418"/>
                  </a:lnTo>
                  <a:lnTo>
                    <a:pt x="2609850" y="195554"/>
                  </a:lnTo>
                  <a:lnTo>
                    <a:pt x="2609850" y="330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583362" y="5441666"/>
            <a:ext cx="4505960" cy="57785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350" spc="-10" b="1">
                <a:solidFill>
                  <a:srgbClr val="1D3A8A"/>
                </a:solidFill>
                <a:latin typeface="Arial"/>
                <a:cs typeface="Arial"/>
              </a:rPr>
              <a:t>Perf</a:t>
            </a:r>
            <a:r>
              <a:rPr dirty="0" sz="1350" spc="-3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50" spc="36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53383"/>
                </a:solidFill>
                <a:latin typeface="Monaco"/>
                <a:cs typeface="Monaco"/>
              </a:rPr>
              <a:t>orElseGet(()</a:t>
            </a:r>
            <a:r>
              <a:rPr dirty="0" sz="1350" spc="30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D53383"/>
                </a:solidFill>
                <a:latin typeface="Monaco"/>
                <a:cs typeface="Monaco"/>
              </a:rPr>
              <a:t>-&gt;</a:t>
            </a:r>
            <a:r>
              <a:rPr dirty="0" sz="1350" spc="30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D53383"/>
                </a:solidFill>
                <a:latin typeface="Monaco"/>
                <a:cs typeface="Monaco"/>
              </a:rPr>
              <a:t>...)</a:t>
            </a:r>
            <a:r>
              <a:rPr dirty="0" sz="1350" spc="-70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est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plus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performant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D3A8A"/>
                </a:solidFill>
                <a:latin typeface="Arial"/>
                <a:cs typeface="Arial"/>
              </a:rPr>
              <a:t>que</a:t>
            </a:r>
            <a:endParaRPr sz="135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555"/>
              </a:spcBef>
            </a:pPr>
            <a:r>
              <a:rPr dirty="0" sz="1350">
                <a:solidFill>
                  <a:srgbClr val="D53383"/>
                </a:solidFill>
                <a:latin typeface="Monaco"/>
                <a:cs typeface="Monaco"/>
              </a:rPr>
              <a:t>orElse(...)</a:t>
            </a:r>
            <a:r>
              <a:rPr dirty="0" sz="1350" spc="-90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pour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les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calculs.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420624" y="2231136"/>
            <a:ext cx="11351260" cy="2585085"/>
            <a:chOff x="420624" y="2231136"/>
            <a:chExt cx="11351260" cy="2585085"/>
          </a:xfrm>
        </p:grpSpPr>
        <p:sp>
          <p:nvSpPr>
            <p:cNvPr id="22" name="object 22" descr=""/>
            <p:cNvSpPr/>
            <p:nvPr/>
          </p:nvSpPr>
          <p:spPr>
            <a:xfrm>
              <a:off x="420624" y="2231136"/>
              <a:ext cx="11351260" cy="2585085"/>
            </a:xfrm>
            <a:custGeom>
              <a:avLst/>
              <a:gdLst/>
              <a:ahLst/>
              <a:cxnLst/>
              <a:rect l="l" t="t" r="r" b="b"/>
              <a:pathLst>
                <a:path w="11351260" h="2585085">
                  <a:moveTo>
                    <a:pt x="11350752" y="2584704"/>
                  </a:moveTo>
                  <a:lnTo>
                    <a:pt x="0" y="2584704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2436113"/>
                  </a:lnTo>
                  <a:lnTo>
                    <a:pt x="76377" y="2473162"/>
                  </a:lnTo>
                  <a:lnTo>
                    <a:pt x="106310" y="2497712"/>
                  </a:lnTo>
                  <a:lnTo>
                    <a:pt x="131825" y="2502788"/>
                  </a:lnTo>
                  <a:lnTo>
                    <a:pt x="11350752" y="2502788"/>
                  </a:lnTo>
                  <a:lnTo>
                    <a:pt x="11350752" y="2584704"/>
                  </a:lnTo>
                  <a:close/>
                </a:path>
                <a:path w="11351260" h="2585085">
                  <a:moveTo>
                    <a:pt x="11350752" y="2502788"/>
                  </a:moveTo>
                  <a:lnTo>
                    <a:pt x="11218925" y="2502788"/>
                  </a:lnTo>
                  <a:lnTo>
                    <a:pt x="11225493" y="2502471"/>
                  </a:lnTo>
                  <a:lnTo>
                    <a:pt x="11231935" y="2501519"/>
                  </a:lnTo>
                  <a:lnTo>
                    <a:pt x="11266071" y="2483259"/>
                  </a:lnTo>
                  <a:lnTo>
                    <a:pt x="11284331" y="2449123"/>
                  </a:lnTo>
                  <a:lnTo>
                    <a:pt x="11285600" y="24361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25027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1012" y="2271712"/>
              <a:ext cx="11229975" cy="2466975"/>
            </a:xfrm>
            <a:custGeom>
              <a:avLst/>
              <a:gdLst/>
              <a:ahLst/>
              <a:cxnLst/>
              <a:rect l="l" t="t" r="r" b="b"/>
              <a:pathLst>
                <a:path w="11229975" h="2466975">
                  <a:moveTo>
                    <a:pt x="11163227" y="2466974"/>
                  </a:moveTo>
                  <a:lnTo>
                    <a:pt x="66746" y="2466974"/>
                  </a:lnTo>
                  <a:lnTo>
                    <a:pt x="62101" y="2466517"/>
                  </a:lnTo>
                  <a:lnTo>
                    <a:pt x="24240" y="2449368"/>
                  </a:lnTo>
                  <a:lnTo>
                    <a:pt x="2287" y="2414074"/>
                  </a:lnTo>
                  <a:lnTo>
                    <a:pt x="0" y="2400227"/>
                  </a:lnTo>
                  <a:lnTo>
                    <a:pt x="0" y="2395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2400227"/>
                  </a:lnTo>
                  <a:lnTo>
                    <a:pt x="11215327" y="2439125"/>
                  </a:lnTo>
                  <a:lnTo>
                    <a:pt x="11181539" y="2463331"/>
                  </a:lnTo>
                  <a:lnTo>
                    <a:pt x="11167872" y="2466517"/>
                  </a:lnTo>
                  <a:lnTo>
                    <a:pt x="11163227" y="2466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1012" y="2271712"/>
              <a:ext cx="11229975" cy="2466975"/>
            </a:xfrm>
            <a:custGeom>
              <a:avLst/>
              <a:gdLst/>
              <a:ahLst/>
              <a:cxnLst/>
              <a:rect l="l" t="t" r="r" b="b"/>
              <a:pathLst>
                <a:path w="11229975" h="2466975">
                  <a:moveTo>
                    <a:pt x="0" y="2395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2395537"/>
                  </a:lnTo>
                  <a:lnTo>
                    <a:pt x="11217932" y="2435225"/>
                  </a:lnTo>
                  <a:lnTo>
                    <a:pt x="11198222" y="2454935"/>
                  </a:lnTo>
                  <a:lnTo>
                    <a:pt x="11194322" y="2457541"/>
                  </a:lnTo>
                  <a:lnTo>
                    <a:pt x="11172472" y="2465601"/>
                  </a:lnTo>
                  <a:lnTo>
                    <a:pt x="11167872" y="2466517"/>
                  </a:lnTo>
                  <a:lnTo>
                    <a:pt x="11163227" y="2466974"/>
                  </a:lnTo>
                  <a:lnTo>
                    <a:pt x="11158536" y="2466974"/>
                  </a:lnTo>
                  <a:lnTo>
                    <a:pt x="71437" y="2466974"/>
                  </a:lnTo>
                  <a:lnTo>
                    <a:pt x="66746" y="2466974"/>
                  </a:lnTo>
                  <a:lnTo>
                    <a:pt x="62101" y="2466517"/>
                  </a:lnTo>
                  <a:lnTo>
                    <a:pt x="57500" y="2465601"/>
                  </a:lnTo>
                  <a:lnTo>
                    <a:pt x="52900" y="2464686"/>
                  </a:lnTo>
                  <a:lnTo>
                    <a:pt x="31748" y="2454935"/>
                  </a:lnTo>
                  <a:lnTo>
                    <a:pt x="27848" y="2452329"/>
                  </a:lnTo>
                  <a:lnTo>
                    <a:pt x="24240" y="2449368"/>
                  </a:lnTo>
                  <a:lnTo>
                    <a:pt x="20923" y="2446051"/>
                  </a:lnTo>
                  <a:lnTo>
                    <a:pt x="17606" y="2442734"/>
                  </a:lnTo>
                  <a:lnTo>
                    <a:pt x="1372" y="2409473"/>
                  </a:lnTo>
                  <a:lnTo>
                    <a:pt x="457" y="2404873"/>
                  </a:lnTo>
                  <a:lnTo>
                    <a:pt x="0" y="2400227"/>
                  </a:lnTo>
                  <a:lnTo>
                    <a:pt x="0" y="2395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463550" y="804691"/>
            <a:ext cx="11216005" cy="3763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Chaîner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opérations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gérer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l'absence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valeur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efficacement.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130"/>
              </a:spcBef>
            </a:pP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La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méthode</a:t>
            </a:r>
            <a:r>
              <a:rPr dirty="0" sz="1700" spc="2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D53383"/>
                </a:solidFill>
                <a:latin typeface="Monaco"/>
                <a:cs typeface="Monaco"/>
              </a:rPr>
              <a:t>map</a:t>
            </a:r>
            <a:r>
              <a:rPr dirty="0" sz="1650" spc="-225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transforme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valeur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elle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existe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(évite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2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D53383"/>
                </a:solidFill>
                <a:latin typeface="Monaco"/>
                <a:cs typeface="Monaco"/>
              </a:rPr>
              <a:t>if</a:t>
            </a:r>
            <a:r>
              <a:rPr dirty="0" sz="1650" spc="-20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D53383"/>
                </a:solidFill>
                <a:latin typeface="Monaco"/>
                <a:cs typeface="Monaco"/>
              </a:rPr>
              <a:t>!=</a:t>
            </a:r>
            <a:r>
              <a:rPr dirty="0" sz="1650" spc="-25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D53383"/>
                </a:solidFill>
                <a:latin typeface="Monaco"/>
                <a:cs typeface="Monaco"/>
              </a:rPr>
              <a:t>null</a:t>
            </a:r>
            <a:r>
              <a:rPr dirty="0" sz="1650" spc="-615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).</a:t>
            </a:r>
            <a:r>
              <a:rPr dirty="0" sz="1700" spc="2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D53383"/>
                </a:solidFill>
                <a:latin typeface="Monaco"/>
                <a:cs typeface="Monaco"/>
              </a:rPr>
              <a:t>orElseGet</a:t>
            </a:r>
            <a:r>
              <a:rPr dirty="0" sz="1650" spc="-229">
                <a:solidFill>
                  <a:srgbClr val="D53383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fournit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valeur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secours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calculée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paresseusement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(uniquement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si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vide).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450" spc="254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450" spc="254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opt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334054"/>
                </a:solidFill>
                <a:latin typeface="Times New Roman"/>
                <a:cs typeface="Times New Roman"/>
              </a:rPr>
              <a:t>etudiant.getEmail();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map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0" i="1">
                <a:solidFill>
                  <a:srgbClr val="6A737D"/>
                </a:solidFill>
                <a:latin typeface="Times New Roman"/>
                <a:cs typeface="Times New Roman"/>
              </a:rPr>
              <a:t>Transforme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(String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75" i="1">
                <a:solidFill>
                  <a:srgbClr val="6A737D"/>
                </a:solidFill>
                <a:latin typeface="Times New Roman"/>
                <a:cs typeface="Times New Roman"/>
              </a:rPr>
              <a:t>-</a:t>
            </a:r>
            <a:r>
              <a:rPr dirty="0" sz="1550" spc="155" i="1">
                <a:solidFill>
                  <a:srgbClr val="6A737D"/>
                </a:solidFill>
                <a:latin typeface="Times New Roman"/>
                <a:cs typeface="Times New Roman"/>
              </a:rPr>
              <a:t>&gt;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String)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SANS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extraire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95" i="1">
                <a:solidFill>
                  <a:srgbClr val="6A737D"/>
                </a:solidFill>
                <a:latin typeface="Times New Roman"/>
                <a:cs typeface="Times New Roman"/>
              </a:rPr>
              <a:t>la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valeur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89"/>
              </a:spcBef>
            </a:pP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res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opt.</a:t>
            </a:r>
            <a:r>
              <a:rPr dirty="0" sz="1450" spc="254">
                <a:solidFill>
                  <a:srgbClr val="6F41C1"/>
                </a:solidFill>
                <a:latin typeface="Times New Roman"/>
                <a:cs typeface="Times New Roman"/>
              </a:rPr>
              <a:t>map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54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::toUpperCase)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09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8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95" i="1">
                <a:solidFill>
                  <a:srgbClr val="6A737D"/>
                </a:solidFill>
                <a:latin typeface="Times New Roman"/>
                <a:cs typeface="Times New Roman"/>
              </a:rPr>
              <a:t>orElseGet</a:t>
            </a:r>
            <a:r>
              <a:rPr dirty="0" sz="1550" spc="48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95" i="1">
                <a:solidFill>
                  <a:srgbClr val="6A737D"/>
                </a:solidFill>
                <a:latin typeface="Times New Roman"/>
                <a:cs typeface="Times New Roman"/>
              </a:rPr>
              <a:t>Exécuté</a:t>
            </a:r>
            <a:r>
              <a:rPr dirty="0" sz="15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-50" i="1">
                <a:solidFill>
                  <a:srgbClr val="6A737D"/>
                </a:solidFill>
                <a:latin typeface="Times New Roman"/>
                <a:cs typeface="Times New Roman"/>
              </a:rPr>
              <a:t>SEULEMENT</a:t>
            </a:r>
            <a:r>
              <a:rPr dirty="0" sz="1550" spc="48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si</a:t>
            </a:r>
            <a:r>
              <a:rPr dirty="0" sz="15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vide</a:t>
            </a:r>
            <a:r>
              <a:rPr dirty="0" sz="15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(Lazy)</a:t>
            </a:r>
            <a:endParaRPr sz="1550">
              <a:latin typeface="Times New Roman"/>
              <a:cs typeface="Times New Roman"/>
            </a:endParaRPr>
          </a:p>
          <a:p>
            <a:pPr marL="1993264">
              <a:lnSpc>
                <a:spcPct val="100000"/>
              </a:lnSpc>
              <a:spcBef>
                <a:spcPts val="290"/>
              </a:spcBef>
            </a:pPr>
            <a:r>
              <a:rPr dirty="0" sz="1450" spc="31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310">
                <a:solidFill>
                  <a:srgbClr val="6F41C1"/>
                </a:solidFill>
                <a:latin typeface="Times New Roman"/>
                <a:cs typeface="Times New Roman"/>
              </a:rPr>
              <a:t>orElseGet</a:t>
            </a:r>
            <a:r>
              <a:rPr dirty="0" sz="1450" spc="310">
                <a:solidFill>
                  <a:srgbClr val="334054"/>
                </a:solidFill>
                <a:latin typeface="Times New Roman"/>
                <a:cs typeface="Times New Roman"/>
              </a:rPr>
              <a:t>(()</a:t>
            </a:r>
            <a:r>
              <a:rPr dirty="0" sz="1450" spc="47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50" spc="415">
                <a:solidFill>
                  <a:srgbClr val="334054"/>
                </a:solidFill>
                <a:latin typeface="Times New Roman"/>
                <a:cs typeface="Times New Roman"/>
              </a:rPr>
              <a:t>-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47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650" spc="-40">
                <a:solidFill>
                  <a:srgbClr val="21863A"/>
                </a:solidFill>
                <a:latin typeface="Times New Roman"/>
                <a:cs typeface="Times New Roman"/>
              </a:rPr>
              <a:t>"GÉNÉRÉ_"</a:t>
            </a:r>
            <a:r>
              <a:rPr dirty="0" sz="1650" spc="425">
                <a:solidFill>
                  <a:srgbClr val="21863A"/>
                </a:solidFill>
                <a:latin typeface="Times New Roman"/>
                <a:cs typeface="Times New Roman"/>
              </a:rPr>
              <a:t>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dirty="0" sz="1450" spc="47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50" spc="275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.currentTimeMillis());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0" i="1">
                <a:solidFill>
                  <a:srgbClr val="6A737D"/>
                </a:solidFill>
                <a:latin typeface="Times New Roman"/>
                <a:cs typeface="Times New Roman"/>
              </a:rPr>
              <a:t>Comparaison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90" i="1">
                <a:solidFill>
                  <a:srgbClr val="6A737D"/>
                </a:solidFill>
                <a:latin typeface="Times New Roman"/>
                <a:cs typeface="Times New Roman"/>
              </a:rPr>
              <a:t>orElse(new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Lourd())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créerait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45" i="1">
                <a:solidFill>
                  <a:srgbClr val="6A737D"/>
                </a:solidFill>
                <a:latin typeface="Times New Roman"/>
                <a:cs typeface="Times New Roman"/>
              </a:rPr>
              <a:t>l'objet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0" i="1">
                <a:solidFill>
                  <a:srgbClr val="6A737D"/>
                </a:solidFill>
                <a:latin typeface="Times New Roman"/>
                <a:cs typeface="Times New Roman"/>
              </a:rPr>
              <a:t>inutilement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0" i="1">
                <a:solidFill>
                  <a:srgbClr val="6A737D"/>
                </a:solidFill>
                <a:latin typeface="Times New Roman"/>
                <a:cs typeface="Times New Roman"/>
              </a:rPr>
              <a:t>!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00149"/>
            <a:ext cx="12192000" cy="28575"/>
          </a:xfrm>
          <a:custGeom>
            <a:avLst/>
            <a:gdLst/>
            <a:ahLst/>
            <a:cxnLst/>
            <a:rect l="l" t="t" r="r" b="b"/>
            <a:pathLst>
              <a:path w="12192000" h="28575">
                <a:moveTo>
                  <a:pt x="12191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8574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14b.</a:t>
            </a:r>
            <a:r>
              <a:rPr dirty="0" spc="-45"/>
              <a:t> </a:t>
            </a:r>
            <a:r>
              <a:rPr dirty="0" spc="-105"/>
              <a:t>Optional</a:t>
            </a:r>
            <a:r>
              <a:rPr dirty="0" spc="-45"/>
              <a:t> </a:t>
            </a:r>
            <a:r>
              <a:rPr dirty="0" spc="-650"/>
              <a:t>—</a:t>
            </a:r>
            <a:r>
              <a:rPr dirty="0" spc="-45"/>
              <a:t> </a:t>
            </a:r>
            <a:r>
              <a:rPr dirty="0" spc="-114"/>
              <a:t>orElseThrow</a:t>
            </a:r>
            <a:r>
              <a:rPr dirty="0" spc="-45"/>
              <a:t> </a:t>
            </a:r>
            <a:r>
              <a:rPr dirty="0" spc="-120"/>
              <a:t>+</a:t>
            </a:r>
            <a:r>
              <a:rPr dirty="0" spc="-40"/>
              <a:t> </a:t>
            </a:r>
            <a:r>
              <a:rPr dirty="0" spc="-25"/>
              <a:t>anti-</a:t>
            </a:r>
            <a:r>
              <a:rPr dirty="0" spc="-45"/>
              <a:t>patterns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63550" y="806450"/>
            <a:ext cx="57130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64738B"/>
                </a:solidFill>
                <a:latin typeface="Arial"/>
                <a:cs typeface="Arial"/>
              </a:rPr>
              <a:t>Gérer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l'absence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valeur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manière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explicite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éviter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pièges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courants.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8500" y="1733550"/>
            <a:ext cx="228600" cy="2286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8500" y="3333750"/>
            <a:ext cx="228600" cy="22860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565800" y="1682750"/>
            <a:ext cx="4917440" cy="2904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D293B"/>
                </a:solidFill>
                <a:latin typeface="Arial"/>
                <a:cs typeface="Arial"/>
              </a:rPr>
              <a:t>orElseThrow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775"/>
              </a:spcBef>
            </a:pP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Alternative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465469"/>
                </a:solidFill>
                <a:latin typeface="Arial"/>
                <a:cs typeface="Arial"/>
              </a:rPr>
              <a:t>sûre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65469"/>
                </a:solidFill>
                <a:latin typeface="Monaco"/>
                <a:cs typeface="Monaco"/>
              </a:rPr>
              <a:t>get()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.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Permet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de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transformer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une 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absence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valeur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en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une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exception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métier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explicite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plutôt </a:t>
            </a:r>
            <a:r>
              <a:rPr dirty="0" sz="1550" spc="-40">
                <a:solidFill>
                  <a:srgbClr val="465469"/>
                </a:solidFill>
                <a:latin typeface="Arial"/>
                <a:cs typeface="Arial"/>
              </a:rPr>
              <a:t>qu'une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erreur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465469"/>
                </a:solidFill>
                <a:latin typeface="Arial"/>
                <a:cs typeface="Arial"/>
              </a:rPr>
              <a:t>générique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incompréhensible.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965"/>
              </a:spcBef>
            </a:pPr>
            <a:r>
              <a:rPr dirty="0" sz="1800" spc="-35" b="1">
                <a:solidFill>
                  <a:srgbClr val="1D293B"/>
                </a:solidFill>
                <a:latin typeface="Arial"/>
                <a:cs typeface="Arial"/>
              </a:rPr>
              <a:t>Anti-</a:t>
            </a:r>
            <a:r>
              <a:rPr dirty="0" sz="1800" spc="-45" b="1">
                <a:solidFill>
                  <a:srgbClr val="1D293B"/>
                </a:solidFill>
                <a:latin typeface="Arial"/>
                <a:cs typeface="Arial"/>
              </a:rPr>
              <a:t>patterns</a:t>
            </a:r>
            <a:r>
              <a:rPr dirty="0" sz="1800" spc="-20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D293B"/>
                </a:solidFill>
                <a:latin typeface="Arial"/>
                <a:cs typeface="Arial"/>
              </a:rPr>
              <a:t>majeurs</a:t>
            </a:r>
            <a:endParaRPr sz="1800">
              <a:latin typeface="Arial"/>
              <a:cs typeface="Arial"/>
            </a:endParaRPr>
          </a:p>
          <a:p>
            <a:pPr marL="217170" indent="-205104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217804" algn="l"/>
              </a:tabLst>
            </a:pP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Jamais</a:t>
            </a:r>
            <a:r>
              <a:rPr dirty="0" sz="1550" spc="-10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d'appel</a:t>
            </a:r>
            <a:r>
              <a:rPr dirty="0" sz="1550" spc="-7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direct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à </a:t>
            </a:r>
            <a:r>
              <a:rPr dirty="0" sz="1500">
                <a:solidFill>
                  <a:srgbClr val="465469"/>
                </a:solidFill>
                <a:latin typeface="Monaco"/>
                <a:cs typeface="Monaco"/>
              </a:rPr>
              <a:t>get()</a:t>
            </a:r>
            <a:r>
              <a:rPr dirty="0" sz="1500" spc="-53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sans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465469"/>
                </a:solidFill>
                <a:latin typeface="Monaco"/>
                <a:cs typeface="Monaco"/>
              </a:rPr>
              <a:t>isPresent()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  <a:p>
            <a:pPr marL="12700" marR="23495" indent="205104">
              <a:lnSpc>
                <a:spcPct val="129000"/>
              </a:lnSpc>
              <a:buSzPct val="106896"/>
              <a:buFont typeface="Arial"/>
              <a:buAutoNum type="arabicPeriod"/>
              <a:tabLst>
                <a:tab pos="217804" algn="l"/>
              </a:tabLst>
            </a:pPr>
            <a:r>
              <a:rPr dirty="0" sz="1450" b="1">
                <a:solidFill>
                  <a:srgbClr val="465469"/>
                </a:solidFill>
                <a:latin typeface="Arial"/>
                <a:cs typeface="Arial"/>
              </a:rPr>
              <a:t>Jamais</a:t>
            </a:r>
            <a:r>
              <a:rPr dirty="0" sz="1450" spc="-3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d'</a:t>
            </a:r>
            <a:r>
              <a:rPr dirty="0" sz="1500" spc="-10">
                <a:solidFill>
                  <a:srgbClr val="465469"/>
                </a:solidFill>
                <a:latin typeface="Monaco"/>
                <a:cs typeface="Monaco"/>
              </a:rPr>
              <a:t>Optional</a:t>
            </a:r>
            <a:r>
              <a:rPr dirty="0" sz="1500" spc="-52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en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attribut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classe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paramètre (non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sérialisable,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coûteux).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35863" y="5209032"/>
            <a:ext cx="5605780" cy="917575"/>
            <a:chOff x="435863" y="5209032"/>
            <a:chExt cx="5605780" cy="917575"/>
          </a:xfrm>
        </p:grpSpPr>
        <p:sp>
          <p:nvSpPr>
            <p:cNvPr id="9" name="object 9" descr=""/>
            <p:cNvSpPr/>
            <p:nvPr/>
          </p:nvSpPr>
          <p:spPr>
            <a:xfrm>
              <a:off x="435863" y="5209032"/>
              <a:ext cx="5605780" cy="917575"/>
            </a:xfrm>
            <a:custGeom>
              <a:avLst/>
              <a:gdLst/>
              <a:ahLst/>
              <a:cxnLst/>
              <a:rect l="l" t="t" r="r" b="b"/>
              <a:pathLst>
                <a:path w="5605780" h="917575">
                  <a:moveTo>
                    <a:pt x="5605272" y="917448"/>
                  </a:moveTo>
                  <a:lnTo>
                    <a:pt x="0" y="917448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9242"/>
                  </a:lnTo>
                  <a:lnTo>
                    <a:pt x="97535" y="39242"/>
                  </a:lnTo>
                  <a:lnTo>
                    <a:pt x="88033" y="40114"/>
                  </a:lnTo>
                  <a:lnTo>
                    <a:pt x="53398" y="68584"/>
                  </a:lnTo>
                  <a:lnTo>
                    <a:pt x="49910" y="86867"/>
                  </a:lnTo>
                  <a:lnTo>
                    <a:pt x="49910" y="810767"/>
                  </a:lnTo>
                  <a:lnTo>
                    <a:pt x="71195" y="850545"/>
                  </a:lnTo>
                  <a:lnTo>
                    <a:pt x="97535" y="858392"/>
                  </a:lnTo>
                  <a:lnTo>
                    <a:pt x="5605272" y="858392"/>
                  </a:lnTo>
                  <a:lnTo>
                    <a:pt x="5605272" y="917448"/>
                  </a:lnTo>
                  <a:close/>
                </a:path>
                <a:path w="5605780" h="917575">
                  <a:moveTo>
                    <a:pt x="5605272" y="858392"/>
                  </a:moveTo>
                  <a:lnTo>
                    <a:pt x="5507735" y="858392"/>
                  </a:lnTo>
                  <a:lnTo>
                    <a:pt x="5517237" y="857520"/>
                  </a:lnTo>
                  <a:lnTo>
                    <a:pt x="5526017" y="854905"/>
                  </a:lnTo>
                  <a:lnTo>
                    <a:pt x="5554488" y="820269"/>
                  </a:lnTo>
                  <a:lnTo>
                    <a:pt x="5555360" y="810767"/>
                  </a:lnTo>
                  <a:lnTo>
                    <a:pt x="5555360" y="86867"/>
                  </a:lnTo>
                  <a:lnTo>
                    <a:pt x="5534075" y="47088"/>
                  </a:lnTo>
                  <a:lnTo>
                    <a:pt x="5507735" y="39242"/>
                  </a:lnTo>
                  <a:lnTo>
                    <a:pt x="5605272" y="39242"/>
                  </a:lnTo>
                  <a:lnTo>
                    <a:pt x="5605272" y="85839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0062" y="5238749"/>
              <a:ext cx="5501005" cy="838200"/>
            </a:xfrm>
            <a:custGeom>
              <a:avLst/>
              <a:gdLst/>
              <a:ahLst/>
              <a:cxnLst/>
              <a:rect l="l" t="t" r="r" b="b"/>
              <a:pathLst>
                <a:path w="5501005" h="838200">
                  <a:moveTo>
                    <a:pt x="5447289" y="838199"/>
                  </a:moveTo>
                  <a:lnTo>
                    <a:pt x="28916" y="838199"/>
                  </a:lnTo>
                  <a:lnTo>
                    <a:pt x="24664" y="836749"/>
                  </a:lnTo>
                  <a:lnTo>
                    <a:pt x="845" y="795918"/>
                  </a:lnTo>
                  <a:lnTo>
                    <a:pt x="0" y="788627"/>
                  </a:lnTo>
                  <a:lnTo>
                    <a:pt x="0" y="78104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9" y="0"/>
                  </a:lnTo>
                  <a:lnTo>
                    <a:pt x="5486601" y="19391"/>
                  </a:lnTo>
                  <a:lnTo>
                    <a:pt x="5500687" y="53397"/>
                  </a:lnTo>
                  <a:lnTo>
                    <a:pt x="5500687" y="784802"/>
                  </a:lnTo>
                  <a:lnTo>
                    <a:pt x="5481294" y="824114"/>
                  </a:lnTo>
                  <a:lnTo>
                    <a:pt x="5451005" y="837833"/>
                  </a:lnTo>
                  <a:lnTo>
                    <a:pt x="5447289" y="8381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6249" y="5238749"/>
              <a:ext cx="54610" cy="838200"/>
            </a:xfrm>
            <a:custGeom>
              <a:avLst/>
              <a:gdLst/>
              <a:ahLst/>
              <a:cxnLst/>
              <a:rect l="l" t="t" r="r" b="b"/>
              <a:pathLst>
                <a:path w="54609" h="838200">
                  <a:moveTo>
                    <a:pt x="54519" y="838199"/>
                  </a:moveTo>
                  <a:lnTo>
                    <a:pt x="49571" y="838199"/>
                  </a:lnTo>
                  <a:lnTo>
                    <a:pt x="42281" y="836749"/>
                  </a:lnTo>
                  <a:lnTo>
                    <a:pt x="7250" y="809920"/>
                  </a:lnTo>
                  <a:lnTo>
                    <a:pt x="0" y="78862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81049"/>
                  </a:lnTo>
                  <a:lnTo>
                    <a:pt x="50414" y="821460"/>
                  </a:lnTo>
                  <a:lnTo>
                    <a:pt x="52274" y="832619"/>
                  </a:lnTo>
                  <a:lnTo>
                    <a:pt x="54519" y="8381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199" y="5562599"/>
              <a:ext cx="215900" cy="18732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054100" y="5317388"/>
            <a:ext cx="3728720" cy="57848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50" spc="-30" b="1">
                <a:solidFill>
                  <a:srgbClr val="991B1B"/>
                </a:solidFill>
                <a:latin typeface="Arial"/>
                <a:cs typeface="Arial"/>
              </a:rPr>
              <a:t>Piège</a:t>
            </a:r>
            <a:r>
              <a:rPr dirty="0" sz="1350" spc="-40" b="1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991B1B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91B1B"/>
                </a:solidFill>
                <a:latin typeface="Monaco"/>
                <a:cs typeface="Monaco"/>
              </a:rPr>
              <a:t>Optional.get()</a:t>
            </a:r>
            <a:r>
              <a:rPr dirty="0" sz="1350" spc="-475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dirty="0" sz="1350" spc="-20">
                <a:solidFill>
                  <a:srgbClr val="991B1B"/>
                </a:solidFill>
                <a:latin typeface="Arial"/>
                <a:cs typeface="Arial"/>
              </a:rPr>
              <a:t>recrée</a:t>
            </a:r>
            <a:r>
              <a:rPr dirty="0" sz="1350" spc="-4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91B1B"/>
                </a:solidFill>
                <a:latin typeface="Arial"/>
                <a:cs typeface="Arial"/>
              </a:rPr>
              <a:t>le</a:t>
            </a:r>
            <a:r>
              <a:rPr dirty="0" sz="1350" spc="-45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91B1B"/>
                </a:solidFill>
                <a:latin typeface="Arial"/>
                <a:cs typeface="Arial"/>
              </a:rPr>
              <a:t>problème</a:t>
            </a:r>
            <a:r>
              <a:rPr dirty="0" sz="1350" spc="-4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991B1B"/>
                </a:solidFill>
                <a:latin typeface="Arial"/>
                <a:cs typeface="Arial"/>
              </a:rPr>
              <a:t>du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>
                <a:solidFill>
                  <a:srgbClr val="991B1B"/>
                </a:solidFill>
                <a:latin typeface="Monaco"/>
                <a:cs typeface="Monaco"/>
              </a:rPr>
              <a:t>NullPointerException</a:t>
            </a:r>
            <a:r>
              <a:rPr dirty="0" sz="1350" spc="-475">
                <a:solidFill>
                  <a:srgbClr val="991B1B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991B1B"/>
                </a:solidFill>
                <a:latin typeface="Arial"/>
                <a:cs typeface="Arial"/>
              </a:rPr>
              <a:t>sous</a:t>
            </a:r>
            <a:r>
              <a:rPr dirty="0" sz="1350" spc="-4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91B1B"/>
                </a:solidFill>
                <a:latin typeface="Arial"/>
                <a:cs typeface="Arial"/>
              </a:rPr>
              <a:t>un</a:t>
            </a:r>
            <a:r>
              <a:rPr dirty="0" sz="1350" spc="-4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991B1B"/>
                </a:solidFill>
                <a:latin typeface="Arial"/>
                <a:cs typeface="Arial"/>
              </a:rPr>
              <a:t>autre</a:t>
            </a:r>
            <a:r>
              <a:rPr dirty="0" sz="1350" spc="-40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991B1B"/>
                </a:solidFill>
                <a:latin typeface="Arial"/>
                <a:cs typeface="Arial"/>
              </a:rPr>
              <a:t>nom.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150864" y="5209032"/>
            <a:ext cx="5605780" cy="917575"/>
            <a:chOff x="6150864" y="5209032"/>
            <a:chExt cx="5605780" cy="917575"/>
          </a:xfrm>
        </p:grpSpPr>
        <p:sp>
          <p:nvSpPr>
            <p:cNvPr id="15" name="object 15" descr=""/>
            <p:cNvSpPr/>
            <p:nvPr/>
          </p:nvSpPr>
          <p:spPr>
            <a:xfrm>
              <a:off x="6150864" y="5209032"/>
              <a:ext cx="5605780" cy="917575"/>
            </a:xfrm>
            <a:custGeom>
              <a:avLst/>
              <a:gdLst/>
              <a:ahLst/>
              <a:cxnLst/>
              <a:rect l="l" t="t" r="r" b="b"/>
              <a:pathLst>
                <a:path w="5605780" h="917575">
                  <a:moveTo>
                    <a:pt x="5605272" y="917448"/>
                  </a:moveTo>
                  <a:lnTo>
                    <a:pt x="0" y="917448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9242"/>
                  </a:lnTo>
                  <a:lnTo>
                    <a:pt x="97535" y="39242"/>
                  </a:lnTo>
                  <a:lnTo>
                    <a:pt x="88033" y="40114"/>
                  </a:lnTo>
                  <a:lnTo>
                    <a:pt x="53397" y="68584"/>
                  </a:lnTo>
                  <a:lnTo>
                    <a:pt x="49910" y="86867"/>
                  </a:lnTo>
                  <a:lnTo>
                    <a:pt x="49910" y="810767"/>
                  </a:lnTo>
                  <a:lnTo>
                    <a:pt x="71195" y="850545"/>
                  </a:lnTo>
                  <a:lnTo>
                    <a:pt x="97535" y="858392"/>
                  </a:lnTo>
                  <a:lnTo>
                    <a:pt x="5605272" y="858392"/>
                  </a:lnTo>
                  <a:lnTo>
                    <a:pt x="5605272" y="917448"/>
                  </a:lnTo>
                  <a:close/>
                </a:path>
                <a:path w="5605780" h="917575">
                  <a:moveTo>
                    <a:pt x="5605272" y="858392"/>
                  </a:moveTo>
                  <a:lnTo>
                    <a:pt x="5507735" y="858392"/>
                  </a:lnTo>
                  <a:lnTo>
                    <a:pt x="5517237" y="857520"/>
                  </a:lnTo>
                  <a:lnTo>
                    <a:pt x="5526017" y="854905"/>
                  </a:lnTo>
                  <a:lnTo>
                    <a:pt x="5554488" y="820269"/>
                  </a:lnTo>
                  <a:lnTo>
                    <a:pt x="5555360" y="810767"/>
                  </a:lnTo>
                  <a:lnTo>
                    <a:pt x="5555360" y="86867"/>
                  </a:lnTo>
                  <a:lnTo>
                    <a:pt x="5534075" y="47088"/>
                  </a:lnTo>
                  <a:lnTo>
                    <a:pt x="5507735" y="39242"/>
                  </a:lnTo>
                  <a:lnTo>
                    <a:pt x="5605272" y="39242"/>
                  </a:lnTo>
                  <a:lnTo>
                    <a:pt x="5605272" y="85839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15061" y="5238749"/>
              <a:ext cx="5501005" cy="838200"/>
            </a:xfrm>
            <a:custGeom>
              <a:avLst/>
              <a:gdLst/>
              <a:ahLst/>
              <a:cxnLst/>
              <a:rect l="l" t="t" r="r" b="b"/>
              <a:pathLst>
                <a:path w="5501005" h="838200">
                  <a:moveTo>
                    <a:pt x="5447288" y="838199"/>
                  </a:moveTo>
                  <a:lnTo>
                    <a:pt x="28916" y="838199"/>
                  </a:lnTo>
                  <a:lnTo>
                    <a:pt x="24664" y="836749"/>
                  </a:lnTo>
                  <a:lnTo>
                    <a:pt x="845" y="795918"/>
                  </a:lnTo>
                  <a:lnTo>
                    <a:pt x="0" y="788627"/>
                  </a:lnTo>
                  <a:lnTo>
                    <a:pt x="0" y="78104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8" y="0"/>
                  </a:lnTo>
                  <a:lnTo>
                    <a:pt x="5486601" y="19391"/>
                  </a:lnTo>
                  <a:lnTo>
                    <a:pt x="5500686" y="53397"/>
                  </a:lnTo>
                  <a:lnTo>
                    <a:pt x="5500686" y="784802"/>
                  </a:lnTo>
                  <a:lnTo>
                    <a:pt x="5481292" y="824114"/>
                  </a:lnTo>
                  <a:lnTo>
                    <a:pt x="5451004" y="837833"/>
                  </a:lnTo>
                  <a:lnTo>
                    <a:pt x="5447288" y="8381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91249" y="5238749"/>
              <a:ext cx="54610" cy="838200"/>
            </a:xfrm>
            <a:custGeom>
              <a:avLst/>
              <a:gdLst/>
              <a:ahLst/>
              <a:cxnLst/>
              <a:rect l="l" t="t" r="r" b="b"/>
              <a:pathLst>
                <a:path w="54610" h="838200">
                  <a:moveTo>
                    <a:pt x="54519" y="838199"/>
                  </a:moveTo>
                  <a:lnTo>
                    <a:pt x="49570" y="838199"/>
                  </a:lnTo>
                  <a:lnTo>
                    <a:pt x="42280" y="836749"/>
                  </a:lnTo>
                  <a:lnTo>
                    <a:pt x="7249" y="809920"/>
                  </a:lnTo>
                  <a:lnTo>
                    <a:pt x="0" y="78862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81049"/>
                  </a:lnTo>
                  <a:lnTo>
                    <a:pt x="50414" y="821460"/>
                  </a:lnTo>
                  <a:lnTo>
                    <a:pt x="52274" y="832619"/>
                  </a:lnTo>
                  <a:lnTo>
                    <a:pt x="54519" y="8381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5724" y="5549899"/>
              <a:ext cx="146050" cy="212725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6716712" y="5327014"/>
            <a:ext cx="479552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Utilisez</a:t>
            </a:r>
            <a:r>
              <a:rPr dirty="0" sz="1350" spc="-2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Courier New"/>
                <a:cs typeface="Courier New"/>
              </a:rPr>
              <a:t>Optional</a:t>
            </a:r>
            <a:r>
              <a:rPr dirty="0" sz="1350" spc="-465">
                <a:solidFill>
                  <a:srgbClr val="1D3A8A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uniquement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comme</a:t>
            </a:r>
            <a:r>
              <a:rPr dirty="0" sz="1350" spc="-3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type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de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3A8A"/>
                </a:solidFill>
                <a:latin typeface="Arial"/>
                <a:cs typeface="Arial"/>
              </a:rPr>
              <a:t>retour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de</a:t>
            </a:r>
            <a:r>
              <a:rPr dirty="0" sz="1350" spc="-8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méthode.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420624" y="1478280"/>
            <a:ext cx="5834380" cy="2844165"/>
            <a:chOff x="420624" y="1478280"/>
            <a:chExt cx="5834380" cy="2844165"/>
          </a:xfrm>
        </p:grpSpPr>
        <p:sp>
          <p:nvSpPr>
            <p:cNvPr id="22" name="object 22" descr=""/>
            <p:cNvSpPr/>
            <p:nvPr/>
          </p:nvSpPr>
          <p:spPr>
            <a:xfrm>
              <a:off x="420624" y="1478280"/>
              <a:ext cx="5834380" cy="2844165"/>
            </a:xfrm>
            <a:custGeom>
              <a:avLst/>
              <a:gdLst/>
              <a:ahLst/>
              <a:cxnLst/>
              <a:rect l="l" t="t" r="r" b="b"/>
              <a:pathLst>
                <a:path w="5834380" h="2844165">
                  <a:moveTo>
                    <a:pt x="5833872" y="2843784"/>
                  </a:moveTo>
                  <a:lnTo>
                    <a:pt x="0" y="2843784"/>
                  </a:lnTo>
                  <a:lnTo>
                    <a:pt x="0" y="0"/>
                  </a:lnTo>
                  <a:lnTo>
                    <a:pt x="5833872" y="0"/>
                  </a:lnTo>
                  <a:lnTo>
                    <a:pt x="5833872" y="45719"/>
                  </a:lnTo>
                  <a:lnTo>
                    <a:pt x="131825" y="45719"/>
                  </a:lnTo>
                  <a:lnTo>
                    <a:pt x="125257" y="46037"/>
                  </a:lnTo>
                  <a:lnTo>
                    <a:pt x="89548" y="60828"/>
                  </a:lnTo>
                  <a:lnTo>
                    <a:pt x="68005" y="93068"/>
                  </a:lnTo>
                  <a:lnTo>
                    <a:pt x="65150" y="112394"/>
                  </a:lnTo>
                  <a:lnTo>
                    <a:pt x="65150" y="2693669"/>
                  </a:lnTo>
                  <a:lnTo>
                    <a:pt x="76377" y="2730718"/>
                  </a:lnTo>
                  <a:lnTo>
                    <a:pt x="106310" y="2755268"/>
                  </a:lnTo>
                  <a:lnTo>
                    <a:pt x="131825" y="2760344"/>
                  </a:lnTo>
                  <a:lnTo>
                    <a:pt x="5833872" y="2760344"/>
                  </a:lnTo>
                  <a:lnTo>
                    <a:pt x="5833872" y="2843784"/>
                  </a:lnTo>
                  <a:close/>
                </a:path>
                <a:path w="5834380" h="2844165">
                  <a:moveTo>
                    <a:pt x="5833872" y="2760344"/>
                  </a:moveTo>
                  <a:lnTo>
                    <a:pt x="5703950" y="2760344"/>
                  </a:lnTo>
                  <a:lnTo>
                    <a:pt x="5710518" y="2760027"/>
                  </a:lnTo>
                  <a:lnTo>
                    <a:pt x="5716960" y="2759075"/>
                  </a:lnTo>
                  <a:lnTo>
                    <a:pt x="5751096" y="2740815"/>
                  </a:lnTo>
                  <a:lnTo>
                    <a:pt x="5769356" y="2706679"/>
                  </a:lnTo>
                  <a:lnTo>
                    <a:pt x="5770625" y="2693669"/>
                  </a:lnTo>
                  <a:lnTo>
                    <a:pt x="5770625" y="112394"/>
                  </a:lnTo>
                  <a:lnTo>
                    <a:pt x="5759398" y="75344"/>
                  </a:lnTo>
                  <a:lnTo>
                    <a:pt x="5729465" y="50795"/>
                  </a:lnTo>
                  <a:lnTo>
                    <a:pt x="5703950" y="45719"/>
                  </a:lnTo>
                  <a:lnTo>
                    <a:pt x="5833872" y="45719"/>
                  </a:lnTo>
                  <a:lnTo>
                    <a:pt x="5833872" y="276034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1012" y="1519237"/>
              <a:ext cx="5715000" cy="2724150"/>
            </a:xfrm>
            <a:custGeom>
              <a:avLst/>
              <a:gdLst/>
              <a:ahLst/>
              <a:cxnLst/>
              <a:rect l="l" t="t" r="r" b="b"/>
              <a:pathLst>
                <a:path w="5715000" h="2724150">
                  <a:moveTo>
                    <a:pt x="5648252" y="2724149"/>
                  </a:moveTo>
                  <a:lnTo>
                    <a:pt x="66746" y="2724149"/>
                  </a:lnTo>
                  <a:lnTo>
                    <a:pt x="62101" y="2723691"/>
                  </a:lnTo>
                  <a:lnTo>
                    <a:pt x="24240" y="2706542"/>
                  </a:lnTo>
                  <a:lnTo>
                    <a:pt x="2287" y="2671248"/>
                  </a:lnTo>
                  <a:lnTo>
                    <a:pt x="0" y="2657402"/>
                  </a:lnTo>
                  <a:lnTo>
                    <a:pt x="0" y="26527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648252" y="0"/>
                  </a:lnTo>
                  <a:lnTo>
                    <a:pt x="5687149" y="14645"/>
                  </a:lnTo>
                  <a:lnTo>
                    <a:pt x="5711356" y="48433"/>
                  </a:lnTo>
                  <a:lnTo>
                    <a:pt x="5714998" y="66746"/>
                  </a:lnTo>
                  <a:lnTo>
                    <a:pt x="5714998" y="2657402"/>
                  </a:lnTo>
                  <a:lnTo>
                    <a:pt x="5700352" y="2696300"/>
                  </a:lnTo>
                  <a:lnTo>
                    <a:pt x="5666565" y="2720506"/>
                  </a:lnTo>
                  <a:lnTo>
                    <a:pt x="5652897" y="2723691"/>
                  </a:lnTo>
                  <a:lnTo>
                    <a:pt x="5648252" y="2724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1012" y="1519237"/>
              <a:ext cx="5715000" cy="2724150"/>
            </a:xfrm>
            <a:custGeom>
              <a:avLst/>
              <a:gdLst/>
              <a:ahLst/>
              <a:cxnLst/>
              <a:rect l="l" t="t" r="r" b="b"/>
              <a:pathLst>
                <a:path w="5715000" h="2724150">
                  <a:moveTo>
                    <a:pt x="0" y="26527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643562" y="0"/>
                  </a:lnTo>
                  <a:lnTo>
                    <a:pt x="5648252" y="0"/>
                  </a:lnTo>
                  <a:lnTo>
                    <a:pt x="5652897" y="457"/>
                  </a:lnTo>
                  <a:lnTo>
                    <a:pt x="5657497" y="1372"/>
                  </a:lnTo>
                  <a:lnTo>
                    <a:pt x="5662098" y="2287"/>
                  </a:lnTo>
                  <a:lnTo>
                    <a:pt x="5666565" y="3642"/>
                  </a:lnTo>
                  <a:lnTo>
                    <a:pt x="5670898" y="5437"/>
                  </a:lnTo>
                  <a:lnTo>
                    <a:pt x="5675232" y="7232"/>
                  </a:lnTo>
                  <a:lnTo>
                    <a:pt x="5679349" y="9433"/>
                  </a:lnTo>
                  <a:lnTo>
                    <a:pt x="5683249" y="12039"/>
                  </a:lnTo>
                  <a:lnTo>
                    <a:pt x="5687149" y="14645"/>
                  </a:lnTo>
                  <a:lnTo>
                    <a:pt x="5711356" y="48433"/>
                  </a:lnTo>
                  <a:lnTo>
                    <a:pt x="5713626" y="57500"/>
                  </a:lnTo>
                  <a:lnTo>
                    <a:pt x="5714541" y="62101"/>
                  </a:lnTo>
                  <a:lnTo>
                    <a:pt x="5714998" y="66746"/>
                  </a:lnTo>
                  <a:lnTo>
                    <a:pt x="5714999" y="71437"/>
                  </a:lnTo>
                  <a:lnTo>
                    <a:pt x="5714999" y="2652712"/>
                  </a:lnTo>
                  <a:lnTo>
                    <a:pt x="5702958" y="2692400"/>
                  </a:lnTo>
                  <a:lnTo>
                    <a:pt x="5683249" y="2712109"/>
                  </a:lnTo>
                  <a:lnTo>
                    <a:pt x="5679349" y="2714715"/>
                  </a:lnTo>
                  <a:lnTo>
                    <a:pt x="5675232" y="2716916"/>
                  </a:lnTo>
                  <a:lnTo>
                    <a:pt x="5670898" y="2718711"/>
                  </a:lnTo>
                  <a:lnTo>
                    <a:pt x="5666565" y="2720506"/>
                  </a:lnTo>
                  <a:lnTo>
                    <a:pt x="5662098" y="2721861"/>
                  </a:lnTo>
                  <a:lnTo>
                    <a:pt x="5657497" y="2722776"/>
                  </a:lnTo>
                  <a:lnTo>
                    <a:pt x="5652897" y="2723691"/>
                  </a:lnTo>
                  <a:lnTo>
                    <a:pt x="5648252" y="2724149"/>
                  </a:lnTo>
                  <a:lnTo>
                    <a:pt x="5643562" y="2724149"/>
                  </a:lnTo>
                  <a:lnTo>
                    <a:pt x="71437" y="2724149"/>
                  </a:lnTo>
                  <a:lnTo>
                    <a:pt x="66746" y="2724149"/>
                  </a:lnTo>
                  <a:lnTo>
                    <a:pt x="62101" y="2723691"/>
                  </a:lnTo>
                  <a:lnTo>
                    <a:pt x="57500" y="2722776"/>
                  </a:lnTo>
                  <a:lnTo>
                    <a:pt x="52900" y="2721861"/>
                  </a:lnTo>
                  <a:lnTo>
                    <a:pt x="48433" y="2720506"/>
                  </a:lnTo>
                  <a:lnTo>
                    <a:pt x="44099" y="2718711"/>
                  </a:lnTo>
                  <a:lnTo>
                    <a:pt x="39765" y="2716916"/>
                  </a:lnTo>
                  <a:lnTo>
                    <a:pt x="35649" y="2714715"/>
                  </a:lnTo>
                  <a:lnTo>
                    <a:pt x="31748" y="2712109"/>
                  </a:lnTo>
                  <a:lnTo>
                    <a:pt x="27848" y="2709503"/>
                  </a:lnTo>
                  <a:lnTo>
                    <a:pt x="3642" y="2675715"/>
                  </a:lnTo>
                  <a:lnTo>
                    <a:pt x="1372" y="2666648"/>
                  </a:lnTo>
                  <a:lnTo>
                    <a:pt x="457" y="2662048"/>
                  </a:lnTo>
                  <a:lnTo>
                    <a:pt x="0" y="2657402"/>
                  </a:lnTo>
                  <a:lnTo>
                    <a:pt x="0" y="2652712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63574" y="1626615"/>
            <a:ext cx="5346700" cy="240347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650" spc="39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29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95" i="1">
                <a:solidFill>
                  <a:srgbClr val="6A737D"/>
                </a:solidFill>
                <a:latin typeface="Times New Roman"/>
                <a:cs typeface="Times New Roman"/>
              </a:rPr>
              <a:t>Lever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55" i="1">
                <a:solidFill>
                  <a:srgbClr val="6A737D"/>
                </a:solidFill>
                <a:latin typeface="Times New Roman"/>
                <a:cs typeface="Times New Roman"/>
              </a:rPr>
              <a:t>une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45" i="1">
                <a:solidFill>
                  <a:srgbClr val="6A737D"/>
                </a:solidFill>
                <a:latin typeface="Times New Roman"/>
                <a:cs typeface="Times New Roman"/>
              </a:rPr>
              <a:t>exception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si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30" i="1">
                <a:solidFill>
                  <a:srgbClr val="6A737D"/>
                </a:solidFill>
                <a:latin typeface="Times New Roman"/>
                <a:cs typeface="Times New Roman"/>
              </a:rPr>
              <a:t>absent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80" i="1">
                <a:solidFill>
                  <a:srgbClr val="6A737D"/>
                </a:solidFill>
                <a:latin typeface="Times New Roman"/>
                <a:cs typeface="Times New Roman"/>
              </a:rPr>
              <a:t>(Safe)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15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350" spc="425">
                <a:solidFill>
                  <a:srgbClr val="005CC4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4054"/>
                </a:solidFill>
                <a:latin typeface="Times New Roman"/>
                <a:cs typeface="Times New Roman"/>
              </a:rPr>
              <a:t>m</a:t>
            </a:r>
            <a:r>
              <a:rPr dirty="0" sz="1400" spc="43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43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00" spc="254">
                <a:solidFill>
                  <a:srgbClr val="334054"/>
                </a:solidFill>
                <a:latin typeface="Times New Roman"/>
                <a:cs typeface="Times New Roman"/>
              </a:rPr>
              <a:t>repo.findById(id)</a:t>
            </a:r>
            <a:endParaRPr sz="1400">
              <a:latin typeface="Times New Roman"/>
              <a:cs typeface="Times New Roman"/>
            </a:endParaRPr>
          </a:p>
          <a:p>
            <a:pPr marL="447040">
              <a:lnSpc>
                <a:spcPct val="100000"/>
              </a:lnSpc>
              <a:spcBef>
                <a:spcPts val="420"/>
              </a:spcBef>
            </a:pPr>
            <a:r>
              <a:rPr dirty="0" sz="1400" spc="26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265">
                <a:solidFill>
                  <a:srgbClr val="785CA2"/>
                </a:solidFill>
                <a:latin typeface="Times New Roman"/>
                <a:cs typeface="Times New Roman"/>
              </a:rPr>
              <a:t>orElseThrow</a:t>
            </a:r>
            <a:r>
              <a:rPr dirty="0" sz="1400" spc="265">
                <a:solidFill>
                  <a:srgbClr val="334054"/>
                </a:solidFill>
                <a:latin typeface="Times New Roman"/>
                <a:cs typeface="Times New Roman"/>
              </a:rPr>
              <a:t>(()</a:t>
            </a:r>
            <a:r>
              <a:rPr dirty="0" sz="14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385">
                <a:solidFill>
                  <a:srgbClr val="334054"/>
                </a:solidFill>
                <a:latin typeface="Times New Roman"/>
                <a:cs typeface="Times New Roman"/>
              </a:rPr>
              <a:t>-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00" spc="7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00" spc="105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300" spc="10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200">
                <a:solidFill>
                  <a:srgbClr val="005CC4"/>
                </a:solidFill>
                <a:latin typeface="Times New Roman"/>
                <a:cs typeface="Times New Roman"/>
              </a:rPr>
              <a:t>ModuleNotFoundEx</a:t>
            </a:r>
            <a:r>
              <a:rPr dirty="0" sz="1400" spc="200">
                <a:solidFill>
                  <a:srgbClr val="334054"/>
                </a:solidFill>
                <a:latin typeface="Times New Roman"/>
                <a:cs typeface="Times New Roman"/>
              </a:rPr>
              <a:t>(id));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50" spc="39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650" spc="2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29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i="1">
                <a:solidFill>
                  <a:srgbClr val="6A737D"/>
                </a:solidFill>
                <a:latin typeface="Times New Roman"/>
                <a:cs typeface="Times New Roman"/>
              </a:rPr>
              <a:t>À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-65" i="1">
                <a:solidFill>
                  <a:srgbClr val="6A737D"/>
                </a:solidFill>
                <a:latin typeface="Times New Roman"/>
                <a:cs typeface="Times New Roman"/>
              </a:rPr>
              <a:t>NE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i="1">
                <a:solidFill>
                  <a:srgbClr val="6A737D"/>
                </a:solidFill>
                <a:latin typeface="Times New Roman"/>
                <a:cs typeface="Times New Roman"/>
              </a:rPr>
              <a:t>PAS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-10" i="1">
                <a:solidFill>
                  <a:srgbClr val="6A737D"/>
                </a:solidFill>
                <a:latin typeface="Times New Roman"/>
                <a:cs typeface="Times New Roman"/>
              </a:rPr>
              <a:t>FAIRE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04" i="1">
                <a:solidFill>
                  <a:srgbClr val="6A737D"/>
                </a:solidFill>
                <a:latin typeface="Times New Roman"/>
                <a:cs typeface="Times New Roman"/>
              </a:rPr>
              <a:t>(Anti-</a:t>
            </a:r>
            <a:r>
              <a:rPr dirty="0" sz="1650" spc="185" i="1">
                <a:solidFill>
                  <a:srgbClr val="6A737D"/>
                </a:solidFill>
                <a:latin typeface="Times New Roman"/>
                <a:cs typeface="Times New Roman"/>
              </a:rPr>
              <a:t>pattern)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700" spc="15">
                <a:solidFill>
                  <a:srgbClr val="6A737D"/>
                </a:solidFill>
                <a:latin typeface="Apple Color Emoji"/>
                <a:cs typeface="Apple Color Emoji"/>
              </a:rPr>
              <a:t>❌</a:t>
            </a:r>
            <a:endParaRPr sz="1700">
              <a:latin typeface="Apple Color Emoji"/>
              <a:cs typeface="Apple Color Emoj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350" spc="190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400" spc="19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350" spc="19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00" spc="19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254">
                <a:solidFill>
                  <a:srgbClr val="334054"/>
                </a:solidFill>
                <a:latin typeface="Times New Roman"/>
                <a:cs typeface="Times New Roman"/>
              </a:rPr>
              <a:t>opt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270">
                <a:solidFill>
                  <a:srgbClr val="334054"/>
                </a:solidFill>
                <a:latin typeface="Times New Roman"/>
                <a:cs typeface="Times New Roman"/>
              </a:rPr>
              <a:t>repo.findById(id);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50" spc="39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650" spc="44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00" i="1">
                <a:solidFill>
                  <a:srgbClr val="6A737D"/>
                </a:solidFill>
                <a:latin typeface="Times New Roman"/>
                <a:cs typeface="Times New Roman"/>
              </a:rPr>
              <a:t>Risque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70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70" i="1">
                <a:solidFill>
                  <a:srgbClr val="6A737D"/>
                </a:solidFill>
                <a:latin typeface="Times New Roman"/>
                <a:cs typeface="Times New Roman"/>
              </a:rPr>
              <a:t>NoSuchElementException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50" i="1">
                <a:solidFill>
                  <a:srgbClr val="6A737D"/>
                </a:solidFill>
                <a:latin typeface="Times New Roman"/>
                <a:cs typeface="Times New Roman"/>
              </a:rPr>
              <a:t>!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15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350" spc="425">
                <a:solidFill>
                  <a:srgbClr val="005CC4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34054"/>
                </a:solidFill>
                <a:latin typeface="Times New Roman"/>
                <a:cs typeface="Times New Roman"/>
              </a:rPr>
              <a:t>m</a:t>
            </a:r>
            <a:r>
              <a:rPr dirty="0" sz="1400" spc="43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43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00" spc="325">
                <a:solidFill>
                  <a:srgbClr val="CB2431"/>
                </a:solidFill>
                <a:latin typeface="Times New Roman"/>
                <a:cs typeface="Times New Roman"/>
              </a:rPr>
              <a:t>opt.get()</a:t>
            </a:r>
            <a:r>
              <a:rPr dirty="0" sz="1400" spc="325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870918" y="3914774"/>
            <a:ext cx="977900" cy="9525"/>
          </a:xfrm>
          <a:custGeom>
            <a:avLst/>
            <a:gdLst/>
            <a:ahLst/>
            <a:cxnLst/>
            <a:rect l="l" t="t" r="r" b="b"/>
            <a:pathLst>
              <a:path w="977900" h="9525">
                <a:moveTo>
                  <a:pt x="977354" y="9524"/>
                </a:moveTo>
                <a:lnTo>
                  <a:pt x="0" y="9524"/>
                </a:lnTo>
                <a:lnTo>
                  <a:pt x="0" y="0"/>
                </a:lnTo>
                <a:lnTo>
                  <a:pt x="977354" y="0"/>
                </a:lnTo>
                <a:lnTo>
                  <a:pt x="977354" y="9524"/>
                </a:lnTo>
                <a:close/>
              </a:path>
            </a:pathLst>
          </a:custGeom>
          <a:solidFill>
            <a:srgbClr val="CB2431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16.</a:t>
            </a:r>
            <a:r>
              <a:rPr dirty="0" spc="-60"/>
              <a:t> </a:t>
            </a:r>
            <a:r>
              <a:rPr dirty="0" spc="-105"/>
              <a:t>Objects</a:t>
            </a:r>
            <a:r>
              <a:rPr dirty="0" spc="-60"/>
              <a:t> </a:t>
            </a:r>
            <a:r>
              <a:rPr dirty="0" spc="-650"/>
              <a:t>—</a:t>
            </a:r>
            <a:r>
              <a:rPr dirty="0" spc="-55"/>
              <a:t> </a:t>
            </a:r>
            <a:r>
              <a:rPr dirty="0" spc="-85"/>
              <a:t>requireNonNull</a:t>
            </a:r>
            <a:r>
              <a:rPr dirty="0" spc="-60"/>
              <a:t> </a:t>
            </a:r>
            <a:r>
              <a:rPr dirty="0"/>
              <a:t>et</a:t>
            </a:r>
            <a:r>
              <a:rPr dirty="0" spc="-60"/>
              <a:t> equals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6019800"/>
            <a:ext cx="5633085" cy="501650"/>
            <a:chOff x="435863" y="6019800"/>
            <a:chExt cx="5633085" cy="50165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6019800"/>
              <a:ext cx="5633085" cy="438150"/>
            </a:xfrm>
            <a:custGeom>
              <a:avLst/>
              <a:gdLst/>
              <a:ahLst/>
              <a:cxnLst/>
              <a:rect l="l" t="t" r="r" b="b"/>
              <a:pathLst>
                <a:path w="5633085" h="438150">
                  <a:moveTo>
                    <a:pt x="49910" y="438149"/>
                  </a:moveTo>
                  <a:lnTo>
                    <a:pt x="0" y="438149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438149"/>
                  </a:lnTo>
                  <a:close/>
                </a:path>
                <a:path w="5633085" h="438150">
                  <a:moveTo>
                    <a:pt x="5632704" y="438149"/>
                  </a:moveTo>
                  <a:lnTo>
                    <a:pt x="5583935" y="438149"/>
                  </a:lnTo>
                  <a:lnTo>
                    <a:pt x="5583935" y="85724"/>
                  </a:lnTo>
                  <a:lnTo>
                    <a:pt x="5583063" y="76222"/>
                  </a:lnTo>
                  <a:lnTo>
                    <a:pt x="5554592" y="41586"/>
                  </a:lnTo>
                  <a:lnTo>
                    <a:pt x="5536310" y="38099"/>
                  </a:lnTo>
                  <a:lnTo>
                    <a:pt x="5632704" y="38099"/>
                  </a:lnTo>
                  <a:lnTo>
                    <a:pt x="5632704" y="4381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6048374"/>
              <a:ext cx="5529580" cy="409575"/>
            </a:xfrm>
            <a:custGeom>
              <a:avLst/>
              <a:gdLst/>
              <a:ahLst/>
              <a:cxnLst/>
              <a:rect l="l" t="t" r="r" b="b"/>
              <a:pathLst>
                <a:path w="5529580" h="409575">
                  <a:moveTo>
                    <a:pt x="5529262" y="409575"/>
                  </a:moveTo>
                  <a:lnTo>
                    <a:pt x="0" y="409575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2" y="40957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6048374"/>
              <a:ext cx="54610" cy="409575"/>
            </a:xfrm>
            <a:custGeom>
              <a:avLst/>
              <a:gdLst/>
              <a:ahLst/>
              <a:cxnLst/>
              <a:rect l="l" t="t" r="r" b="b"/>
              <a:pathLst>
                <a:path w="54609" h="409575">
                  <a:moveTo>
                    <a:pt x="47624" y="409574"/>
                  </a:moveTo>
                  <a:lnTo>
                    <a:pt x="0" y="409574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0957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32777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6168940"/>
            <a:ext cx="42144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2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2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requireNonNull</a:t>
            </a:r>
            <a:r>
              <a:rPr dirty="0" sz="1350" spc="-45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valider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tous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 les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6019800"/>
            <a:ext cx="5623560" cy="501650"/>
            <a:chOff x="6132576" y="6019800"/>
            <a:chExt cx="5623560" cy="501650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6019800"/>
              <a:ext cx="5623560" cy="438150"/>
            </a:xfrm>
            <a:custGeom>
              <a:avLst/>
              <a:gdLst/>
              <a:ahLst/>
              <a:cxnLst/>
              <a:rect l="l" t="t" r="r" b="b"/>
              <a:pathLst>
                <a:path w="5623559" h="438150">
                  <a:moveTo>
                    <a:pt x="49148" y="438149"/>
                  </a:moveTo>
                  <a:lnTo>
                    <a:pt x="0" y="438149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099"/>
                  </a:lnTo>
                  <a:lnTo>
                    <a:pt x="96773" y="38099"/>
                  </a:lnTo>
                  <a:lnTo>
                    <a:pt x="87271" y="38971"/>
                  </a:lnTo>
                  <a:lnTo>
                    <a:pt x="52635" y="67441"/>
                  </a:lnTo>
                  <a:lnTo>
                    <a:pt x="49148" y="85724"/>
                  </a:lnTo>
                  <a:lnTo>
                    <a:pt x="49148" y="438149"/>
                  </a:lnTo>
                  <a:close/>
                </a:path>
                <a:path w="5623559" h="438150">
                  <a:moveTo>
                    <a:pt x="5623560" y="438149"/>
                  </a:moveTo>
                  <a:lnTo>
                    <a:pt x="5573648" y="438149"/>
                  </a:lnTo>
                  <a:lnTo>
                    <a:pt x="5573648" y="85724"/>
                  </a:lnTo>
                  <a:lnTo>
                    <a:pt x="5572776" y="76222"/>
                  </a:lnTo>
                  <a:lnTo>
                    <a:pt x="5544305" y="41586"/>
                  </a:lnTo>
                  <a:lnTo>
                    <a:pt x="5526023" y="38099"/>
                  </a:lnTo>
                  <a:lnTo>
                    <a:pt x="5623560" y="38099"/>
                  </a:lnTo>
                  <a:lnTo>
                    <a:pt x="5623560" y="4381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6048374"/>
              <a:ext cx="5520055" cy="409575"/>
            </a:xfrm>
            <a:custGeom>
              <a:avLst/>
              <a:gdLst/>
              <a:ahLst/>
              <a:cxnLst/>
              <a:rect l="l" t="t" r="r" b="b"/>
              <a:pathLst>
                <a:path w="5520055" h="409575">
                  <a:moveTo>
                    <a:pt x="5519737" y="409575"/>
                  </a:moveTo>
                  <a:lnTo>
                    <a:pt x="0" y="409575"/>
                  </a:lnTo>
                  <a:lnTo>
                    <a:pt x="0" y="49570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7" y="40957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6048374"/>
              <a:ext cx="54610" cy="409575"/>
            </a:xfrm>
            <a:custGeom>
              <a:avLst/>
              <a:gdLst/>
              <a:ahLst/>
              <a:cxnLst/>
              <a:rect l="l" t="t" r="r" b="b"/>
              <a:pathLst>
                <a:path w="54610" h="409575">
                  <a:moveTo>
                    <a:pt x="47624" y="409574"/>
                  </a:moveTo>
                  <a:lnTo>
                    <a:pt x="0" y="40957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095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6327774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6169024"/>
            <a:ext cx="44246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2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Objects.equals(null,</a:t>
            </a:r>
            <a:r>
              <a:rPr dirty="0" sz="1350" spc="10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null)</a:t>
            </a:r>
            <a:r>
              <a:rPr dirty="0" sz="1350" spc="-470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00">
                <a:solidFill>
                  <a:srgbClr val="1D3A8A"/>
                </a:solidFill>
                <a:latin typeface="Arial"/>
                <a:cs typeface="Arial"/>
              </a:rPr>
              <a:t>renvoie</a:t>
            </a:r>
            <a:r>
              <a:rPr dirty="0" sz="1300" spc="-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Monaco"/>
                <a:cs typeface="Monaco"/>
              </a:rPr>
              <a:t>true</a:t>
            </a:r>
            <a:endParaRPr sz="1350">
              <a:latin typeface="Monaco"/>
              <a:cs typeface="Monac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49424"/>
            <a:ext cx="12192000" cy="4608830"/>
            <a:chOff x="0" y="2249424"/>
            <a:chExt cx="12192000" cy="4608830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400050"/>
            </a:xfrm>
            <a:custGeom>
              <a:avLst/>
              <a:gdLst/>
              <a:ahLst/>
              <a:cxnLst/>
              <a:rect l="l" t="t" r="r" b="b"/>
              <a:pathLst>
                <a:path w="12192000" h="400050">
                  <a:moveTo>
                    <a:pt x="12191999" y="400049"/>
                  </a:moveTo>
                  <a:lnTo>
                    <a:pt x="0" y="4000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0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20624" y="2249424"/>
              <a:ext cx="11351260" cy="3731260"/>
            </a:xfrm>
            <a:custGeom>
              <a:avLst/>
              <a:gdLst/>
              <a:ahLst/>
              <a:cxnLst/>
              <a:rect l="l" t="t" r="r" b="b"/>
              <a:pathLst>
                <a:path w="11351260" h="3731260">
                  <a:moveTo>
                    <a:pt x="11350752" y="3730752"/>
                  </a:moveTo>
                  <a:lnTo>
                    <a:pt x="0" y="3730752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3579875"/>
                  </a:lnTo>
                  <a:lnTo>
                    <a:pt x="76377" y="3616924"/>
                  </a:lnTo>
                  <a:lnTo>
                    <a:pt x="106310" y="3641474"/>
                  </a:lnTo>
                  <a:lnTo>
                    <a:pt x="131825" y="3646550"/>
                  </a:lnTo>
                  <a:lnTo>
                    <a:pt x="11350752" y="3646550"/>
                  </a:lnTo>
                  <a:lnTo>
                    <a:pt x="11350752" y="3730752"/>
                  </a:lnTo>
                  <a:close/>
                </a:path>
                <a:path w="11351260" h="3731260">
                  <a:moveTo>
                    <a:pt x="11350752" y="3646550"/>
                  </a:moveTo>
                  <a:lnTo>
                    <a:pt x="11218925" y="3646550"/>
                  </a:lnTo>
                  <a:lnTo>
                    <a:pt x="11225493" y="3646233"/>
                  </a:lnTo>
                  <a:lnTo>
                    <a:pt x="11231935" y="3645281"/>
                  </a:lnTo>
                  <a:lnTo>
                    <a:pt x="11266071" y="3627021"/>
                  </a:lnTo>
                  <a:lnTo>
                    <a:pt x="11284331" y="3592885"/>
                  </a:lnTo>
                  <a:lnTo>
                    <a:pt x="11285600" y="357987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364655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3609975"/>
            </a:xfrm>
            <a:custGeom>
              <a:avLst/>
              <a:gdLst/>
              <a:ahLst/>
              <a:cxnLst/>
              <a:rect l="l" t="t" r="r" b="b"/>
              <a:pathLst>
                <a:path w="11229975" h="3609975">
                  <a:moveTo>
                    <a:pt x="11163227" y="3609974"/>
                  </a:moveTo>
                  <a:lnTo>
                    <a:pt x="66746" y="3609974"/>
                  </a:lnTo>
                  <a:lnTo>
                    <a:pt x="62101" y="3609516"/>
                  </a:lnTo>
                  <a:lnTo>
                    <a:pt x="24240" y="3592367"/>
                  </a:lnTo>
                  <a:lnTo>
                    <a:pt x="2287" y="3557073"/>
                  </a:lnTo>
                  <a:lnTo>
                    <a:pt x="0" y="3543228"/>
                  </a:lnTo>
                  <a:lnTo>
                    <a:pt x="0" y="3538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543228"/>
                  </a:lnTo>
                  <a:lnTo>
                    <a:pt x="11215327" y="3582125"/>
                  </a:lnTo>
                  <a:lnTo>
                    <a:pt x="11181539" y="3606330"/>
                  </a:lnTo>
                  <a:lnTo>
                    <a:pt x="11167872" y="3609516"/>
                  </a:lnTo>
                  <a:lnTo>
                    <a:pt x="11163227" y="3609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1012" y="2290762"/>
              <a:ext cx="11229975" cy="3609975"/>
            </a:xfrm>
            <a:custGeom>
              <a:avLst/>
              <a:gdLst/>
              <a:ahLst/>
              <a:cxnLst/>
              <a:rect l="l" t="t" r="r" b="b"/>
              <a:pathLst>
                <a:path w="11229975" h="3609975">
                  <a:moveTo>
                    <a:pt x="0" y="3538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538537"/>
                  </a:lnTo>
                  <a:lnTo>
                    <a:pt x="11229972" y="3543228"/>
                  </a:lnTo>
                  <a:lnTo>
                    <a:pt x="11229514" y="3547873"/>
                  </a:lnTo>
                  <a:lnTo>
                    <a:pt x="11228599" y="3552473"/>
                  </a:lnTo>
                  <a:lnTo>
                    <a:pt x="11227684" y="3557073"/>
                  </a:lnTo>
                  <a:lnTo>
                    <a:pt x="11205732" y="3592367"/>
                  </a:lnTo>
                  <a:lnTo>
                    <a:pt x="11198222" y="3597933"/>
                  </a:lnTo>
                  <a:lnTo>
                    <a:pt x="11194322" y="3600539"/>
                  </a:lnTo>
                  <a:lnTo>
                    <a:pt x="11190206" y="3602740"/>
                  </a:lnTo>
                  <a:lnTo>
                    <a:pt x="11185873" y="3604535"/>
                  </a:lnTo>
                  <a:lnTo>
                    <a:pt x="11181539" y="3606330"/>
                  </a:lnTo>
                  <a:lnTo>
                    <a:pt x="11177072" y="3607685"/>
                  </a:lnTo>
                  <a:lnTo>
                    <a:pt x="11172472" y="3608600"/>
                  </a:lnTo>
                  <a:lnTo>
                    <a:pt x="11167872" y="3609516"/>
                  </a:lnTo>
                  <a:lnTo>
                    <a:pt x="11163227" y="3609974"/>
                  </a:lnTo>
                  <a:lnTo>
                    <a:pt x="11158536" y="3609974"/>
                  </a:lnTo>
                  <a:lnTo>
                    <a:pt x="71437" y="3609974"/>
                  </a:lnTo>
                  <a:lnTo>
                    <a:pt x="66746" y="3609974"/>
                  </a:lnTo>
                  <a:lnTo>
                    <a:pt x="62101" y="3609516"/>
                  </a:lnTo>
                  <a:lnTo>
                    <a:pt x="57500" y="3608600"/>
                  </a:lnTo>
                  <a:lnTo>
                    <a:pt x="52900" y="3607685"/>
                  </a:lnTo>
                  <a:lnTo>
                    <a:pt x="48433" y="3606330"/>
                  </a:lnTo>
                  <a:lnTo>
                    <a:pt x="44099" y="3604535"/>
                  </a:lnTo>
                  <a:lnTo>
                    <a:pt x="39765" y="3602740"/>
                  </a:lnTo>
                  <a:lnTo>
                    <a:pt x="35649" y="3600539"/>
                  </a:lnTo>
                  <a:lnTo>
                    <a:pt x="31748" y="3597933"/>
                  </a:lnTo>
                  <a:lnTo>
                    <a:pt x="27848" y="3595328"/>
                  </a:lnTo>
                  <a:lnTo>
                    <a:pt x="24240" y="3592367"/>
                  </a:lnTo>
                  <a:lnTo>
                    <a:pt x="20923" y="3589050"/>
                  </a:lnTo>
                  <a:lnTo>
                    <a:pt x="17606" y="3585733"/>
                  </a:lnTo>
                  <a:lnTo>
                    <a:pt x="1372" y="3552473"/>
                  </a:lnTo>
                  <a:lnTo>
                    <a:pt x="457" y="3547873"/>
                  </a:lnTo>
                  <a:lnTo>
                    <a:pt x="0" y="3543228"/>
                  </a:lnTo>
                  <a:lnTo>
                    <a:pt x="0" y="3538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63550" y="797492"/>
            <a:ext cx="11202670" cy="2472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Validation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défensive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comparaisons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sécurisées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(null-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safe).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000"/>
              </a:spcBef>
            </a:pP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La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classe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utilitaire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java.util.Objects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(depuis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7)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standardise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gestion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références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nulles.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Elle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remplace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les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vérifications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if</a:t>
            </a:r>
            <a:r>
              <a:rPr dirty="0" sz="1650" spc="1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(x</a:t>
            </a:r>
            <a:r>
              <a:rPr dirty="0" sz="1650" spc="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==</a:t>
            </a:r>
            <a:r>
              <a:rPr dirty="0" sz="1650" spc="1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null)</a:t>
            </a:r>
            <a:r>
              <a:rPr dirty="0" sz="1650" spc="-58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verbeuses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sujettes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aux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erreurs.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29" b="1">
                <a:solidFill>
                  <a:srgbClr val="D63A49"/>
                </a:solidFill>
                <a:latin typeface="Times New Roman"/>
                <a:cs typeface="Times New Roman"/>
              </a:rPr>
              <a:t>void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00">
                <a:solidFill>
                  <a:srgbClr val="334054"/>
                </a:solidFill>
                <a:latin typeface="Times New Roman"/>
                <a:cs typeface="Times New Roman"/>
              </a:rPr>
              <a:t>setEtudiant(</a:t>
            </a:r>
            <a:r>
              <a:rPr dirty="0" sz="1450" spc="300">
                <a:solidFill>
                  <a:srgbClr val="005CC4"/>
                </a:solidFill>
                <a:latin typeface="Times New Roman"/>
                <a:cs typeface="Times New Roman"/>
              </a:rPr>
              <a:t>Etudiant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e)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16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7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6A737D"/>
                </a:solidFill>
                <a:latin typeface="Apple Color Emoji"/>
                <a:cs typeface="Apple Color Emoji"/>
              </a:rPr>
              <a:t>✅</a:t>
            </a:r>
            <a:r>
              <a:rPr dirty="0" sz="1800" spc="-900">
                <a:solidFill>
                  <a:srgbClr val="6A737D"/>
                </a:solidFill>
                <a:latin typeface="Apple Color Emoji"/>
                <a:cs typeface="Apple Color Emoji"/>
              </a:rPr>
              <a:t> </a:t>
            </a:r>
            <a:r>
              <a:rPr dirty="0" sz="1550" spc="240" i="1">
                <a:solidFill>
                  <a:srgbClr val="6A737D"/>
                </a:solidFill>
                <a:latin typeface="Times New Roman"/>
                <a:cs typeface="Times New Roman"/>
              </a:rPr>
              <a:t>Validation</a:t>
            </a:r>
            <a:r>
              <a:rPr dirty="0" sz="155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lance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NPE</a:t>
            </a:r>
            <a:r>
              <a:rPr dirty="0" sz="155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85" i="1">
                <a:solidFill>
                  <a:srgbClr val="6A737D"/>
                </a:solidFill>
                <a:latin typeface="Times New Roman"/>
                <a:cs typeface="Times New Roman"/>
              </a:rPr>
              <a:t>avec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45" i="1">
                <a:solidFill>
                  <a:srgbClr val="6A737D"/>
                </a:solidFill>
                <a:latin typeface="Times New Roman"/>
                <a:cs typeface="Times New Roman"/>
              </a:rPr>
              <a:t>message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10" i="1">
                <a:solidFill>
                  <a:srgbClr val="6A737D"/>
                </a:solidFill>
                <a:latin typeface="Times New Roman"/>
                <a:cs typeface="Times New Roman"/>
              </a:rPr>
              <a:t>clair</a:t>
            </a:r>
            <a:r>
              <a:rPr dirty="0" sz="155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si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70" i="1">
                <a:solidFill>
                  <a:srgbClr val="6A737D"/>
                </a:solidFill>
                <a:latin typeface="Times New Roman"/>
                <a:cs typeface="Times New Roman"/>
              </a:rPr>
              <a:t>null</a:t>
            </a:r>
            <a:endParaRPr sz="15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40"/>
              </a:spcBef>
            </a:pPr>
            <a:r>
              <a:rPr dirty="0" sz="1450" spc="335" b="1">
                <a:solidFill>
                  <a:srgbClr val="D63A49"/>
                </a:solidFill>
                <a:latin typeface="Times New Roman"/>
                <a:cs typeface="Times New Roman"/>
              </a:rPr>
              <a:t>this</a:t>
            </a:r>
            <a:r>
              <a:rPr dirty="0" sz="1450" spc="335">
                <a:solidFill>
                  <a:srgbClr val="334054"/>
                </a:solidFill>
                <a:latin typeface="Times New Roman"/>
                <a:cs typeface="Times New Roman"/>
              </a:rPr>
              <a:t>.etudiant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50">
                <a:solidFill>
                  <a:srgbClr val="005CC4"/>
                </a:solidFill>
                <a:latin typeface="Times New Roman"/>
                <a:cs typeface="Times New Roman"/>
              </a:rPr>
              <a:t>Objects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50" b="1">
                <a:solidFill>
                  <a:srgbClr val="785448"/>
                </a:solidFill>
                <a:latin typeface="Times New Roman"/>
                <a:cs typeface="Times New Roman"/>
              </a:rPr>
              <a:t>requireNonNull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(e,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85">
                <a:solidFill>
                  <a:srgbClr val="21863A"/>
                </a:solidFill>
                <a:latin typeface="Times New Roman"/>
                <a:cs typeface="Times New Roman"/>
              </a:rPr>
              <a:t>"Etudiant</a:t>
            </a:r>
            <a:r>
              <a:rPr dirty="0" sz="1450" spc="9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21863A"/>
                </a:solidFill>
                <a:latin typeface="Times New Roman"/>
                <a:cs typeface="Times New Roman"/>
              </a:rPr>
              <a:t>requis"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6568630" y="3519435"/>
            <a:ext cx="93980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320" i="1">
                <a:solidFill>
                  <a:srgbClr val="6A737D"/>
                </a:solidFill>
                <a:latin typeface="Times New Roman"/>
                <a:cs typeface="Times New Roman"/>
              </a:rPr>
              <a:t>est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70" i="1">
                <a:solidFill>
                  <a:srgbClr val="6A737D"/>
                </a:solidFill>
                <a:latin typeface="Times New Roman"/>
                <a:cs typeface="Times New Roman"/>
              </a:rPr>
              <a:t>null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30249" y="3426423"/>
            <a:ext cx="5749925" cy="12147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8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800" spc="50">
                <a:solidFill>
                  <a:srgbClr val="6A737D"/>
                </a:solidFill>
                <a:latin typeface="Apple Color Emoji"/>
                <a:cs typeface="Apple Color Emoji"/>
              </a:rPr>
              <a:t>✅</a:t>
            </a:r>
            <a:r>
              <a:rPr dirty="0" sz="1800" spc="-890">
                <a:solidFill>
                  <a:srgbClr val="6A737D"/>
                </a:solidFill>
                <a:latin typeface="Apple Color Emoji"/>
                <a:cs typeface="Apple Color Emoji"/>
              </a:rPr>
              <a:t> </a:t>
            </a:r>
            <a:r>
              <a:rPr dirty="0" sz="1550" spc="130" i="1">
                <a:solidFill>
                  <a:srgbClr val="6A737D"/>
                </a:solidFill>
                <a:latin typeface="Times New Roman"/>
                <a:cs typeface="Times New Roman"/>
              </a:rPr>
              <a:t>Comparaison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sûre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gère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5" i="1">
                <a:solidFill>
                  <a:srgbClr val="6A737D"/>
                </a:solidFill>
                <a:latin typeface="Times New Roman"/>
                <a:cs typeface="Times New Roman"/>
              </a:rPr>
              <a:t>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cas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où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90" i="1">
                <a:solidFill>
                  <a:srgbClr val="6A737D"/>
                </a:solidFill>
                <a:latin typeface="Times New Roman"/>
                <a:cs typeface="Times New Roman"/>
              </a:rPr>
              <a:t>e.getNom() </a:t>
            </a:r>
            <a:r>
              <a:rPr dirty="0" sz="1450" spc="455" b="1">
                <a:solidFill>
                  <a:srgbClr val="D63A49"/>
                </a:solidFill>
                <a:latin typeface="Times New Roman"/>
                <a:cs typeface="Times New Roman"/>
              </a:rPr>
              <a:t>if</a:t>
            </a:r>
            <a:r>
              <a:rPr dirty="0" sz="145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75">
                <a:solidFill>
                  <a:srgbClr val="005CC4"/>
                </a:solidFill>
                <a:latin typeface="Times New Roman"/>
                <a:cs typeface="Times New Roman"/>
              </a:rPr>
              <a:t>Objects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75" b="1">
                <a:solidFill>
                  <a:srgbClr val="785448"/>
                </a:solidFill>
                <a:latin typeface="Times New Roman"/>
                <a:cs typeface="Times New Roman"/>
              </a:rPr>
              <a:t>equals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(e.getNom(),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70">
                <a:solidFill>
                  <a:srgbClr val="21863A"/>
                </a:solidFill>
                <a:latin typeface="Times New Roman"/>
                <a:cs typeface="Times New Roman"/>
              </a:rPr>
              <a:t>"Inconnu"</a:t>
            </a:r>
            <a:r>
              <a:rPr dirty="0" sz="1450" spc="270">
                <a:solidFill>
                  <a:srgbClr val="334054"/>
                </a:solidFill>
                <a:latin typeface="Times New Roman"/>
                <a:cs typeface="Times New Roman"/>
              </a:rPr>
              <a:t>))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return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45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15949" y="4798023"/>
            <a:ext cx="5626100" cy="92900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62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800" spc="50">
                <a:solidFill>
                  <a:srgbClr val="6A737D"/>
                </a:solidFill>
                <a:latin typeface="Apple Color Emoji"/>
                <a:cs typeface="Apple Color Emoji"/>
              </a:rPr>
              <a:t>✅</a:t>
            </a:r>
            <a:r>
              <a:rPr dirty="0" sz="1800" spc="-890">
                <a:solidFill>
                  <a:srgbClr val="6A737D"/>
                </a:solidFill>
                <a:latin typeface="Apple Color Emoji"/>
                <a:cs typeface="Apple Color Emoji"/>
              </a:rPr>
              <a:t> </a:t>
            </a:r>
            <a:r>
              <a:rPr dirty="0" sz="1550" spc="80" i="1">
                <a:solidFill>
                  <a:srgbClr val="6A737D"/>
                </a:solidFill>
                <a:latin typeface="Times New Roman"/>
                <a:cs typeface="Times New Roman"/>
              </a:rPr>
              <a:t>HashCode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5" i="1">
                <a:solidFill>
                  <a:srgbClr val="6A737D"/>
                </a:solidFill>
                <a:latin typeface="Times New Roman"/>
                <a:cs typeface="Times New Roman"/>
              </a:rPr>
              <a:t>combiné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pour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plusieurs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95" i="1">
                <a:solidFill>
                  <a:srgbClr val="6A737D"/>
                </a:solidFill>
                <a:latin typeface="Times New Roman"/>
                <a:cs typeface="Times New Roman"/>
              </a:rPr>
              <a:t>champs</a:t>
            </a:r>
            <a:endParaRPr sz="155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440"/>
              </a:spcBef>
            </a:pPr>
            <a:r>
              <a:rPr dirty="0" sz="1450" spc="330" b="1">
                <a:solidFill>
                  <a:srgbClr val="D63A49"/>
                </a:solidFill>
                <a:latin typeface="Times New Roman"/>
                <a:cs typeface="Times New Roman"/>
              </a:rPr>
              <a:t>int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h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60">
                <a:solidFill>
                  <a:srgbClr val="005CC4"/>
                </a:solidFill>
                <a:latin typeface="Times New Roman"/>
                <a:cs typeface="Times New Roman"/>
              </a:rPr>
              <a:t>Objects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60" b="1">
                <a:solidFill>
                  <a:srgbClr val="785448"/>
                </a:solidFill>
                <a:latin typeface="Times New Roman"/>
                <a:cs typeface="Times New Roman"/>
              </a:rPr>
              <a:t>hash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(e.getNom(),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e.getPrenom());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17.</a:t>
            </a:r>
            <a:r>
              <a:rPr dirty="0" spc="-60"/>
              <a:t> </a:t>
            </a:r>
            <a:r>
              <a:rPr dirty="0" spc="-45"/>
              <a:t>java.time</a:t>
            </a:r>
            <a:r>
              <a:rPr dirty="0" spc="-60"/>
              <a:t> </a:t>
            </a:r>
            <a:r>
              <a:rPr dirty="0" spc="-650"/>
              <a:t>—</a:t>
            </a:r>
            <a:r>
              <a:rPr dirty="0" spc="-60"/>
              <a:t> </a:t>
            </a:r>
            <a:r>
              <a:rPr dirty="0" spc="-85"/>
              <a:t>LocalDate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797492"/>
            <a:ext cx="11148060" cy="1202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70">
                <a:solidFill>
                  <a:srgbClr val="64738B"/>
                </a:solidFill>
                <a:latin typeface="Arial"/>
                <a:cs typeface="Arial"/>
              </a:rPr>
              <a:t>Gérer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dates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sans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heure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ni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fuseau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horaire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4738B"/>
                </a:solidFill>
                <a:latin typeface="Arial"/>
                <a:cs typeface="Arial"/>
              </a:rPr>
              <a:t>(Année-</a:t>
            </a:r>
            <a:r>
              <a:rPr dirty="0" sz="1400" spc="-25">
                <a:solidFill>
                  <a:srgbClr val="64738B"/>
                </a:solidFill>
                <a:latin typeface="Arial"/>
                <a:cs typeface="Arial"/>
              </a:rPr>
              <a:t>Mois-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Jour).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000"/>
              </a:spcBef>
            </a:pP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LocalDate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classe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45" b="1">
                <a:solidFill>
                  <a:srgbClr val="334054"/>
                </a:solidFill>
                <a:latin typeface="Arial"/>
                <a:cs typeface="Arial"/>
              </a:rPr>
              <a:t>immuable</a:t>
            </a:r>
            <a:r>
              <a:rPr dirty="0" sz="1650" spc="-55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représentant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date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30">
                <a:solidFill>
                  <a:srgbClr val="334054"/>
                </a:solidFill>
                <a:latin typeface="Arial"/>
                <a:cs typeface="Arial"/>
              </a:rPr>
              <a:t>ISO-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8601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(ex: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2026-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03-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13).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Idéale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anniversaires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ou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inscriptions,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elle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remplace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avantageusement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Monaco"/>
                <a:cs typeface="Monaco"/>
              </a:rPr>
              <a:t>java.util.Date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5863" y="5733288"/>
            <a:ext cx="3728085" cy="725170"/>
            <a:chOff x="435863" y="5733288"/>
            <a:chExt cx="3728085" cy="725170"/>
          </a:xfrm>
        </p:grpSpPr>
        <p:sp>
          <p:nvSpPr>
            <p:cNvPr id="5" name="object 5" descr=""/>
            <p:cNvSpPr/>
            <p:nvPr/>
          </p:nvSpPr>
          <p:spPr>
            <a:xfrm>
              <a:off x="435863" y="5733288"/>
              <a:ext cx="3728085" cy="725170"/>
            </a:xfrm>
            <a:custGeom>
              <a:avLst/>
              <a:gdLst/>
              <a:ahLst/>
              <a:cxnLst/>
              <a:rect l="l" t="t" r="r" b="b"/>
              <a:pathLst>
                <a:path w="3728085" h="725170">
                  <a:moveTo>
                    <a:pt x="49910" y="724661"/>
                  </a:moveTo>
                  <a:lnTo>
                    <a:pt x="0" y="724661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7535" y="38861"/>
                  </a:lnTo>
                  <a:lnTo>
                    <a:pt x="88033" y="39733"/>
                  </a:lnTo>
                  <a:lnTo>
                    <a:pt x="53398" y="68203"/>
                  </a:lnTo>
                  <a:lnTo>
                    <a:pt x="49910" y="86486"/>
                  </a:lnTo>
                  <a:lnTo>
                    <a:pt x="49910" y="724661"/>
                  </a:lnTo>
                  <a:close/>
                </a:path>
                <a:path w="3728085" h="725170">
                  <a:moveTo>
                    <a:pt x="3727704" y="724661"/>
                  </a:moveTo>
                  <a:lnTo>
                    <a:pt x="3678935" y="724661"/>
                  </a:lnTo>
                  <a:lnTo>
                    <a:pt x="3678935" y="86486"/>
                  </a:lnTo>
                  <a:lnTo>
                    <a:pt x="3678064" y="76984"/>
                  </a:lnTo>
                  <a:lnTo>
                    <a:pt x="3649593" y="42348"/>
                  </a:lnTo>
                  <a:lnTo>
                    <a:pt x="3631310" y="38861"/>
                  </a:lnTo>
                  <a:lnTo>
                    <a:pt x="3727704" y="38861"/>
                  </a:lnTo>
                  <a:lnTo>
                    <a:pt x="3727704" y="7246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0062" y="5762624"/>
              <a:ext cx="3624579" cy="695325"/>
            </a:xfrm>
            <a:custGeom>
              <a:avLst/>
              <a:gdLst/>
              <a:ahLst/>
              <a:cxnLst/>
              <a:rect l="l" t="t" r="r" b="b"/>
              <a:pathLst>
                <a:path w="3624579" h="695325">
                  <a:moveTo>
                    <a:pt x="3624262" y="695324"/>
                  </a:moveTo>
                  <a:lnTo>
                    <a:pt x="0" y="695324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3570864" y="0"/>
                  </a:lnTo>
                  <a:lnTo>
                    <a:pt x="3610176" y="19391"/>
                  </a:lnTo>
                  <a:lnTo>
                    <a:pt x="3624262" y="6953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249" y="5762624"/>
              <a:ext cx="54610" cy="695325"/>
            </a:xfrm>
            <a:custGeom>
              <a:avLst/>
              <a:gdLst/>
              <a:ahLst/>
              <a:cxnLst/>
              <a:rect l="l" t="t" r="r" b="b"/>
              <a:pathLst>
                <a:path w="54609" h="695325">
                  <a:moveTo>
                    <a:pt x="47624" y="695324"/>
                  </a:moveTo>
                  <a:lnTo>
                    <a:pt x="0" y="695324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953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165849"/>
              <a:ext cx="190500" cy="19367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939800" y="5831747"/>
            <a:ext cx="2822575" cy="54038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5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5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Immutabilité</a:t>
            </a:r>
            <a:r>
              <a:rPr dirty="0" sz="1350" spc="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13532D"/>
                </a:solidFill>
                <a:latin typeface="Arial"/>
                <a:cs typeface="Arial"/>
              </a:rPr>
              <a:t>=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date.plusDays(1)</a:t>
            </a:r>
            <a:r>
              <a:rPr dirty="0" sz="1350" spc="-480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ne</a:t>
            </a:r>
            <a:r>
              <a:rPr dirty="0" sz="1350" spc="-9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change</a:t>
            </a:r>
            <a:r>
              <a:rPr dirty="0" sz="1350" spc="-9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pas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227576" y="5733288"/>
            <a:ext cx="3736975" cy="725170"/>
            <a:chOff x="4227576" y="5733288"/>
            <a:chExt cx="3736975" cy="725170"/>
          </a:xfrm>
        </p:grpSpPr>
        <p:sp>
          <p:nvSpPr>
            <p:cNvPr id="11" name="object 11" descr=""/>
            <p:cNvSpPr/>
            <p:nvPr/>
          </p:nvSpPr>
          <p:spPr>
            <a:xfrm>
              <a:off x="4227576" y="5733288"/>
              <a:ext cx="3736975" cy="725170"/>
            </a:xfrm>
            <a:custGeom>
              <a:avLst/>
              <a:gdLst/>
              <a:ahLst/>
              <a:cxnLst/>
              <a:rect l="l" t="t" r="r" b="b"/>
              <a:pathLst>
                <a:path w="3736975" h="725170">
                  <a:moveTo>
                    <a:pt x="49148" y="724661"/>
                  </a:moveTo>
                  <a:lnTo>
                    <a:pt x="0" y="724661"/>
                  </a:lnTo>
                  <a:lnTo>
                    <a:pt x="0" y="0"/>
                  </a:lnTo>
                  <a:lnTo>
                    <a:pt x="3736848" y="0"/>
                  </a:lnTo>
                  <a:lnTo>
                    <a:pt x="3736848" y="38861"/>
                  </a:lnTo>
                  <a:lnTo>
                    <a:pt x="96773" y="38861"/>
                  </a:lnTo>
                  <a:lnTo>
                    <a:pt x="87271" y="39733"/>
                  </a:lnTo>
                  <a:lnTo>
                    <a:pt x="52635" y="68203"/>
                  </a:lnTo>
                  <a:lnTo>
                    <a:pt x="49148" y="86486"/>
                  </a:lnTo>
                  <a:lnTo>
                    <a:pt x="49148" y="724661"/>
                  </a:lnTo>
                  <a:close/>
                </a:path>
                <a:path w="3736975" h="725170">
                  <a:moveTo>
                    <a:pt x="3736848" y="724661"/>
                  </a:moveTo>
                  <a:lnTo>
                    <a:pt x="3687698" y="724661"/>
                  </a:lnTo>
                  <a:lnTo>
                    <a:pt x="3687698" y="86486"/>
                  </a:lnTo>
                  <a:lnTo>
                    <a:pt x="3686826" y="76984"/>
                  </a:lnTo>
                  <a:lnTo>
                    <a:pt x="3658356" y="42348"/>
                  </a:lnTo>
                  <a:lnTo>
                    <a:pt x="3640073" y="38861"/>
                  </a:lnTo>
                  <a:lnTo>
                    <a:pt x="3736848" y="38861"/>
                  </a:lnTo>
                  <a:lnTo>
                    <a:pt x="3736848" y="7246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91011" y="5762624"/>
              <a:ext cx="3634104" cy="695325"/>
            </a:xfrm>
            <a:custGeom>
              <a:avLst/>
              <a:gdLst/>
              <a:ahLst/>
              <a:cxnLst/>
              <a:rect l="l" t="t" r="r" b="b"/>
              <a:pathLst>
                <a:path w="3634104" h="695325">
                  <a:moveTo>
                    <a:pt x="3633787" y="695324"/>
                  </a:moveTo>
                  <a:lnTo>
                    <a:pt x="0" y="695324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3580389" y="0"/>
                  </a:lnTo>
                  <a:lnTo>
                    <a:pt x="3619700" y="19391"/>
                  </a:lnTo>
                  <a:lnTo>
                    <a:pt x="3633787" y="69532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267199" y="5762624"/>
              <a:ext cx="54610" cy="695325"/>
            </a:xfrm>
            <a:custGeom>
              <a:avLst/>
              <a:gdLst/>
              <a:ahLst/>
              <a:cxnLst/>
              <a:rect l="l" t="t" r="r" b="b"/>
              <a:pathLst>
                <a:path w="54610" h="695325">
                  <a:moveTo>
                    <a:pt x="47624" y="695324"/>
                  </a:moveTo>
                  <a:lnTo>
                    <a:pt x="0" y="695324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953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650" y="6178549"/>
              <a:ext cx="196850" cy="16827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733875" y="5966981"/>
            <a:ext cx="292163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5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7E1C1C"/>
                </a:solidFill>
                <a:latin typeface="Arial"/>
                <a:cs typeface="Arial"/>
              </a:rPr>
              <a:t>Les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1C1C"/>
                </a:solidFill>
                <a:latin typeface="Arial"/>
                <a:cs typeface="Arial"/>
              </a:rPr>
              <a:t>mois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vont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de </a:t>
            </a:r>
            <a:r>
              <a:rPr dirty="0" sz="1400">
                <a:solidFill>
                  <a:srgbClr val="7E1C1C"/>
                </a:solidFill>
                <a:latin typeface="Arial"/>
                <a:cs typeface="Arial"/>
              </a:rPr>
              <a:t>1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7E1C1C"/>
                </a:solidFill>
                <a:latin typeface="Arial"/>
                <a:cs typeface="Arial"/>
              </a:rPr>
              <a:t>à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7E1C1C"/>
                </a:solidFill>
                <a:latin typeface="Arial"/>
                <a:cs typeface="Arial"/>
              </a:rPr>
              <a:t>12 </a:t>
            </a:r>
            <a:r>
              <a:rPr dirty="0" sz="1400" spc="-35">
                <a:solidFill>
                  <a:srgbClr val="7E1C1C"/>
                </a:solidFill>
                <a:latin typeface="Arial"/>
                <a:cs typeface="Arial"/>
              </a:rPr>
              <a:t>(Jan=1),</a:t>
            </a:r>
            <a:r>
              <a:rPr dirty="0" sz="1400" spc="-2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contrairement</a:t>
            </a:r>
            <a:r>
              <a:rPr dirty="0" sz="1400" spc="-2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7E1C1C"/>
                </a:solidFill>
                <a:latin typeface="Arial"/>
                <a:cs typeface="Arial"/>
              </a:rPr>
              <a:t>à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Calendar</a:t>
            </a:r>
            <a:r>
              <a:rPr dirty="0" sz="1400" spc="-2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(0).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028432" y="5733288"/>
            <a:ext cx="3728085" cy="725170"/>
            <a:chOff x="8028432" y="5733288"/>
            <a:chExt cx="3728085" cy="725170"/>
          </a:xfrm>
        </p:grpSpPr>
        <p:sp>
          <p:nvSpPr>
            <p:cNvPr id="17" name="object 17" descr=""/>
            <p:cNvSpPr/>
            <p:nvPr/>
          </p:nvSpPr>
          <p:spPr>
            <a:xfrm>
              <a:off x="8028432" y="5733288"/>
              <a:ext cx="3728085" cy="725170"/>
            </a:xfrm>
            <a:custGeom>
              <a:avLst/>
              <a:gdLst/>
              <a:ahLst/>
              <a:cxnLst/>
              <a:rect l="l" t="t" r="r" b="b"/>
              <a:pathLst>
                <a:path w="3728084" h="725170">
                  <a:moveTo>
                    <a:pt x="48767" y="724661"/>
                  </a:moveTo>
                  <a:lnTo>
                    <a:pt x="0" y="724661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6392" y="38861"/>
                  </a:lnTo>
                  <a:lnTo>
                    <a:pt x="86890" y="39733"/>
                  </a:lnTo>
                  <a:lnTo>
                    <a:pt x="52254" y="68203"/>
                  </a:lnTo>
                  <a:lnTo>
                    <a:pt x="48767" y="86486"/>
                  </a:lnTo>
                  <a:lnTo>
                    <a:pt x="48767" y="724661"/>
                  </a:lnTo>
                  <a:close/>
                </a:path>
                <a:path w="3728084" h="725170">
                  <a:moveTo>
                    <a:pt x="3727704" y="724661"/>
                  </a:moveTo>
                  <a:lnTo>
                    <a:pt x="3677792" y="724661"/>
                  </a:lnTo>
                  <a:lnTo>
                    <a:pt x="3677792" y="86486"/>
                  </a:lnTo>
                  <a:lnTo>
                    <a:pt x="3676920" y="76984"/>
                  </a:lnTo>
                  <a:lnTo>
                    <a:pt x="3648449" y="42348"/>
                  </a:lnTo>
                  <a:lnTo>
                    <a:pt x="3630167" y="38861"/>
                  </a:lnTo>
                  <a:lnTo>
                    <a:pt x="3727704" y="38861"/>
                  </a:lnTo>
                  <a:lnTo>
                    <a:pt x="3727704" y="7246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91486" y="5762624"/>
              <a:ext cx="3624579" cy="695325"/>
            </a:xfrm>
            <a:custGeom>
              <a:avLst/>
              <a:gdLst/>
              <a:ahLst/>
              <a:cxnLst/>
              <a:rect l="l" t="t" r="r" b="b"/>
              <a:pathLst>
                <a:path w="3624579" h="695325">
                  <a:moveTo>
                    <a:pt x="3624262" y="695324"/>
                  </a:moveTo>
                  <a:lnTo>
                    <a:pt x="0" y="695324"/>
                  </a:lnTo>
                  <a:lnTo>
                    <a:pt x="0" y="49571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3570863" y="0"/>
                  </a:lnTo>
                  <a:lnTo>
                    <a:pt x="3610176" y="19391"/>
                  </a:lnTo>
                  <a:lnTo>
                    <a:pt x="3624262" y="6953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67674" y="5762624"/>
              <a:ext cx="54610" cy="695325"/>
            </a:xfrm>
            <a:custGeom>
              <a:avLst/>
              <a:gdLst/>
              <a:ahLst/>
              <a:cxnLst/>
              <a:rect l="l" t="t" r="r" b="b"/>
              <a:pathLst>
                <a:path w="54609" h="695325">
                  <a:moveTo>
                    <a:pt x="47624" y="695324"/>
                  </a:moveTo>
                  <a:lnTo>
                    <a:pt x="0" y="695324"/>
                  </a:lnTo>
                  <a:lnTo>
                    <a:pt x="0" y="49568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953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8075" y="6165849"/>
              <a:ext cx="136525" cy="193675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8480325" y="5927089"/>
            <a:ext cx="2440305" cy="5778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5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4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Utilisez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isBefore()</a:t>
            </a:r>
            <a:r>
              <a:rPr dirty="0" sz="1350" spc="-475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 spc="130">
                <a:solidFill>
                  <a:srgbClr val="1D3A8A"/>
                </a:solidFill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isAfter()</a:t>
            </a:r>
            <a:r>
              <a:rPr dirty="0" sz="1350" spc="-470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pour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la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lisibilité.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0" y="2249424"/>
            <a:ext cx="12192000" cy="4608830"/>
            <a:chOff x="0" y="2249424"/>
            <a:chExt cx="12192000" cy="4608830"/>
          </a:xfrm>
        </p:grpSpPr>
        <p:sp>
          <p:nvSpPr>
            <p:cNvPr id="23" name="object 23" descr=""/>
            <p:cNvSpPr/>
            <p:nvPr/>
          </p:nvSpPr>
          <p:spPr>
            <a:xfrm>
              <a:off x="0" y="6457949"/>
              <a:ext cx="12192000" cy="400050"/>
            </a:xfrm>
            <a:custGeom>
              <a:avLst/>
              <a:gdLst/>
              <a:ahLst/>
              <a:cxnLst/>
              <a:rect l="l" t="t" r="r" b="b"/>
              <a:pathLst>
                <a:path w="12192000" h="400050">
                  <a:moveTo>
                    <a:pt x="12191999" y="400049"/>
                  </a:moveTo>
                  <a:lnTo>
                    <a:pt x="0" y="4000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0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20624" y="2249424"/>
              <a:ext cx="11351260" cy="3444240"/>
            </a:xfrm>
            <a:custGeom>
              <a:avLst/>
              <a:gdLst/>
              <a:ahLst/>
              <a:cxnLst/>
              <a:rect l="l" t="t" r="r" b="b"/>
              <a:pathLst>
                <a:path w="11351260" h="3444240">
                  <a:moveTo>
                    <a:pt x="11350752" y="3444240"/>
                  </a:moveTo>
                  <a:lnTo>
                    <a:pt x="0" y="3444240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3294125"/>
                  </a:lnTo>
                  <a:lnTo>
                    <a:pt x="76377" y="3331174"/>
                  </a:lnTo>
                  <a:lnTo>
                    <a:pt x="106310" y="3355724"/>
                  </a:lnTo>
                  <a:lnTo>
                    <a:pt x="131825" y="3360800"/>
                  </a:lnTo>
                  <a:lnTo>
                    <a:pt x="11350752" y="3360800"/>
                  </a:lnTo>
                  <a:lnTo>
                    <a:pt x="11350752" y="3444240"/>
                  </a:lnTo>
                  <a:close/>
                </a:path>
                <a:path w="11351260" h="3444240">
                  <a:moveTo>
                    <a:pt x="11350752" y="3360800"/>
                  </a:moveTo>
                  <a:lnTo>
                    <a:pt x="11218925" y="3360800"/>
                  </a:lnTo>
                  <a:lnTo>
                    <a:pt x="11225493" y="3360483"/>
                  </a:lnTo>
                  <a:lnTo>
                    <a:pt x="11231935" y="3359531"/>
                  </a:lnTo>
                  <a:lnTo>
                    <a:pt x="11266071" y="3341271"/>
                  </a:lnTo>
                  <a:lnTo>
                    <a:pt x="11284331" y="3307135"/>
                  </a:lnTo>
                  <a:lnTo>
                    <a:pt x="11285600" y="329412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33608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81012" y="2290762"/>
              <a:ext cx="11229975" cy="3324225"/>
            </a:xfrm>
            <a:custGeom>
              <a:avLst/>
              <a:gdLst/>
              <a:ahLst/>
              <a:cxnLst/>
              <a:rect l="l" t="t" r="r" b="b"/>
              <a:pathLst>
                <a:path w="11229975" h="3324225">
                  <a:moveTo>
                    <a:pt x="11163227" y="3324224"/>
                  </a:moveTo>
                  <a:lnTo>
                    <a:pt x="66746" y="3324224"/>
                  </a:lnTo>
                  <a:lnTo>
                    <a:pt x="62101" y="3323766"/>
                  </a:lnTo>
                  <a:lnTo>
                    <a:pt x="24240" y="3306617"/>
                  </a:lnTo>
                  <a:lnTo>
                    <a:pt x="2287" y="3271323"/>
                  </a:lnTo>
                  <a:lnTo>
                    <a:pt x="0" y="3257477"/>
                  </a:lnTo>
                  <a:lnTo>
                    <a:pt x="0" y="3252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257477"/>
                  </a:lnTo>
                  <a:lnTo>
                    <a:pt x="11215327" y="3296375"/>
                  </a:lnTo>
                  <a:lnTo>
                    <a:pt x="11181539" y="3320581"/>
                  </a:lnTo>
                  <a:lnTo>
                    <a:pt x="11167872" y="3323766"/>
                  </a:lnTo>
                  <a:lnTo>
                    <a:pt x="11163227" y="33242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1012" y="2290762"/>
              <a:ext cx="11229975" cy="3324225"/>
            </a:xfrm>
            <a:custGeom>
              <a:avLst/>
              <a:gdLst/>
              <a:ahLst/>
              <a:cxnLst/>
              <a:rect l="l" t="t" r="r" b="b"/>
              <a:pathLst>
                <a:path w="11229975" h="3324225">
                  <a:moveTo>
                    <a:pt x="0" y="3252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252787"/>
                  </a:lnTo>
                  <a:lnTo>
                    <a:pt x="11229972" y="3257477"/>
                  </a:lnTo>
                  <a:lnTo>
                    <a:pt x="11229514" y="3262123"/>
                  </a:lnTo>
                  <a:lnTo>
                    <a:pt x="11228599" y="3266723"/>
                  </a:lnTo>
                  <a:lnTo>
                    <a:pt x="11227684" y="3271323"/>
                  </a:lnTo>
                  <a:lnTo>
                    <a:pt x="11205732" y="3306617"/>
                  </a:lnTo>
                  <a:lnTo>
                    <a:pt x="11198222" y="3312184"/>
                  </a:lnTo>
                  <a:lnTo>
                    <a:pt x="11194322" y="3314790"/>
                  </a:lnTo>
                  <a:lnTo>
                    <a:pt x="11158536" y="3324224"/>
                  </a:lnTo>
                  <a:lnTo>
                    <a:pt x="71437" y="3324224"/>
                  </a:lnTo>
                  <a:lnTo>
                    <a:pt x="31748" y="3312184"/>
                  </a:lnTo>
                  <a:lnTo>
                    <a:pt x="27848" y="3309579"/>
                  </a:lnTo>
                  <a:lnTo>
                    <a:pt x="24240" y="3306617"/>
                  </a:lnTo>
                  <a:lnTo>
                    <a:pt x="20923" y="3303300"/>
                  </a:lnTo>
                  <a:lnTo>
                    <a:pt x="17606" y="3299984"/>
                  </a:lnTo>
                  <a:lnTo>
                    <a:pt x="1372" y="3266723"/>
                  </a:lnTo>
                  <a:lnTo>
                    <a:pt x="457" y="3262123"/>
                  </a:lnTo>
                  <a:lnTo>
                    <a:pt x="0" y="3257477"/>
                  </a:lnTo>
                  <a:lnTo>
                    <a:pt x="0" y="3252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15949" y="2389833"/>
            <a:ext cx="7112000" cy="8826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Création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date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actuelle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ou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4" i="1">
                <a:solidFill>
                  <a:srgbClr val="6A737D"/>
                </a:solidFill>
                <a:latin typeface="Times New Roman"/>
                <a:cs typeface="Times New Roman"/>
              </a:rPr>
              <a:t>spécifique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10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inscription</a:t>
            </a:r>
            <a:r>
              <a:rPr dirty="0" sz="145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5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50">
                <a:solidFill>
                  <a:srgbClr val="6F41C1"/>
                </a:solidFill>
                <a:latin typeface="Times New Roman"/>
                <a:cs typeface="Times New Roman"/>
              </a:rPr>
              <a:t>now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dirty="0" sz="145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5" i="1">
                <a:solidFill>
                  <a:srgbClr val="6A737D"/>
                </a:solidFill>
                <a:latin typeface="Times New Roman"/>
                <a:cs typeface="Times New Roman"/>
              </a:rPr>
              <a:t>2026-</a:t>
            </a:r>
            <a:r>
              <a:rPr dirty="0" sz="1550" spc="200" i="1">
                <a:solidFill>
                  <a:srgbClr val="6A737D"/>
                </a:solidFill>
                <a:latin typeface="Times New Roman"/>
                <a:cs typeface="Times New Roman"/>
              </a:rPr>
              <a:t>03-</a:t>
            </a:r>
            <a:r>
              <a:rPr dirty="0" sz="1550" spc="95" i="1">
                <a:solidFill>
                  <a:srgbClr val="6A737D"/>
                </a:solidFill>
                <a:latin typeface="Times New Roman"/>
                <a:cs typeface="Times New Roman"/>
              </a:rPr>
              <a:t>13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20">
                <a:solidFill>
                  <a:srgbClr val="334054"/>
                </a:solidFill>
                <a:latin typeface="Times New Roman"/>
                <a:cs typeface="Times New Roman"/>
              </a:rPr>
              <a:t>rentree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65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6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65">
                <a:solidFill>
                  <a:srgbClr val="6F41C1"/>
                </a:solidFill>
                <a:latin typeface="Times New Roman"/>
                <a:cs typeface="Times New Roman"/>
              </a:rPr>
              <a:t>of</a:t>
            </a:r>
            <a:r>
              <a:rPr dirty="0" sz="1450" spc="265">
                <a:solidFill>
                  <a:srgbClr val="334054"/>
                </a:solidFill>
                <a:latin typeface="Times New Roman"/>
                <a:cs typeface="Times New Roman"/>
              </a:rPr>
              <a:t>(2026,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55">
                <a:solidFill>
                  <a:srgbClr val="334054"/>
                </a:solidFill>
                <a:latin typeface="Times New Roman"/>
                <a:cs typeface="Times New Roman"/>
              </a:rPr>
              <a:t>9,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60">
                <a:solidFill>
                  <a:srgbClr val="334054"/>
                </a:solidFill>
                <a:latin typeface="Times New Roman"/>
                <a:cs typeface="Times New Roman"/>
              </a:rPr>
              <a:t>1);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Septembre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=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9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7816846" y="3005085"/>
            <a:ext cx="105410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(pas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8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55" i="1">
                <a:solidFill>
                  <a:srgbClr val="6A737D"/>
                </a:solidFill>
                <a:latin typeface="Times New Roman"/>
                <a:cs typeface="Times New Roman"/>
              </a:rPr>
              <a:t>!)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15949" y="3456537"/>
            <a:ext cx="2082800" cy="899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127800"/>
              </a:lnSpc>
              <a:spcBef>
                <a:spcPts val="114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Manipulation </a:t>
            </a: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limite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">
                <a:solidFill>
                  <a:srgbClr val="334054"/>
                </a:solidFill>
                <a:latin typeface="Times New Roman"/>
                <a:cs typeface="Times New Roman"/>
              </a:rPr>
              <a:t>= </a:t>
            </a: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rappel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787647" y="3456537"/>
            <a:ext cx="4826000" cy="899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114"/>
              </a:spcBef>
            </a:pPr>
            <a:r>
              <a:rPr dirty="0" sz="1550" spc="-10" i="1">
                <a:solidFill>
                  <a:srgbClr val="6A737D"/>
                </a:solidFill>
                <a:latin typeface="Times New Roman"/>
                <a:cs typeface="Times New Roman"/>
              </a:rPr>
              <a:t>(IMMUABLE</a:t>
            </a:r>
            <a:r>
              <a:rPr dirty="0" sz="15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459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renvoie</a:t>
            </a:r>
            <a:r>
              <a:rPr dirty="0" sz="15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45" i="1">
                <a:solidFill>
                  <a:srgbClr val="6A737D"/>
                </a:solidFill>
                <a:latin typeface="Times New Roman"/>
                <a:cs typeface="Times New Roman"/>
              </a:rPr>
              <a:t>une</a:t>
            </a:r>
            <a:r>
              <a:rPr dirty="0" sz="1550" spc="459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40" i="1">
                <a:solidFill>
                  <a:srgbClr val="6A737D"/>
                </a:solidFill>
                <a:latin typeface="Times New Roman"/>
                <a:cs typeface="Times New Roman"/>
              </a:rPr>
              <a:t>nouvelle</a:t>
            </a:r>
            <a:r>
              <a:rPr dirty="0" sz="15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54" i="1">
                <a:solidFill>
                  <a:srgbClr val="6A737D"/>
                </a:solidFill>
                <a:latin typeface="Times New Roman"/>
                <a:cs typeface="Times New Roman"/>
              </a:rPr>
              <a:t>instance) 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inscription.</a:t>
            </a:r>
            <a:r>
              <a:rPr dirty="0" sz="1450" spc="295">
                <a:solidFill>
                  <a:srgbClr val="6F41C1"/>
                </a:solidFill>
                <a:latin typeface="Times New Roman"/>
                <a:cs typeface="Times New Roman"/>
              </a:rPr>
              <a:t>plusDays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(15); 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rentree.</a:t>
            </a:r>
            <a:r>
              <a:rPr dirty="0" sz="1450" spc="254">
                <a:solidFill>
                  <a:srgbClr val="6F41C1"/>
                </a:solidFill>
                <a:latin typeface="Times New Roman"/>
                <a:cs typeface="Times New Roman"/>
              </a:rPr>
              <a:t>minusMonths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(1);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15949" y="4542387"/>
            <a:ext cx="6197600" cy="90233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3.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Comparaison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400" spc="225" b="1">
                <a:solidFill>
                  <a:srgbClr val="D63A49"/>
                </a:solidFill>
                <a:latin typeface="Times New Roman"/>
                <a:cs typeface="Times New Roman"/>
              </a:rPr>
              <a:t>boolean</a:t>
            </a:r>
            <a:r>
              <a:rPr dirty="0" sz="140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estEnRetard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90">
                <a:solidFill>
                  <a:srgbClr val="6F41C1"/>
                </a:solidFill>
                <a:latin typeface="Times New Roman"/>
                <a:cs typeface="Times New Roman"/>
              </a:rPr>
              <a:t>now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().</a:t>
            </a:r>
            <a:r>
              <a:rPr dirty="0" sz="1450" spc="290">
                <a:solidFill>
                  <a:srgbClr val="6F41C1"/>
                </a:solidFill>
                <a:latin typeface="Times New Roman"/>
                <a:cs typeface="Times New Roman"/>
              </a:rPr>
              <a:t>isAfter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(limite);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5" i="1">
                <a:solidFill>
                  <a:srgbClr val="6A737D"/>
                </a:solidFill>
                <a:latin typeface="Times New Roman"/>
                <a:cs typeface="Times New Roman"/>
              </a:rPr>
              <a:t>System.out.println(estEnRetard);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18.</a:t>
            </a:r>
            <a:r>
              <a:rPr dirty="0" spc="-60"/>
              <a:t> </a:t>
            </a:r>
            <a:r>
              <a:rPr dirty="0" spc="-45"/>
              <a:t>java.time</a:t>
            </a:r>
            <a:r>
              <a:rPr dirty="0" spc="-60"/>
              <a:t> </a:t>
            </a:r>
            <a:r>
              <a:rPr dirty="0" spc="-650"/>
              <a:t>—</a:t>
            </a:r>
            <a:r>
              <a:rPr dirty="0" spc="-60"/>
              <a:t> </a:t>
            </a:r>
            <a:r>
              <a:rPr dirty="0" spc="-70"/>
              <a:t>LocalDateTime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657088"/>
            <a:ext cx="3728085" cy="801370"/>
            <a:chOff x="435863" y="5657088"/>
            <a:chExt cx="3728085" cy="80137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657088"/>
              <a:ext cx="3728085" cy="801370"/>
            </a:xfrm>
            <a:custGeom>
              <a:avLst/>
              <a:gdLst/>
              <a:ahLst/>
              <a:cxnLst/>
              <a:rect l="l" t="t" r="r" b="b"/>
              <a:pathLst>
                <a:path w="3728085" h="801370">
                  <a:moveTo>
                    <a:pt x="3727704" y="800861"/>
                  </a:moveTo>
                  <a:lnTo>
                    <a:pt x="0" y="800861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7535" y="38861"/>
                  </a:lnTo>
                  <a:lnTo>
                    <a:pt x="88033" y="39733"/>
                  </a:lnTo>
                  <a:lnTo>
                    <a:pt x="53398" y="68203"/>
                  </a:lnTo>
                  <a:lnTo>
                    <a:pt x="49910" y="86486"/>
                  </a:lnTo>
                  <a:lnTo>
                    <a:pt x="49910" y="715136"/>
                  </a:lnTo>
                  <a:lnTo>
                    <a:pt x="71195" y="754915"/>
                  </a:lnTo>
                  <a:lnTo>
                    <a:pt x="97535" y="762761"/>
                  </a:lnTo>
                  <a:lnTo>
                    <a:pt x="3727704" y="762761"/>
                  </a:lnTo>
                  <a:lnTo>
                    <a:pt x="3727704" y="800861"/>
                  </a:lnTo>
                  <a:close/>
                </a:path>
                <a:path w="3728085" h="801370">
                  <a:moveTo>
                    <a:pt x="3727704" y="762761"/>
                  </a:moveTo>
                  <a:lnTo>
                    <a:pt x="3631310" y="762761"/>
                  </a:lnTo>
                  <a:lnTo>
                    <a:pt x="3640813" y="761889"/>
                  </a:lnTo>
                  <a:lnTo>
                    <a:pt x="3649593" y="759274"/>
                  </a:lnTo>
                  <a:lnTo>
                    <a:pt x="3678064" y="724638"/>
                  </a:lnTo>
                  <a:lnTo>
                    <a:pt x="3678935" y="715136"/>
                  </a:lnTo>
                  <a:lnTo>
                    <a:pt x="3678935" y="86486"/>
                  </a:lnTo>
                  <a:lnTo>
                    <a:pt x="3657651" y="46707"/>
                  </a:lnTo>
                  <a:lnTo>
                    <a:pt x="3631310" y="38861"/>
                  </a:lnTo>
                  <a:lnTo>
                    <a:pt x="3727704" y="38861"/>
                  </a:lnTo>
                  <a:lnTo>
                    <a:pt x="3727704" y="7627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686424"/>
              <a:ext cx="3624579" cy="742950"/>
            </a:xfrm>
            <a:custGeom>
              <a:avLst/>
              <a:gdLst/>
              <a:ahLst/>
              <a:cxnLst/>
              <a:rect l="l" t="t" r="r" b="b"/>
              <a:pathLst>
                <a:path w="3624579" h="742950">
                  <a:moveTo>
                    <a:pt x="3570864" y="742949"/>
                  </a:moveTo>
                  <a:lnTo>
                    <a:pt x="28916" y="742949"/>
                  </a:lnTo>
                  <a:lnTo>
                    <a:pt x="24664" y="741499"/>
                  </a:lnTo>
                  <a:lnTo>
                    <a:pt x="845" y="700668"/>
                  </a:lnTo>
                  <a:lnTo>
                    <a:pt x="0" y="693378"/>
                  </a:lnTo>
                  <a:lnTo>
                    <a:pt x="0" y="6857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3570864" y="0"/>
                  </a:lnTo>
                  <a:lnTo>
                    <a:pt x="3610176" y="19391"/>
                  </a:lnTo>
                  <a:lnTo>
                    <a:pt x="3624261" y="53397"/>
                  </a:lnTo>
                  <a:lnTo>
                    <a:pt x="3624261" y="689552"/>
                  </a:lnTo>
                  <a:lnTo>
                    <a:pt x="3604869" y="728864"/>
                  </a:lnTo>
                  <a:lnTo>
                    <a:pt x="3574580" y="742583"/>
                  </a:lnTo>
                  <a:lnTo>
                    <a:pt x="3570864" y="7429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686424"/>
              <a:ext cx="54610" cy="742950"/>
            </a:xfrm>
            <a:custGeom>
              <a:avLst/>
              <a:gdLst/>
              <a:ahLst/>
              <a:cxnLst/>
              <a:rect l="l" t="t" r="r" b="b"/>
              <a:pathLst>
                <a:path w="54609" h="742950">
                  <a:moveTo>
                    <a:pt x="54519" y="742949"/>
                  </a:moveTo>
                  <a:lnTo>
                    <a:pt x="49571" y="742949"/>
                  </a:lnTo>
                  <a:lnTo>
                    <a:pt x="42281" y="741498"/>
                  </a:lnTo>
                  <a:lnTo>
                    <a:pt x="7250" y="714671"/>
                  </a:lnTo>
                  <a:lnTo>
                    <a:pt x="0" y="69337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85799"/>
                  </a:lnTo>
                  <a:lnTo>
                    <a:pt x="50414" y="726210"/>
                  </a:lnTo>
                  <a:lnTo>
                    <a:pt x="52274" y="737369"/>
                  </a:lnTo>
                  <a:lnTo>
                    <a:pt x="54519" y="7429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956299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757431"/>
            <a:ext cx="264604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Idéal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des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événements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locaux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(cours,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RDV).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227576" y="5657088"/>
            <a:ext cx="3736975" cy="801370"/>
            <a:chOff x="4227576" y="5657088"/>
            <a:chExt cx="3736975" cy="801370"/>
          </a:xfrm>
        </p:grpSpPr>
        <p:sp>
          <p:nvSpPr>
            <p:cNvPr id="10" name="object 10" descr=""/>
            <p:cNvSpPr/>
            <p:nvPr/>
          </p:nvSpPr>
          <p:spPr>
            <a:xfrm>
              <a:off x="4227576" y="5657088"/>
              <a:ext cx="3736975" cy="801370"/>
            </a:xfrm>
            <a:custGeom>
              <a:avLst/>
              <a:gdLst/>
              <a:ahLst/>
              <a:cxnLst/>
              <a:rect l="l" t="t" r="r" b="b"/>
              <a:pathLst>
                <a:path w="3736975" h="801370">
                  <a:moveTo>
                    <a:pt x="3736848" y="800861"/>
                  </a:moveTo>
                  <a:lnTo>
                    <a:pt x="0" y="800861"/>
                  </a:lnTo>
                  <a:lnTo>
                    <a:pt x="0" y="0"/>
                  </a:lnTo>
                  <a:lnTo>
                    <a:pt x="3736848" y="0"/>
                  </a:lnTo>
                  <a:lnTo>
                    <a:pt x="3736848" y="38861"/>
                  </a:lnTo>
                  <a:lnTo>
                    <a:pt x="96773" y="38861"/>
                  </a:lnTo>
                  <a:lnTo>
                    <a:pt x="87271" y="39733"/>
                  </a:lnTo>
                  <a:lnTo>
                    <a:pt x="52635" y="68203"/>
                  </a:lnTo>
                  <a:lnTo>
                    <a:pt x="49148" y="86486"/>
                  </a:lnTo>
                  <a:lnTo>
                    <a:pt x="49148" y="715136"/>
                  </a:lnTo>
                  <a:lnTo>
                    <a:pt x="70433" y="754915"/>
                  </a:lnTo>
                  <a:lnTo>
                    <a:pt x="96773" y="762761"/>
                  </a:lnTo>
                  <a:lnTo>
                    <a:pt x="3736848" y="762761"/>
                  </a:lnTo>
                  <a:lnTo>
                    <a:pt x="3736848" y="800861"/>
                  </a:lnTo>
                  <a:close/>
                </a:path>
                <a:path w="3736975" h="801370">
                  <a:moveTo>
                    <a:pt x="3736848" y="762761"/>
                  </a:moveTo>
                  <a:lnTo>
                    <a:pt x="3640073" y="762761"/>
                  </a:lnTo>
                  <a:lnTo>
                    <a:pt x="3649575" y="761889"/>
                  </a:lnTo>
                  <a:lnTo>
                    <a:pt x="3658356" y="759274"/>
                  </a:lnTo>
                  <a:lnTo>
                    <a:pt x="3686826" y="724638"/>
                  </a:lnTo>
                  <a:lnTo>
                    <a:pt x="3687698" y="715136"/>
                  </a:lnTo>
                  <a:lnTo>
                    <a:pt x="3687698" y="86486"/>
                  </a:lnTo>
                  <a:lnTo>
                    <a:pt x="3666414" y="46707"/>
                  </a:lnTo>
                  <a:lnTo>
                    <a:pt x="3640073" y="38861"/>
                  </a:lnTo>
                  <a:lnTo>
                    <a:pt x="3736848" y="38861"/>
                  </a:lnTo>
                  <a:lnTo>
                    <a:pt x="3736848" y="7627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91011" y="5686424"/>
              <a:ext cx="3634104" cy="742950"/>
            </a:xfrm>
            <a:custGeom>
              <a:avLst/>
              <a:gdLst/>
              <a:ahLst/>
              <a:cxnLst/>
              <a:rect l="l" t="t" r="r" b="b"/>
              <a:pathLst>
                <a:path w="3634104" h="742950">
                  <a:moveTo>
                    <a:pt x="3580389" y="742949"/>
                  </a:moveTo>
                  <a:lnTo>
                    <a:pt x="28916" y="742949"/>
                  </a:lnTo>
                  <a:lnTo>
                    <a:pt x="24664" y="741499"/>
                  </a:lnTo>
                  <a:lnTo>
                    <a:pt x="845" y="700668"/>
                  </a:lnTo>
                  <a:lnTo>
                    <a:pt x="0" y="693378"/>
                  </a:lnTo>
                  <a:lnTo>
                    <a:pt x="0" y="6857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3580389" y="0"/>
                  </a:lnTo>
                  <a:lnTo>
                    <a:pt x="3619700" y="19391"/>
                  </a:lnTo>
                  <a:lnTo>
                    <a:pt x="3633786" y="53397"/>
                  </a:lnTo>
                  <a:lnTo>
                    <a:pt x="3633786" y="689552"/>
                  </a:lnTo>
                  <a:lnTo>
                    <a:pt x="3614393" y="728864"/>
                  </a:lnTo>
                  <a:lnTo>
                    <a:pt x="3584105" y="742583"/>
                  </a:lnTo>
                  <a:lnTo>
                    <a:pt x="3580389" y="74294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67199" y="5686424"/>
              <a:ext cx="54610" cy="742950"/>
            </a:xfrm>
            <a:custGeom>
              <a:avLst/>
              <a:gdLst/>
              <a:ahLst/>
              <a:cxnLst/>
              <a:rect l="l" t="t" r="r" b="b"/>
              <a:pathLst>
                <a:path w="54610" h="742950">
                  <a:moveTo>
                    <a:pt x="54519" y="742949"/>
                  </a:moveTo>
                  <a:lnTo>
                    <a:pt x="49570" y="742949"/>
                  </a:lnTo>
                  <a:lnTo>
                    <a:pt x="42280" y="741498"/>
                  </a:lnTo>
                  <a:lnTo>
                    <a:pt x="7249" y="714671"/>
                  </a:lnTo>
                  <a:lnTo>
                    <a:pt x="0" y="693380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85799"/>
                  </a:lnTo>
                  <a:lnTo>
                    <a:pt x="50414" y="726210"/>
                  </a:lnTo>
                  <a:lnTo>
                    <a:pt x="52274" y="737369"/>
                  </a:lnTo>
                  <a:lnTo>
                    <a:pt x="54519" y="7429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650" y="5968999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733875" y="5757431"/>
            <a:ext cx="278574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3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7E1C1C"/>
                </a:solidFill>
                <a:latin typeface="Arial"/>
                <a:cs typeface="Arial"/>
              </a:rPr>
              <a:t>Ne</a:t>
            </a:r>
            <a:r>
              <a:rPr dirty="0" sz="1400" spc="-4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7E1C1C"/>
                </a:solidFill>
                <a:latin typeface="Arial"/>
                <a:cs typeface="Arial"/>
              </a:rPr>
              <a:t>représente</a:t>
            </a:r>
            <a:r>
              <a:rPr dirty="0" sz="1400" spc="-4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pas</a:t>
            </a:r>
            <a:r>
              <a:rPr dirty="0" sz="1400" spc="-45">
                <a:solidFill>
                  <a:srgbClr val="7E1C1C"/>
                </a:solidFill>
                <a:latin typeface="Arial"/>
                <a:cs typeface="Arial"/>
              </a:rPr>
              <a:t> un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instant </a:t>
            </a:r>
            <a:r>
              <a:rPr dirty="0" sz="1400" spc="-20">
                <a:solidFill>
                  <a:srgbClr val="7E1C1C"/>
                </a:solidFill>
                <a:latin typeface="Arial"/>
                <a:cs typeface="Arial"/>
              </a:rPr>
              <a:t>absolu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7E1C1C"/>
                </a:solidFill>
                <a:latin typeface="Arial"/>
                <a:cs typeface="Arial"/>
              </a:rPr>
              <a:t>(dépend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de</a:t>
            </a:r>
            <a:r>
              <a:rPr dirty="0" sz="1400" spc="-5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7E1C1C"/>
                </a:solidFill>
                <a:latin typeface="Arial"/>
                <a:cs typeface="Arial"/>
              </a:rPr>
              <a:t>qui</a:t>
            </a:r>
            <a:r>
              <a:rPr dirty="0" sz="1400" spc="-5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regarde).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028432" y="5657088"/>
            <a:ext cx="3728085" cy="801370"/>
            <a:chOff x="8028432" y="5657088"/>
            <a:chExt cx="3728085" cy="801370"/>
          </a:xfrm>
        </p:grpSpPr>
        <p:sp>
          <p:nvSpPr>
            <p:cNvPr id="16" name="object 16" descr=""/>
            <p:cNvSpPr/>
            <p:nvPr/>
          </p:nvSpPr>
          <p:spPr>
            <a:xfrm>
              <a:off x="8028432" y="5657088"/>
              <a:ext cx="3728085" cy="801370"/>
            </a:xfrm>
            <a:custGeom>
              <a:avLst/>
              <a:gdLst/>
              <a:ahLst/>
              <a:cxnLst/>
              <a:rect l="l" t="t" r="r" b="b"/>
              <a:pathLst>
                <a:path w="3728084" h="801370">
                  <a:moveTo>
                    <a:pt x="3727704" y="800861"/>
                  </a:moveTo>
                  <a:lnTo>
                    <a:pt x="0" y="800861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6392" y="38861"/>
                  </a:lnTo>
                  <a:lnTo>
                    <a:pt x="86890" y="39733"/>
                  </a:lnTo>
                  <a:lnTo>
                    <a:pt x="52254" y="68203"/>
                  </a:lnTo>
                  <a:lnTo>
                    <a:pt x="48767" y="86486"/>
                  </a:lnTo>
                  <a:lnTo>
                    <a:pt x="48767" y="715136"/>
                  </a:lnTo>
                  <a:lnTo>
                    <a:pt x="70052" y="754915"/>
                  </a:lnTo>
                  <a:lnTo>
                    <a:pt x="96392" y="762761"/>
                  </a:lnTo>
                  <a:lnTo>
                    <a:pt x="3727704" y="762761"/>
                  </a:lnTo>
                  <a:lnTo>
                    <a:pt x="3727704" y="800861"/>
                  </a:lnTo>
                  <a:close/>
                </a:path>
                <a:path w="3728084" h="801370">
                  <a:moveTo>
                    <a:pt x="3727704" y="762761"/>
                  </a:moveTo>
                  <a:lnTo>
                    <a:pt x="3630167" y="762761"/>
                  </a:lnTo>
                  <a:lnTo>
                    <a:pt x="3639669" y="761889"/>
                  </a:lnTo>
                  <a:lnTo>
                    <a:pt x="3648449" y="759274"/>
                  </a:lnTo>
                  <a:lnTo>
                    <a:pt x="3676920" y="724638"/>
                  </a:lnTo>
                  <a:lnTo>
                    <a:pt x="3677792" y="715136"/>
                  </a:lnTo>
                  <a:lnTo>
                    <a:pt x="3677792" y="86486"/>
                  </a:lnTo>
                  <a:lnTo>
                    <a:pt x="3656507" y="46707"/>
                  </a:lnTo>
                  <a:lnTo>
                    <a:pt x="3630167" y="38861"/>
                  </a:lnTo>
                  <a:lnTo>
                    <a:pt x="3727704" y="38861"/>
                  </a:lnTo>
                  <a:lnTo>
                    <a:pt x="3727704" y="7627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91486" y="5686424"/>
              <a:ext cx="3624579" cy="742950"/>
            </a:xfrm>
            <a:custGeom>
              <a:avLst/>
              <a:gdLst/>
              <a:ahLst/>
              <a:cxnLst/>
              <a:rect l="l" t="t" r="r" b="b"/>
              <a:pathLst>
                <a:path w="3624579" h="742950">
                  <a:moveTo>
                    <a:pt x="3570863" y="742949"/>
                  </a:moveTo>
                  <a:lnTo>
                    <a:pt x="28916" y="742949"/>
                  </a:lnTo>
                  <a:lnTo>
                    <a:pt x="24663" y="741499"/>
                  </a:lnTo>
                  <a:lnTo>
                    <a:pt x="845" y="700668"/>
                  </a:lnTo>
                  <a:lnTo>
                    <a:pt x="0" y="693378"/>
                  </a:lnTo>
                  <a:lnTo>
                    <a:pt x="0" y="685799"/>
                  </a:lnTo>
                  <a:lnTo>
                    <a:pt x="0" y="49570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3570863" y="0"/>
                  </a:lnTo>
                  <a:lnTo>
                    <a:pt x="3610176" y="19391"/>
                  </a:lnTo>
                  <a:lnTo>
                    <a:pt x="3624261" y="53397"/>
                  </a:lnTo>
                  <a:lnTo>
                    <a:pt x="3624261" y="689552"/>
                  </a:lnTo>
                  <a:lnTo>
                    <a:pt x="3604867" y="728864"/>
                  </a:lnTo>
                  <a:lnTo>
                    <a:pt x="3574579" y="742583"/>
                  </a:lnTo>
                  <a:lnTo>
                    <a:pt x="3570863" y="7429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67674" y="5686424"/>
              <a:ext cx="54610" cy="742950"/>
            </a:xfrm>
            <a:custGeom>
              <a:avLst/>
              <a:gdLst/>
              <a:ahLst/>
              <a:cxnLst/>
              <a:rect l="l" t="t" r="r" b="b"/>
              <a:pathLst>
                <a:path w="54609" h="742950">
                  <a:moveTo>
                    <a:pt x="54519" y="742949"/>
                  </a:moveTo>
                  <a:lnTo>
                    <a:pt x="49570" y="742949"/>
                  </a:lnTo>
                  <a:lnTo>
                    <a:pt x="42279" y="741498"/>
                  </a:lnTo>
                  <a:lnTo>
                    <a:pt x="7248" y="714671"/>
                  </a:lnTo>
                  <a:lnTo>
                    <a:pt x="0" y="693381"/>
                  </a:lnTo>
                  <a:lnTo>
                    <a:pt x="0" y="49568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85799"/>
                  </a:lnTo>
                  <a:lnTo>
                    <a:pt x="50414" y="726210"/>
                  </a:lnTo>
                  <a:lnTo>
                    <a:pt x="52274" y="737369"/>
                  </a:lnTo>
                  <a:lnTo>
                    <a:pt x="54519" y="7429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8075" y="5956299"/>
              <a:ext cx="136525" cy="193675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8480325" y="5757431"/>
            <a:ext cx="300799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4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3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Pensez </a:t>
            </a:r>
            <a:r>
              <a:rPr dirty="0" sz="1400" spc="-30">
                <a:solidFill>
                  <a:srgbClr val="1D3A8A"/>
                </a:solidFill>
                <a:latin typeface="Arial"/>
                <a:cs typeface="Arial"/>
              </a:rPr>
              <a:t>"Horloge</a:t>
            </a:r>
            <a:r>
              <a:rPr dirty="0" sz="1400" spc="-6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1D3A8A"/>
                </a:solidFill>
                <a:latin typeface="Arial"/>
                <a:cs typeface="Arial"/>
              </a:rPr>
              <a:t>murale"</a:t>
            </a:r>
            <a:r>
              <a:rPr dirty="0" sz="1400" spc="-6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D3A8A"/>
                </a:solidFill>
                <a:latin typeface="Arial"/>
                <a:cs typeface="Arial"/>
              </a:rPr>
              <a:t>(Wall </a:t>
            </a: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Clock).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0" y="2231136"/>
            <a:ext cx="12192000" cy="4236720"/>
            <a:chOff x="0" y="2231136"/>
            <a:chExt cx="12192000" cy="4236720"/>
          </a:xfrm>
        </p:grpSpPr>
        <p:sp>
          <p:nvSpPr>
            <p:cNvPr id="22" name="object 22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20624" y="2231136"/>
              <a:ext cx="11351260" cy="3386454"/>
            </a:xfrm>
            <a:custGeom>
              <a:avLst/>
              <a:gdLst/>
              <a:ahLst/>
              <a:cxnLst/>
              <a:rect l="l" t="t" r="r" b="b"/>
              <a:pathLst>
                <a:path w="11351260" h="3386454">
                  <a:moveTo>
                    <a:pt x="11350752" y="3386328"/>
                  </a:moveTo>
                  <a:lnTo>
                    <a:pt x="0" y="338632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236213"/>
                  </a:lnTo>
                  <a:lnTo>
                    <a:pt x="76377" y="3273262"/>
                  </a:lnTo>
                  <a:lnTo>
                    <a:pt x="106310" y="3297812"/>
                  </a:lnTo>
                  <a:lnTo>
                    <a:pt x="131825" y="3302888"/>
                  </a:lnTo>
                  <a:lnTo>
                    <a:pt x="11350752" y="3302888"/>
                  </a:lnTo>
                  <a:lnTo>
                    <a:pt x="11350752" y="3386328"/>
                  </a:lnTo>
                  <a:close/>
                </a:path>
                <a:path w="11351260" h="3386454">
                  <a:moveTo>
                    <a:pt x="11350752" y="3302888"/>
                  </a:moveTo>
                  <a:lnTo>
                    <a:pt x="11218925" y="3302888"/>
                  </a:lnTo>
                  <a:lnTo>
                    <a:pt x="11225493" y="3302571"/>
                  </a:lnTo>
                  <a:lnTo>
                    <a:pt x="11231935" y="3301619"/>
                  </a:lnTo>
                  <a:lnTo>
                    <a:pt x="11266071" y="3283359"/>
                  </a:lnTo>
                  <a:lnTo>
                    <a:pt x="11284331" y="3249223"/>
                  </a:lnTo>
                  <a:lnTo>
                    <a:pt x="11285600" y="32362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3028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1012" y="2271712"/>
              <a:ext cx="11229975" cy="3267075"/>
            </a:xfrm>
            <a:custGeom>
              <a:avLst/>
              <a:gdLst/>
              <a:ahLst/>
              <a:cxnLst/>
              <a:rect l="l" t="t" r="r" b="b"/>
              <a:pathLst>
                <a:path w="11229975" h="3267075">
                  <a:moveTo>
                    <a:pt x="11163227" y="3267074"/>
                  </a:moveTo>
                  <a:lnTo>
                    <a:pt x="66746" y="3267074"/>
                  </a:lnTo>
                  <a:lnTo>
                    <a:pt x="62101" y="3266617"/>
                  </a:lnTo>
                  <a:lnTo>
                    <a:pt x="24240" y="3249467"/>
                  </a:lnTo>
                  <a:lnTo>
                    <a:pt x="2287" y="3214173"/>
                  </a:lnTo>
                  <a:lnTo>
                    <a:pt x="0" y="3200327"/>
                  </a:lnTo>
                  <a:lnTo>
                    <a:pt x="0" y="31956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200327"/>
                  </a:lnTo>
                  <a:lnTo>
                    <a:pt x="11215327" y="3239225"/>
                  </a:lnTo>
                  <a:lnTo>
                    <a:pt x="11181539" y="3263431"/>
                  </a:lnTo>
                  <a:lnTo>
                    <a:pt x="11167872" y="3266617"/>
                  </a:lnTo>
                  <a:lnTo>
                    <a:pt x="11163227" y="32670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1012" y="2271712"/>
              <a:ext cx="11229975" cy="3267075"/>
            </a:xfrm>
            <a:custGeom>
              <a:avLst/>
              <a:gdLst/>
              <a:ahLst/>
              <a:cxnLst/>
              <a:rect l="l" t="t" r="r" b="b"/>
              <a:pathLst>
                <a:path w="11229975" h="3267075">
                  <a:moveTo>
                    <a:pt x="0" y="31956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3195637"/>
                  </a:lnTo>
                  <a:lnTo>
                    <a:pt x="11229972" y="3200327"/>
                  </a:lnTo>
                  <a:lnTo>
                    <a:pt x="11229514" y="3204973"/>
                  </a:lnTo>
                  <a:lnTo>
                    <a:pt x="11228599" y="3209573"/>
                  </a:lnTo>
                  <a:lnTo>
                    <a:pt x="11227684" y="3214173"/>
                  </a:lnTo>
                  <a:lnTo>
                    <a:pt x="11217932" y="3235324"/>
                  </a:lnTo>
                  <a:lnTo>
                    <a:pt x="11215327" y="3239225"/>
                  </a:lnTo>
                  <a:lnTo>
                    <a:pt x="11198222" y="3255034"/>
                  </a:lnTo>
                  <a:lnTo>
                    <a:pt x="11194322" y="3257640"/>
                  </a:lnTo>
                  <a:lnTo>
                    <a:pt x="11190206" y="3259841"/>
                  </a:lnTo>
                  <a:lnTo>
                    <a:pt x="11185873" y="3261636"/>
                  </a:lnTo>
                  <a:lnTo>
                    <a:pt x="11181539" y="3263431"/>
                  </a:lnTo>
                  <a:lnTo>
                    <a:pt x="11177072" y="3264786"/>
                  </a:lnTo>
                  <a:lnTo>
                    <a:pt x="11172472" y="3265701"/>
                  </a:lnTo>
                  <a:lnTo>
                    <a:pt x="11167872" y="3266617"/>
                  </a:lnTo>
                  <a:lnTo>
                    <a:pt x="11163227" y="3267074"/>
                  </a:lnTo>
                  <a:lnTo>
                    <a:pt x="11158536" y="3267074"/>
                  </a:lnTo>
                  <a:lnTo>
                    <a:pt x="71437" y="3267074"/>
                  </a:lnTo>
                  <a:lnTo>
                    <a:pt x="66746" y="3267074"/>
                  </a:lnTo>
                  <a:lnTo>
                    <a:pt x="62101" y="3266617"/>
                  </a:lnTo>
                  <a:lnTo>
                    <a:pt x="57500" y="3265701"/>
                  </a:lnTo>
                  <a:lnTo>
                    <a:pt x="52900" y="3264786"/>
                  </a:lnTo>
                  <a:lnTo>
                    <a:pt x="48433" y="3263431"/>
                  </a:lnTo>
                  <a:lnTo>
                    <a:pt x="44099" y="3261636"/>
                  </a:lnTo>
                  <a:lnTo>
                    <a:pt x="39765" y="3259841"/>
                  </a:lnTo>
                  <a:lnTo>
                    <a:pt x="35649" y="3257640"/>
                  </a:lnTo>
                  <a:lnTo>
                    <a:pt x="31748" y="3255034"/>
                  </a:lnTo>
                  <a:lnTo>
                    <a:pt x="27848" y="3252428"/>
                  </a:lnTo>
                  <a:lnTo>
                    <a:pt x="24240" y="3249467"/>
                  </a:lnTo>
                  <a:lnTo>
                    <a:pt x="20923" y="3246150"/>
                  </a:lnTo>
                  <a:lnTo>
                    <a:pt x="17606" y="3242834"/>
                  </a:lnTo>
                  <a:lnTo>
                    <a:pt x="5437" y="3222974"/>
                  </a:lnTo>
                  <a:lnTo>
                    <a:pt x="3642" y="3218641"/>
                  </a:lnTo>
                  <a:lnTo>
                    <a:pt x="2287" y="3214173"/>
                  </a:lnTo>
                  <a:lnTo>
                    <a:pt x="1372" y="3209573"/>
                  </a:lnTo>
                  <a:lnTo>
                    <a:pt x="457" y="3204973"/>
                  </a:lnTo>
                  <a:lnTo>
                    <a:pt x="0" y="3200327"/>
                  </a:lnTo>
                  <a:lnTo>
                    <a:pt x="0" y="31956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3550" y="797492"/>
            <a:ext cx="10349865" cy="45707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Combinaison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Date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4738B"/>
                </a:solidFill>
                <a:latin typeface="Arial"/>
                <a:cs typeface="Arial"/>
              </a:rPr>
              <a:t>+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4738B"/>
                </a:solidFill>
                <a:latin typeface="Arial"/>
                <a:cs typeface="Arial"/>
              </a:rPr>
              <a:t>Heure,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mais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64738B"/>
                </a:solidFill>
                <a:latin typeface="Arial"/>
                <a:cs typeface="Arial"/>
              </a:rPr>
              <a:t>sans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fuseau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horaire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(ex: </a:t>
            </a:r>
            <a:r>
              <a:rPr dirty="0" sz="1400" spc="-70">
                <a:solidFill>
                  <a:srgbClr val="64738B"/>
                </a:solidFill>
                <a:latin typeface="Arial"/>
                <a:cs typeface="Arial"/>
              </a:rPr>
              <a:t>Réveil,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Planning).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20200"/>
              </a:lnSpc>
              <a:spcBef>
                <a:spcPts val="960"/>
              </a:spcBef>
            </a:pP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LocalDateTime</a:t>
            </a:r>
            <a:r>
              <a:rPr dirty="0" sz="1650" spc="-57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représente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date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 une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heure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(ex: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50" spc="-10" i="1">
                <a:solidFill>
                  <a:srgbClr val="334054"/>
                </a:solidFill>
                <a:latin typeface="Arial"/>
                <a:cs typeface="Arial"/>
              </a:rPr>
              <a:t>"01/09/2026</a:t>
            </a:r>
            <a:r>
              <a:rPr dirty="0" sz="1750" spc="-65" i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50" spc="-55" i="1">
                <a:solidFill>
                  <a:srgbClr val="334054"/>
                </a:solidFill>
                <a:latin typeface="Arial"/>
                <a:cs typeface="Arial"/>
              </a:rPr>
              <a:t>08:30"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)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sans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contexte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géographique.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C'est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l'équivalent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l'horloge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murale.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5" i="1">
                <a:solidFill>
                  <a:srgbClr val="6A737D"/>
                </a:solidFill>
                <a:latin typeface="Times New Roman"/>
                <a:cs typeface="Times New Roman"/>
              </a:rPr>
              <a:t>Début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d'un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5" i="1">
                <a:solidFill>
                  <a:srgbClr val="6A737D"/>
                </a:solidFill>
                <a:latin typeface="Times New Roman"/>
                <a:cs typeface="Times New Roman"/>
              </a:rPr>
              <a:t>module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1er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Sept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2026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à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50" i="1">
                <a:solidFill>
                  <a:srgbClr val="6A737D"/>
                </a:solidFill>
                <a:latin typeface="Times New Roman"/>
                <a:cs typeface="Times New Roman"/>
              </a:rPr>
              <a:t>08:30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89"/>
              </a:spcBef>
            </a:pP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debut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40">
                <a:solidFill>
                  <a:srgbClr val="6F41C1"/>
                </a:solidFill>
                <a:latin typeface="Times New Roman"/>
                <a:cs typeface="Times New Roman"/>
              </a:rPr>
              <a:t>of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(2026,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55">
                <a:solidFill>
                  <a:srgbClr val="334054"/>
                </a:solidFill>
                <a:latin typeface="Times New Roman"/>
                <a:cs typeface="Times New Roman"/>
              </a:rPr>
              <a:t>9,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55">
                <a:solidFill>
                  <a:srgbClr val="334054"/>
                </a:solidFill>
                <a:latin typeface="Times New Roman"/>
                <a:cs typeface="Times New Roman"/>
              </a:rPr>
              <a:t>1,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55">
                <a:solidFill>
                  <a:srgbClr val="334054"/>
                </a:solidFill>
                <a:latin typeface="Times New Roman"/>
                <a:cs typeface="Times New Roman"/>
              </a:rPr>
              <a:t>8,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30);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Maintenant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5" i="1">
                <a:solidFill>
                  <a:srgbClr val="6A737D"/>
                </a:solidFill>
                <a:latin typeface="Times New Roman"/>
                <a:cs typeface="Times New Roman"/>
              </a:rPr>
              <a:t>(date/heure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système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70" i="1">
                <a:solidFill>
                  <a:srgbClr val="6A737D"/>
                </a:solidFill>
                <a:latin typeface="Times New Roman"/>
                <a:cs typeface="Times New Roman"/>
              </a:rPr>
              <a:t>locale)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89"/>
              </a:spcBef>
            </a:pP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60">
                <a:solidFill>
                  <a:srgbClr val="334054"/>
                </a:solidFill>
                <a:latin typeface="Times New Roman"/>
                <a:cs typeface="Times New Roman"/>
              </a:rPr>
              <a:t>now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1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15">
                <a:solidFill>
                  <a:srgbClr val="6F41C1"/>
                </a:solidFill>
                <a:latin typeface="Times New Roman"/>
                <a:cs typeface="Times New Roman"/>
              </a:rPr>
              <a:t>now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3.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Modification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forcer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20" i="1">
                <a:solidFill>
                  <a:srgbClr val="6A737D"/>
                </a:solidFill>
                <a:latin typeface="Times New Roman"/>
                <a:cs typeface="Times New Roman"/>
              </a:rPr>
              <a:t>les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95" i="1">
                <a:solidFill>
                  <a:srgbClr val="6A737D"/>
                </a:solidFill>
                <a:latin typeface="Times New Roman"/>
                <a:cs typeface="Times New Roman"/>
              </a:rPr>
              <a:t>secondes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à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0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(copie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50" i="1">
                <a:solidFill>
                  <a:srgbClr val="6A737D"/>
                </a:solidFill>
                <a:latin typeface="Times New Roman"/>
                <a:cs typeface="Times New Roman"/>
              </a:rPr>
              <a:t>immuable)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89"/>
              </a:spcBef>
            </a:pP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10">
                <a:solidFill>
                  <a:srgbClr val="334054"/>
                </a:solidFill>
                <a:latin typeface="Times New Roman"/>
                <a:cs typeface="Times New Roman"/>
              </a:rPr>
              <a:t>precise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9">
                <a:solidFill>
                  <a:srgbClr val="334054"/>
                </a:solidFill>
                <a:latin typeface="Times New Roman"/>
                <a:cs typeface="Times New Roman"/>
              </a:rPr>
              <a:t>now.</a:t>
            </a:r>
            <a:r>
              <a:rPr dirty="0" sz="1450" spc="229">
                <a:solidFill>
                  <a:srgbClr val="6F41C1"/>
                </a:solidFill>
                <a:latin typeface="Times New Roman"/>
                <a:cs typeface="Times New Roman"/>
              </a:rPr>
              <a:t>withSecond</a:t>
            </a:r>
            <a:r>
              <a:rPr dirty="0" sz="1450" spc="229">
                <a:solidFill>
                  <a:srgbClr val="334054"/>
                </a:solidFill>
                <a:latin typeface="Times New Roman"/>
                <a:cs typeface="Times New Roman"/>
              </a:rPr>
              <a:t>(0).</a:t>
            </a:r>
            <a:r>
              <a:rPr dirty="0" sz="1450" spc="229">
                <a:solidFill>
                  <a:srgbClr val="6F41C1"/>
                </a:solidFill>
                <a:latin typeface="Times New Roman"/>
                <a:cs typeface="Times New Roman"/>
              </a:rPr>
              <a:t>withNano</a:t>
            </a:r>
            <a:r>
              <a:rPr dirty="0" sz="1450" spc="229">
                <a:solidFill>
                  <a:srgbClr val="334054"/>
                </a:solidFill>
                <a:latin typeface="Times New Roman"/>
                <a:cs typeface="Times New Roman"/>
              </a:rPr>
              <a:t>(0);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4.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Calcul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Fin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du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cours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50" i="1">
                <a:solidFill>
                  <a:srgbClr val="6A737D"/>
                </a:solidFill>
                <a:latin typeface="Times New Roman"/>
                <a:cs typeface="Times New Roman"/>
              </a:rPr>
              <a:t>(+2h)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</a:pP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60">
                <a:solidFill>
                  <a:srgbClr val="334054"/>
                </a:solidFill>
                <a:latin typeface="Times New Roman"/>
                <a:cs typeface="Times New Roman"/>
              </a:rPr>
              <a:t>fin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85">
                <a:solidFill>
                  <a:srgbClr val="334054"/>
                </a:solidFill>
                <a:latin typeface="Times New Roman"/>
                <a:cs typeface="Times New Roman"/>
              </a:rPr>
              <a:t>debut.</a:t>
            </a:r>
            <a:r>
              <a:rPr dirty="0" sz="1450" spc="285">
                <a:solidFill>
                  <a:srgbClr val="6F41C1"/>
                </a:solidFill>
                <a:latin typeface="Times New Roman"/>
                <a:cs typeface="Times New Roman"/>
              </a:rPr>
              <a:t>plusHours</a:t>
            </a:r>
            <a:r>
              <a:rPr dirty="0" sz="1450" spc="285">
                <a:solidFill>
                  <a:srgbClr val="334054"/>
                </a:solidFill>
                <a:latin typeface="Times New Roman"/>
                <a:cs typeface="Times New Roman"/>
              </a:rPr>
              <a:t>(2);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10:30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 spc="60"/>
              <a:t>19.</a:t>
            </a:r>
            <a:r>
              <a:rPr dirty="0" sz="2650" spc="-85"/>
              <a:t> </a:t>
            </a:r>
            <a:r>
              <a:rPr dirty="0" sz="2650" spc="-25"/>
              <a:t>java.time</a:t>
            </a:r>
            <a:r>
              <a:rPr dirty="0" sz="2650" spc="-80"/>
              <a:t> </a:t>
            </a:r>
            <a:r>
              <a:rPr dirty="0" sz="2650" spc="-610"/>
              <a:t>—</a:t>
            </a:r>
            <a:r>
              <a:rPr dirty="0" sz="2650" spc="-70"/>
              <a:t> </a:t>
            </a:r>
            <a:r>
              <a:rPr dirty="0" sz="2650" spc="-30"/>
              <a:t>DateTimeFormatter</a:t>
            </a:r>
            <a:endParaRPr sz="2650"/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428488"/>
            <a:ext cx="3728085" cy="1003300"/>
            <a:chOff x="435863" y="5428488"/>
            <a:chExt cx="3728085" cy="100330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428488"/>
              <a:ext cx="3728085" cy="1003300"/>
            </a:xfrm>
            <a:custGeom>
              <a:avLst/>
              <a:gdLst/>
              <a:ahLst/>
              <a:cxnLst/>
              <a:rect l="l" t="t" r="r" b="b"/>
              <a:pathLst>
                <a:path w="3728085" h="1003300">
                  <a:moveTo>
                    <a:pt x="3727704" y="1002792"/>
                  </a:moveTo>
                  <a:lnTo>
                    <a:pt x="0" y="1002792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7535" y="38861"/>
                  </a:lnTo>
                  <a:lnTo>
                    <a:pt x="88033" y="39733"/>
                  </a:lnTo>
                  <a:lnTo>
                    <a:pt x="53398" y="68203"/>
                  </a:lnTo>
                  <a:lnTo>
                    <a:pt x="49910" y="86486"/>
                  </a:lnTo>
                  <a:lnTo>
                    <a:pt x="49910" y="896111"/>
                  </a:lnTo>
                  <a:lnTo>
                    <a:pt x="71195" y="935889"/>
                  </a:lnTo>
                  <a:lnTo>
                    <a:pt x="97535" y="943736"/>
                  </a:lnTo>
                  <a:lnTo>
                    <a:pt x="3727704" y="943736"/>
                  </a:lnTo>
                  <a:lnTo>
                    <a:pt x="3727704" y="1002792"/>
                  </a:lnTo>
                  <a:close/>
                </a:path>
                <a:path w="3728085" h="1003300">
                  <a:moveTo>
                    <a:pt x="3727704" y="943736"/>
                  </a:moveTo>
                  <a:lnTo>
                    <a:pt x="3631310" y="943736"/>
                  </a:lnTo>
                  <a:lnTo>
                    <a:pt x="3640813" y="942864"/>
                  </a:lnTo>
                  <a:lnTo>
                    <a:pt x="3649593" y="940248"/>
                  </a:lnTo>
                  <a:lnTo>
                    <a:pt x="3678064" y="905613"/>
                  </a:lnTo>
                  <a:lnTo>
                    <a:pt x="3678935" y="896111"/>
                  </a:lnTo>
                  <a:lnTo>
                    <a:pt x="3678935" y="86486"/>
                  </a:lnTo>
                  <a:lnTo>
                    <a:pt x="3657651" y="46707"/>
                  </a:lnTo>
                  <a:lnTo>
                    <a:pt x="3631310" y="38861"/>
                  </a:lnTo>
                  <a:lnTo>
                    <a:pt x="3727704" y="38861"/>
                  </a:lnTo>
                  <a:lnTo>
                    <a:pt x="3727704" y="94373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457824"/>
              <a:ext cx="3624579" cy="923925"/>
            </a:xfrm>
            <a:custGeom>
              <a:avLst/>
              <a:gdLst/>
              <a:ahLst/>
              <a:cxnLst/>
              <a:rect l="l" t="t" r="r" b="b"/>
              <a:pathLst>
                <a:path w="3624579" h="923925">
                  <a:moveTo>
                    <a:pt x="3570864" y="923924"/>
                  </a:moveTo>
                  <a:lnTo>
                    <a:pt x="28916" y="923924"/>
                  </a:lnTo>
                  <a:lnTo>
                    <a:pt x="24664" y="922474"/>
                  </a:lnTo>
                  <a:lnTo>
                    <a:pt x="845" y="881642"/>
                  </a:lnTo>
                  <a:lnTo>
                    <a:pt x="0" y="874352"/>
                  </a:lnTo>
                  <a:lnTo>
                    <a:pt x="0" y="866774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3570864" y="0"/>
                  </a:lnTo>
                  <a:lnTo>
                    <a:pt x="3610176" y="19391"/>
                  </a:lnTo>
                  <a:lnTo>
                    <a:pt x="3624261" y="53397"/>
                  </a:lnTo>
                  <a:lnTo>
                    <a:pt x="3624261" y="870527"/>
                  </a:lnTo>
                  <a:lnTo>
                    <a:pt x="3604869" y="909838"/>
                  </a:lnTo>
                  <a:lnTo>
                    <a:pt x="3574580" y="923558"/>
                  </a:lnTo>
                  <a:lnTo>
                    <a:pt x="3570864" y="9239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457824"/>
              <a:ext cx="54610" cy="923925"/>
            </a:xfrm>
            <a:custGeom>
              <a:avLst/>
              <a:gdLst/>
              <a:ahLst/>
              <a:cxnLst/>
              <a:rect l="l" t="t" r="r" b="b"/>
              <a:pathLst>
                <a:path w="54609" h="923925">
                  <a:moveTo>
                    <a:pt x="54519" y="923924"/>
                  </a:moveTo>
                  <a:lnTo>
                    <a:pt x="49571" y="923924"/>
                  </a:lnTo>
                  <a:lnTo>
                    <a:pt x="42281" y="922473"/>
                  </a:lnTo>
                  <a:lnTo>
                    <a:pt x="7250" y="895646"/>
                  </a:lnTo>
                  <a:lnTo>
                    <a:pt x="0" y="874352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866774"/>
                  </a:lnTo>
                  <a:lnTo>
                    <a:pt x="50414" y="907185"/>
                  </a:lnTo>
                  <a:lnTo>
                    <a:pt x="52274" y="918345"/>
                  </a:lnTo>
                  <a:lnTo>
                    <a:pt x="54519" y="9239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81342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524822"/>
            <a:ext cx="2573655" cy="72072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200" spc="-50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20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00" spc="-7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20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50" spc="-65">
                <a:solidFill>
                  <a:srgbClr val="13532D"/>
                </a:solidFill>
                <a:latin typeface="Arial"/>
                <a:cs typeface="Arial"/>
              </a:rPr>
              <a:t>Ne</a:t>
            </a:r>
            <a:r>
              <a:rPr dirty="0" sz="12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13532D"/>
                </a:solidFill>
                <a:latin typeface="Arial"/>
                <a:cs typeface="Arial"/>
              </a:rPr>
              <a:t>jamais</a:t>
            </a:r>
            <a:r>
              <a:rPr dirty="0" sz="12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13532D"/>
                </a:solidFill>
                <a:latin typeface="Arial"/>
                <a:cs typeface="Arial"/>
              </a:rPr>
              <a:t>utiliser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ts val="1880"/>
              </a:lnSpc>
              <a:spcBef>
                <a:spcPts val="20"/>
              </a:spcBef>
            </a:pPr>
            <a:r>
              <a:rPr dirty="0" sz="1200">
                <a:solidFill>
                  <a:srgbClr val="13532D"/>
                </a:solidFill>
                <a:latin typeface="Courier New"/>
                <a:cs typeface="Courier New"/>
              </a:rPr>
              <a:t>SimpleDateFormat</a:t>
            </a:r>
            <a:r>
              <a:rPr dirty="0" sz="1200" spc="-415">
                <a:solidFill>
                  <a:srgbClr val="13532D"/>
                </a:solidFill>
                <a:latin typeface="Courier New"/>
                <a:cs typeface="Courier New"/>
              </a:rPr>
              <a:t> </a:t>
            </a:r>
            <a:r>
              <a:rPr dirty="0" sz="1250" spc="-20">
                <a:solidFill>
                  <a:srgbClr val="13532D"/>
                </a:solidFill>
                <a:latin typeface="Arial"/>
                <a:cs typeface="Arial"/>
              </a:rPr>
              <a:t>(risque</a:t>
            </a:r>
            <a:r>
              <a:rPr dirty="0" sz="12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13532D"/>
                </a:solidFill>
                <a:latin typeface="Arial"/>
                <a:cs typeface="Arial"/>
              </a:rPr>
              <a:t>de</a:t>
            </a:r>
            <a:r>
              <a:rPr dirty="0" sz="12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13532D"/>
                </a:solidFill>
                <a:latin typeface="Arial"/>
                <a:cs typeface="Arial"/>
              </a:rPr>
              <a:t>bugs </a:t>
            </a:r>
            <a:r>
              <a:rPr dirty="0" sz="1250" spc="-10">
                <a:solidFill>
                  <a:srgbClr val="13532D"/>
                </a:solidFill>
                <a:latin typeface="Arial"/>
                <a:cs typeface="Arial"/>
              </a:rPr>
              <a:t>concurrents).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227576" y="5428488"/>
            <a:ext cx="3736975" cy="1003300"/>
            <a:chOff x="4227576" y="5428488"/>
            <a:chExt cx="3736975" cy="1003300"/>
          </a:xfrm>
        </p:grpSpPr>
        <p:sp>
          <p:nvSpPr>
            <p:cNvPr id="10" name="object 10" descr=""/>
            <p:cNvSpPr/>
            <p:nvPr/>
          </p:nvSpPr>
          <p:spPr>
            <a:xfrm>
              <a:off x="4227576" y="5428488"/>
              <a:ext cx="3736975" cy="1003300"/>
            </a:xfrm>
            <a:custGeom>
              <a:avLst/>
              <a:gdLst/>
              <a:ahLst/>
              <a:cxnLst/>
              <a:rect l="l" t="t" r="r" b="b"/>
              <a:pathLst>
                <a:path w="3736975" h="1003300">
                  <a:moveTo>
                    <a:pt x="3736848" y="1002792"/>
                  </a:moveTo>
                  <a:lnTo>
                    <a:pt x="0" y="1002792"/>
                  </a:lnTo>
                  <a:lnTo>
                    <a:pt x="0" y="0"/>
                  </a:lnTo>
                  <a:lnTo>
                    <a:pt x="3736848" y="0"/>
                  </a:lnTo>
                  <a:lnTo>
                    <a:pt x="3736848" y="38861"/>
                  </a:lnTo>
                  <a:lnTo>
                    <a:pt x="96773" y="38861"/>
                  </a:lnTo>
                  <a:lnTo>
                    <a:pt x="87271" y="39733"/>
                  </a:lnTo>
                  <a:lnTo>
                    <a:pt x="52635" y="68203"/>
                  </a:lnTo>
                  <a:lnTo>
                    <a:pt x="49148" y="86486"/>
                  </a:lnTo>
                  <a:lnTo>
                    <a:pt x="49148" y="896111"/>
                  </a:lnTo>
                  <a:lnTo>
                    <a:pt x="70433" y="935889"/>
                  </a:lnTo>
                  <a:lnTo>
                    <a:pt x="96773" y="943736"/>
                  </a:lnTo>
                  <a:lnTo>
                    <a:pt x="3736848" y="943736"/>
                  </a:lnTo>
                  <a:lnTo>
                    <a:pt x="3736848" y="1002792"/>
                  </a:lnTo>
                  <a:close/>
                </a:path>
                <a:path w="3736975" h="1003300">
                  <a:moveTo>
                    <a:pt x="3736848" y="943736"/>
                  </a:moveTo>
                  <a:lnTo>
                    <a:pt x="3640073" y="943736"/>
                  </a:lnTo>
                  <a:lnTo>
                    <a:pt x="3649575" y="942864"/>
                  </a:lnTo>
                  <a:lnTo>
                    <a:pt x="3658356" y="940248"/>
                  </a:lnTo>
                  <a:lnTo>
                    <a:pt x="3686826" y="905613"/>
                  </a:lnTo>
                  <a:lnTo>
                    <a:pt x="3687698" y="896111"/>
                  </a:lnTo>
                  <a:lnTo>
                    <a:pt x="3687698" y="86486"/>
                  </a:lnTo>
                  <a:lnTo>
                    <a:pt x="3666414" y="46707"/>
                  </a:lnTo>
                  <a:lnTo>
                    <a:pt x="3640073" y="38861"/>
                  </a:lnTo>
                  <a:lnTo>
                    <a:pt x="3736848" y="38861"/>
                  </a:lnTo>
                  <a:lnTo>
                    <a:pt x="3736848" y="94373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91011" y="5457824"/>
              <a:ext cx="3634104" cy="923925"/>
            </a:xfrm>
            <a:custGeom>
              <a:avLst/>
              <a:gdLst/>
              <a:ahLst/>
              <a:cxnLst/>
              <a:rect l="l" t="t" r="r" b="b"/>
              <a:pathLst>
                <a:path w="3634104" h="923925">
                  <a:moveTo>
                    <a:pt x="3580389" y="923924"/>
                  </a:moveTo>
                  <a:lnTo>
                    <a:pt x="28916" y="923924"/>
                  </a:lnTo>
                  <a:lnTo>
                    <a:pt x="24664" y="922474"/>
                  </a:lnTo>
                  <a:lnTo>
                    <a:pt x="845" y="881642"/>
                  </a:lnTo>
                  <a:lnTo>
                    <a:pt x="0" y="874352"/>
                  </a:lnTo>
                  <a:lnTo>
                    <a:pt x="0" y="866774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3580389" y="0"/>
                  </a:lnTo>
                  <a:lnTo>
                    <a:pt x="3619700" y="19391"/>
                  </a:lnTo>
                  <a:lnTo>
                    <a:pt x="3633786" y="53397"/>
                  </a:lnTo>
                  <a:lnTo>
                    <a:pt x="3633786" y="870527"/>
                  </a:lnTo>
                  <a:lnTo>
                    <a:pt x="3614393" y="909838"/>
                  </a:lnTo>
                  <a:lnTo>
                    <a:pt x="3584105" y="923558"/>
                  </a:lnTo>
                  <a:lnTo>
                    <a:pt x="3580389" y="92392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67199" y="5457824"/>
              <a:ext cx="54610" cy="923925"/>
            </a:xfrm>
            <a:custGeom>
              <a:avLst/>
              <a:gdLst/>
              <a:ahLst/>
              <a:cxnLst/>
              <a:rect l="l" t="t" r="r" b="b"/>
              <a:pathLst>
                <a:path w="54610" h="923925">
                  <a:moveTo>
                    <a:pt x="54519" y="923924"/>
                  </a:moveTo>
                  <a:lnTo>
                    <a:pt x="49570" y="923924"/>
                  </a:lnTo>
                  <a:lnTo>
                    <a:pt x="42280" y="922473"/>
                  </a:lnTo>
                  <a:lnTo>
                    <a:pt x="7249" y="895646"/>
                  </a:lnTo>
                  <a:lnTo>
                    <a:pt x="0" y="874354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866774"/>
                  </a:lnTo>
                  <a:lnTo>
                    <a:pt x="50414" y="907185"/>
                  </a:lnTo>
                  <a:lnTo>
                    <a:pt x="52274" y="918345"/>
                  </a:lnTo>
                  <a:lnTo>
                    <a:pt x="54519" y="9239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650" y="5826124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733875" y="5629597"/>
            <a:ext cx="2649220" cy="501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200" spc="-25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200" spc="-3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00" spc="-7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200" spc="-3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7E1C1C"/>
                </a:solidFill>
                <a:latin typeface="Monaco"/>
                <a:cs typeface="Monaco"/>
              </a:rPr>
              <a:t>YYYY</a:t>
            </a:r>
            <a:r>
              <a:rPr dirty="0" sz="1200" spc="-415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250" spc="-25">
                <a:solidFill>
                  <a:srgbClr val="7E1C1C"/>
                </a:solidFill>
                <a:latin typeface="Arial"/>
                <a:cs typeface="Arial"/>
              </a:rPr>
              <a:t>(semaine)</a:t>
            </a:r>
            <a:r>
              <a:rPr dirty="0" sz="1250" spc="-4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7E1C1C"/>
                </a:solidFill>
                <a:latin typeface="Arial"/>
                <a:cs typeface="Arial"/>
              </a:rPr>
              <a:t>≠</a:t>
            </a:r>
            <a:r>
              <a:rPr dirty="0" sz="1150" spc="-1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7E1C1C"/>
                </a:solidFill>
                <a:latin typeface="Monaco"/>
                <a:cs typeface="Monaco"/>
              </a:rPr>
              <a:t>yyyy</a:t>
            </a:r>
            <a:r>
              <a:rPr dirty="0" sz="1200" spc="-420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250" spc="-45">
                <a:solidFill>
                  <a:srgbClr val="7E1C1C"/>
                </a:solidFill>
                <a:latin typeface="Arial"/>
                <a:cs typeface="Arial"/>
              </a:rPr>
              <a:t>(année </a:t>
            </a:r>
            <a:r>
              <a:rPr dirty="0" sz="1250" spc="-10">
                <a:solidFill>
                  <a:srgbClr val="7E1C1C"/>
                </a:solidFill>
                <a:latin typeface="Arial"/>
                <a:cs typeface="Arial"/>
              </a:rPr>
              <a:t>civile).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028432" y="5428488"/>
            <a:ext cx="3728085" cy="1003300"/>
            <a:chOff x="8028432" y="5428488"/>
            <a:chExt cx="3728085" cy="1003300"/>
          </a:xfrm>
        </p:grpSpPr>
        <p:sp>
          <p:nvSpPr>
            <p:cNvPr id="16" name="object 16" descr=""/>
            <p:cNvSpPr/>
            <p:nvPr/>
          </p:nvSpPr>
          <p:spPr>
            <a:xfrm>
              <a:off x="8028432" y="5428488"/>
              <a:ext cx="3728085" cy="1003300"/>
            </a:xfrm>
            <a:custGeom>
              <a:avLst/>
              <a:gdLst/>
              <a:ahLst/>
              <a:cxnLst/>
              <a:rect l="l" t="t" r="r" b="b"/>
              <a:pathLst>
                <a:path w="3728084" h="1003300">
                  <a:moveTo>
                    <a:pt x="3727704" y="1002792"/>
                  </a:moveTo>
                  <a:lnTo>
                    <a:pt x="0" y="1002792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6392" y="38861"/>
                  </a:lnTo>
                  <a:lnTo>
                    <a:pt x="86890" y="39733"/>
                  </a:lnTo>
                  <a:lnTo>
                    <a:pt x="52254" y="68203"/>
                  </a:lnTo>
                  <a:lnTo>
                    <a:pt x="48767" y="86486"/>
                  </a:lnTo>
                  <a:lnTo>
                    <a:pt x="48767" y="896111"/>
                  </a:lnTo>
                  <a:lnTo>
                    <a:pt x="70052" y="935889"/>
                  </a:lnTo>
                  <a:lnTo>
                    <a:pt x="96392" y="943736"/>
                  </a:lnTo>
                  <a:lnTo>
                    <a:pt x="3727704" y="943736"/>
                  </a:lnTo>
                  <a:lnTo>
                    <a:pt x="3727704" y="1002792"/>
                  </a:lnTo>
                  <a:close/>
                </a:path>
                <a:path w="3728084" h="1003300">
                  <a:moveTo>
                    <a:pt x="3727704" y="943736"/>
                  </a:moveTo>
                  <a:lnTo>
                    <a:pt x="3630167" y="943736"/>
                  </a:lnTo>
                  <a:lnTo>
                    <a:pt x="3639669" y="942864"/>
                  </a:lnTo>
                  <a:lnTo>
                    <a:pt x="3648449" y="940248"/>
                  </a:lnTo>
                  <a:lnTo>
                    <a:pt x="3676920" y="905613"/>
                  </a:lnTo>
                  <a:lnTo>
                    <a:pt x="3677792" y="896111"/>
                  </a:lnTo>
                  <a:lnTo>
                    <a:pt x="3677792" y="86486"/>
                  </a:lnTo>
                  <a:lnTo>
                    <a:pt x="3656507" y="46707"/>
                  </a:lnTo>
                  <a:lnTo>
                    <a:pt x="3630167" y="38861"/>
                  </a:lnTo>
                  <a:lnTo>
                    <a:pt x="3727704" y="38861"/>
                  </a:lnTo>
                  <a:lnTo>
                    <a:pt x="3727704" y="94373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91486" y="5457824"/>
              <a:ext cx="3624579" cy="923925"/>
            </a:xfrm>
            <a:custGeom>
              <a:avLst/>
              <a:gdLst/>
              <a:ahLst/>
              <a:cxnLst/>
              <a:rect l="l" t="t" r="r" b="b"/>
              <a:pathLst>
                <a:path w="3624579" h="923925">
                  <a:moveTo>
                    <a:pt x="3570863" y="923924"/>
                  </a:moveTo>
                  <a:lnTo>
                    <a:pt x="28916" y="923924"/>
                  </a:lnTo>
                  <a:lnTo>
                    <a:pt x="24663" y="922474"/>
                  </a:lnTo>
                  <a:lnTo>
                    <a:pt x="845" y="881642"/>
                  </a:lnTo>
                  <a:lnTo>
                    <a:pt x="0" y="874352"/>
                  </a:lnTo>
                  <a:lnTo>
                    <a:pt x="0" y="866774"/>
                  </a:lnTo>
                  <a:lnTo>
                    <a:pt x="0" y="49570"/>
                  </a:lnTo>
                  <a:lnTo>
                    <a:pt x="12889" y="11380"/>
                  </a:lnTo>
                  <a:lnTo>
                    <a:pt x="28916" y="0"/>
                  </a:lnTo>
                  <a:lnTo>
                    <a:pt x="3570863" y="0"/>
                  </a:lnTo>
                  <a:lnTo>
                    <a:pt x="3610176" y="19391"/>
                  </a:lnTo>
                  <a:lnTo>
                    <a:pt x="3624261" y="53397"/>
                  </a:lnTo>
                  <a:lnTo>
                    <a:pt x="3624261" y="870527"/>
                  </a:lnTo>
                  <a:lnTo>
                    <a:pt x="3604867" y="909838"/>
                  </a:lnTo>
                  <a:lnTo>
                    <a:pt x="3574579" y="923558"/>
                  </a:lnTo>
                  <a:lnTo>
                    <a:pt x="3570863" y="9239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67674" y="5457824"/>
              <a:ext cx="54610" cy="923925"/>
            </a:xfrm>
            <a:custGeom>
              <a:avLst/>
              <a:gdLst/>
              <a:ahLst/>
              <a:cxnLst/>
              <a:rect l="l" t="t" r="r" b="b"/>
              <a:pathLst>
                <a:path w="54609" h="923925">
                  <a:moveTo>
                    <a:pt x="54519" y="923924"/>
                  </a:moveTo>
                  <a:lnTo>
                    <a:pt x="49570" y="923924"/>
                  </a:lnTo>
                  <a:lnTo>
                    <a:pt x="42279" y="922473"/>
                  </a:lnTo>
                  <a:lnTo>
                    <a:pt x="7248" y="895646"/>
                  </a:lnTo>
                  <a:lnTo>
                    <a:pt x="0" y="874355"/>
                  </a:lnTo>
                  <a:lnTo>
                    <a:pt x="0" y="49568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866774"/>
                  </a:lnTo>
                  <a:lnTo>
                    <a:pt x="50414" y="907185"/>
                  </a:lnTo>
                  <a:lnTo>
                    <a:pt x="52274" y="918345"/>
                  </a:lnTo>
                  <a:lnTo>
                    <a:pt x="54519" y="9239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8075" y="5813424"/>
              <a:ext cx="136525" cy="193675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8480325" y="5795986"/>
            <a:ext cx="30264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1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150" spc="-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150" spc="-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D3A8A"/>
                </a:solidFill>
                <a:latin typeface="Monaco"/>
                <a:cs typeface="Monaco"/>
              </a:rPr>
              <a:t>ISO_DATE</a:t>
            </a:r>
            <a:r>
              <a:rPr dirty="0" sz="1200" spc="-405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200">
                <a:solidFill>
                  <a:srgbClr val="1D3A8A"/>
                </a:solidFill>
                <a:latin typeface="Arial"/>
                <a:cs typeface="Arial"/>
              </a:rPr>
              <a:t>est</a:t>
            </a:r>
            <a:r>
              <a:rPr dirty="0" sz="1200" spc="-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D3A8A"/>
                </a:solidFill>
                <a:latin typeface="Arial"/>
                <a:cs typeface="Arial"/>
              </a:rPr>
              <a:t>le</a:t>
            </a:r>
            <a:r>
              <a:rPr dirty="0" sz="1200" spc="-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D3A8A"/>
                </a:solidFill>
                <a:latin typeface="Arial"/>
                <a:cs typeface="Arial"/>
              </a:rPr>
              <a:t>format</a:t>
            </a:r>
            <a:r>
              <a:rPr dirty="0" sz="1200" spc="-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D3A8A"/>
                </a:solidFill>
                <a:latin typeface="Arial"/>
                <a:cs typeface="Arial"/>
              </a:rPr>
              <a:t>par</a:t>
            </a:r>
            <a:r>
              <a:rPr dirty="0" sz="1200" spc="-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1D3A8A"/>
                </a:solidFill>
                <a:latin typeface="Arial"/>
                <a:cs typeface="Arial"/>
              </a:rPr>
              <a:t>défaut.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0" y="2231136"/>
            <a:ext cx="12192000" cy="4236720"/>
            <a:chOff x="0" y="2231136"/>
            <a:chExt cx="12192000" cy="4236720"/>
          </a:xfrm>
        </p:grpSpPr>
        <p:sp>
          <p:nvSpPr>
            <p:cNvPr id="22" name="object 22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20624" y="2231136"/>
              <a:ext cx="11351260" cy="3157855"/>
            </a:xfrm>
            <a:custGeom>
              <a:avLst/>
              <a:gdLst/>
              <a:ahLst/>
              <a:cxnLst/>
              <a:rect l="l" t="t" r="r" b="b"/>
              <a:pathLst>
                <a:path w="11351260" h="3157854">
                  <a:moveTo>
                    <a:pt x="11350752" y="3157728"/>
                  </a:moveTo>
                  <a:lnTo>
                    <a:pt x="0" y="315772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007613"/>
                  </a:lnTo>
                  <a:lnTo>
                    <a:pt x="76377" y="3044662"/>
                  </a:lnTo>
                  <a:lnTo>
                    <a:pt x="106310" y="3069212"/>
                  </a:lnTo>
                  <a:lnTo>
                    <a:pt x="131825" y="3074288"/>
                  </a:lnTo>
                  <a:lnTo>
                    <a:pt x="11350752" y="3074288"/>
                  </a:lnTo>
                  <a:lnTo>
                    <a:pt x="11350752" y="3157728"/>
                  </a:lnTo>
                  <a:close/>
                </a:path>
                <a:path w="11351260" h="3157854">
                  <a:moveTo>
                    <a:pt x="11350752" y="3074288"/>
                  </a:moveTo>
                  <a:lnTo>
                    <a:pt x="11218925" y="3074288"/>
                  </a:lnTo>
                  <a:lnTo>
                    <a:pt x="11225493" y="3073971"/>
                  </a:lnTo>
                  <a:lnTo>
                    <a:pt x="11231935" y="3073019"/>
                  </a:lnTo>
                  <a:lnTo>
                    <a:pt x="11266071" y="3054759"/>
                  </a:lnTo>
                  <a:lnTo>
                    <a:pt x="11284331" y="3020623"/>
                  </a:lnTo>
                  <a:lnTo>
                    <a:pt x="11285600" y="30076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0742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1012" y="2271712"/>
              <a:ext cx="11229975" cy="3038475"/>
            </a:xfrm>
            <a:custGeom>
              <a:avLst/>
              <a:gdLst/>
              <a:ahLst/>
              <a:cxnLst/>
              <a:rect l="l" t="t" r="r" b="b"/>
              <a:pathLst>
                <a:path w="11229975" h="3038475">
                  <a:moveTo>
                    <a:pt x="11163227" y="3038474"/>
                  </a:moveTo>
                  <a:lnTo>
                    <a:pt x="66746" y="3038474"/>
                  </a:lnTo>
                  <a:lnTo>
                    <a:pt x="62101" y="3038017"/>
                  </a:lnTo>
                  <a:lnTo>
                    <a:pt x="24240" y="3020867"/>
                  </a:lnTo>
                  <a:lnTo>
                    <a:pt x="2287" y="2985573"/>
                  </a:lnTo>
                  <a:lnTo>
                    <a:pt x="0" y="2971727"/>
                  </a:lnTo>
                  <a:lnTo>
                    <a:pt x="0" y="29670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2971727"/>
                  </a:lnTo>
                  <a:lnTo>
                    <a:pt x="11215327" y="3010625"/>
                  </a:lnTo>
                  <a:lnTo>
                    <a:pt x="11181539" y="3034831"/>
                  </a:lnTo>
                  <a:lnTo>
                    <a:pt x="11167872" y="3038017"/>
                  </a:lnTo>
                  <a:lnTo>
                    <a:pt x="11163227" y="30384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1012" y="2271712"/>
              <a:ext cx="11229975" cy="3038475"/>
            </a:xfrm>
            <a:custGeom>
              <a:avLst/>
              <a:gdLst/>
              <a:ahLst/>
              <a:cxnLst/>
              <a:rect l="l" t="t" r="r" b="b"/>
              <a:pathLst>
                <a:path w="11229975" h="3038475">
                  <a:moveTo>
                    <a:pt x="0" y="29670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2967037"/>
                  </a:lnTo>
                  <a:lnTo>
                    <a:pt x="11229972" y="2971727"/>
                  </a:lnTo>
                  <a:lnTo>
                    <a:pt x="11229514" y="2976373"/>
                  </a:lnTo>
                  <a:lnTo>
                    <a:pt x="11228599" y="2980973"/>
                  </a:lnTo>
                  <a:lnTo>
                    <a:pt x="11227684" y="2985573"/>
                  </a:lnTo>
                  <a:lnTo>
                    <a:pt x="11205732" y="3020867"/>
                  </a:lnTo>
                  <a:lnTo>
                    <a:pt x="11198222" y="3026434"/>
                  </a:lnTo>
                  <a:lnTo>
                    <a:pt x="11194322" y="3029041"/>
                  </a:lnTo>
                  <a:lnTo>
                    <a:pt x="11190206" y="3031241"/>
                  </a:lnTo>
                  <a:lnTo>
                    <a:pt x="11185873" y="3033036"/>
                  </a:lnTo>
                  <a:lnTo>
                    <a:pt x="11181539" y="3034831"/>
                  </a:lnTo>
                  <a:lnTo>
                    <a:pt x="11177072" y="3036186"/>
                  </a:lnTo>
                  <a:lnTo>
                    <a:pt x="11172472" y="3037102"/>
                  </a:lnTo>
                  <a:lnTo>
                    <a:pt x="11167872" y="3038017"/>
                  </a:lnTo>
                  <a:lnTo>
                    <a:pt x="11163227" y="3038474"/>
                  </a:lnTo>
                  <a:lnTo>
                    <a:pt x="11158536" y="3038474"/>
                  </a:lnTo>
                  <a:lnTo>
                    <a:pt x="71437" y="3038474"/>
                  </a:lnTo>
                  <a:lnTo>
                    <a:pt x="66746" y="3038474"/>
                  </a:lnTo>
                  <a:lnTo>
                    <a:pt x="62101" y="3038017"/>
                  </a:lnTo>
                  <a:lnTo>
                    <a:pt x="57500" y="3037102"/>
                  </a:lnTo>
                  <a:lnTo>
                    <a:pt x="52900" y="3036186"/>
                  </a:lnTo>
                  <a:lnTo>
                    <a:pt x="48433" y="3034831"/>
                  </a:lnTo>
                  <a:lnTo>
                    <a:pt x="44099" y="3033036"/>
                  </a:lnTo>
                  <a:lnTo>
                    <a:pt x="39765" y="3031241"/>
                  </a:lnTo>
                  <a:lnTo>
                    <a:pt x="35649" y="3029041"/>
                  </a:lnTo>
                  <a:lnTo>
                    <a:pt x="31748" y="3026434"/>
                  </a:lnTo>
                  <a:lnTo>
                    <a:pt x="27848" y="3023829"/>
                  </a:lnTo>
                  <a:lnTo>
                    <a:pt x="5437" y="2994374"/>
                  </a:lnTo>
                  <a:lnTo>
                    <a:pt x="3642" y="2990041"/>
                  </a:lnTo>
                  <a:lnTo>
                    <a:pt x="2287" y="2985573"/>
                  </a:lnTo>
                  <a:lnTo>
                    <a:pt x="1372" y="2980973"/>
                  </a:lnTo>
                  <a:lnTo>
                    <a:pt x="457" y="2976373"/>
                  </a:lnTo>
                  <a:lnTo>
                    <a:pt x="0" y="2971727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3550" y="797492"/>
            <a:ext cx="11047730" cy="4339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Convertir</a:t>
            </a:r>
            <a:r>
              <a:rPr dirty="0" sz="140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Date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↔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4738B"/>
                </a:solidFill>
                <a:latin typeface="Arial"/>
                <a:cs typeface="Arial"/>
              </a:rPr>
              <a:t>String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40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manière 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thread-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safe</a:t>
            </a:r>
            <a:r>
              <a:rPr dirty="0" sz="140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(adieu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SimpleDateFormat).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885"/>
              </a:spcBef>
            </a:pP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Contrairement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SimpleDateFormat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(qui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n'est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pas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thread-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safe),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DateTimeFormatter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45" b="1">
                <a:solidFill>
                  <a:srgbClr val="334054"/>
                </a:solidFill>
                <a:latin typeface="Arial"/>
                <a:cs typeface="Arial"/>
              </a:rPr>
              <a:t>immuable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.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Il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s'utilise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pour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formater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(export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95">
                <a:solidFill>
                  <a:srgbClr val="334054"/>
                </a:solidFill>
                <a:latin typeface="Arial"/>
                <a:cs typeface="Arial"/>
              </a:rPr>
              <a:t>CSV,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UI)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parser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(import)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dates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selon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motif</a:t>
            </a:r>
            <a:r>
              <a:rPr dirty="0" sz="1700" spc="-4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précis.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Pattern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pour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CSV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5" i="1">
                <a:solidFill>
                  <a:srgbClr val="6A737D"/>
                </a:solidFill>
                <a:latin typeface="Times New Roman"/>
                <a:cs typeface="Times New Roman"/>
              </a:rPr>
              <a:t>jour/mois/année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90"/>
              </a:spcBef>
            </a:pPr>
            <a:r>
              <a:rPr dirty="0" sz="1450" spc="215">
                <a:solidFill>
                  <a:srgbClr val="005CC4"/>
                </a:solidFill>
                <a:latin typeface="Times New Roman"/>
                <a:cs typeface="Times New Roman"/>
              </a:rPr>
              <a:t>DateTimeFormatter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20">
                <a:solidFill>
                  <a:srgbClr val="334054"/>
                </a:solidFill>
                <a:latin typeface="Times New Roman"/>
                <a:cs typeface="Times New Roman"/>
              </a:rPr>
              <a:t>fmt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9">
                <a:solidFill>
                  <a:srgbClr val="005CC4"/>
                </a:solidFill>
                <a:latin typeface="Times New Roman"/>
                <a:cs typeface="Times New Roman"/>
              </a:rPr>
              <a:t>DateTimeFormatter</a:t>
            </a:r>
            <a:r>
              <a:rPr dirty="0" sz="1450" spc="229">
                <a:solidFill>
                  <a:srgbClr val="334054"/>
                </a:solidFill>
                <a:latin typeface="Times New Roman"/>
                <a:cs typeface="Times New Roman"/>
              </a:rPr>
              <a:t>.ofPattern(</a:t>
            </a:r>
            <a:r>
              <a:rPr dirty="0" sz="1450" spc="229">
                <a:solidFill>
                  <a:srgbClr val="21863A"/>
                </a:solidFill>
                <a:latin typeface="Times New Roman"/>
                <a:cs typeface="Times New Roman"/>
              </a:rPr>
              <a:t>"dd/MM/yyyy"</a:t>
            </a:r>
            <a:r>
              <a:rPr dirty="0" sz="1450" spc="229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Format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90" i="1">
                <a:solidFill>
                  <a:srgbClr val="6A737D"/>
                </a:solidFill>
                <a:latin typeface="Times New Roman"/>
                <a:cs typeface="Times New Roman"/>
              </a:rPr>
              <a:t>(Date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-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&gt;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String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pour</a:t>
            </a:r>
            <a:r>
              <a:rPr dirty="0" sz="155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45" i="1">
                <a:solidFill>
                  <a:srgbClr val="6A737D"/>
                </a:solidFill>
                <a:latin typeface="Times New Roman"/>
                <a:cs typeface="Times New Roman"/>
              </a:rPr>
              <a:t>export)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89"/>
              </a:spcBef>
            </a:pP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inscription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65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65">
                <a:solidFill>
                  <a:srgbClr val="334054"/>
                </a:solidFill>
                <a:latin typeface="Times New Roman"/>
                <a:cs typeface="Times New Roman"/>
              </a:rPr>
              <a:t>.of(2025,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55">
                <a:solidFill>
                  <a:srgbClr val="334054"/>
                </a:solidFill>
                <a:latin typeface="Times New Roman"/>
                <a:cs typeface="Times New Roman"/>
              </a:rPr>
              <a:t>9,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35">
                <a:solidFill>
                  <a:srgbClr val="334054"/>
                </a:solidFill>
                <a:latin typeface="Times New Roman"/>
                <a:cs typeface="Times New Roman"/>
              </a:rPr>
              <a:t>1);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09"/>
              </a:spcBef>
            </a:pP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25">
                <a:solidFill>
                  <a:srgbClr val="334054"/>
                </a:solidFill>
                <a:latin typeface="Times New Roman"/>
                <a:cs typeface="Times New Roman"/>
              </a:rPr>
              <a:t>csvCol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20">
                <a:solidFill>
                  <a:srgbClr val="334054"/>
                </a:solidFill>
                <a:latin typeface="Times New Roman"/>
                <a:cs typeface="Times New Roman"/>
              </a:rPr>
              <a:t>inscription.format(fmt);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90" i="1">
                <a:solidFill>
                  <a:srgbClr val="6A737D"/>
                </a:solidFill>
                <a:latin typeface="Times New Roman"/>
                <a:cs typeface="Times New Roman"/>
              </a:rPr>
              <a:t>"01/09/2025"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0" i="1">
                <a:solidFill>
                  <a:srgbClr val="6A737D"/>
                </a:solidFill>
                <a:latin typeface="Times New Roman"/>
                <a:cs typeface="Times New Roman"/>
              </a:rPr>
              <a:t>Parse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80" i="1">
                <a:solidFill>
                  <a:srgbClr val="6A737D"/>
                </a:solidFill>
                <a:latin typeface="Times New Roman"/>
                <a:cs typeface="Times New Roman"/>
              </a:rPr>
              <a:t>(String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-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&gt;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0" i="1">
                <a:solidFill>
                  <a:srgbClr val="6A737D"/>
                </a:solidFill>
                <a:latin typeface="Times New Roman"/>
                <a:cs typeface="Times New Roman"/>
              </a:rPr>
              <a:t>Date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pour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0" i="1">
                <a:solidFill>
                  <a:srgbClr val="6A737D"/>
                </a:solidFill>
                <a:latin typeface="Times New Roman"/>
                <a:cs typeface="Times New Roman"/>
              </a:rPr>
              <a:t>import)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89"/>
              </a:spcBef>
            </a:pP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00">
                <a:solidFill>
                  <a:srgbClr val="334054"/>
                </a:solidFill>
                <a:latin typeface="Times New Roman"/>
                <a:cs typeface="Times New Roman"/>
              </a:rPr>
              <a:t>input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54">
                <a:solidFill>
                  <a:srgbClr val="21863A"/>
                </a:solidFill>
                <a:latin typeface="Times New Roman"/>
                <a:cs typeface="Times New Roman"/>
              </a:rPr>
              <a:t>"15/06/2026"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;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09"/>
              </a:spcBef>
            </a:pP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05">
                <a:solidFill>
                  <a:srgbClr val="334054"/>
                </a:solidFill>
                <a:latin typeface="Times New Roman"/>
                <a:cs typeface="Times New Roman"/>
              </a:rPr>
              <a:t>exam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10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.parse(input,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fmt);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 spc="60"/>
              <a:t>20.</a:t>
            </a:r>
            <a:r>
              <a:rPr dirty="0" sz="2650" spc="-70"/>
              <a:t> </a:t>
            </a:r>
            <a:r>
              <a:rPr dirty="0" sz="2650" spc="-25"/>
              <a:t>java.time</a:t>
            </a:r>
            <a:r>
              <a:rPr dirty="0" sz="2650" spc="-70"/>
              <a:t> </a:t>
            </a:r>
            <a:r>
              <a:rPr dirty="0" sz="2650" spc="-610"/>
              <a:t>—</a:t>
            </a:r>
            <a:r>
              <a:rPr dirty="0" sz="2650" spc="-70"/>
              <a:t> </a:t>
            </a:r>
            <a:r>
              <a:rPr dirty="0" sz="2650" spc="-75"/>
              <a:t>Comparer</a:t>
            </a:r>
            <a:r>
              <a:rPr dirty="0" sz="2650" spc="-70"/>
              <a:t> </a:t>
            </a:r>
            <a:r>
              <a:rPr dirty="0" sz="2650"/>
              <a:t>et</a:t>
            </a:r>
            <a:r>
              <a:rPr dirty="0" sz="2650" spc="-70"/>
              <a:t> </a:t>
            </a:r>
            <a:r>
              <a:rPr dirty="0" sz="2650" spc="-10"/>
              <a:t>trier</a:t>
            </a:r>
            <a:endParaRPr sz="2650"/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428488"/>
            <a:ext cx="5633085" cy="841375"/>
            <a:chOff x="435863" y="5428488"/>
            <a:chExt cx="5633085" cy="841375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428488"/>
              <a:ext cx="5633085" cy="841375"/>
            </a:xfrm>
            <a:custGeom>
              <a:avLst/>
              <a:gdLst/>
              <a:ahLst/>
              <a:cxnLst/>
              <a:rect l="l" t="t" r="r" b="b"/>
              <a:pathLst>
                <a:path w="5633085" h="841375">
                  <a:moveTo>
                    <a:pt x="5632704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861"/>
                  </a:lnTo>
                  <a:lnTo>
                    <a:pt x="97535" y="38861"/>
                  </a:lnTo>
                  <a:lnTo>
                    <a:pt x="88033" y="39733"/>
                  </a:lnTo>
                  <a:lnTo>
                    <a:pt x="53398" y="68203"/>
                  </a:lnTo>
                  <a:lnTo>
                    <a:pt x="49910" y="86486"/>
                  </a:lnTo>
                  <a:lnTo>
                    <a:pt x="49910" y="734186"/>
                  </a:lnTo>
                  <a:lnTo>
                    <a:pt x="71195" y="773964"/>
                  </a:lnTo>
                  <a:lnTo>
                    <a:pt x="97535" y="781811"/>
                  </a:lnTo>
                  <a:lnTo>
                    <a:pt x="5632704" y="781811"/>
                  </a:lnTo>
                  <a:lnTo>
                    <a:pt x="5632704" y="841248"/>
                  </a:lnTo>
                  <a:close/>
                </a:path>
                <a:path w="5633085" h="841375">
                  <a:moveTo>
                    <a:pt x="5632704" y="781811"/>
                  </a:moveTo>
                  <a:lnTo>
                    <a:pt x="5536310" y="781811"/>
                  </a:lnTo>
                  <a:lnTo>
                    <a:pt x="5545812" y="780939"/>
                  </a:lnTo>
                  <a:lnTo>
                    <a:pt x="5554592" y="778323"/>
                  </a:lnTo>
                  <a:lnTo>
                    <a:pt x="5583063" y="743688"/>
                  </a:lnTo>
                  <a:lnTo>
                    <a:pt x="5583935" y="734186"/>
                  </a:lnTo>
                  <a:lnTo>
                    <a:pt x="5583935" y="86486"/>
                  </a:lnTo>
                  <a:lnTo>
                    <a:pt x="5562650" y="46707"/>
                  </a:lnTo>
                  <a:lnTo>
                    <a:pt x="5536310" y="38861"/>
                  </a:lnTo>
                  <a:lnTo>
                    <a:pt x="5632704" y="38861"/>
                  </a:lnTo>
                  <a:lnTo>
                    <a:pt x="5632704" y="78181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457824"/>
              <a:ext cx="5529580" cy="762000"/>
            </a:xfrm>
            <a:custGeom>
              <a:avLst/>
              <a:gdLst/>
              <a:ahLst/>
              <a:cxnLst/>
              <a:rect l="l" t="t" r="r" b="b"/>
              <a:pathLst>
                <a:path w="5529580" h="762000">
                  <a:moveTo>
                    <a:pt x="5475864" y="761999"/>
                  </a:moveTo>
                  <a:lnTo>
                    <a:pt x="28916" y="761999"/>
                  </a:lnTo>
                  <a:lnTo>
                    <a:pt x="24664" y="760548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708602"/>
                  </a:lnTo>
                  <a:lnTo>
                    <a:pt x="5509869" y="747913"/>
                  </a:lnTo>
                  <a:lnTo>
                    <a:pt x="5479580" y="761633"/>
                  </a:lnTo>
                  <a:lnTo>
                    <a:pt x="5475864" y="7619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457824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09" h="762000">
                  <a:moveTo>
                    <a:pt x="54519" y="761999"/>
                  </a:moveTo>
                  <a:lnTo>
                    <a:pt x="49571" y="761999"/>
                  </a:lnTo>
                  <a:lnTo>
                    <a:pt x="42282" y="760549"/>
                  </a:lnTo>
                  <a:lnTo>
                    <a:pt x="7250" y="733721"/>
                  </a:lnTo>
                  <a:lnTo>
                    <a:pt x="0" y="71242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73722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700541"/>
            <a:ext cx="4742815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Préférez</a:t>
            </a:r>
            <a:r>
              <a:rPr dirty="0" sz="135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isBefore()</a:t>
            </a:r>
            <a:r>
              <a:rPr dirty="0" sz="1350" spc="-47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 spc="180">
                <a:solidFill>
                  <a:srgbClr val="13532D"/>
                </a:solidFill>
                <a:latin typeface="Arial"/>
                <a:cs typeface="Arial"/>
              </a:rPr>
              <a:t>/</a:t>
            </a:r>
            <a:r>
              <a:rPr dirty="0" sz="135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isAfter()</a:t>
            </a:r>
            <a:r>
              <a:rPr dirty="0" sz="1350" spc="-47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à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Monaco"/>
                <a:cs typeface="Monaco"/>
              </a:rPr>
              <a:t>compareTo()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428488"/>
            <a:ext cx="5623560" cy="841375"/>
            <a:chOff x="6132576" y="5428488"/>
            <a:chExt cx="5623560" cy="841375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428488"/>
              <a:ext cx="5623560" cy="841375"/>
            </a:xfrm>
            <a:custGeom>
              <a:avLst/>
              <a:gdLst/>
              <a:ahLst/>
              <a:cxnLst/>
              <a:rect l="l" t="t" r="r" b="b"/>
              <a:pathLst>
                <a:path w="5623559" h="841375">
                  <a:moveTo>
                    <a:pt x="5623560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861"/>
                  </a:lnTo>
                  <a:lnTo>
                    <a:pt x="96773" y="38861"/>
                  </a:lnTo>
                  <a:lnTo>
                    <a:pt x="87271" y="39733"/>
                  </a:lnTo>
                  <a:lnTo>
                    <a:pt x="52635" y="68203"/>
                  </a:lnTo>
                  <a:lnTo>
                    <a:pt x="49148" y="86486"/>
                  </a:lnTo>
                  <a:lnTo>
                    <a:pt x="49148" y="734186"/>
                  </a:lnTo>
                  <a:lnTo>
                    <a:pt x="70433" y="773964"/>
                  </a:lnTo>
                  <a:lnTo>
                    <a:pt x="96773" y="781811"/>
                  </a:lnTo>
                  <a:lnTo>
                    <a:pt x="5623560" y="781811"/>
                  </a:lnTo>
                  <a:lnTo>
                    <a:pt x="5623560" y="841248"/>
                  </a:lnTo>
                  <a:close/>
                </a:path>
                <a:path w="5623559" h="841375">
                  <a:moveTo>
                    <a:pt x="5623560" y="781811"/>
                  </a:moveTo>
                  <a:lnTo>
                    <a:pt x="5526023" y="781811"/>
                  </a:lnTo>
                  <a:lnTo>
                    <a:pt x="5535525" y="780939"/>
                  </a:lnTo>
                  <a:lnTo>
                    <a:pt x="5544305" y="778323"/>
                  </a:lnTo>
                  <a:lnTo>
                    <a:pt x="5572776" y="743688"/>
                  </a:lnTo>
                  <a:lnTo>
                    <a:pt x="5573648" y="734186"/>
                  </a:lnTo>
                  <a:lnTo>
                    <a:pt x="5573648" y="86486"/>
                  </a:lnTo>
                  <a:lnTo>
                    <a:pt x="5552363" y="46707"/>
                  </a:lnTo>
                  <a:lnTo>
                    <a:pt x="5526023" y="38861"/>
                  </a:lnTo>
                  <a:lnTo>
                    <a:pt x="5623560" y="38861"/>
                  </a:lnTo>
                  <a:lnTo>
                    <a:pt x="5623560" y="78181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457824"/>
              <a:ext cx="5520055" cy="762000"/>
            </a:xfrm>
            <a:custGeom>
              <a:avLst/>
              <a:gdLst/>
              <a:ahLst/>
              <a:cxnLst/>
              <a:rect l="l" t="t" r="r" b="b"/>
              <a:pathLst>
                <a:path w="5520055" h="762000">
                  <a:moveTo>
                    <a:pt x="5466338" y="761999"/>
                  </a:moveTo>
                  <a:lnTo>
                    <a:pt x="28916" y="761999"/>
                  </a:lnTo>
                  <a:lnTo>
                    <a:pt x="24662" y="760548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89" y="11380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708602"/>
                  </a:lnTo>
                  <a:lnTo>
                    <a:pt x="5500342" y="747913"/>
                  </a:lnTo>
                  <a:lnTo>
                    <a:pt x="5470054" y="761633"/>
                  </a:lnTo>
                  <a:lnTo>
                    <a:pt x="5466338" y="761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457824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10" h="762000">
                  <a:moveTo>
                    <a:pt x="54519" y="761999"/>
                  </a:moveTo>
                  <a:lnTo>
                    <a:pt x="49570" y="761999"/>
                  </a:lnTo>
                  <a:lnTo>
                    <a:pt x="42282" y="760549"/>
                  </a:lnTo>
                  <a:lnTo>
                    <a:pt x="7249" y="733721"/>
                  </a:lnTo>
                  <a:lnTo>
                    <a:pt x="0" y="71242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5737224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5507989"/>
            <a:ext cx="451739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3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3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Ajoutez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.reversed()</a:t>
            </a:r>
            <a:r>
              <a:rPr dirty="0" sz="1350" spc="-475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au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comparateur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pour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un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D3A8A"/>
                </a:solidFill>
                <a:latin typeface="Arial"/>
                <a:cs typeface="Arial"/>
              </a:rPr>
              <a:t>tri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décroissant.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420624" y="2231136"/>
            <a:ext cx="11351260" cy="3157855"/>
            <a:chOff x="420624" y="2231136"/>
            <a:chExt cx="11351260" cy="3157855"/>
          </a:xfrm>
        </p:grpSpPr>
        <p:sp>
          <p:nvSpPr>
            <p:cNvPr id="17" name="object 17" descr=""/>
            <p:cNvSpPr/>
            <p:nvPr/>
          </p:nvSpPr>
          <p:spPr>
            <a:xfrm>
              <a:off x="420624" y="2231136"/>
              <a:ext cx="11351260" cy="3157855"/>
            </a:xfrm>
            <a:custGeom>
              <a:avLst/>
              <a:gdLst/>
              <a:ahLst/>
              <a:cxnLst/>
              <a:rect l="l" t="t" r="r" b="b"/>
              <a:pathLst>
                <a:path w="11351260" h="3157854">
                  <a:moveTo>
                    <a:pt x="11350752" y="3157728"/>
                  </a:moveTo>
                  <a:lnTo>
                    <a:pt x="0" y="315772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007613"/>
                  </a:lnTo>
                  <a:lnTo>
                    <a:pt x="76377" y="3044662"/>
                  </a:lnTo>
                  <a:lnTo>
                    <a:pt x="106310" y="3069212"/>
                  </a:lnTo>
                  <a:lnTo>
                    <a:pt x="131825" y="3074288"/>
                  </a:lnTo>
                  <a:lnTo>
                    <a:pt x="11350752" y="3074288"/>
                  </a:lnTo>
                  <a:lnTo>
                    <a:pt x="11350752" y="3157728"/>
                  </a:lnTo>
                  <a:close/>
                </a:path>
                <a:path w="11351260" h="3157854">
                  <a:moveTo>
                    <a:pt x="11350752" y="3074288"/>
                  </a:moveTo>
                  <a:lnTo>
                    <a:pt x="11218925" y="3074288"/>
                  </a:lnTo>
                  <a:lnTo>
                    <a:pt x="11225493" y="3073971"/>
                  </a:lnTo>
                  <a:lnTo>
                    <a:pt x="11231935" y="3073019"/>
                  </a:lnTo>
                  <a:lnTo>
                    <a:pt x="11266071" y="3054759"/>
                  </a:lnTo>
                  <a:lnTo>
                    <a:pt x="11284331" y="3020623"/>
                  </a:lnTo>
                  <a:lnTo>
                    <a:pt x="11285600" y="30076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0742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71712"/>
              <a:ext cx="11229975" cy="3038475"/>
            </a:xfrm>
            <a:custGeom>
              <a:avLst/>
              <a:gdLst/>
              <a:ahLst/>
              <a:cxnLst/>
              <a:rect l="l" t="t" r="r" b="b"/>
              <a:pathLst>
                <a:path w="11229975" h="3038475">
                  <a:moveTo>
                    <a:pt x="11163227" y="3038474"/>
                  </a:moveTo>
                  <a:lnTo>
                    <a:pt x="66746" y="3038474"/>
                  </a:lnTo>
                  <a:lnTo>
                    <a:pt x="62101" y="3038017"/>
                  </a:lnTo>
                  <a:lnTo>
                    <a:pt x="24240" y="3020867"/>
                  </a:lnTo>
                  <a:lnTo>
                    <a:pt x="2287" y="2985573"/>
                  </a:lnTo>
                  <a:lnTo>
                    <a:pt x="0" y="2971727"/>
                  </a:lnTo>
                  <a:lnTo>
                    <a:pt x="0" y="29670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2971727"/>
                  </a:lnTo>
                  <a:lnTo>
                    <a:pt x="11215327" y="3010625"/>
                  </a:lnTo>
                  <a:lnTo>
                    <a:pt x="11181539" y="3034831"/>
                  </a:lnTo>
                  <a:lnTo>
                    <a:pt x="11167872" y="3038017"/>
                  </a:lnTo>
                  <a:lnTo>
                    <a:pt x="11163227" y="30384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71712"/>
              <a:ext cx="11229975" cy="3038475"/>
            </a:xfrm>
            <a:custGeom>
              <a:avLst/>
              <a:gdLst/>
              <a:ahLst/>
              <a:cxnLst/>
              <a:rect l="l" t="t" r="r" b="b"/>
              <a:pathLst>
                <a:path w="11229975" h="3038475">
                  <a:moveTo>
                    <a:pt x="0" y="29670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2967037"/>
                  </a:lnTo>
                  <a:lnTo>
                    <a:pt x="11229972" y="2971727"/>
                  </a:lnTo>
                  <a:lnTo>
                    <a:pt x="11229514" y="2976373"/>
                  </a:lnTo>
                  <a:lnTo>
                    <a:pt x="11228599" y="2980973"/>
                  </a:lnTo>
                  <a:lnTo>
                    <a:pt x="11227684" y="2985573"/>
                  </a:lnTo>
                  <a:lnTo>
                    <a:pt x="11205732" y="3020867"/>
                  </a:lnTo>
                  <a:lnTo>
                    <a:pt x="11198222" y="3026434"/>
                  </a:lnTo>
                  <a:lnTo>
                    <a:pt x="11194322" y="3029041"/>
                  </a:lnTo>
                  <a:lnTo>
                    <a:pt x="11190206" y="3031241"/>
                  </a:lnTo>
                  <a:lnTo>
                    <a:pt x="11185873" y="3033036"/>
                  </a:lnTo>
                  <a:lnTo>
                    <a:pt x="11181539" y="3034831"/>
                  </a:lnTo>
                  <a:lnTo>
                    <a:pt x="11177072" y="3036186"/>
                  </a:lnTo>
                  <a:lnTo>
                    <a:pt x="11172472" y="3037102"/>
                  </a:lnTo>
                  <a:lnTo>
                    <a:pt x="11167872" y="3038017"/>
                  </a:lnTo>
                  <a:lnTo>
                    <a:pt x="11163227" y="3038474"/>
                  </a:lnTo>
                  <a:lnTo>
                    <a:pt x="11158536" y="3038474"/>
                  </a:lnTo>
                  <a:lnTo>
                    <a:pt x="71437" y="3038474"/>
                  </a:lnTo>
                  <a:lnTo>
                    <a:pt x="66746" y="3038474"/>
                  </a:lnTo>
                  <a:lnTo>
                    <a:pt x="62101" y="3038017"/>
                  </a:lnTo>
                  <a:lnTo>
                    <a:pt x="57500" y="3037102"/>
                  </a:lnTo>
                  <a:lnTo>
                    <a:pt x="52900" y="3036186"/>
                  </a:lnTo>
                  <a:lnTo>
                    <a:pt x="48433" y="3034831"/>
                  </a:lnTo>
                  <a:lnTo>
                    <a:pt x="44099" y="3033036"/>
                  </a:lnTo>
                  <a:lnTo>
                    <a:pt x="39765" y="3031241"/>
                  </a:lnTo>
                  <a:lnTo>
                    <a:pt x="35649" y="3029041"/>
                  </a:lnTo>
                  <a:lnTo>
                    <a:pt x="31748" y="3026434"/>
                  </a:lnTo>
                  <a:lnTo>
                    <a:pt x="27848" y="3023829"/>
                  </a:lnTo>
                  <a:lnTo>
                    <a:pt x="5437" y="2994374"/>
                  </a:lnTo>
                  <a:lnTo>
                    <a:pt x="3642" y="2990041"/>
                  </a:lnTo>
                  <a:lnTo>
                    <a:pt x="2287" y="2985573"/>
                  </a:lnTo>
                  <a:lnTo>
                    <a:pt x="1372" y="2980973"/>
                  </a:lnTo>
                  <a:lnTo>
                    <a:pt x="457" y="2976373"/>
                  </a:lnTo>
                  <a:lnTo>
                    <a:pt x="0" y="2971727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6450"/>
            <a:ext cx="10898505" cy="4330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solidFill>
                  <a:srgbClr val="64738B"/>
                </a:solidFill>
                <a:latin typeface="Arial"/>
                <a:cs typeface="Arial"/>
              </a:rPr>
              <a:t>Ordonner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événements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temporels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manière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naturelle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lisible.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125"/>
              </a:spcBef>
            </a:pP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classes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temporelles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implémentent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Comparable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.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logique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métier,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utilisez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l'API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fluide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Comparator</a:t>
            </a:r>
            <a:r>
              <a:rPr dirty="0" sz="1650" spc="-58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pour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trier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collections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d'objets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(ex: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liste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modules).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64465" marR="6153150">
              <a:lnSpc>
                <a:spcPct val="129299"/>
              </a:lnSpc>
              <a:spcBef>
                <a:spcPts val="1145"/>
              </a:spcBef>
            </a:pP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d1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65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65">
                <a:solidFill>
                  <a:srgbClr val="334054"/>
                </a:solidFill>
                <a:latin typeface="Times New Roman"/>
                <a:cs typeface="Times New Roman"/>
              </a:rPr>
              <a:t>.of(2023,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55">
                <a:solidFill>
                  <a:srgbClr val="334054"/>
                </a:solidFill>
                <a:latin typeface="Times New Roman"/>
                <a:cs typeface="Times New Roman"/>
              </a:rPr>
              <a:t>9,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35">
                <a:solidFill>
                  <a:srgbClr val="334054"/>
                </a:solidFill>
                <a:latin typeface="Times New Roman"/>
                <a:cs typeface="Times New Roman"/>
              </a:rPr>
              <a:t>1); </a:t>
            </a: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d2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.now();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0" i="1">
                <a:solidFill>
                  <a:srgbClr val="6A737D"/>
                </a:solidFill>
                <a:latin typeface="Times New Roman"/>
                <a:cs typeface="Times New Roman"/>
              </a:rPr>
              <a:t>Comparaison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75" i="1">
                <a:solidFill>
                  <a:srgbClr val="6A737D"/>
                </a:solidFill>
                <a:latin typeface="Times New Roman"/>
                <a:cs typeface="Times New Roman"/>
              </a:rPr>
              <a:t>naturelle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75" i="1">
                <a:solidFill>
                  <a:srgbClr val="6A737D"/>
                </a:solidFill>
                <a:latin typeface="Times New Roman"/>
                <a:cs typeface="Times New Roman"/>
              </a:rPr>
              <a:t>(plus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55" i="1">
                <a:solidFill>
                  <a:srgbClr val="6A737D"/>
                </a:solidFill>
                <a:latin typeface="Times New Roman"/>
                <a:cs typeface="Times New Roman"/>
              </a:rPr>
              <a:t>lisible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50" i="1">
                <a:solidFill>
                  <a:srgbClr val="6A737D"/>
                </a:solidFill>
                <a:latin typeface="Times New Roman"/>
                <a:cs typeface="Times New Roman"/>
              </a:rPr>
              <a:t>que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5" i="1">
                <a:solidFill>
                  <a:srgbClr val="6A737D"/>
                </a:solidFill>
                <a:latin typeface="Times New Roman"/>
                <a:cs typeface="Times New Roman"/>
              </a:rPr>
              <a:t>compareTo)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</a:pPr>
            <a:r>
              <a:rPr dirty="0" sz="1450" spc="455" b="1">
                <a:solidFill>
                  <a:srgbClr val="D63A49"/>
                </a:solidFill>
                <a:latin typeface="Times New Roman"/>
                <a:cs typeface="Times New Roman"/>
              </a:rPr>
              <a:t>if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(d1.</a:t>
            </a:r>
            <a:r>
              <a:rPr dirty="0" sz="1450" spc="290" b="1">
                <a:solidFill>
                  <a:srgbClr val="6F41C1"/>
                </a:solidFill>
                <a:latin typeface="Times New Roman"/>
                <a:cs typeface="Times New Roman"/>
              </a:rPr>
              <a:t>isBefore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(d2))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290" i="1">
                <a:solidFill>
                  <a:srgbClr val="6A737D"/>
                </a:solidFill>
                <a:latin typeface="Times New Roman"/>
                <a:cs typeface="Times New Roman"/>
              </a:rPr>
              <a:t>/*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509" i="1">
                <a:solidFill>
                  <a:srgbClr val="6A737D"/>
                </a:solidFill>
                <a:latin typeface="Times New Roman"/>
                <a:cs typeface="Times New Roman"/>
              </a:rPr>
              <a:t>...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90" i="1">
                <a:solidFill>
                  <a:srgbClr val="6A737D"/>
                </a:solidFill>
                <a:latin typeface="Times New Roman"/>
                <a:cs typeface="Times New Roman"/>
              </a:rPr>
              <a:t>*/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Tri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d'une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75" i="1">
                <a:solidFill>
                  <a:srgbClr val="6A737D"/>
                </a:solidFill>
                <a:latin typeface="Times New Roman"/>
                <a:cs typeface="Times New Roman"/>
              </a:rPr>
              <a:t>liste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15" i="1">
                <a:solidFill>
                  <a:srgbClr val="6A737D"/>
                </a:solidFill>
                <a:latin typeface="Times New Roman"/>
                <a:cs typeface="Times New Roman"/>
              </a:rPr>
              <a:t>(Fil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05" i="1">
                <a:solidFill>
                  <a:srgbClr val="6A737D"/>
                </a:solidFill>
                <a:latin typeface="Times New Roman"/>
                <a:cs typeface="Times New Roman"/>
              </a:rPr>
              <a:t>Rouge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5" i="1">
                <a:solidFill>
                  <a:srgbClr val="6A737D"/>
                </a:solidFill>
                <a:latin typeface="Times New Roman"/>
                <a:cs typeface="Times New Roman"/>
              </a:rPr>
              <a:t>Modules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5" i="1">
                <a:solidFill>
                  <a:srgbClr val="6A737D"/>
                </a:solidFill>
                <a:latin typeface="Times New Roman"/>
                <a:cs typeface="Times New Roman"/>
              </a:rPr>
              <a:t>par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5" i="1">
                <a:solidFill>
                  <a:srgbClr val="6A737D"/>
                </a:solidFill>
                <a:latin typeface="Times New Roman"/>
                <a:cs typeface="Times New Roman"/>
              </a:rPr>
              <a:t>date)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90"/>
              </a:spcBef>
            </a:pP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List</a:t>
            </a:r>
            <a:r>
              <a:rPr dirty="0" sz="1450" spc="195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50" spc="195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90">
                <a:solidFill>
                  <a:srgbClr val="334054"/>
                </a:solidFill>
                <a:latin typeface="Times New Roman"/>
                <a:cs typeface="Times New Roman"/>
              </a:rPr>
              <a:t>modules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70">
                <a:solidFill>
                  <a:srgbClr val="005CC4"/>
                </a:solidFill>
                <a:latin typeface="Times New Roman"/>
                <a:cs typeface="Times New Roman"/>
              </a:rPr>
              <a:t>ArrayList</a:t>
            </a:r>
            <a:r>
              <a:rPr dirty="0" sz="1450" spc="270">
                <a:solidFill>
                  <a:srgbClr val="334054"/>
                </a:solidFill>
                <a:latin typeface="Times New Roman"/>
                <a:cs typeface="Times New Roman"/>
              </a:rPr>
              <a:t>&lt;&gt;();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09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Tri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05" i="1">
                <a:solidFill>
                  <a:srgbClr val="6A737D"/>
                </a:solidFill>
                <a:latin typeface="Times New Roman"/>
                <a:cs typeface="Times New Roman"/>
              </a:rPr>
              <a:t>fluide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via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5" i="1">
                <a:solidFill>
                  <a:srgbClr val="6A737D"/>
                </a:solidFill>
                <a:latin typeface="Times New Roman"/>
                <a:cs typeface="Times New Roman"/>
              </a:rPr>
              <a:t>référence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5" i="1">
                <a:solidFill>
                  <a:srgbClr val="6A737D"/>
                </a:solidFill>
                <a:latin typeface="Times New Roman"/>
                <a:cs typeface="Times New Roman"/>
              </a:rPr>
              <a:t>méthode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90"/>
              </a:spcBef>
            </a:pP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modules.sort(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Comparator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.comparing(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::getDateDebut));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21.</a:t>
            </a:r>
            <a:r>
              <a:rPr dirty="0" spc="-35"/>
              <a:t> </a:t>
            </a:r>
            <a:r>
              <a:rPr dirty="0" spc="-114"/>
              <a:t>Legacy</a:t>
            </a:r>
            <a:r>
              <a:rPr dirty="0" spc="-35"/>
              <a:t> </a:t>
            </a:r>
            <a:r>
              <a:rPr dirty="0" spc="-650"/>
              <a:t>—</a:t>
            </a:r>
            <a:r>
              <a:rPr dirty="0" spc="-35"/>
              <a:t> </a:t>
            </a:r>
            <a:r>
              <a:rPr dirty="0" spc="-55"/>
              <a:t>java.util.Date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379720"/>
            <a:ext cx="3728085" cy="841375"/>
            <a:chOff x="435863" y="5379720"/>
            <a:chExt cx="3728085" cy="841375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379720"/>
              <a:ext cx="3728085" cy="841375"/>
            </a:xfrm>
            <a:custGeom>
              <a:avLst/>
              <a:gdLst/>
              <a:ahLst/>
              <a:cxnLst/>
              <a:rect l="l" t="t" r="r" b="b"/>
              <a:pathLst>
                <a:path w="3728085" h="841375">
                  <a:moveTo>
                    <a:pt x="3727704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40004"/>
                  </a:lnTo>
                  <a:lnTo>
                    <a:pt x="97535" y="40004"/>
                  </a:lnTo>
                  <a:lnTo>
                    <a:pt x="88033" y="40876"/>
                  </a:lnTo>
                  <a:lnTo>
                    <a:pt x="53398" y="69346"/>
                  </a:lnTo>
                  <a:lnTo>
                    <a:pt x="49910" y="87629"/>
                  </a:lnTo>
                  <a:lnTo>
                    <a:pt x="49910" y="735329"/>
                  </a:lnTo>
                  <a:lnTo>
                    <a:pt x="71195" y="775108"/>
                  </a:lnTo>
                  <a:lnTo>
                    <a:pt x="97535" y="782954"/>
                  </a:lnTo>
                  <a:lnTo>
                    <a:pt x="3727704" y="782954"/>
                  </a:lnTo>
                  <a:lnTo>
                    <a:pt x="3727704" y="841248"/>
                  </a:lnTo>
                  <a:close/>
                </a:path>
                <a:path w="3728085" h="841375">
                  <a:moveTo>
                    <a:pt x="3727704" y="782954"/>
                  </a:moveTo>
                  <a:lnTo>
                    <a:pt x="3631310" y="782954"/>
                  </a:lnTo>
                  <a:lnTo>
                    <a:pt x="3640813" y="782082"/>
                  </a:lnTo>
                  <a:lnTo>
                    <a:pt x="3649593" y="779467"/>
                  </a:lnTo>
                  <a:lnTo>
                    <a:pt x="3678064" y="744831"/>
                  </a:lnTo>
                  <a:lnTo>
                    <a:pt x="3678935" y="735329"/>
                  </a:lnTo>
                  <a:lnTo>
                    <a:pt x="3678935" y="87629"/>
                  </a:lnTo>
                  <a:lnTo>
                    <a:pt x="3657651" y="47850"/>
                  </a:lnTo>
                  <a:lnTo>
                    <a:pt x="3631310" y="40004"/>
                  </a:lnTo>
                  <a:lnTo>
                    <a:pt x="3727704" y="40004"/>
                  </a:lnTo>
                  <a:lnTo>
                    <a:pt x="3727704" y="7829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410199"/>
              <a:ext cx="3624579" cy="762000"/>
            </a:xfrm>
            <a:custGeom>
              <a:avLst/>
              <a:gdLst/>
              <a:ahLst/>
              <a:cxnLst/>
              <a:rect l="l" t="t" r="r" b="b"/>
              <a:pathLst>
                <a:path w="3624579" h="762000">
                  <a:moveTo>
                    <a:pt x="3570864" y="761999"/>
                  </a:moveTo>
                  <a:lnTo>
                    <a:pt x="28916" y="761999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3570864" y="0"/>
                  </a:lnTo>
                  <a:lnTo>
                    <a:pt x="3610176" y="19391"/>
                  </a:lnTo>
                  <a:lnTo>
                    <a:pt x="3624261" y="53397"/>
                  </a:lnTo>
                  <a:lnTo>
                    <a:pt x="3624261" y="708602"/>
                  </a:lnTo>
                  <a:lnTo>
                    <a:pt x="3604869" y="747914"/>
                  </a:lnTo>
                  <a:lnTo>
                    <a:pt x="3574580" y="761633"/>
                  </a:lnTo>
                  <a:lnTo>
                    <a:pt x="3570864" y="7619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410199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09" h="762000">
                  <a:moveTo>
                    <a:pt x="54519" y="761999"/>
                  </a:moveTo>
                  <a:lnTo>
                    <a:pt x="49571" y="761999"/>
                  </a:lnTo>
                  <a:lnTo>
                    <a:pt x="42281" y="760548"/>
                  </a:lnTo>
                  <a:lnTo>
                    <a:pt x="7250" y="733721"/>
                  </a:lnTo>
                  <a:lnTo>
                    <a:pt x="0" y="71242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574" y="5702299"/>
              <a:ext cx="196850" cy="1682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460263"/>
            <a:ext cx="2593340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2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2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Courier New"/>
                <a:cs typeface="Courier New"/>
              </a:rPr>
              <a:t>Date</a:t>
            </a:r>
            <a:r>
              <a:rPr dirty="0" sz="1350" spc="-459">
                <a:solidFill>
                  <a:srgbClr val="7E1C1C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est</a:t>
            </a:r>
            <a:r>
              <a:rPr dirty="0" sz="1350" spc="-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mutable</a:t>
            </a:r>
            <a:r>
              <a:rPr dirty="0" sz="1350" spc="-2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!</a:t>
            </a:r>
            <a:r>
              <a:rPr dirty="0" sz="1350" spc="-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7E1C1C"/>
                </a:solidFill>
                <a:latin typeface="Arial"/>
                <a:cs typeface="Arial"/>
              </a:rPr>
              <a:t>Une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méthode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peut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changer</a:t>
            </a:r>
            <a:r>
              <a:rPr dirty="0" sz="1350" spc="-3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votre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7E1C1C"/>
                </a:solidFill>
                <a:latin typeface="Arial"/>
                <a:cs typeface="Arial"/>
              </a:rPr>
              <a:t>date.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227576" y="5379720"/>
            <a:ext cx="3736975" cy="841375"/>
            <a:chOff x="4227576" y="5379720"/>
            <a:chExt cx="3736975" cy="841375"/>
          </a:xfrm>
        </p:grpSpPr>
        <p:sp>
          <p:nvSpPr>
            <p:cNvPr id="10" name="object 10" descr=""/>
            <p:cNvSpPr/>
            <p:nvPr/>
          </p:nvSpPr>
          <p:spPr>
            <a:xfrm>
              <a:off x="4227576" y="5379720"/>
              <a:ext cx="3736975" cy="841375"/>
            </a:xfrm>
            <a:custGeom>
              <a:avLst/>
              <a:gdLst/>
              <a:ahLst/>
              <a:cxnLst/>
              <a:rect l="l" t="t" r="r" b="b"/>
              <a:pathLst>
                <a:path w="3736975" h="841375">
                  <a:moveTo>
                    <a:pt x="3736848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3736848" y="0"/>
                  </a:lnTo>
                  <a:lnTo>
                    <a:pt x="3736848" y="40004"/>
                  </a:lnTo>
                  <a:lnTo>
                    <a:pt x="96773" y="40004"/>
                  </a:lnTo>
                  <a:lnTo>
                    <a:pt x="87271" y="40876"/>
                  </a:lnTo>
                  <a:lnTo>
                    <a:pt x="52635" y="69346"/>
                  </a:lnTo>
                  <a:lnTo>
                    <a:pt x="49148" y="87629"/>
                  </a:lnTo>
                  <a:lnTo>
                    <a:pt x="49148" y="735329"/>
                  </a:lnTo>
                  <a:lnTo>
                    <a:pt x="70433" y="775108"/>
                  </a:lnTo>
                  <a:lnTo>
                    <a:pt x="96773" y="782954"/>
                  </a:lnTo>
                  <a:lnTo>
                    <a:pt x="3736848" y="782954"/>
                  </a:lnTo>
                  <a:lnTo>
                    <a:pt x="3736848" y="841248"/>
                  </a:lnTo>
                  <a:close/>
                </a:path>
                <a:path w="3736975" h="841375">
                  <a:moveTo>
                    <a:pt x="3736848" y="782954"/>
                  </a:moveTo>
                  <a:lnTo>
                    <a:pt x="3640073" y="782954"/>
                  </a:lnTo>
                  <a:lnTo>
                    <a:pt x="3649575" y="782082"/>
                  </a:lnTo>
                  <a:lnTo>
                    <a:pt x="3658356" y="779467"/>
                  </a:lnTo>
                  <a:lnTo>
                    <a:pt x="3686826" y="744831"/>
                  </a:lnTo>
                  <a:lnTo>
                    <a:pt x="3687698" y="735329"/>
                  </a:lnTo>
                  <a:lnTo>
                    <a:pt x="3687698" y="87629"/>
                  </a:lnTo>
                  <a:lnTo>
                    <a:pt x="3666414" y="47850"/>
                  </a:lnTo>
                  <a:lnTo>
                    <a:pt x="3640073" y="40004"/>
                  </a:lnTo>
                  <a:lnTo>
                    <a:pt x="3736848" y="40004"/>
                  </a:lnTo>
                  <a:lnTo>
                    <a:pt x="3736848" y="7829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91011" y="5410199"/>
              <a:ext cx="3634104" cy="762000"/>
            </a:xfrm>
            <a:custGeom>
              <a:avLst/>
              <a:gdLst/>
              <a:ahLst/>
              <a:cxnLst/>
              <a:rect l="l" t="t" r="r" b="b"/>
              <a:pathLst>
                <a:path w="3634104" h="762000">
                  <a:moveTo>
                    <a:pt x="3580389" y="761999"/>
                  </a:moveTo>
                  <a:lnTo>
                    <a:pt x="28916" y="761999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3580389" y="0"/>
                  </a:lnTo>
                  <a:lnTo>
                    <a:pt x="3619700" y="19391"/>
                  </a:lnTo>
                  <a:lnTo>
                    <a:pt x="3633786" y="53397"/>
                  </a:lnTo>
                  <a:lnTo>
                    <a:pt x="3633786" y="708602"/>
                  </a:lnTo>
                  <a:lnTo>
                    <a:pt x="3614393" y="747914"/>
                  </a:lnTo>
                  <a:lnTo>
                    <a:pt x="3584105" y="761633"/>
                  </a:lnTo>
                  <a:lnTo>
                    <a:pt x="3580389" y="7619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67199" y="5410199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10" h="762000">
                  <a:moveTo>
                    <a:pt x="54519" y="761999"/>
                  </a:moveTo>
                  <a:lnTo>
                    <a:pt x="49570" y="761999"/>
                  </a:lnTo>
                  <a:lnTo>
                    <a:pt x="42280" y="760548"/>
                  </a:lnTo>
                  <a:lnTo>
                    <a:pt x="7249" y="733721"/>
                  </a:lnTo>
                  <a:lnTo>
                    <a:pt x="0" y="712429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0825" y="5689599"/>
              <a:ext cx="190500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733875" y="5490731"/>
            <a:ext cx="2772410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13532D"/>
                </a:solidFill>
                <a:latin typeface="Arial"/>
                <a:cs typeface="Arial"/>
              </a:rPr>
              <a:t>Ne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l'utilisez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que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le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code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legacy</a:t>
            </a:r>
            <a:r>
              <a:rPr dirty="0" sz="1400" spc="-6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(vieux</a:t>
            </a:r>
            <a:r>
              <a:rPr dirty="0" sz="1400" spc="-6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frameworks).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028432" y="5379720"/>
            <a:ext cx="3728085" cy="841375"/>
            <a:chOff x="8028432" y="5379720"/>
            <a:chExt cx="3728085" cy="841375"/>
          </a:xfrm>
        </p:grpSpPr>
        <p:sp>
          <p:nvSpPr>
            <p:cNvPr id="16" name="object 16" descr=""/>
            <p:cNvSpPr/>
            <p:nvPr/>
          </p:nvSpPr>
          <p:spPr>
            <a:xfrm>
              <a:off x="8028432" y="5379720"/>
              <a:ext cx="3728085" cy="841375"/>
            </a:xfrm>
            <a:custGeom>
              <a:avLst/>
              <a:gdLst/>
              <a:ahLst/>
              <a:cxnLst/>
              <a:rect l="l" t="t" r="r" b="b"/>
              <a:pathLst>
                <a:path w="3728084" h="841375">
                  <a:moveTo>
                    <a:pt x="3727704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40004"/>
                  </a:lnTo>
                  <a:lnTo>
                    <a:pt x="96392" y="40004"/>
                  </a:lnTo>
                  <a:lnTo>
                    <a:pt x="86890" y="40876"/>
                  </a:lnTo>
                  <a:lnTo>
                    <a:pt x="52254" y="69346"/>
                  </a:lnTo>
                  <a:lnTo>
                    <a:pt x="48767" y="87629"/>
                  </a:lnTo>
                  <a:lnTo>
                    <a:pt x="48767" y="735329"/>
                  </a:lnTo>
                  <a:lnTo>
                    <a:pt x="70052" y="775108"/>
                  </a:lnTo>
                  <a:lnTo>
                    <a:pt x="96392" y="782954"/>
                  </a:lnTo>
                  <a:lnTo>
                    <a:pt x="3727704" y="782954"/>
                  </a:lnTo>
                  <a:lnTo>
                    <a:pt x="3727704" y="841248"/>
                  </a:lnTo>
                  <a:close/>
                </a:path>
                <a:path w="3728084" h="841375">
                  <a:moveTo>
                    <a:pt x="3727704" y="782954"/>
                  </a:moveTo>
                  <a:lnTo>
                    <a:pt x="3630167" y="782954"/>
                  </a:lnTo>
                  <a:lnTo>
                    <a:pt x="3639669" y="782082"/>
                  </a:lnTo>
                  <a:lnTo>
                    <a:pt x="3648449" y="779467"/>
                  </a:lnTo>
                  <a:lnTo>
                    <a:pt x="3676920" y="744831"/>
                  </a:lnTo>
                  <a:lnTo>
                    <a:pt x="3677792" y="735329"/>
                  </a:lnTo>
                  <a:lnTo>
                    <a:pt x="3677792" y="87629"/>
                  </a:lnTo>
                  <a:lnTo>
                    <a:pt x="3656507" y="47850"/>
                  </a:lnTo>
                  <a:lnTo>
                    <a:pt x="3630167" y="40004"/>
                  </a:lnTo>
                  <a:lnTo>
                    <a:pt x="3727704" y="40004"/>
                  </a:lnTo>
                  <a:lnTo>
                    <a:pt x="3727704" y="7829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91486" y="5410199"/>
              <a:ext cx="3624579" cy="762000"/>
            </a:xfrm>
            <a:custGeom>
              <a:avLst/>
              <a:gdLst/>
              <a:ahLst/>
              <a:cxnLst/>
              <a:rect l="l" t="t" r="r" b="b"/>
              <a:pathLst>
                <a:path w="3624579" h="762000">
                  <a:moveTo>
                    <a:pt x="3570863" y="761999"/>
                  </a:moveTo>
                  <a:lnTo>
                    <a:pt x="28916" y="761999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89" y="11380"/>
                  </a:lnTo>
                  <a:lnTo>
                    <a:pt x="28916" y="0"/>
                  </a:lnTo>
                  <a:lnTo>
                    <a:pt x="3570863" y="0"/>
                  </a:lnTo>
                  <a:lnTo>
                    <a:pt x="3610176" y="19391"/>
                  </a:lnTo>
                  <a:lnTo>
                    <a:pt x="3624261" y="53397"/>
                  </a:lnTo>
                  <a:lnTo>
                    <a:pt x="3624261" y="708602"/>
                  </a:lnTo>
                  <a:lnTo>
                    <a:pt x="3604867" y="747914"/>
                  </a:lnTo>
                  <a:lnTo>
                    <a:pt x="3574579" y="761633"/>
                  </a:lnTo>
                  <a:lnTo>
                    <a:pt x="3570863" y="761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67674" y="5410199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09" h="762000">
                  <a:moveTo>
                    <a:pt x="54519" y="761999"/>
                  </a:moveTo>
                  <a:lnTo>
                    <a:pt x="49570" y="761999"/>
                  </a:lnTo>
                  <a:lnTo>
                    <a:pt x="42279" y="760548"/>
                  </a:lnTo>
                  <a:lnTo>
                    <a:pt x="7248" y="733721"/>
                  </a:lnTo>
                  <a:lnTo>
                    <a:pt x="0" y="712430"/>
                  </a:lnTo>
                  <a:lnTo>
                    <a:pt x="0" y="49568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8075" y="5689599"/>
              <a:ext cx="136525" cy="193675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8480325" y="5451305"/>
            <a:ext cx="1819910" cy="56832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550" spc="-165" b="1">
                <a:solidFill>
                  <a:srgbClr val="1D3A8A"/>
                </a:solidFill>
                <a:latin typeface="Arial"/>
                <a:cs typeface="Arial"/>
              </a:rPr>
              <a:t>Équivalent</a:t>
            </a:r>
            <a:r>
              <a:rPr dirty="0" sz="1550" spc="-4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50" spc="-175" b="1">
                <a:solidFill>
                  <a:srgbClr val="1D3A8A"/>
                </a:solidFill>
                <a:latin typeface="Arial"/>
                <a:cs typeface="Arial"/>
              </a:rPr>
              <a:t>moderne</a:t>
            </a:r>
            <a:r>
              <a:rPr dirty="0" sz="1550" spc="-4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50" spc="-5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350" spc="-10">
                <a:solidFill>
                  <a:srgbClr val="1D3A8A"/>
                </a:solidFill>
                <a:latin typeface="Monaco"/>
                <a:cs typeface="Monaco"/>
              </a:rPr>
              <a:t>java.time.Instant</a:t>
            </a:r>
            <a:r>
              <a:rPr dirty="0" sz="1300" spc="-10">
                <a:solidFill>
                  <a:srgbClr val="1D3A8A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420624" y="2231136"/>
            <a:ext cx="11351260" cy="2585085"/>
            <a:chOff x="420624" y="2231136"/>
            <a:chExt cx="11351260" cy="2585085"/>
          </a:xfrm>
        </p:grpSpPr>
        <p:sp>
          <p:nvSpPr>
            <p:cNvPr id="23" name="object 23" descr=""/>
            <p:cNvSpPr/>
            <p:nvPr/>
          </p:nvSpPr>
          <p:spPr>
            <a:xfrm>
              <a:off x="420624" y="2231136"/>
              <a:ext cx="11351260" cy="2585085"/>
            </a:xfrm>
            <a:custGeom>
              <a:avLst/>
              <a:gdLst/>
              <a:ahLst/>
              <a:cxnLst/>
              <a:rect l="l" t="t" r="r" b="b"/>
              <a:pathLst>
                <a:path w="11351260" h="2585085">
                  <a:moveTo>
                    <a:pt x="11350752" y="2584704"/>
                  </a:moveTo>
                  <a:lnTo>
                    <a:pt x="0" y="2584704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2436113"/>
                  </a:lnTo>
                  <a:lnTo>
                    <a:pt x="76377" y="2473162"/>
                  </a:lnTo>
                  <a:lnTo>
                    <a:pt x="106310" y="2497712"/>
                  </a:lnTo>
                  <a:lnTo>
                    <a:pt x="131825" y="2502788"/>
                  </a:lnTo>
                  <a:lnTo>
                    <a:pt x="11350752" y="2502788"/>
                  </a:lnTo>
                  <a:lnTo>
                    <a:pt x="11350752" y="2584704"/>
                  </a:lnTo>
                  <a:close/>
                </a:path>
                <a:path w="11351260" h="2585085">
                  <a:moveTo>
                    <a:pt x="11350752" y="2502788"/>
                  </a:moveTo>
                  <a:lnTo>
                    <a:pt x="11218925" y="2502788"/>
                  </a:lnTo>
                  <a:lnTo>
                    <a:pt x="11225493" y="2502471"/>
                  </a:lnTo>
                  <a:lnTo>
                    <a:pt x="11231935" y="2501519"/>
                  </a:lnTo>
                  <a:lnTo>
                    <a:pt x="11266071" y="2483259"/>
                  </a:lnTo>
                  <a:lnTo>
                    <a:pt x="11284331" y="2449123"/>
                  </a:lnTo>
                  <a:lnTo>
                    <a:pt x="11285600" y="24361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25027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1012" y="2271712"/>
              <a:ext cx="11229975" cy="2466975"/>
            </a:xfrm>
            <a:custGeom>
              <a:avLst/>
              <a:gdLst/>
              <a:ahLst/>
              <a:cxnLst/>
              <a:rect l="l" t="t" r="r" b="b"/>
              <a:pathLst>
                <a:path w="11229975" h="2466975">
                  <a:moveTo>
                    <a:pt x="11163227" y="2466974"/>
                  </a:moveTo>
                  <a:lnTo>
                    <a:pt x="66746" y="2466974"/>
                  </a:lnTo>
                  <a:lnTo>
                    <a:pt x="62101" y="2466517"/>
                  </a:lnTo>
                  <a:lnTo>
                    <a:pt x="24240" y="2449368"/>
                  </a:lnTo>
                  <a:lnTo>
                    <a:pt x="2287" y="2414074"/>
                  </a:lnTo>
                  <a:lnTo>
                    <a:pt x="0" y="2400227"/>
                  </a:lnTo>
                  <a:lnTo>
                    <a:pt x="0" y="2395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2400227"/>
                  </a:lnTo>
                  <a:lnTo>
                    <a:pt x="11215327" y="2439125"/>
                  </a:lnTo>
                  <a:lnTo>
                    <a:pt x="11181539" y="2463331"/>
                  </a:lnTo>
                  <a:lnTo>
                    <a:pt x="11167872" y="2466517"/>
                  </a:lnTo>
                  <a:lnTo>
                    <a:pt x="11163227" y="2466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1012" y="2271712"/>
              <a:ext cx="11229975" cy="2466975"/>
            </a:xfrm>
            <a:custGeom>
              <a:avLst/>
              <a:gdLst/>
              <a:ahLst/>
              <a:cxnLst/>
              <a:rect l="l" t="t" r="r" b="b"/>
              <a:pathLst>
                <a:path w="11229975" h="2466975">
                  <a:moveTo>
                    <a:pt x="0" y="2395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2395537"/>
                  </a:lnTo>
                  <a:lnTo>
                    <a:pt x="11217932" y="2435225"/>
                  </a:lnTo>
                  <a:lnTo>
                    <a:pt x="11198222" y="2454935"/>
                  </a:lnTo>
                  <a:lnTo>
                    <a:pt x="11194322" y="2457541"/>
                  </a:lnTo>
                  <a:lnTo>
                    <a:pt x="11172472" y="2465601"/>
                  </a:lnTo>
                  <a:lnTo>
                    <a:pt x="11167872" y="2466517"/>
                  </a:lnTo>
                  <a:lnTo>
                    <a:pt x="11163227" y="2466974"/>
                  </a:lnTo>
                  <a:lnTo>
                    <a:pt x="11158536" y="2466974"/>
                  </a:lnTo>
                  <a:lnTo>
                    <a:pt x="71437" y="2466974"/>
                  </a:lnTo>
                  <a:lnTo>
                    <a:pt x="66746" y="2466974"/>
                  </a:lnTo>
                  <a:lnTo>
                    <a:pt x="62101" y="2466517"/>
                  </a:lnTo>
                  <a:lnTo>
                    <a:pt x="57500" y="2465601"/>
                  </a:lnTo>
                  <a:lnTo>
                    <a:pt x="52900" y="2464686"/>
                  </a:lnTo>
                  <a:lnTo>
                    <a:pt x="31748" y="2454935"/>
                  </a:lnTo>
                  <a:lnTo>
                    <a:pt x="27848" y="2452329"/>
                  </a:lnTo>
                  <a:lnTo>
                    <a:pt x="24240" y="2449368"/>
                  </a:lnTo>
                  <a:lnTo>
                    <a:pt x="20923" y="2446051"/>
                  </a:lnTo>
                  <a:lnTo>
                    <a:pt x="17606" y="2442734"/>
                  </a:lnTo>
                  <a:lnTo>
                    <a:pt x="1372" y="2409473"/>
                  </a:lnTo>
                  <a:lnTo>
                    <a:pt x="457" y="2404873"/>
                  </a:lnTo>
                  <a:lnTo>
                    <a:pt x="0" y="2400227"/>
                  </a:lnTo>
                  <a:lnTo>
                    <a:pt x="0" y="2395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3550" y="797492"/>
            <a:ext cx="11087735" cy="37763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6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première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4738B"/>
                </a:solidFill>
                <a:latin typeface="Arial"/>
                <a:cs typeface="Arial"/>
              </a:rPr>
              <a:t>API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gestion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64738B"/>
                </a:solidFill>
                <a:latin typeface="Arial"/>
                <a:cs typeface="Arial"/>
              </a:rPr>
              <a:t>du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temps</a:t>
            </a: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4738B"/>
                </a:solidFill>
                <a:latin typeface="Arial"/>
                <a:cs typeface="Arial"/>
              </a:rPr>
              <a:t>(Java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4738B"/>
                </a:solidFill>
                <a:latin typeface="Arial"/>
                <a:cs typeface="Arial"/>
              </a:rPr>
              <a:t>1.0,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1996)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à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éviter.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000"/>
              </a:spcBef>
            </a:pP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La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classe</a:t>
            </a:r>
            <a:r>
              <a:rPr dirty="0" sz="1700" spc="-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java.util.Date</a:t>
            </a:r>
            <a:r>
              <a:rPr dirty="0" sz="1650" spc="-58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simple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wrapper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autour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d'un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long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(millisecondes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depuis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1970).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Malgré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son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nom,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ce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n'est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334054"/>
                </a:solidFill>
                <a:latin typeface="Arial"/>
                <a:cs typeface="Arial"/>
              </a:rPr>
              <a:t>pas</a:t>
            </a:r>
            <a:r>
              <a:rPr dirty="0" sz="1600" spc="-30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date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(jour/mois/année)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mais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334054"/>
                </a:solidFill>
                <a:latin typeface="Arial"/>
                <a:cs typeface="Arial"/>
              </a:rPr>
              <a:t>instant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.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Elle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est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mutable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mal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conçue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(les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mois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commençaient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à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0...).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185" b="1">
                <a:solidFill>
                  <a:srgbClr val="D63A49"/>
                </a:solidFill>
                <a:latin typeface="Times New Roman"/>
                <a:cs typeface="Times New Roman"/>
              </a:rPr>
              <a:t>import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35">
                <a:solidFill>
                  <a:srgbClr val="334054"/>
                </a:solidFill>
                <a:latin typeface="Times New Roman"/>
                <a:cs typeface="Times New Roman"/>
              </a:rPr>
              <a:t>java.util.Date;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350" spc="260">
                <a:solidFill>
                  <a:srgbClr val="005CC4"/>
                </a:solidFill>
                <a:latin typeface="Times New Roman"/>
                <a:cs typeface="Times New Roman"/>
              </a:rPr>
              <a:t>Date</a:t>
            </a:r>
            <a:r>
              <a:rPr dirty="0" sz="1350" spc="114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60">
                <a:solidFill>
                  <a:srgbClr val="334054"/>
                </a:solidFill>
                <a:latin typeface="Times New Roman"/>
                <a:cs typeface="Times New Roman"/>
              </a:rPr>
              <a:t>now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335">
                <a:solidFill>
                  <a:srgbClr val="005CC4"/>
                </a:solidFill>
                <a:latin typeface="Times New Roman"/>
                <a:cs typeface="Times New Roman"/>
              </a:rPr>
              <a:t>Date</a:t>
            </a:r>
            <a:r>
              <a:rPr dirty="0" sz="1450" spc="33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0" i="1">
                <a:solidFill>
                  <a:srgbClr val="6A737D"/>
                </a:solidFill>
                <a:latin typeface="Times New Roman"/>
                <a:cs typeface="Times New Roman"/>
              </a:rPr>
              <a:t>Capture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40" i="1">
                <a:solidFill>
                  <a:srgbClr val="6A737D"/>
                </a:solidFill>
                <a:latin typeface="Times New Roman"/>
                <a:cs typeface="Times New Roman"/>
              </a:rPr>
              <a:t>l'instant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35" i="1">
                <a:solidFill>
                  <a:srgbClr val="6A737D"/>
                </a:solidFill>
                <a:latin typeface="Times New Roman"/>
                <a:cs typeface="Times New Roman"/>
              </a:rPr>
              <a:t>présent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  <a:tabLst>
                <a:tab pos="3136265" algn="l"/>
              </a:tabLst>
            </a:pPr>
            <a:r>
              <a:rPr dirty="0" sz="1350" spc="290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.out.println(now);</a:t>
            </a:r>
            <a:r>
              <a:rPr dirty="0" sz="145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65" i="1">
                <a:solidFill>
                  <a:srgbClr val="6A737D"/>
                </a:solidFill>
                <a:latin typeface="Times New Roman"/>
                <a:cs typeface="Times New Roman"/>
              </a:rPr>
              <a:t>Affiche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un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format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5" i="1">
                <a:solidFill>
                  <a:srgbClr val="6A737D"/>
                </a:solidFill>
                <a:latin typeface="Times New Roman"/>
                <a:cs typeface="Times New Roman"/>
              </a:rPr>
              <a:t>fixe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0" i="1">
                <a:solidFill>
                  <a:srgbClr val="6A737D"/>
                </a:solidFill>
                <a:latin typeface="Times New Roman"/>
                <a:cs typeface="Times New Roman"/>
              </a:rPr>
              <a:t>confus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75" i="1">
                <a:solidFill>
                  <a:srgbClr val="6A737D"/>
                </a:solidFill>
                <a:latin typeface="Times New Roman"/>
                <a:cs typeface="Times New Roman"/>
              </a:rPr>
              <a:t>La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4" i="1">
                <a:solidFill>
                  <a:srgbClr val="6A737D"/>
                </a:solidFill>
                <a:latin typeface="Times New Roman"/>
                <a:cs typeface="Times New Roman"/>
              </a:rPr>
              <a:t>seule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5" i="1">
                <a:solidFill>
                  <a:srgbClr val="6A737D"/>
                </a:solidFill>
                <a:latin typeface="Times New Roman"/>
                <a:cs typeface="Times New Roman"/>
              </a:rPr>
              <a:t>méthode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90" i="1">
                <a:solidFill>
                  <a:srgbClr val="6A737D"/>
                </a:solidFill>
                <a:latin typeface="Times New Roman"/>
                <a:cs typeface="Times New Roman"/>
              </a:rPr>
              <a:t>encore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45" i="1">
                <a:solidFill>
                  <a:srgbClr val="6A737D"/>
                </a:solidFill>
                <a:latin typeface="Times New Roman"/>
                <a:cs typeface="Times New Roman"/>
              </a:rPr>
              <a:t>utile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5" i="1">
                <a:solidFill>
                  <a:srgbClr val="6A737D"/>
                </a:solidFill>
                <a:latin typeface="Times New Roman"/>
                <a:cs typeface="Times New Roman"/>
              </a:rPr>
              <a:t>le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5" i="1">
                <a:solidFill>
                  <a:srgbClr val="6A737D"/>
                </a:solidFill>
                <a:latin typeface="Times New Roman"/>
                <a:cs typeface="Times New Roman"/>
              </a:rPr>
              <a:t>timestamp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5" i="1">
                <a:solidFill>
                  <a:srgbClr val="6A737D"/>
                </a:solidFill>
                <a:latin typeface="Times New Roman"/>
                <a:cs typeface="Times New Roman"/>
              </a:rPr>
              <a:t>(ms)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</a:pPr>
            <a:r>
              <a:rPr dirty="0" sz="1450" spc="229" b="1">
                <a:solidFill>
                  <a:srgbClr val="D63A49"/>
                </a:solidFill>
                <a:latin typeface="Times New Roman"/>
                <a:cs typeface="Times New Roman"/>
              </a:rPr>
              <a:t>long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45">
                <a:solidFill>
                  <a:srgbClr val="334054"/>
                </a:solidFill>
                <a:latin typeface="Times New Roman"/>
                <a:cs typeface="Times New Roman"/>
              </a:rPr>
              <a:t>millis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45">
                <a:solidFill>
                  <a:srgbClr val="334054"/>
                </a:solidFill>
                <a:latin typeface="Times New Roman"/>
                <a:cs typeface="Times New Roman"/>
              </a:rPr>
              <a:t>now.</a:t>
            </a:r>
            <a:r>
              <a:rPr dirty="0" sz="1450" spc="245">
                <a:solidFill>
                  <a:srgbClr val="6F41C1"/>
                </a:solidFill>
                <a:latin typeface="Times New Roman"/>
                <a:cs typeface="Times New Roman"/>
              </a:rPr>
              <a:t>getTime</a:t>
            </a:r>
            <a:r>
              <a:rPr dirty="0" sz="1450" spc="24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Depuis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5" i="1">
                <a:solidFill>
                  <a:srgbClr val="6A737D"/>
                </a:solidFill>
                <a:latin typeface="Times New Roman"/>
                <a:cs typeface="Times New Roman"/>
              </a:rPr>
              <a:t>1970-</a:t>
            </a:r>
            <a:r>
              <a:rPr dirty="0" sz="1550" spc="200" i="1">
                <a:solidFill>
                  <a:srgbClr val="6A737D"/>
                </a:solidFill>
                <a:latin typeface="Times New Roman"/>
                <a:cs typeface="Times New Roman"/>
              </a:rPr>
              <a:t>01-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01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-25" i="1">
                <a:solidFill>
                  <a:srgbClr val="6A737D"/>
                </a:solidFill>
                <a:latin typeface="Times New Roman"/>
                <a:cs typeface="Times New Roman"/>
              </a:rPr>
              <a:t>UTC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14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0" i="1">
                <a:solidFill>
                  <a:srgbClr val="6A737D"/>
                </a:solidFill>
                <a:latin typeface="Times New Roman"/>
                <a:cs typeface="Times New Roman"/>
              </a:rPr>
              <a:t>now.setYear(126);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800" spc="50">
                <a:solidFill>
                  <a:srgbClr val="6A737D"/>
                </a:solidFill>
                <a:latin typeface="Apple Color Emoji"/>
                <a:cs typeface="Apple Color Emoji"/>
              </a:rPr>
              <a:t>❌</a:t>
            </a:r>
            <a:r>
              <a:rPr dirty="0" sz="1800" spc="-885">
                <a:solidFill>
                  <a:srgbClr val="6A737D"/>
                </a:solidFill>
                <a:latin typeface="Apple Color Emoji"/>
                <a:cs typeface="Apple Color Emoji"/>
              </a:rPr>
              <a:t> </a:t>
            </a:r>
            <a:r>
              <a:rPr dirty="0" sz="1550" spc="140" i="1">
                <a:solidFill>
                  <a:srgbClr val="6A737D"/>
                </a:solidFill>
                <a:latin typeface="Times New Roman"/>
                <a:cs typeface="Times New Roman"/>
              </a:rPr>
              <a:t>Méthodes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dépréciées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0" i="1">
                <a:solidFill>
                  <a:srgbClr val="6A737D"/>
                </a:solidFill>
                <a:latin typeface="Times New Roman"/>
                <a:cs typeface="Times New Roman"/>
              </a:rPr>
              <a:t>partout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30" i="1">
                <a:solidFill>
                  <a:srgbClr val="6A737D"/>
                </a:solidFill>
                <a:latin typeface="Times New Roman"/>
                <a:cs typeface="Times New Roman"/>
              </a:rPr>
              <a:t>!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22.</a:t>
            </a:r>
            <a:r>
              <a:rPr dirty="0" spc="-70"/>
              <a:t> </a:t>
            </a:r>
            <a:r>
              <a:rPr dirty="0" spc="-95"/>
              <a:t>Calendar</a:t>
            </a:r>
            <a:r>
              <a:rPr dirty="0" spc="-55"/>
              <a:t> </a:t>
            </a:r>
            <a:r>
              <a:rPr dirty="0" spc="-650"/>
              <a:t>—</a:t>
            </a:r>
            <a:r>
              <a:rPr dirty="0" spc="-60"/>
              <a:t> </a:t>
            </a:r>
            <a:r>
              <a:rPr dirty="0" spc="-40"/>
              <a:t>API</a:t>
            </a:r>
            <a:r>
              <a:rPr dirty="0" spc="-55"/>
              <a:t> </a:t>
            </a:r>
            <a:r>
              <a:rPr dirty="0" spc="-70"/>
              <a:t>pratique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715000"/>
            <a:ext cx="3728085" cy="742950"/>
            <a:chOff x="435863" y="5715000"/>
            <a:chExt cx="3728085" cy="74295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715000"/>
              <a:ext cx="3728085" cy="742950"/>
            </a:xfrm>
            <a:custGeom>
              <a:avLst/>
              <a:gdLst/>
              <a:ahLst/>
              <a:cxnLst/>
              <a:rect l="l" t="t" r="r" b="b"/>
              <a:pathLst>
                <a:path w="3728085" h="742950">
                  <a:moveTo>
                    <a:pt x="50873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736631"/>
                  </a:lnTo>
                  <a:lnTo>
                    <a:pt x="50231" y="739807"/>
                  </a:lnTo>
                  <a:lnTo>
                    <a:pt x="50873" y="742949"/>
                  </a:lnTo>
                  <a:close/>
                </a:path>
                <a:path w="3728085" h="742950">
                  <a:moveTo>
                    <a:pt x="3727704" y="742949"/>
                  </a:moveTo>
                  <a:lnTo>
                    <a:pt x="3677973" y="742949"/>
                  </a:lnTo>
                  <a:lnTo>
                    <a:pt x="3678615" y="739807"/>
                  </a:lnTo>
                  <a:lnTo>
                    <a:pt x="3678935" y="736631"/>
                  </a:lnTo>
                  <a:lnTo>
                    <a:pt x="3678935" y="85724"/>
                  </a:lnTo>
                  <a:lnTo>
                    <a:pt x="3678064" y="76222"/>
                  </a:lnTo>
                  <a:lnTo>
                    <a:pt x="3649593" y="41586"/>
                  </a:lnTo>
                  <a:lnTo>
                    <a:pt x="3631310" y="38099"/>
                  </a:lnTo>
                  <a:lnTo>
                    <a:pt x="3727704" y="38099"/>
                  </a:lnTo>
                  <a:lnTo>
                    <a:pt x="3727704" y="7429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743574"/>
              <a:ext cx="3624579" cy="714375"/>
            </a:xfrm>
            <a:custGeom>
              <a:avLst/>
              <a:gdLst/>
              <a:ahLst/>
              <a:cxnLst/>
              <a:rect l="l" t="t" r="r" b="b"/>
              <a:pathLst>
                <a:path w="3624579" h="714375">
                  <a:moveTo>
                    <a:pt x="3623486" y="714375"/>
                  </a:moveTo>
                  <a:lnTo>
                    <a:pt x="225" y="714375"/>
                  </a:lnTo>
                  <a:lnTo>
                    <a:pt x="0" y="712427"/>
                  </a:lnTo>
                  <a:lnTo>
                    <a:pt x="0" y="49570"/>
                  </a:lnTo>
                  <a:lnTo>
                    <a:pt x="845" y="42279"/>
                  </a:lnTo>
                  <a:lnTo>
                    <a:pt x="16495" y="7250"/>
                  </a:lnTo>
                  <a:lnTo>
                    <a:pt x="28916" y="0"/>
                  </a:lnTo>
                  <a:lnTo>
                    <a:pt x="3570864" y="0"/>
                  </a:lnTo>
                  <a:lnTo>
                    <a:pt x="3610176" y="19391"/>
                  </a:lnTo>
                  <a:lnTo>
                    <a:pt x="3624262" y="53397"/>
                  </a:lnTo>
                  <a:lnTo>
                    <a:pt x="3624262" y="708602"/>
                  </a:lnTo>
                  <a:lnTo>
                    <a:pt x="3623874" y="712427"/>
                  </a:lnTo>
                  <a:lnTo>
                    <a:pt x="3623486" y="71437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743574"/>
              <a:ext cx="54610" cy="714375"/>
            </a:xfrm>
            <a:custGeom>
              <a:avLst/>
              <a:gdLst/>
              <a:ahLst/>
              <a:cxnLst/>
              <a:rect l="l" t="t" r="r" b="b"/>
              <a:pathLst>
                <a:path w="54609" h="714375">
                  <a:moveTo>
                    <a:pt x="47758" y="714374"/>
                  </a:moveTo>
                  <a:lnTo>
                    <a:pt x="387" y="714374"/>
                  </a:lnTo>
                  <a:lnTo>
                    <a:pt x="0" y="712427"/>
                  </a:lnTo>
                  <a:lnTo>
                    <a:pt x="0" y="49571"/>
                  </a:lnTo>
                  <a:lnTo>
                    <a:pt x="1450" y="42280"/>
                  </a:lnTo>
                  <a:lnTo>
                    <a:pt x="28277" y="7250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758" y="71437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02297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814581"/>
            <a:ext cx="298005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Utilisez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toujours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constantes 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(ex: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Monaco"/>
                <a:cs typeface="Monaco"/>
              </a:rPr>
              <a:t>Calendar.YEAR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227576" y="5715000"/>
            <a:ext cx="3736975" cy="742950"/>
            <a:chOff x="4227576" y="5715000"/>
            <a:chExt cx="3736975" cy="742950"/>
          </a:xfrm>
        </p:grpSpPr>
        <p:sp>
          <p:nvSpPr>
            <p:cNvPr id="10" name="object 10" descr=""/>
            <p:cNvSpPr/>
            <p:nvPr/>
          </p:nvSpPr>
          <p:spPr>
            <a:xfrm>
              <a:off x="4227576" y="5715000"/>
              <a:ext cx="3736975" cy="742950"/>
            </a:xfrm>
            <a:custGeom>
              <a:avLst/>
              <a:gdLst/>
              <a:ahLst/>
              <a:cxnLst/>
              <a:rect l="l" t="t" r="r" b="b"/>
              <a:pathLst>
                <a:path w="3736975" h="742950">
                  <a:moveTo>
                    <a:pt x="50110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3736848" y="0"/>
                  </a:lnTo>
                  <a:lnTo>
                    <a:pt x="3736848" y="38099"/>
                  </a:lnTo>
                  <a:lnTo>
                    <a:pt x="96773" y="38099"/>
                  </a:lnTo>
                  <a:lnTo>
                    <a:pt x="87271" y="38971"/>
                  </a:lnTo>
                  <a:lnTo>
                    <a:pt x="52635" y="67441"/>
                  </a:lnTo>
                  <a:lnTo>
                    <a:pt x="49148" y="85724"/>
                  </a:lnTo>
                  <a:lnTo>
                    <a:pt x="49148" y="736631"/>
                  </a:lnTo>
                  <a:lnTo>
                    <a:pt x="49469" y="739807"/>
                  </a:lnTo>
                  <a:lnTo>
                    <a:pt x="50110" y="742949"/>
                  </a:lnTo>
                  <a:close/>
                </a:path>
                <a:path w="3736975" h="742950">
                  <a:moveTo>
                    <a:pt x="3736848" y="742949"/>
                  </a:moveTo>
                  <a:lnTo>
                    <a:pt x="3686736" y="742949"/>
                  </a:lnTo>
                  <a:lnTo>
                    <a:pt x="3687377" y="739807"/>
                  </a:lnTo>
                  <a:lnTo>
                    <a:pt x="3687698" y="736631"/>
                  </a:lnTo>
                  <a:lnTo>
                    <a:pt x="3687698" y="85724"/>
                  </a:lnTo>
                  <a:lnTo>
                    <a:pt x="3686826" y="76222"/>
                  </a:lnTo>
                  <a:lnTo>
                    <a:pt x="3658356" y="41586"/>
                  </a:lnTo>
                  <a:lnTo>
                    <a:pt x="3640073" y="38099"/>
                  </a:lnTo>
                  <a:lnTo>
                    <a:pt x="3736848" y="38099"/>
                  </a:lnTo>
                  <a:lnTo>
                    <a:pt x="3736848" y="7429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291011" y="5743574"/>
              <a:ext cx="3634104" cy="714375"/>
            </a:xfrm>
            <a:custGeom>
              <a:avLst/>
              <a:gdLst/>
              <a:ahLst/>
              <a:cxnLst/>
              <a:rect l="l" t="t" r="r" b="b"/>
              <a:pathLst>
                <a:path w="3634104" h="714375">
                  <a:moveTo>
                    <a:pt x="3633011" y="714375"/>
                  </a:moveTo>
                  <a:lnTo>
                    <a:pt x="225" y="714375"/>
                  </a:lnTo>
                  <a:lnTo>
                    <a:pt x="0" y="712427"/>
                  </a:lnTo>
                  <a:lnTo>
                    <a:pt x="0" y="49570"/>
                  </a:lnTo>
                  <a:lnTo>
                    <a:pt x="845" y="42279"/>
                  </a:lnTo>
                  <a:lnTo>
                    <a:pt x="16495" y="7250"/>
                  </a:lnTo>
                  <a:lnTo>
                    <a:pt x="28916" y="0"/>
                  </a:lnTo>
                  <a:lnTo>
                    <a:pt x="3580389" y="0"/>
                  </a:lnTo>
                  <a:lnTo>
                    <a:pt x="3619700" y="19391"/>
                  </a:lnTo>
                  <a:lnTo>
                    <a:pt x="3633787" y="53397"/>
                  </a:lnTo>
                  <a:lnTo>
                    <a:pt x="3633787" y="708602"/>
                  </a:lnTo>
                  <a:lnTo>
                    <a:pt x="3633398" y="712427"/>
                  </a:lnTo>
                  <a:lnTo>
                    <a:pt x="3633011" y="714375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67199" y="5743574"/>
              <a:ext cx="54610" cy="714375"/>
            </a:xfrm>
            <a:custGeom>
              <a:avLst/>
              <a:gdLst/>
              <a:ahLst/>
              <a:cxnLst/>
              <a:rect l="l" t="t" r="r" b="b"/>
              <a:pathLst>
                <a:path w="54610" h="714375">
                  <a:moveTo>
                    <a:pt x="47758" y="714374"/>
                  </a:moveTo>
                  <a:lnTo>
                    <a:pt x="386" y="714374"/>
                  </a:lnTo>
                  <a:lnTo>
                    <a:pt x="0" y="712429"/>
                  </a:lnTo>
                  <a:lnTo>
                    <a:pt x="0" y="49569"/>
                  </a:lnTo>
                  <a:lnTo>
                    <a:pt x="1449" y="42280"/>
                  </a:lnTo>
                  <a:lnTo>
                    <a:pt x="28277" y="7250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758" y="71437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650" y="6035674"/>
              <a:ext cx="196850" cy="1682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4733875" y="5795531"/>
            <a:ext cx="2494915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7E1C1C"/>
                </a:solidFill>
                <a:latin typeface="Arial"/>
                <a:cs typeface="Arial"/>
              </a:rPr>
              <a:t>Attention</a:t>
            </a:r>
            <a:r>
              <a:rPr dirty="0" sz="1300" spc="-9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00" spc="-6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Monaco"/>
                <a:cs typeface="Monaco"/>
              </a:rPr>
              <a:t>add()</a:t>
            </a:r>
            <a:r>
              <a:rPr dirty="0" sz="1350" spc="-475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400">
                <a:solidFill>
                  <a:srgbClr val="7E1C1C"/>
                </a:solidFill>
                <a:latin typeface="Arial"/>
                <a:cs typeface="Arial"/>
              </a:rPr>
              <a:t>modifie</a:t>
            </a:r>
            <a:r>
              <a:rPr dirty="0" sz="1400" spc="-8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l'objet existant</a:t>
            </a:r>
            <a:r>
              <a:rPr dirty="0" sz="1400" spc="-6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7E1C1C"/>
                </a:solidFill>
                <a:latin typeface="Arial"/>
                <a:cs typeface="Arial"/>
              </a:rPr>
              <a:t>(mutable).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028432" y="5715000"/>
            <a:ext cx="3728085" cy="742950"/>
            <a:chOff x="8028432" y="5715000"/>
            <a:chExt cx="3728085" cy="742950"/>
          </a:xfrm>
        </p:grpSpPr>
        <p:sp>
          <p:nvSpPr>
            <p:cNvPr id="16" name="object 16" descr=""/>
            <p:cNvSpPr/>
            <p:nvPr/>
          </p:nvSpPr>
          <p:spPr>
            <a:xfrm>
              <a:off x="8028432" y="5715000"/>
              <a:ext cx="3728085" cy="742950"/>
            </a:xfrm>
            <a:custGeom>
              <a:avLst/>
              <a:gdLst/>
              <a:ahLst/>
              <a:cxnLst/>
              <a:rect l="l" t="t" r="r" b="b"/>
              <a:pathLst>
                <a:path w="3728084" h="742950">
                  <a:moveTo>
                    <a:pt x="49729" y="742949"/>
                  </a:moveTo>
                  <a:lnTo>
                    <a:pt x="0" y="742949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099"/>
                  </a:lnTo>
                  <a:lnTo>
                    <a:pt x="96392" y="38099"/>
                  </a:lnTo>
                  <a:lnTo>
                    <a:pt x="86890" y="38971"/>
                  </a:lnTo>
                  <a:lnTo>
                    <a:pt x="52254" y="67441"/>
                  </a:lnTo>
                  <a:lnTo>
                    <a:pt x="48767" y="85724"/>
                  </a:lnTo>
                  <a:lnTo>
                    <a:pt x="48767" y="736631"/>
                  </a:lnTo>
                  <a:lnTo>
                    <a:pt x="49088" y="739807"/>
                  </a:lnTo>
                  <a:lnTo>
                    <a:pt x="49729" y="742949"/>
                  </a:lnTo>
                  <a:close/>
                </a:path>
                <a:path w="3728084" h="742950">
                  <a:moveTo>
                    <a:pt x="3727704" y="742949"/>
                  </a:moveTo>
                  <a:lnTo>
                    <a:pt x="3676830" y="742949"/>
                  </a:lnTo>
                  <a:lnTo>
                    <a:pt x="3677471" y="739807"/>
                  </a:lnTo>
                  <a:lnTo>
                    <a:pt x="3677792" y="736631"/>
                  </a:lnTo>
                  <a:lnTo>
                    <a:pt x="3677792" y="85724"/>
                  </a:lnTo>
                  <a:lnTo>
                    <a:pt x="3676920" y="76222"/>
                  </a:lnTo>
                  <a:lnTo>
                    <a:pt x="3648449" y="41586"/>
                  </a:lnTo>
                  <a:lnTo>
                    <a:pt x="3630167" y="38099"/>
                  </a:lnTo>
                  <a:lnTo>
                    <a:pt x="3727704" y="38099"/>
                  </a:lnTo>
                  <a:lnTo>
                    <a:pt x="3727704" y="74294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91486" y="5743574"/>
              <a:ext cx="3624579" cy="714375"/>
            </a:xfrm>
            <a:custGeom>
              <a:avLst/>
              <a:gdLst/>
              <a:ahLst/>
              <a:cxnLst/>
              <a:rect l="l" t="t" r="r" b="b"/>
              <a:pathLst>
                <a:path w="3624579" h="714375">
                  <a:moveTo>
                    <a:pt x="3623486" y="714375"/>
                  </a:moveTo>
                  <a:lnTo>
                    <a:pt x="225" y="714375"/>
                  </a:lnTo>
                  <a:lnTo>
                    <a:pt x="0" y="712427"/>
                  </a:lnTo>
                  <a:lnTo>
                    <a:pt x="0" y="49570"/>
                  </a:lnTo>
                  <a:lnTo>
                    <a:pt x="845" y="42279"/>
                  </a:lnTo>
                  <a:lnTo>
                    <a:pt x="16494" y="7250"/>
                  </a:lnTo>
                  <a:lnTo>
                    <a:pt x="28916" y="0"/>
                  </a:lnTo>
                  <a:lnTo>
                    <a:pt x="3570863" y="0"/>
                  </a:lnTo>
                  <a:lnTo>
                    <a:pt x="3610176" y="19391"/>
                  </a:lnTo>
                  <a:lnTo>
                    <a:pt x="3624261" y="53397"/>
                  </a:lnTo>
                  <a:lnTo>
                    <a:pt x="3624261" y="708602"/>
                  </a:lnTo>
                  <a:lnTo>
                    <a:pt x="3623873" y="712427"/>
                  </a:lnTo>
                  <a:lnTo>
                    <a:pt x="3623486" y="71437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67674" y="5743574"/>
              <a:ext cx="54610" cy="714375"/>
            </a:xfrm>
            <a:custGeom>
              <a:avLst/>
              <a:gdLst/>
              <a:ahLst/>
              <a:cxnLst/>
              <a:rect l="l" t="t" r="r" b="b"/>
              <a:pathLst>
                <a:path w="54609" h="714375">
                  <a:moveTo>
                    <a:pt x="47758" y="714374"/>
                  </a:moveTo>
                  <a:lnTo>
                    <a:pt x="386" y="714374"/>
                  </a:lnTo>
                  <a:lnTo>
                    <a:pt x="0" y="712430"/>
                  </a:lnTo>
                  <a:lnTo>
                    <a:pt x="0" y="49568"/>
                  </a:lnTo>
                  <a:lnTo>
                    <a:pt x="1448" y="42280"/>
                  </a:lnTo>
                  <a:lnTo>
                    <a:pt x="28276" y="7250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758" y="7143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8075" y="6022974"/>
              <a:ext cx="136525" cy="193675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8480325" y="5793739"/>
            <a:ext cx="291782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7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5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Courier New"/>
                <a:cs typeface="Courier New"/>
              </a:rPr>
              <a:t>roll()</a:t>
            </a:r>
            <a:r>
              <a:rPr dirty="0" sz="1350" spc="-480">
                <a:solidFill>
                  <a:srgbClr val="1D3A8A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change</a:t>
            </a:r>
            <a:r>
              <a:rPr dirty="0" sz="1350" spc="-7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un</a:t>
            </a:r>
            <a:r>
              <a:rPr dirty="0" sz="135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Arial"/>
                <a:cs typeface="Arial"/>
              </a:rPr>
              <a:t>champ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sans</a:t>
            </a:r>
            <a:r>
              <a:rPr dirty="0" sz="1350" spc="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impacter</a:t>
            </a:r>
            <a:r>
              <a:rPr dirty="0" sz="1350" spc="1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les</a:t>
            </a:r>
            <a:r>
              <a:rPr dirty="0" sz="1350" spc="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champs</a:t>
            </a:r>
            <a:r>
              <a:rPr dirty="0" sz="1350" spc="1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supérieurs.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0" y="2231136"/>
            <a:ext cx="12192000" cy="4236720"/>
            <a:chOff x="0" y="2231136"/>
            <a:chExt cx="12192000" cy="4236720"/>
          </a:xfrm>
        </p:grpSpPr>
        <p:sp>
          <p:nvSpPr>
            <p:cNvPr id="22" name="object 22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20624" y="2231136"/>
              <a:ext cx="11351260" cy="3444240"/>
            </a:xfrm>
            <a:custGeom>
              <a:avLst/>
              <a:gdLst/>
              <a:ahLst/>
              <a:cxnLst/>
              <a:rect l="l" t="t" r="r" b="b"/>
              <a:pathLst>
                <a:path w="11351260" h="3444240">
                  <a:moveTo>
                    <a:pt x="11350752" y="3444240"/>
                  </a:moveTo>
                  <a:lnTo>
                    <a:pt x="0" y="3444240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293363"/>
                  </a:lnTo>
                  <a:lnTo>
                    <a:pt x="76377" y="3330413"/>
                  </a:lnTo>
                  <a:lnTo>
                    <a:pt x="106310" y="3354962"/>
                  </a:lnTo>
                  <a:lnTo>
                    <a:pt x="131825" y="3360038"/>
                  </a:lnTo>
                  <a:lnTo>
                    <a:pt x="11350752" y="3360038"/>
                  </a:lnTo>
                  <a:lnTo>
                    <a:pt x="11350752" y="3444240"/>
                  </a:lnTo>
                  <a:close/>
                </a:path>
                <a:path w="11351260" h="3444240">
                  <a:moveTo>
                    <a:pt x="11350752" y="3360038"/>
                  </a:moveTo>
                  <a:lnTo>
                    <a:pt x="11218925" y="3360038"/>
                  </a:lnTo>
                  <a:lnTo>
                    <a:pt x="11225493" y="3359721"/>
                  </a:lnTo>
                  <a:lnTo>
                    <a:pt x="11231935" y="3358769"/>
                  </a:lnTo>
                  <a:lnTo>
                    <a:pt x="11266071" y="3340509"/>
                  </a:lnTo>
                  <a:lnTo>
                    <a:pt x="11284331" y="3306373"/>
                  </a:lnTo>
                  <a:lnTo>
                    <a:pt x="11285600" y="329336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36003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1012" y="2271712"/>
              <a:ext cx="11229975" cy="3324225"/>
            </a:xfrm>
            <a:custGeom>
              <a:avLst/>
              <a:gdLst/>
              <a:ahLst/>
              <a:cxnLst/>
              <a:rect l="l" t="t" r="r" b="b"/>
              <a:pathLst>
                <a:path w="11229975" h="3324225">
                  <a:moveTo>
                    <a:pt x="11163227" y="3324224"/>
                  </a:moveTo>
                  <a:lnTo>
                    <a:pt x="66746" y="3324224"/>
                  </a:lnTo>
                  <a:lnTo>
                    <a:pt x="62101" y="3323766"/>
                  </a:lnTo>
                  <a:lnTo>
                    <a:pt x="24240" y="3306617"/>
                  </a:lnTo>
                  <a:lnTo>
                    <a:pt x="2287" y="3271323"/>
                  </a:lnTo>
                  <a:lnTo>
                    <a:pt x="0" y="3257477"/>
                  </a:lnTo>
                  <a:lnTo>
                    <a:pt x="0" y="3252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257477"/>
                  </a:lnTo>
                  <a:lnTo>
                    <a:pt x="11215327" y="3296375"/>
                  </a:lnTo>
                  <a:lnTo>
                    <a:pt x="11181539" y="3320581"/>
                  </a:lnTo>
                  <a:lnTo>
                    <a:pt x="11167872" y="3323766"/>
                  </a:lnTo>
                  <a:lnTo>
                    <a:pt x="11163227" y="33242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1012" y="2271712"/>
              <a:ext cx="11229975" cy="3324225"/>
            </a:xfrm>
            <a:custGeom>
              <a:avLst/>
              <a:gdLst/>
              <a:ahLst/>
              <a:cxnLst/>
              <a:rect l="l" t="t" r="r" b="b"/>
              <a:pathLst>
                <a:path w="11229975" h="3324225">
                  <a:moveTo>
                    <a:pt x="0" y="3252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3252787"/>
                  </a:lnTo>
                  <a:lnTo>
                    <a:pt x="11229972" y="3257477"/>
                  </a:lnTo>
                  <a:lnTo>
                    <a:pt x="11229514" y="3262123"/>
                  </a:lnTo>
                  <a:lnTo>
                    <a:pt x="11228599" y="3266723"/>
                  </a:lnTo>
                  <a:lnTo>
                    <a:pt x="11227684" y="3271323"/>
                  </a:lnTo>
                  <a:lnTo>
                    <a:pt x="11205732" y="3306617"/>
                  </a:lnTo>
                  <a:lnTo>
                    <a:pt x="11198222" y="3312184"/>
                  </a:lnTo>
                  <a:lnTo>
                    <a:pt x="11194322" y="3314790"/>
                  </a:lnTo>
                  <a:lnTo>
                    <a:pt x="11190206" y="3316991"/>
                  </a:lnTo>
                  <a:lnTo>
                    <a:pt x="11185873" y="3318786"/>
                  </a:lnTo>
                  <a:lnTo>
                    <a:pt x="11181539" y="3320581"/>
                  </a:lnTo>
                  <a:lnTo>
                    <a:pt x="11158536" y="3324224"/>
                  </a:lnTo>
                  <a:lnTo>
                    <a:pt x="71437" y="3324224"/>
                  </a:lnTo>
                  <a:lnTo>
                    <a:pt x="66746" y="3324224"/>
                  </a:lnTo>
                  <a:lnTo>
                    <a:pt x="62101" y="3323766"/>
                  </a:lnTo>
                  <a:lnTo>
                    <a:pt x="57500" y="3322851"/>
                  </a:lnTo>
                  <a:lnTo>
                    <a:pt x="52900" y="3321936"/>
                  </a:lnTo>
                  <a:lnTo>
                    <a:pt x="48433" y="3320581"/>
                  </a:lnTo>
                  <a:lnTo>
                    <a:pt x="44099" y="3318786"/>
                  </a:lnTo>
                  <a:lnTo>
                    <a:pt x="39765" y="3316991"/>
                  </a:lnTo>
                  <a:lnTo>
                    <a:pt x="35649" y="3314790"/>
                  </a:lnTo>
                  <a:lnTo>
                    <a:pt x="31748" y="3312184"/>
                  </a:lnTo>
                  <a:lnTo>
                    <a:pt x="27848" y="3309579"/>
                  </a:lnTo>
                  <a:lnTo>
                    <a:pt x="3642" y="3275791"/>
                  </a:lnTo>
                  <a:lnTo>
                    <a:pt x="1372" y="3266723"/>
                  </a:lnTo>
                  <a:lnTo>
                    <a:pt x="457" y="3262123"/>
                  </a:lnTo>
                  <a:lnTo>
                    <a:pt x="0" y="3257477"/>
                  </a:lnTo>
                  <a:lnTo>
                    <a:pt x="0" y="3252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63550" y="797492"/>
            <a:ext cx="10477500" cy="405637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45">
                <a:solidFill>
                  <a:srgbClr val="64738B"/>
                </a:solidFill>
                <a:latin typeface="Arial"/>
                <a:cs typeface="Arial"/>
              </a:rPr>
              <a:t>L'ancienne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façon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de </a:t>
            </a:r>
            <a:r>
              <a:rPr dirty="0" sz="1400" spc="-25">
                <a:solidFill>
                  <a:srgbClr val="64738B"/>
                </a:solidFill>
                <a:latin typeface="Arial"/>
                <a:cs typeface="Arial"/>
              </a:rPr>
              <a:t>manipuler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dates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4738B"/>
                </a:solidFill>
                <a:latin typeface="Arial"/>
                <a:cs typeface="Arial"/>
              </a:rPr>
              <a:t>(avant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4738B"/>
                </a:solidFill>
                <a:latin typeface="Arial"/>
                <a:cs typeface="Arial"/>
              </a:rPr>
              <a:t>Java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8)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4738B"/>
                </a:solidFill>
                <a:latin typeface="Arial"/>
                <a:cs typeface="Arial"/>
              </a:rPr>
              <a:t>puissante</a:t>
            </a:r>
            <a:r>
              <a:rPr dirty="0" sz="140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4738B"/>
                </a:solidFill>
                <a:latin typeface="Arial"/>
                <a:cs typeface="Arial"/>
              </a:rPr>
              <a:t>mais</a:t>
            </a:r>
            <a:r>
              <a:rPr dirty="0" sz="1400" spc="-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4738B"/>
                </a:solidFill>
                <a:latin typeface="Arial"/>
                <a:cs typeface="Arial"/>
              </a:rPr>
              <a:t>dangereuse.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000"/>
              </a:spcBef>
            </a:pP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java.util.Calendar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permet</a:t>
            </a:r>
            <a:r>
              <a:rPr dirty="0" sz="1700" spc="-1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l'arithmétique</a:t>
            </a:r>
            <a:r>
              <a:rPr dirty="0" sz="1700" spc="-10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sur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dates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(ajout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jours,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extraction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mois...).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C'est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singleton mutable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initialisé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avec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date/heure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actuelle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système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défaut.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c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30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305">
                <a:solidFill>
                  <a:srgbClr val="6F41C1"/>
                </a:solidFill>
                <a:latin typeface="Times New Roman"/>
                <a:cs typeface="Times New Roman"/>
              </a:rPr>
              <a:t>getInstance</a:t>
            </a:r>
            <a:r>
              <a:rPr dirty="0" sz="1450" spc="30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0" i="1">
                <a:solidFill>
                  <a:srgbClr val="6A737D"/>
                </a:solidFill>
                <a:latin typeface="Times New Roman"/>
                <a:cs typeface="Times New Roman"/>
              </a:rPr>
              <a:t>Date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70" i="1">
                <a:solidFill>
                  <a:srgbClr val="6A737D"/>
                </a:solidFill>
                <a:latin typeface="Times New Roman"/>
                <a:cs typeface="Times New Roman"/>
              </a:rPr>
              <a:t>actuelle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90"/>
              </a:spcBef>
            </a:pPr>
            <a:r>
              <a:rPr dirty="0" sz="1450" spc="385">
                <a:solidFill>
                  <a:srgbClr val="005CC4"/>
                </a:solidFill>
                <a:latin typeface="Times New Roman"/>
                <a:cs typeface="Times New Roman"/>
              </a:rPr>
              <a:t>int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20">
                <a:solidFill>
                  <a:srgbClr val="334054"/>
                </a:solidFill>
                <a:latin typeface="Times New Roman"/>
                <a:cs typeface="Times New Roman"/>
              </a:rPr>
              <a:t>annee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c.</a:t>
            </a:r>
            <a:r>
              <a:rPr dirty="0" sz="1450" spc="240">
                <a:solidFill>
                  <a:srgbClr val="6F41C1"/>
                </a:solidFill>
                <a:latin typeface="Times New Roman"/>
                <a:cs typeface="Times New Roman"/>
              </a:rPr>
              <a:t>get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240" b="1">
                <a:solidFill>
                  <a:srgbClr val="6F41C1"/>
                </a:solidFill>
                <a:latin typeface="Times New Roman"/>
                <a:cs typeface="Times New Roman"/>
              </a:rPr>
              <a:t>YEAR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4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Modification</a:t>
            </a:r>
            <a:r>
              <a:rPr dirty="0" sz="15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-10" i="1">
                <a:solidFill>
                  <a:srgbClr val="6A737D"/>
                </a:solidFill>
                <a:latin typeface="Times New Roman"/>
                <a:cs typeface="Times New Roman"/>
              </a:rPr>
              <a:t>(MUTABLE</a:t>
            </a:r>
            <a:r>
              <a:rPr dirty="0" sz="15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355" i="1">
                <a:solidFill>
                  <a:srgbClr val="6A737D"/>
                </a:solidFill>
                <a:latin typeface="Times New Roman"/>
                <a:cs typeface="Times New Roman"/>
              </a:rPr>
              <a:t>!)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</a:pP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c.</a:t>
            </a:r>
            <a:r>
              <a:rPr dirty="0" sz="1450" spc="215">
                <a:solidFill>
                  <a:srgbClr val="6F41C1"/>
                </a:solidFill>
                <a:latin typeface="Times New Roman"/>
                <a:cs typeface="Times New Roman"/>
              </a:rPr>
              <a:t>set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15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215" b="1">
                <a:solidFill>
                  <a:srgbClr val="6F41C1"/>
                </a:solidFill>
                <a:latin typeface="Times New Roman"/>
                <a:cs typeface="Times New Roman"/>
              </a:rPr>
              <a:t>MONTH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70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170" b="1">
                <a:solidFill>
                  <a:srgbClr val="6F41C1"/>
                </a:solidFill>
                <a:latin typeface="Times New Roman"/>
                <a:cs typeface="Times New Roman"/>
              </a:rPr>
              <a:t>JANUARY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-265">
                <a:solidFill>
                  <a:srgbClr val="6A737D"/>
                </a:solidFill>
                <a:latin typeface="Hiragino Maru Gothic ProN"/>
                <a:cs typeface="Hiragino Maru Gothic ProN"/>
              </a:rPr>
              <a:t>⚠</a:t>
            </a:r>
            <a:r>
              <a:rPr dirty="0" sz="1550" spc="380">
                <a:solidFill>
                  <a:srgbClr val="6A737D"/>
                </a:solidFill>
                <a:latin typeface="Hiragino Maru Gothic ProN"/>
                <a:cs typeface="Hiragino Maru Gothic ProN"/>
              </a:rPr>
              <a:t> </a:t>
            </a:r>
            <a:r>
              <a:rPr dirty="0" sz="1550" spc="229" i="1">
                <a:solidFill>
                  <a:srgbClr val="6A737D"/>
                </a:solidFill>
                <a:latin typeface="Times New Roman"/>
                <a:cs typeface="Times New Roman"/>
              </a:rPr>
              <a:t>Janvier</a:t>
            </a:r>
            <a:r>
              <a:rPr dirty="0" sz="15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=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89"/>
              </a:spcBef>
            </a:pPr>
            <a:r>
              <a:rPr dirty="0" sz="1450" spc="165">
                <a:solidFill>
                  <a:srgbClr val="334054"/>
                </a:solidFill>
                <a:latin typeface="Times New Roman"/>
                <a:cs typeface="Times New Roman"/>
              </a:rPr>
              <a:t>c.</a:t>
            </a:r>
            <a:r>
              <a:rPr dirty="0" sz="1450" spc="165">
                <a:solidFill>
                  <a:srgbClr val="6F41C1"/>
                </a:solidFill>
                <a:latin typeface="Times New Roman"/>
                <a:cs typeface="Times New Roman"/>
              </a:rPr>
              <a:t>set</a:t>
            </a:r>
            <a:r>
              <a:rPr dirty="0" sz="1450" spc="16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165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16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165" b="1">
                <a:solidFill>
                  <a:srgbClr val="6F41C1"/>
                </a:solidFill>
                <a:latin typeface="Times New Roman"/>
                <a:cs typeface="Times New Roman"/>
              </a:rPr>
              <a:t>DAY_OF_MONTH</a:t>
            </a:r>
            <a:r>
              <a:rPr dirty="0" sz="1450" spc="165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25);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0" i="1">
                <a:solidFill>
                  <a:srgbClr val="6A737D"/>
                </a:solidFill>
                <a:latin typeface="Times New Roman"/>
                <a:cs typeface="Times New Roman"/>
              </a:rPr>
              <a:t>Arithmétique</a:t>
            </a:r>
            <a:endParaRPr sz="15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390"/>
              </a:spcBef>
              <a:tabLst>
                <a:tab pos="3136265" algn="l"/>
              </a:tabLst>
            </a:pP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c.</a:t>
            </a:r>
            <a:r>
              <a:rPr dirty="0" sz="1450" spc="215">
                <a:solidFill>
                  <a:srgbClr val="6F41C1"/>
                </a:solidFill>
                <a:latin typeface="Times New Roman"/>
                <a:cs typeface="Times New Roman"/>
              </a:rPr>
              <a:t>add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15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215" b="1">
                <a:solidFill>
                  <a:srgbClr val="6F41C1"/>
                </a:solidFill>
                <a:latin typeface="Times New Roman"/>
                <a:cs typeface="Times New Roman"/>
              </a:rPr>
              <a:t>HOUR</a:t>
            </a:r>
            <a:r>
              <a:rPr dirty="0" sz="1450" spc="215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50" spc="11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35">
                <a:solidFill>
                  <a:srgbClr val="334054"/>
                </a:solidFill>
                <a:latin typeface="Times New Roman"/>
                <a:cs typeface="Times New Roman"/>
              </a:rPr>
              <a:t>2);</a:t>
            </a:r>
            <a:r>
              <a:rPr dirty="0" sz="145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0" i="1">
                <a:solidFill>
                  <a:srgbClr val="6A737D"/>
                </a:solidFill>
                <a:latin typeface="Times New Roman"/>
                <a:cs typeface="Times New Roman"/>
              </a:rPr>
              <a:t>Ajoute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2h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5" i="1">
                <a:solidFill>
                  <a:srgbClr val="6A737D"/>
                </a:solidFill>
                <a:latin typeface="Times New Roman"/>
                <a:cs typeface="Times New Roman"/>
              </a:rPr>
              <a:t>(impacte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jour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si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débordement)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615949" y="5172328"/>
            <a:ext cx="242570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210">
                <a:solidFill>
                  <a:srgbClr val="005CC4"/>
                </a:solidFill>
                <a:latin typeface="Times New Roman"/>
                <a:cs typeface="Times New Roman"/>
              </a:rPr>
              <a:t>Date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d</a:t>
            </a:r>
            <a:r>
              <a:rPr dirty="0" sz="14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85">
                <a:solidFill>
                  <a:srgbClr val="334054"/>
                </a:solidFill>
                <a:latin typeface="Times New Roman"/>
                <a:cs typeface="Times New Roman"/>
              </a:rPr>
              <a:t>c.</a:t>
            </a:r>
            <a:r>
              <a:rPr dirty="0" sz="1450" spc="285">
                <a:solidFill>
                  <a:srgbClr val="6F41C1"/>
                </a:solidFill>
                <a:latin typeface="Times New Roman"/>
                <a:cs typeface="Times New Roman"/>
              </a:rPr>
              <a:t>getTime</a:t>
            </a:r>
            <a:r>
              <a:rPr dirty="0" sz="1450" spc="28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15949" y="4828232"/>
            <a:ext cx="7112000" cy="59690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450" spc="225">
                <a:solidFill>
                  <a:srgbClr val="334054"/>
                </a:solidFill>
                <a:latin typeface="Times New Roman"/>
                <a:cs typeface="Times New Roman"/>
              </a:rPr>
              <a:t>c.</a:t>
            </a:r>
            <a:r>
              <a:rPr dirty="0" sz="1450" spc="225">
                <a:solidFill>
                  <a:srgbClr val="6F41C1"/>
                </a:solidFill>
                <a:latin typeface="Times New Roman"/>
                <a:cs typeface="Times New Roman"/>
              </a:rPr>
              <a:t>roll</a:t>
            </a:r>
            <a:r>
              <a:rPr dirty="0" sz="1450" spc="22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25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225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350" spc="225" b="1">
                <a:solidFill>
                  <a:srgbClr val="6F41C1"/>
                </a:solidFill>
                <a:latin typeface="Times New Roman"/>
                <a:cs typeface="Times New Roman"/>
              </a:rPr>
              <a:t>MONTH</a:t>
            </a:r>
            <a:r>
              <a:rPr dirty="0" sz="1450" spc="225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60">
                <a:solidFill>
                  <a:srgbClr val="334054"/>
                </a:solidFill>
                <a:latin typeface="Times New Roman"/>
                <a:cs typeface="Times New Roman"/>
              </a:rPr>
              <a:t>1);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0" i="1">
                <a:solidFill>
                  <a:srgbClr val="6A737D"/>
                </a:solidFill>
                <a:latin typeface="Times New Roman"/>
                <a:cs typeface="Times New Roman"/>
              </a:rPr>
              <a:t>Ajoute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1</a:t>
            </a:r>
            <a:r>
              <a:rPr dirty="0" sz="155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mois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SANS</a:t>
            </a:r>
            <a:r>
              <a:rPr dirty="0" sz="155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70" i="1">
                <a:solidFill>
                  <a:srgbClr val="6A737D"/>
                </a:solidFill>
                <a:latin typeface="Times New Roman"/>
                <a:cs typeface="Times New Roman"/>
              </a:rPr>
              <a:t>changer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5" i="1">
                <a:solidFill>
                  <a:srgbClr val="6A737D"/>
                </a:solidFill>
                <a:latin typeface="Times New Roman"/>
                <a:cs typeface="Times New Roman"/>
              </a:rPr>
              <a:t>année</a:t>
            </a:r>
            <a:endParaRPr sz="1550">
              <a:latin typeface="Times New Roman"/>
              <a:cs typeface="Times New Roman"/>
            </a:endParaRPr>
          </a:p>
          <a:p>
            <a:pPr marL="3098800">
              <a:lnSpc>
                <a:spcPct val="100000"/>
              </a:lnSpc>
              <a:spcBef>
                <a:spcPts val="390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Conversion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vers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Date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00149"/>
            <a:ext cx="12192000" cy="28575"/>
          </a:xfrm>
          <a:custGeom>
            <a:avLst/>
            <a:gdLst/>
            <a:ahLst/>
            <a:cxnLst/>
            <a:rect l="l" t="t" r="r" b="b"/>
            <a:pathLst>
              <a:path w="12192000" h="28575">
                <a:moveTo>
                  <a:pt x="12191999" y="28574"/>
                </a:moveTo>
                <a:lnTo>
                  <a:pt x="0" y="285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8574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23.</a:t>
            </a:r>
            <a:r>
              <a:rPr dirty="0" spc="-70"/>
              <a:t> </a:t>
            </a:r>
            <a:r>
              <a:rPr dirty="0" spc="-95"/>
              <a:t>Calendar</a:t>
            </a:r>
            <a:r>
              <a:rPr dirty="0" spc="-65"/>
              <a:t> </a:t>
            </a:r>
            <a:r>
              <a:rPr dirty="0" spc="-650"/>
              <a:t>—</a:t>
            </a:r>
            <a:r>
              <a:rPr dirty="0" spc="-70"/>
              <a:t> Pièges</a:t>
            </a:r>
            <a:r>
              <a:rPr dirty="0" spc="-65"/>
              <a:t> </a:t>
            </a:r>
            <a:r>
              <a:rPr dirty="0"/>
              <a:t>à</a:t>
            </a:r>
            <a:r>
              <a:rPr dirty="0" spc="-65"/>
              <a:t> </a:t>
            </a:r>
            <a:r>
              <a:rPr dirty="0" spc="-40"/>
              <a:t>éviter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63550" y="806450"/>
            <a:ext cx="11101705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Pourquoi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l'ancienne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API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est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dangereuse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doit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être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remplacée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125"/>
              </a:spcBef>
            </a:pP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L'API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225" b="1">
                <a:solidFill>
                  <a:srgbClr val="334054"/>
                </a:solidFill>
                <a:latin typeface="Arial"/>
                <a:cs typeface="Arial"/>
              </a:rPr>
              <a:t>java.util.Calendar</a:t>
            </a:r>
            <a:r>
              <a:rPr dirty="0" sz="1650" spc="-60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(avant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8)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contient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choix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conception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causent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nombreux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bugs.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Voici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les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4</a:t>
            </a:r>
            <a:r>
              <a:rPr dirty="0" sz="1700" spc="-10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pièges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plus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fréquents</a:t>
            </a: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en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entreprise.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20624" y="2279904"/>
            <a:ext cx="11351260" cy="2938780"/>
            <a:chOff x="420624" y="2279904"/>
            <a:chExt cx="11351260" cy="2938780"/>
          </a:xfrm>
        </p:grpSpPr>
        <p:sp>
          <p:nvSpPr>
            <p:cNvPr id="6" name="object 6" descr=""/>
            <p:cNvSpPr/>
            <p:nvPr/>
          </p:nvSpPr>
          <p:spPr>
            <a:xfrm>
              <a:off x="420624" y="2279904"/>
              <a:ext cx="11351260" cy="2938780"/>
            </a:xfrm>
            <a:custGeom>
              <a:avLst/>
              <a:gdLst/>
              <a:ahLst/>
              <a:cxnLst/>
              <a:rect l="l" t="t" r="r" b="b"/>
              <a:pathLst>
                <a:path w="11351260" h="2938779">
                  <a:moveTo>
                    <a:pt x="11350752" y="2938272"/>
                  </a:moveTo>
                  <a:lnTo>
                    <a:pt x="0" y="2938272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34670"/>
                  </a:lnTo>
                  <a:lnTo>
                    <a:pt x="131825" y="34670"/>
                  </a:lnTo>
                  <a:lnTo>
                    <a:pt x="124319" y="35033"/>
                  </a:lnTo>
                  <a:lnTo>
                    <a:pt x="83508" y="51937"/>
                  </a:lnTo>
                  <a:lnTo>
                    <a:pt x="58888" y="88783"/>
                  </a:lnTo>
                  <a:lnTo>
                    <a:pt x="55625" y="110870"/>
                  </a:lnTo>
                  <a:lnTo>
                    <a:pt x="55625" y="2787395"/>
                  </a:lnTo>
                  <a:lnTo>
                    <a:pt x="68456" y="2829737"/>
                  </a:lnTo>
                  <a:lnTo>
                    <a:pt x="102665" y="2857794"/>
                  </a:lnTo>
                  <a:lnTo>
                    <a:pt x="131825" y="2863595"/>
                  </a:lnTo>
                  <a:lnTo>
                    <a:pt x="11350752" y="2863595"/>
                  </a:lnTo>
                  <a:lnTo>
                    <a:pt x="11350752" y="2938272"/>
                  </a:lnTo>
                  <a:close/>
                </a:path>
                <a:path w="11351260" h="2938779">
                  <a:moveTo>
                    <a:pt x="11350752" y="2863595"/>
                  </a:moveTo>
                  <a:lnTo>
                    <a:pt x="11218925" y="2863595"/>
                  </a:lnTo>
                  <a:lnTo>
                    <a:pt x="11226431" y="2863232"/>
                  </a:lnTo>
                  <a:lnTo>
                    <a:pt x="11233793" y="2862145"/>
                  </a:lnTo>
                  <a:lnTo>
                    <a:pt x="11272805" y="2841276"/>
                  </a:lnTo>
                  <a:lnTo>
                    <a:pt x="11293674" y="2802263"/>
                  </a:lnTo>
                  <a:lnTo>
                    <a:pt x="11295125" y="2787395"/>
                  </a:lnTo>
                  <a:lnTo>
                    <a:pt x="11295125" y="110870"/>
                  </a:lnTo>
                  <a:lnTo>
                    <a:pt x="11282293" y="68528"/>
                  </a:lnTo>
                  <a:lnTo>
                    <a:pt x="11248084" y="40470"/>
                  </a:lnTo>
                  <a:lnTo>
                    <a:pt x="11218925" y="34670"/>
                  </a:lnTo>
                  <a:lnTo>
                    <a:pt x="11350752" y="34670"/>
                  </a:lnTo>
                  <a:lnTo>
                    <a:pt x="11350752" y="286359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250" y="2314574"/>
              <a:ext cx="2809875" cy="561975"/>
            </a:xfrm>
            <a:custGeom>
              <a:avLst/>
              <a:gdLst/>
              <a:ahLst/>
              <a:cxnLst/>
              <a:rect l="l" t="t" r="r" b="b"/>
              <a:pathLst>
                <a:path w="2809875" h="561975">
                  <a:moveTo>
                    <a:pt x="2809874" y="561974"/>
                  </a:moveTo>
                  <a:lnTo>
                    <a:pt x="0" y="5619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809874" y="0"/>
                  </a:lnTo>
                  <a:lnTo>
                    <a:pt x="2809874" y="5619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05700" y="2314574"/>
              <a:ext cx="4210050" cy="561975"/>
            </a:xfrm>
            <a:custGeom>
              <a:avLst/>
              <a:gdLst/>
              <a:ahLst/>
              <a:cxnLst/>
              <a:rect l="l" t="t" r="r" b="b"/>
              <a:pathLst>
                <a:path w="4210050" h="561975">
                  <a:moveTo>
                    <a:pt x="421004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4133849" y="0"/>
                  </a:lnTo>
                  <a:lnTo>
                    <a:pt x="4141355" y="362"/>
                  </a:lnTo>
                  <a:lnTo>
                    <a:pt x="4182165" y="17266"/>
                  </a:lnTo>
                  <a:lnTo>
                    <a:pt x="4206785" y="54113"/>
                  </a:lnTo>
                  <a:lnTo>
                    <a:pt x="4210049" y="76198"/>
                  </a:lnTo>
                  <a:lnTo>
                    <a:pt x="4210049" y="5619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6237" y="2867024"/>
              <a:ext cx="11239500" cy="1590675"/>
            </a:xfrm>
            <a:custGeom>
              <a:avLst/>
              <a:gdLst/>
              <a:ahLst/>
              <a:cxnLst/>
              <a:rect l="l" t="t" r="r" b="b"/>
              <a:pathLst>
                <a:path w="11239500" h="1590675">
                  <a:moveTo>
                    <a:pt x="11239500" y="1581150"/>
                  </a:moveTo>
                  <a:lnTo>
                    <a:pt x="7029450" y="1581150"/>
                  </a:lnTo>
                  <a:lnTo>
                    <a:pt x="2809875" y="1581150"/>
                  </a:lnTo>
                  <a:lnTo>
                    <a:pt x="0" y="1581150"/>
                  </a:lnTo>
                  <a:lnTo>
                    <a:pt x="0" y="1590675"/>
                  </a:lnTo>
                  <a:lnTo>
                    <a:pt x="2809875" y="1590675"/>
                  </a:lnTo>
                  <a:lnTo>
                    <a:pt x="7029450" y="1590675"/>
                  </a:lnTo>
                  <a:lnTo>
                    <a:pt x="11239500" y="1590675"/>
                  </a:lnTo>
                  <a:lnTo>
                    <a:pt x="11239500" y="1581150"/>
                  </a:lnTo>
                  <a:close/>
                </a:path>
                <a:path w="11239500" h="1590675">
                  <a:moveTo>
                    <a:pt x="11239500" y="800100"/>
                  </a:moveTo>
                  <a:lnTo>
                    <a:pt x="7029450" y="800100"/>
                  </a:lnTo>
                  <a:lnTo>
                    <a:pt x="2809875" y="800100"/>
                  </a:lnTo>
                  <a:lnTo>
                    <a:pt x="0" y="800100"/>
                  </a:lnTo>
                  <a:lnTo>
                    <a:pt x="0" y="809625"/>
                  </a:lnTo>
                  <a:lnTo>
                    <a:pt x="2809875" y="809625"/>
                  </a:lnTo>
                  <a:lnTo>
                    <a:pt x="7029450" y="809625"/>
                  </a:lnTo>
                  <a:lnTo>
                    <a:pt x="11239500" y="809625"/>
                  </a:lnTo>
                  <a:lnTo>
                    <a:pt x="11239500" y="800100"/>
                  </a:lnTo>
                  <a:close/>
                </a:path>
                <a:path w="11239500" h="1590675">
                  <a:moveTo>
                    <a:pt x="11239500" y="0"/>
                  </a:moveTo>
                  <a:lnTo>
                    <a:pt x="7029450" y="0"/>
                  </a:lnTo>
                  <a:lnTo>
                    <a:pt x="2809875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2809875" y="19050"/>
                  </a:lnTo>
                  <a:lnTo>
                    <a:pt x="7029450" y="19050"/>
                  </a:lnTo>
                  <a:lnTo>
                    <a:pt x="11239500" y="19050"/>
                  </a:lnTo>
                  <a:lnTo>
                    <a:pt x="11239500" y="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54049" y="2445968"/>
            <a:ext cx="48387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45">
                <a:solidFill>
                  <a:srgbClr val="B91B1B"/>
                </a:solidFill>
                <a:latin typeface="Arial"/>
                <a:cs typeface="Arial"/>
              </a:rPr>
              <a:t>Piège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86125" y="2314575"/>
            <a:ext cx="4219575" cy="561975"/>
          </a:xfrm>
          <a:prstGeom prst="rect">
            <a:avLst/>
          </a:prstGeom>
          <a:solidFill>
            <a:srgbClr val="FFF1F1"/>
          </a:solidFill>
        </p:spPr>
        <p:txBody>
          <a:bodyPr wrap="square" lIns="0" tIns="117475" rIns="0" bIns="0" rtlCol="0" vert="horz">
            <a:spAutoFit/>
          </a:bodyPr>
          <a:lstStyle/>
          <a:p>
            <a:pPr marL="189865">
              <a:lnSpc>
                <a:spcPct val="100000"/>
              </a:lnSpc>
              <a:spcBef>
                <a:spcPts val="925"/>
              </a:spcBef>
            </a:pPr>
            <a:r>
              <a:rPr dirty="0" sz="1550" spc="120">
                <a:solidFill>
                  <a:srgbClr val="334054"/>
                </a:solidFill>
                <a:latin typeface="Apple Color Emoji"/>
                <a:cs typeface="Apple Color Emoji"/>
              </a:rPr>
              <a:t>❌</a:t>
            </a:r>
            <a:r>
              <a:rPr dirty="0" sz="1550" spc="-740">
                <a:solidFill>
                  <a:srgbClr val="334054"/>
                </a:solidFill>
                <a:latin typeface="Apple Color Emoji"/>
                <a:cs typeface="Apple Color Emoji"/>
              </a:rPr>
              <a:t> </a:t>
            </a:r>
            <a:r>
              <a:rPr dirty="0" sz="1350" b="1">
                <a:solidFill>
                  <a:srgbClr val="334054"/>
                </a:solidFill>
                <a:latin typeface="Courier New"/>
                <a:cs typeface="Courier New"/>
              </a:rPr>
              <a:t>Erreur</a:t>
            </a:r>
            <a:r>
              <a:rPr dirty="0" sz="1350" spc="-45" b="1">
                <a:solidFill>
                  <a:srgbClr val="334054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334054"/>
                </a:solidFill>
                <a:latin typeface="Courier New"/>
                <a:cs typeface="Courier New"/>
              </a:rPr>
              <a:t>/</a:t>
            </a:r>
            <a:r>
              <a:rPr dirty="0" sz="1350" spc="-20" b="1">
                <a:solidFill>
                  <a:srgbClr val="334054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334054"/>
                </a:solidFill>
                <a:latin typeface="Courier New"/>
                <a:cs typeface="Courier New"/>
              </a:rPr>
              <a:t>Risque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678737" y="2414444"/>
            <a:ext cx="2193925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120">
                <a:solidFill>
                  <a:srgbClr val="334054"/>
                </a:solidFill>
                <a:latin typeface="Apple Color Emoji"/>
                <a:cs typeface="Apple Color Emoji"/>
              </a:rPr>
              <a:t>✅</a:t>
            </a:r>
            <a:r>
              <a:rPr dirty="0" sz="1550" spc="-740">
                <a:solidFill>
                  <a:srgbClr val="334054"/>
                </a:solidFill>
                <a:latin typeface="Apple Color Emoji"/>
                <a:cs typeface="Apple Color Emoji"/>
              </a:rPr>
              <a:t> </a:t>
            </a:r>
            <a:r>
              <a:rPr dirty="0" sz="1350" b="1">
                <a:solidFill>
                  <a:srgbClr val="334054"/>
                </a:solidFill>
                <a:latin typeface="Courier New"/>
                <a:cs typeface="Courier New"/>
              </a:rPr>
              <a:t>Correct</a:t>
            </a:r>
            <a:r>
              <a:rPr dirty="0" sz="1350" spc="-50" b="1">
                <a:solidFill>
                  <a:srgbClr val="334054"/>
                </a:solidFill>
                <a:latin typeface="Courier New"/>
                <a:cs typeface="Courier New"/>
              </a:rPr>
              <a:t> </a:t>
            </a:r>
            <a:r>
              <a:rPr dirty="0" sz="1350" b="1">
                <a:solidFill>
                  <a:srgbClr val="334054"/>
                </a:solidFill>
                <a:latin typeface="Courier New"/>
                <a:cs typeface="Courier New"/>
              </a:rPr>
              <a:t>/</a:t>
            </a:r>
            <a:r>
              <a:rPr dirty="0" sz="1350" spc="-25" b="1">
                <a:solidFill>
                  <a:srgbClr val="334054"/>
                </a:solidFill>
                <a:latin typeface="Courier New"/>
                <a:cs typeface="Courier New"/>
              </a:rPr>
              <a:t> </a:t>
            </a:r>
            <a:r>
              <a:rPr dirty="0" sz="1350" spc="-10" b="1">
                <a:solidFill>
                  <a:srgbClr val="334054"/>
                </a:solidFill>
                <a:latin typeface="Courier New"/>
                <a:cs typeface="Courier New"/>
              </a:rPr>
              <a:t>Solution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4049" y="3131768"/>
            <a:ext cx="1663064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0">
                <a:solidFill>
                  <a:srgbClr val="B91B1B"/>
                </a:solidFill>
                <a:latin typeface="Arial"/>
                <a:cs typeface="Arial"/>
              </a:rPr>
              <a:t>Mois</a:t>
            </a:r>
            <a:r>
              <a:rPr dirty="0" sz="1500" spc="-6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B91B1B"/>
                </a:solidFill>
                <a:latin typeface="Arial"/>
                <a:cs typeface="Arial"/>
              </a:rPr>
              <a:t>commence</a:t>
            </a:r>
            <a:r>
              <a:rPr dirty="0" sz="1500" spc="-6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dirty="0" sz="1500" spc="-75">
                <a:solidFill>
                  <a:srgbClr val="B91B1B"/>
                </a:solidFill>
                <a:latin typeface="Arial"/>
                <a:cs typeface="Arial"/>
              </a:rPr>
              <a:t>à</a:t>
            </a:r>
            <a:r>
              <a:rPr dirty="0" sz="1500" spc="-55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B91B1B"/>
                </a:solidFill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63925" y="2959086"/>
            <a:ext cx="1890395" cy="5588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500" spc="-40">
                <a:solidFill>
                  <a:srgbClr val="465469"/>
                </a:solidFill>
                <a:latin typeface="Arial"/>
                <a:cs typeface="Arial"/>
              </a:rPr>
              <a:t>set(2026,</a:t>
            </a:r>
            <a:r>
              <a:rPr dirty="0" sz="15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350" spc="-45" b="1">
                <a:solidFill>
                  <a:srgbClr val="465469"/>
                </a:solidFill>
                <a:latin typeface="Arial"/>
                <a:cs typeface="Arial"/>
              </a:rPr>
              <a:t>1</a:t>
            </a:r>
            <a:r>
              <a:rPr dirty="0" sz="1500" spc="-45">
                <a:solidFill>
                  <a:srgbClr val="465469"/>
                </a:solidFill>
                <a:latin typeface="Arial"/>
                <a:cs typeface="Arial"/>
              </a:rPr>
              <a:t>,</a:t>
            </a:r>
            <a:r>
              <a:rPr dirty="0" sz="15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465469"/>
                </a:solidFill>
                <a:latin typeface="Arial"/>
                <a:cs typeface="Arial"/>
              </a:rPr>
              <a:t>15)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400">
                <a:solidFill>
                  <a:srgbClr val="465469"/>
                </a:solidFill>
                <a:latin typeface="Arial"/>
                <a:cs typeface="Arial"/>
              </a:rPr>
              <a:t>→</a:t>
            </a:r>
            <a:r>
              <a:rPr dirty="0" sz="140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EF4444"/>
                </a:solidFill>
                <a:latin typeface="Arial"/>
                <a:cs typeface="Arial"/>
              </a:rPr>
              <a:t>Février</a:t>
            </a:r>
            <a:r>
              <a:rPr dirty="0" sz="1400" spc="-3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dirty="0" sz="1500" spc="-40">
                <a:solidFill>
                  <a:srgbClr val="465469"/>
                </a:solidFill>
                <a:latin typeface="Arial"/>
                <a:cs typeface="Arial"/>
              </a:rPr>
              <a:t>(pas</a:t>
            </a:r>
            <a:r>
              <a:rPr dirty="0" sz="150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465469"/>
                </a:solidFill>
                <a:latin typeface="Arial"/>
                <a:cs typeface="Arial"/>
              </a:rPr>
              <a:t>Janvier)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678737" y="2927594"/>
            <a:ext cx="1871980" cy="58864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500" spc="-25">
                <a:solidFill>
                  <a:srgbClr val="465469"/>
                </a:solidFill>
                <a:latin typeface="Arial"/>
                <a:cs typeface="Arial"/>
              </a:rPr>
              <a:t>Utiliser</a:t>
            </a:r>
            <a:r>
              <a:rPr dirty="0" sz="150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465469"/>
                </a:solidFill>
                <a:latin typeface="Arial"/>
                <a:cs typeface="Arial"/>
              </a:rPr>
              <a:t>constante</a:t>
            </a:r>
            <a:r>
              <a:rPr dirty="0" sz="150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465469"/>
                </a:solidFill>
                <a:latin typeface="Arial"/>
                <a:cs typeface="Arial"/>
              </a:rPr>
              <a:t>: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400" spc="-10" b="1">
                <a:solidFill>
                  <a:srgbClr val="465469"/>
                </a:solidFill>
                <a:latin typeface="Arial"/>
                <a:cs typeface="Arial"/>
              </a:rPr>
              <a:t>Calendar.FEBRUARY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54049" y="3912818"/>
            <a:ext cx="1660525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60">
                <a:solidFill>
                  <a:srgbClr val="B91B1B"/>
                </a:solidFill>
                <a:latin typeface="Arial"/>
                <a:cs typeface="Arial"/>
              </a:rPr>
              <a:t>Heures</a:t>
            </a:r>
            <a:r>
              <a:rPr dirty="0" sz="1500" spc="-55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B91B1B"/>
                </a:solidFill>
                <a:latin typeface="Arial"/>
                <a:cs typeface="Arial"/>
              </a:rPr>
              <a:t>(12h</a:t>
            </a:r>
            <a:r>
              <a:rPr dirty="0" sz="1500" spc="-55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B91B1B"/>
                </a:solidFill>
                <a:latin typeface="Arial"/>
                <a:cs typeface="Arial"/>
              </a:rPr>
              <a:t>vs</a:t>
            </a:r>
            <a:r>
              <a:rPr dirty="0" sz="1500" spc="-50">
                <a:solidFill>
                  <a:srgbClr val="B91B1B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B91B1B"/>
                </a:solidFill>
                <a:latin typeface="Arial"/>
                <a:cs typeface="Arial"/>
              </a:rPr>
              <a:t>24h)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63925" y="3730610"/>
            <a:ext cx="2259330" cy="5778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500" spc="-10">
                <a:solidFill>
                  <a:srgbClr val="465469"/>
                </a:solidFill>
                <a:latin typeface="Arial"/>
                <a:cs typeface="Arial"/>
              </a:rPr>
              <a:t>get(Calendar.</a:t>
            </a:r>
            <a:r>
              <a:rPr dirty="0" sz="1350" spc="-10" b="1">
                <a:solidFill>
                  <a:srgbClr val="465469"/>
                </a:solidFill>
                <a:latin typeface="Arial"/>
                <a:cs typeface="Arial"/>
              </a:rPr>
              <a:t>HOUR</a:t>
            </a:r>
            <a:r>
              <a:rPr dirty="0" sz="1500" spc="-10">
                <a:solidFill>
                  <a:srgbClr val="465469"/>
                </a:solidFill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400">
                <a:solidFill>
                  <a:srgbClr val="465469"/>
                </a:solidFill>
                <a:latin typeface="Arial"/>
                <a:cs typeface="Arial"/>
              </a:rPr>
              <a:t>→</a:t>
            </a:r>
            <a:r>
              <a:rPr dirty="0" sz="1400" spc="-3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75">
                <a:solidFill>
                  <a:srgbClr val="465469"/>
                </a:solidFill>
                <a:latin typeface="Arial"/>
                <a:cs typeface="Arial"/>
              </a:rPr>
              <a:t>Renvoie</a:t>
            </a:r>
            <a:r>
              <a:rPr dirty="0" sz="15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80">
                <a:solidFill>
                  <a:srgbClr val="465469"/>
                </a:solidFill>
                <a:latin typeface="Arial"/>
                <a:cs typeface="Arial"/>
              </a:rPr>
              <a:t>0-</a:t>
            </a:r>
            <a:r>
              <a:rPr dirty="0" sz="1500" spc="-30">
                <a:solidFill>
                  <a:srgbClr val="465469"/>
                </a:solidFill>
                <a:latin typeface="Arial"/>
                <a:cs typeface="Arial"/>
              </a:rPr>
              <a:t>11</a:t>
            </a:r>
            <a:r>
              <a:rPr dirty="0" sz="150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465469"/>
                </a:solidFill>
                <a:latin typeface="Arial"/>
                <a:cs typeface="Arial"/>
              </a:rPr>
              <a:t>(confusion)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678737" y="3730610"/>
            <a:ext cx="2372995" cy="5778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500" spc="-60">
                <a:solidFill>
                  <a:srgbClr val="465469"/>
                </a:solidFill>
                <a:latin typeface="Arial"/>
                <a:cs typeface="Arial"/>
              </a:rPr>
              <a:t>get(Calendar.</a:t>
            </a:r>
            <a:r>
              <a:rPr dirty="0" sz="1350" spc="-60" b="1">
                <a:solidFill>
                  <a:srgbClr val="465469"/>
                </a:solidFill>
                <a:latin typeface="Arial"/>
                <a:cs typeface="Arial"/>
              </a:rPr>
              <a:t>HOUR_OF_DAY</a:t>
            </a:r>
            <a:r>
              <a:rPr dirty="0" sz="1500" spc="-60">
                <a:solidFill>
                  <a:srgbClr val="465469"/>
                </a:solidFill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400">
                <a:solidFill>
                  <a:srgbClr val="465469"/>
                </a:solidFill>
                <a:latin typeface="Arial"/>
                <a:cs typeface="Arial"/>
              </a:rPr>
              <a:t>→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75">
                <a:solidFill>
                  <a:srgbClr val="465469"/>
                </a:solidFill>
                <a:latin typeface="Arial"/>
                <a:cs typeface="Arial"/>
              </a:rPr>
              <a:t>Renvoie</a:t>
            </a:r>
            <a:r>
              <a:rPr dirty="0" sz="150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80">
                <a:solidFill>
                  <a:srgbClr val="465469"/>
                </a:solidFill>
                <a:latin typeface="Arial"/>
                <a:cs typeface="Arial"/>
              </a:rPr>
              <a:t>0-</a:t>
            </a:r>
            <a:r>
              <a:rPr dirty="0" sz="1500" spc="-25">
                <a:solidFill>
                  <a:srgbClr val="465469"/>
                </a:solidFill>
                <a:latin typeface="Arial"/>
                <a:cs typeface="Arial"/>
              </a:rPr>
              <a:t>23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54049" y="4703393"/>
            <a:ext cx="839469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0">
                <a:solidFill>
                  <a:srgbClr val="B91B1B"/>
                </a:solidFill>
                <a:latin typeface="Arial"/>
                <a:cs typeface="Arial"/>
              </a:rPr>
              <a:t>Mutabilité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463925" y="4521185"/>
            <a:ext cx="1658620" cy="5778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500" spc="-90">
                <a:solidFill>
                  <a:srgbClr val="465469"/>
                </a:solidFill>
                <a:latin typeface="Arial"/>
                <a:cs typeface="Arial"/>
              </a:rPr>
              <a:t>cal.add(DAY,</a:t>
            </a:r>
            <a:r>
              <a:rPr dirty="0" sz="1500" spc="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465469"/>
                </a:solidFill>
                <a:latin typeface="Arial"/>
                <a:cs typeface="Arial"/>
              </a:rPr>
              <a:t>1)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400">
                <a:solidFill>
                  <a:srgbClr val="465469"/>
                </a:solidFill>
                <a:latin typeface="Arial"/>
                <a:cs typeface="Arial"/>
              </a:rPr>
              <a:t>→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465469"/>
                </a:solidFill>
                <a:latin typeface="Arial"/>
                <a:cs typeface="Arial"/>
              </a:rPr>
              <a:t>Modifie</a:t>
            </a:r>
            <a:r>
              <a:rPr dirty="0" sz="150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465469"/>
                </a:solidFill>
                <a:latin typeface="Arial"/>
                <a:cs typeface="Arial"/>
              </a:rPr>
              <a:t>l'original</a:t>
            </a:r>
            <a:r>
              <a:rPr dirty="0" sz="150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465469"/>
                </a:solidFill>
                <a:latin typeface="Arial"/>
                <a:cs typeface="Arial"/>
              </a:rPr>
              <a:t>!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678737" y="4502135"/>
            <a:ext cx="222186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400" spc="220" b="1">
                <a:solidFill>
                  <a:srgbClr val="465469"/>
                </a:solidFill>
                <a:latin typeface="Arial"/>
                <a:cs typeface="Arial"/>
              </a:rPr>
              <a:t>cal.clone()</a:t>
            </a:r>
            <a:r>
              <a:rPr dirty="0" sz="1400" spc="-15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55">
                <a:solidFill>
                  <a:srgbClr val="465469"/>
                </a:solidFill>
                <a:latin typeface="Arial"/>
                <a:cs typeface="Arial"/>
              </a:rPr>
              <a:t>avant</a:t>
            </a:r>
            <a:r>
              <a:rPr dirty="0" sz="150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465469"/>
                </a:solidFill>
                <a:latin typeface="Arial"/>
                <a:cs typeface="Arial"/>
              </a:rPr>
              <a:t>modif </a:t>
            </a:r>
            <a:r>
              <a:rPr dirty="0" sz="1500" spc="-45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dirty="0" sz="150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465469"/>
                </a:solidFill>
                <a:latin typeface="Arial"/>
                <a:cs typeface="Arial"/>
              </a:rPr>
              <a:t>passer</a:t>
            </a:r>
            <a:r>
              <a:rPr dirty="0" sz="150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75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dirty="0" sz="150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100" b="1">
                <a:solidFill>
                  <a:srgbClr val="465469"/>
                </a:solidFill>
                <a:latin typeface="Arial"/>
                <a:cs typeface="Arial"/>
              </a:rPr>
              <a:t>LocalDate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35863" y="5398008"/>
            <a:ext cx="5633085" cy="822960"/>
            <a:chOff x="435863" y="5398008"/>
            <a:chExt cx="5633085" cy="822960"/>
          </a:xfrm>
        </p:grpSpPr>
        <p:sp>
          <p:nvSpPr>
            <p:cNvPr id="23" name="object 23" descr=""/>
            <p:cNvSpPr/>
            <p:nvPr/>
          </p:nvSpPr>
          <p:spPr>
            <a:xfrm>
              <a:off x="435863" y="5398008"/>
              <a:ext cx="5633085" cy="822960"/>
            </a:xfrm>
            <a:custGeom>
              <a:avLst/>
              <a:gdLst/>
              <a:ahLst/>
              <a:cxnLst/>
              <a:rect l="l" t="t" r="r" b="b"/>
              <a:pathLst>
                <a:path w="5633085" h="822960">
                  <a:moveTo>
                    <a:pt x="5632704" y="822960"/>
                  </a:moveTo>
                  <a:lnTo>
                    <a:pt x="0" y="822960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40766"/>
                  </a:lnTo>
                  <a:lnTo>
                    <a:pt x="97535" y="40766"/>
                  </a:lnTo>
                  <a:lnTo>
                    <a:pt x="88033" y="41638"/>
                  </a:lnTo>
                  <a:lnTo>
                    <a:pt x="53398" y="70108"/>
                  </a:lnTo>
                  <a:lnTo>
                    <a:pt x="49910" y="88391"/>
                  </a:lnTo>
                  <a:lnTo>
                    <a:pt x="49910" y="717041"/>
                  </a:lnTo>
                  <a:lnTo>
                    <a:pt x="71195" y="756820"/>
                  </a:lnTo>
                  <a:lnTo>
                    <a:pt x="97535" y="764666"/>
                  </a:lnTo>
                  <a:lnTo>
                    <a:pt x="5632704" y="764666"/>
                  </a:lnTo>
                  <a:lnTo>
                    <a:pt x="5632704" y="822960"/>
                  </a:lnTo>
                  <a:close/>
                </a:path>
                <a:path w="5633085" h="822960">
                  <a:moveTo>
                    <a:pt x="5632704" y="764666"/>
                  </a:moveTo>
                  <a:lnTo>
                    <a:pt x="5536310" y="764666"/>
                  </a:lnTo>
                  <a:lnTo>
                    <a:pt x="5545812" y="763794"/>
                  </a:lnTo>
                  <a:lnTo>
                    <a:pt x="5554592" y="761179"/>
                  </a:lnTo>
                  <a:lnTo>
                    <a:pt x="5583063" y="726543"/>
                  </a:lnTo>
                  <a:lnTo>
                    <a:pt x="5583935" y="717041"/>
                  </a:lnTo>
                  <a:lnTo>
                    <a:pt x="5583935" y="88391"/>
                  </a:lnTo>
                  <a:lnTo>
                    <a:pt x="5562650" y="48612"/>
                  </a:lnTo>
                  <a:lnTo>
                    <a:pt x="5536310" y="40766"/>
                  </a:lnTo>
                  <a:lnTo>
                    <a:pt x="5632704" y="40766"/>
                  </a:lnTo>
                  <a:lnTo>
                    <a:pt x="5632704" y="76466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00062" y="5429249"/>
              <a:ext cx="5529580" cy="742950"/>
            </a:xfrm>
            <a:custGeom>
              <a:avLst/>
              <a:gdLst/>
              <a:ahLst/>
              <a:cxnLst/>
              <a:rect l="l" t="t" r="r" b="b"/>
              <a:pathLst>
                <a:path w="5529580" h="742950">
                  <a:moveTo>
                    <a:pt x="5475864" y="742949"/>
                  </a:moveTo>
                  <a:lnTo>
                    <a:pt x="28916" y="742949"/>
                  </a:lnTo>
                  <a:lnTo>
                    <a:pt x="845" y="700668"/>
                  </a:lnTo>
                  <a:lnTo>
                    <a:pt x="0" y="693377"/>
                  </a:lnTo>
                  <a:lnTo>
                    <a:pt x="0" y="6857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689552"/>
                  </a:lnTo>
                  <a:lnTo>
                    <a:pt x="5509869" y="728864"/>
                  </a:lnTo>
                  <a:lnTo>
                    <a:pt x="5479580" y="742583"/>
                  </a:lnTo>
                  <a:lnTo>
                    <a:pt x="5475864" y="74294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6249" y="5429249"/>
              <a:ext cx="54610" cy="742950"/>
            </a:xfrm>
            <a:custGeom>
              <a:avLst/>
              <a:gdLst/>
              <a:ahLst/>
              <a:cxnLst/>
              <a:rect l="l" t="t" r="r" b="b"/>
              <a:pathLst>
                <a:path w="54609" h="742950">
                  <a:moveTo>
                    <a:pt x="54519" y="742949"/>
                  </a:moveTo>
                  <a:lnTo>
                    <a:pt x="49571" y="742949"/>
                  </a:lnTo>
                  <a:lnTo>
                    <a:pt x="42281" y="741498"/>
                  </a:lnTo>
                  <a:lnTo>
                    <a:pt x="7250" y="714671"/>
                  </a:lnTo>
                  <a:lnTo>
                    <a:pt x="0" y="69337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85799"/>
                  </a:lnTo>
                  <a:lnTo>
                    <a:pt x="50414" y="726210"/>
                  </a:lnTo>
                  <a:lnTo>
                    <a:pt x="52274" y="737369"/>
                  </a:lnTo>
                  <a:lnTo>
                    <a:pt x="54519" y="7429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574" y="5711824"/>
              <a:ext cx="196850" cy="168275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939800" y="5503856"/>
            <a:ext cx="4359910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9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7E1C1C"/>
                </a:solidFill>
                <a:latin typeface="Arial"/>
                <a:cs typeface="Arial"/>
              </a:rPr>
              <a:t>Attention</a:t>
            </a:r>
            <a:r>
              <a:rPr dirty="0" sz="1300" spc="-2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00" spc="-2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170">
                <a:solidFill>
                  <a:srgbClr val="7E1C1C"/>
                </a:solidFill>
                <a:latin typeface="Arial"/>
                <a:cs typeface="Arial"/>
              </a:rPr>
              <a:t>JANVIER</a:t>
            </a:r>
            <a:r>
              <a:rPr dirty="0" sz="1550" spc="-9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180">
                <a:solidFill>
                  <a:srgbClr val="7E1C1C"/>
                </a:solidFill>
                <a:latin typeface="Arial"/>
                <a:cs typeface="Arial"/>
              </a:rPr>
              <a:t>=</a:t>
            </a:r>
            <a:r>
              <a:rPr dirty="0" sz="1550" spc="-9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140">
                <a:solidFill>
                  <a:srgbClr val="7E1C1C"/>
                </a:solidFill>
                <a:latin typeface="Arial"/>
                <a:cs typeface="Arial"/>
              </a:rPr>
              <a:t>0,</a:t>
            </a:r>
            <a:r>
              <a:rPr dirty="0" sz="1550" spc="-9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245">
                <a:solidFill>
                  <a:srgbClr val="7E1C1C"/>
                </a:solidFill>
                <a:latin typeface="Arial"/>
                <a:cs typeface="Arial"/>
              </a:rPr>
              <a:t>DÉCEMBRE</a:t>
            </a:r>
            <a:r>
              <a:rPr dirty="0" sz="1550" spc="-9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180">
                <a:solidFill>
                  <a:srgbClr val="7E1C1C"/>
                </a:solidFill>
                <a:latin typeface="Arial"/>
                <a:cs typeface="Arial"/>
              </a:rPr>
              <a:t>=</a:t>
            </a:r>
            <a:r>
              <a:rPr dirty="0" sz="1550" spc="-9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100">
                <a:solidFill>
                  <a:srgbClr val="7E1C1C"/>
                </a:solidFill>
                <a:latin typeface="Arial"/>
                <a:cs typeface="Arial"/>
              </a:rPr>
              <a:t>11.</a:t>
            </a:r>
            <a:r>
              <a:rPr dirty="0" sz="1550" spc="-9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120">
                <a:solidFill>
                  <a:srgbClr val="7E1C1C"/>
                </a:solidFill>
                <a:latin typeface="Arial"/>
                <a:cs typeface="Arial"/>
              </a:rPr>
              <a:t>C'est</a:t>
            </a:r>
            <a:r>
              <a:rPr dirty="0" sz="1550" spc="-9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7E1C1C"/>
                </a:solidFill>
                <a:latin typeface="Arial"/>
                <a:cs typeface="Arial"/>
              </a:rPr>
              <a:t>la</a:t>
            </a:r>
            <a:r>
              <a:rPr dirty="0" sz="1550" spc="-9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80">
                <a:solidFill>
                  <a:srgbClr val="7E1C1C"/>
                </a:solidFill>
                <a:latin typeface="Arial"/>
                <a:cs typeface="Arial"/>
              </a:rPr>
              <a:t>source </a:t>
            </a:r>
            <a:r>
              <a:rPr dirty="0" sz="1550" spc="-110">
                <a:solidFill>
                  <a:srgbClr val="7E1C1C"/>
                </a:solidFill>
                <a:latin typeface="Arial"/>
                <a:cs typeface="Arial"/>
              </a:rPr>
              <a:t>d'erreur</a:t>
            </a:r>
            <a:r>
              <a:rPr dirty="0" sz="1550" spc="-4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7E1C1C"/>
                </a:solidFill>
                <a:latin typeface="Arial"/>
                <a:cs typeface="Arial"/>
              </a:rPr>
              <a:t>#1.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132576" y="5398008"/>
            <a:ext cx="5623560" cy="822960"/>
            <a:chOff x="6132576" y="5398008"/>
            <a:chExt cx="5623560" cy="822960"/>
          </a:xfrm>
        </p:grpSpPr>
        <p:sp>
          <p:nvSpPr>
            <p:cNvPr id="29" name="object 29" descr=""/>
            <p:cNvSpPr/>
            <p:nvPr/>
          </p:nvSpPr>
          <p:spPr>
            <a:xfrm>
              <a:off x="6132576" y="5398008"/>
              <a:ext cx="5623560" cy="822960"/>
            </a:xfrm>
            <a:custGeom>
              <a:avLst/>
              <a:gdLst/>
              <a:ahLst/>
              <a:cxnLst/>
              <a:rect l="l" t="t" r="r" b="b"/>
              <a:pathLst>
                <a:path w="5623559" h="822960">
                  <a:moveTo>
                    <a:pt x="5623560" y="822960"/>
                  </a:moveTo>
                  <a:lnTo>
                    <a:pt x="0" y="822960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40766"/>
                  </a:lnTo>
                  <a:lnTo>
                    <a:pt x="96773" y="40766"/>
                  </a:lnTo>
                  <a:lnTo>
                    <a:pt x="87271" y="41638"/>
                  </a:lnTo>
                  <a:lnTo>
                    <a:pt x="52635" y="70108"/>
                  </a:lnTo>
                  <a:lnTo>
                    <a:pt x="49148" y="88391"/>
                  </a:lnTo>
                  <a:lnTo>
                    <a:pt x="49148" y="717041"/>
                  </a:lnTo>
                  <a:lnTo>
                    <a:pt x="70433" y="756820"/>
                  </a:lnTo>
                  <a:lnTo>
                    <a:pt x="96773" y="764666"/>
                  </a:lnTo>
                  <a:lnTo>
                    <a:pt x="5623560" y="764666"/>
                  </a:lnTo>
                  <a:lnTo>
                    <a:pt x="5623560" y="822960"/>
                  </a:lnTo>
                  <a:close/>
                </a:path>
                <a:path w="5623559" h="822960">
                  <a:moveTo>
                    <a:pt x="5623560" y="764666"/>
                  </a:moveTo>
                  <a:lnTo>
                    <a:pt x="5526023" y="764666"/>
                  </a:lnTo>
                  <a:lnTo>
                    <a:pt x="5535525" y="763794"/>
                  </a:lnTo>
                  <a:lnTo>
                    <a:pt x="5544305" y="761179"/>
                  </a:lnTo>
                  <a:lnTo>
                    <a:pt x="5572776" y="726543"/>
                  </a:lnTo>
                  <a:lnTo>
                    <a:pt x="5573648" y="717041"/>
                  </a:lnTo>
                  <a:lnTo>
                    <a:pt x="5573648" y="88391"/>
                  </a:lnTo>
                  <a:lnTo>
                    <a:pt x="5552363" y="48612"/>
                  </a:lnTo>
                  <a:lnTo>
                    <a:pt x="5526023" y="40766"/>
                  </a:lnTo>
                  <a:lnTo>
                    <a:pt x="5623560" y="40766"/>
                  </a:lnTo>
                  <a:lnTo>
                    <a:pt x="5623560" y="76466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196011" y="5429249"/>
              <a:ext cx="5520055" cy="742950"/>
            </a:xfrm>
            <a:custGeom>
              <a:avLst/>
              <a:gdLst/>
              <a:ahLst/>
              <a:cxnLst/>
              <a:rect l="l" t="t" r="r" b="b"/>
              <a:pathLst>
                <a:path w="5520055" h="742950">
                  <a:moveTo>
                    <a:pt x="5466338" y="742949"/>
                  </a:moveTo>
                  <a:lnTo>
                    <a:pt x="28916" y="742949"/>
                  </a:lnTo>
                  <a:lnTo>
                    <a:pt x="845" y="700668"/>
                  </a:lnTo>
                  <a:lnTo>
                    <a:pt x="0" y="693377"/>
                  </a:lnTo>
                  <a:lnTo>
                    <a:pt x="0" y="685799"/>
                  </a:lnTo>
                  <a:lnTo>
                    <a:pt x="0" y="49570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689552"/>
                  </a:lnTo>
                  <a:lnTo>
                    <a:pt x="5500342" y="728864"/>
                  </a:lnTo>
                  <a:lnTo>
                    <a:pt x="5470054" y="742583"/>
                  </a:lnTo>
                  <a:lnTo>
                    <a:pt x="5466338" y="7429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172199" y="5429249"/>
              <a:ext cx="54610" cy="742950"/>
            </a:xfrm>
            <a:custGeom>
              <a:avLst/>
              <a:gdLst/>
              <a:ahLst/>
              <a:cxnLst/>
              <a:rect l="l" t="t" r="r" b="b"/>
              <a:pathLst>
                <a:path w="54610" h="742950">
                  <a:moveTo>
                    <a:pt x="54519" y="742949"/>
                  </a:moveTo>
                  <a:lnTo>
                    <a:pt x="49570" y="742949"/>
                  </a:lnTo>
                  <a:lnTo>
                    <a:pt x="42280" y="741498"/>
                  </a:lnTo>
                  <a:lnTo>
                    <a:pt x="7249" y="714671"/>
                  </a:lnTo>
                  <a:lnTo>
                    <a:pt x="0" y="6933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685799"/>
                  </a:lnTo>
                  <a:lnTo>
                    <a:pt x="50414" y="726210"/>
                  </a:lnTo>
                  <a:lnTo>
                    <a:pt x="52274" y="737369"/>
                  </a:lnTo>
                  <a:lnTo>
                    <a:pt x="54519" y="7429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7937" y="5699124"/>
              <a:ext cx="190500" cy="193675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6630987" y="5673640"/>
            <a:ext cx="447675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Ne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corrigez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pas</a:t>
            </a:r>
            <a:r>
              <a:rPr dirty="0" sz="135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Calendar,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migrez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vers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135" b="1">
                <a:solidFill>
                  <a:srgbClr val="13532D"/>
                </a:solidFill>
                <a:latin typeface="Arial"/>
                <a:cs typeface="Arial"/>
              </a:rPr>
              <a:t>java.time</a:t>
            </a:r>
            <a:r>
              <a:rPr dirty="0" sz="1350" spc="135">
                <a:solidFill>
                  <a:srgbClr val="13532D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 spc="60"/>
              <a:t>24.</a:t>
            </a:r>
            <a:r>
              <a:rPr dirty="0" sz="2650" spc="-105"/>
              <a:t> </a:t>
            </a:r>
            <a:r>
              <a:rPr dirty="0" sz="2650" spc="-25"/>
              <a:t>Migration</a:t>
            </a:r>
            <a:r>
              <a:rPr dirty="0" sz="2650" spc="-90"/>
              <a:t> </a:t>
            </a:r>
            <a:r>
              <a:rPr dirty="0" sz="2650" spc="-65"/>
              <a:t>vers</a:t>
            </a:r>
            <a:r>
              <a:rPr dirty="0" sz="2650" spc="-85"/>
              <a:t> </a:t>
            </a:r>
            <a:r>
              <a:rPr dirty="0" sz="2650" spc="-25"/>
              <a:t>java.time</a:t>
            </a:r>
            <a:r>
              <a:rPr dirty="0" sz="2650" spc="-85"/>
              <a:t> </a:t>
            </a:r>
            <a:r>
              <a:rPr dirty="0" sz="2650" spc="-610"/>
              <a:t>—</a:t>
            </a:r>
            <a:r>
              <a:rPr dirty="0" sz="2650" spc="-70"/>
              <a:t> </a:t>
            </a:r>
            <a:r>
              <a:rPr dirty="0" sz="2650" spc="-85"/>
              <a:t>Pourquoi</a:t>
            </a:r>
            <a:r>
              <a:rPr dirty="0" sz="2650" spc="-90"/>
              <a:t> </a:t>
            </a:r>
            <a:r>
              <a:rPr dirty="0" sz="2650"/>
              <a:t>et</a:t>
            </a:r>
            <a:r>
              <a:rPr dirty="0" sz="2650" spc="-85"/>
              <a:t> </a:t>
            </a:r>
            <a:r>
              <a:rPr dirty="0" sz="2650" spc="-10"/>
              <a:t>comment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6450"/>
            <a:ext cx="46742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Moderniser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code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legacy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vers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une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API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robuste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immuable.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1544" y="1724025"/>
            <a:ext cx="215900" cy="2317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5194" y="3340100"/>
            <a:ext cx="285750" cy="2349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782494" y="1673113"/>
            <a:ext cx="4747260" cy="292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solidFill>
                  <a:srgbClr val="1D293B"/>
                </a:solidFill>
                <a:latin typeface="Arial"/>
                <a:cs typeface="Arial"/>
              </a:rPr>
              <a:t>Immutabilité</a:t>
            </a:r>
            <a:r>
              <a:rPr dirty="0" sz="1800" spc="-40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125" b="1">
                <a:solidFill>
                  <a:srgbClr val="1D293B"/>
                </a:solidFill>
                <a:latin typeface="Arial"/>
                <a:cs typeface="Arial"/>
              </a:rPr>
              <a:t>&amp;</a:t>
            </a:r>
            <a:r>
              <a:rPr dirty="0" sz="1800" spc="-3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D293B"/>
                </a:solidFill>
                <a:latin typeface="Arial"/>
                <a:cs typeface="Arial"/>
              </a:rPr>
              <a:t>Sécurité</a:t>
            </a:r>
            <a:endParaRPr sz="1800">
              <a:latin typeface="Arial"/>
              <a:cs typeface="Arial"/>
            </a:endParaRPr>
          </a:p>
          <a:p>
            <a:pPr marL="12700" marR="36195">
              <a:lnSpc>
                <a:spcPct val="129000"/>
              </a:lnSpc>
              <a:spcBef>
                <a:spcPts val="700"/>
              </a:spcBef>
            </a:pPr>
            <a:r>
              <a:rPr dirty="0" sz="1500">
                <a:solidFill>
                  <a:srgbClr val="465469"/>
                </a:solidFill>
                <a:latin typeface="Monaco"/>
                <a:cs typeface="Monaco"/>
              </a:rPr>
              <a:t>java.time</a:t>
            </a:r>
            <a:r>
              <a:rPr dirty="0" sz="1500" spc="-525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est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immuable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thread-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safe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design.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Contrairement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à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465469"/>
                </a:solidFill>
                <a:latin typeface="Monaco"/>
                <a:cs typeface="Monaco"/>
              </a:rPr>
              <a:t>Date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,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vous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465469"/>
                </a:solidFill>
                <a:latin typeface="Arial"/>
                <a:cs typeface="Arial"/>
              </a:rPr>
              <a:t>pouvez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partager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ces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objets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sans</a:t>
            </a:r>
            <a:r>
              <a:rPr dirty="0" sz="1550" spc="-9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risque</a:t>
            </a:r>
            <a:r>
              <a:rPr dirty="0" sz="155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d'effets</a:t>
            </a:r>
            <a:r>
              <a:rPr dirty="0" sz="155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bord</a:t>
            </a:r>
            <a:r>
              <a:rPr dirty="0" sz="1550" spc="-8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involontaires.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  <a:spcBef>
                <a:spcPts val="965"/>
              </a:spcBef>
            </a:pPr>
            <a:r>
              <a:rPr dirty="0" sz="1800" spc="-35" b="1">
                <a:solidFill>
                  <a:srgbClr val="1D293B"/>
                </a:solidFill>
                <a:latin typeface="Arial"/>
                <a:cs typeface="Arial"/>
              </a:rPr>
              <a:t>API</a:t>
            </a:r>
            <a:r>
              <a:rPr dirty="0" sz="1800" spc="-7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1D293B"/>
                </a:solidFill>
                <a:latin typeface="Arial"/>
                <a:cs typeface="Arial"/>
              </a:rPr>
              <a:t>Claire</a:t>
            </a:r>
            <a:r>
              <a:rPr dirty="0" sz="1800" spc="-6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125" b="1">
                <a:solidFill>
                  <a:srgbClr val="1D293B"/>
                </a:solidFill>
                <a:latin typeface="Arial"/>
                <a:cs typeface="Arial"/>
              </a:rPr>
              <a:t>&amp;</a:t>
            </a:r>
            <a:r>
              <a:rPr dirty="0" sz="1800" spc="-5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D293B"/>
                </a:solidFill>
                <a:latin typeface="Arial"/>
                <a:cs typeface="Arial"/>
              </a:rPr>
              <a:t>Fluide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9000"/>
              </a:lnSpc>
              <a:spcBef>
                <a:spcPts val="700"/>
              </a:spcBef>
            </a:pPr>
            <a:r>
              <a:rPr dirty="0" sz="1550" spc="-80">
                <a:solidFill>
                  <a:srgbClr val="465469"/>
                </a:solidFill>
                <a:latin typeface="Arial"/>
                <a:cs typeface="Arial"/>
              </a:rPr>
              <a:t>L'API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distingue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clairement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temps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machine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dirty="0" sz="1500" spc="-10">
                <a:solidFill>
                  <a:srgbClr val="465469"/>
                </a:solidFill>
                <a:latin typeface="Monaco"/>
                <a:cs typeface="Monaco"/>
              </a:rPr>
              <a:t>Instant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)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du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temps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humain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dirty="0" sz="1500">
                <a:solidFill>
                  <a:srgbClr val="465469"/>
                </a:solidFill>
                <a:latin typeface="Monaco"/>
                <a:cs typeface="Monaco"/>
              </a:rPr>
              <a:t>LocalDate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)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force</a:t>
            </a:r>
            <a:r>
              <a:rPr dirty="0" sz="1550" spc="-7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gestion explicite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fuseaux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horaires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(</a:t>
            </a:r>
            <a:r>
              <a:rPr dirty="0" sz="1500" spc="-10">
                <a:solidFill>
                  <a:srgbClr val="465469"/>
                </a:solidFill>
                <a:latin typeface="Monaco"/>
                <a:cs typeface="Monaco"/>
              </a:rPr>
              <a:t>ZoneId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).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35863" y="5227320"/>
            <a:ext cx="5605780" cy="899160"/>
            <a:chOff x="435863" y="5227320"/>
            <a:chExt cx="5605780" cy="899160"/>
          </a:xfrm>
        </p:grpSpPr>
        <p:sp>
          <p:nvSpPr>
            <p:cNvPr id="8" name="object 8" descr=""/>
            <p:cNvSpPr/>
            <p:nvPr/>
          </p:nvSpPr>
          <p:spPr>
            <a:xfrm>
              <a:off x="435863" y="5227320"/>
              <a:ext cx="5605780" cy="899160"/>
            </a:xfrm>
            <a:custGeom>
              <a:avLst/>
              <a:gdLst/>
              <a:ahLst/>
              <a:cxnLst/>
              <a:rect l="l" t="t" r="r" b="b"/>
              <a:pathLst>
                <a:path w="5605780" h="899160">
                  <a:moveTo>
                    <a:pt x="5605272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40004"/>
                  </a:lnTo>
                  <a:lnTo>
                    <a:pt x="97535" y="40004"/>
                  </a:lnTo>
                  <a:lnTo>
                    <a:pt x="88033" y="40876"/>
                  </a:lnTo>
                  <a:lnTo>
                    <a:pt x="53398" y="69346"/>
                  </a:lnTo>
                  <a:lnTo>
                    <a:pt x="49910" y="87629"/>
                  </a:lnTo>
                  <a:lnTo>
                    <a:pt x="49910" y="792479"/>
                  </a:lnTo>
                  <a:lnTo>
                    <a:pt x="71195" y="832257"/>
                  </a:lnTo>
                  <a:lnTo>
                    <a:pt x="97535" y="840104"/>
                  </a:lnTo>
                  <a:lnTo>
                    <a:pt x="5605272" y="840104"/>
                  </a:lnTo>
                  <a:lnTo>
                    <a:pt x="5605272" y="899160"/>
                  </a:lnTo>
                  <a:close/>
                </a:path>
                <a:path w="5605780" h="899160">
                  <a:moveTo>
                    <a:pt x="5605272" y="840104"/>
                  </a:moveTo>
                  <a:lnTo>
                    <a:pt x="5507735" y="840104"/>
                  </a:lnTo>
                  <a:lnTo>
                    <a:pt x="5517237" y="839232"/>
                  </a:lnTo>
                  <a:lnTo>
                    <a:pt x="5526017" y="836617"/>
                  </a:lnTo>
                  <a:lnTo>
                    <a:pt x="5554488" y="801981"/>
                  </a:lnTo>
                  <a:lnTo>
                    <a:pt x="5555360" y="792479"/>
                  </a:lnTo>
                  <a:lnTo>
                    <a:pt x="5555360" y="87629"/>
                  </a:lnTo>
                  <a:lnTo>
                    <a:pt x="5534075" y="47850"/>
                  </a:lnTo>
                  <a:lnTo>
                    <a:pt x="5507735" y="40004"/>
                  </a:lnTo>
                  <a:lnTo>
                    <a:pt x="5605272" y="40004"/>
                  </a:lnTo>
                  <a:lnTo>
                    <a:pt x="5605272" y="84010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0062" y="5257799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9" y="819149"/>
                  </a:moveTo>
                  <a:lnTo>
                    <a:pt x="28916" y="819149"/>
                  </a:lnTo>
                  <a:lnTo>
                    <a:pt x="24664" y="817699"/>
                  </a:lnTo>
                  <a:lnTo>
                    <a:pt x="845" y="776868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1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47289" y="0"/>
                  </a:lnTo>
                  <a:lnTo>
                    <a:pt x="5486601" y="19392"/>
                  </a:lnTo>
                  <a:lnTo>
                    <a:pt x="5500687" y="53397"/>
                  </a:lnTo>
                  <a:lnTo>
                    <a:pt x="5500687" y="765752"/>
                  </a:lnTo>
                  <a:lnTo>
                    <a:pt x="5481294" y="805064"/>
                  </a:lnTo>
                  <a:lnTo>
                    <a:pt x="5451005" y="818783"/>
                  </a:lnTo>
                  <a:lnTo>
                    <a:pt x="5447289" y="8191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6249" y="5257799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09" h="819150">
                  <a:moveTo>
                    <a:pt x="54519" y="819149"/>
                  </a:moveTo>
                  <a:lnTo>
                    <a:pt x="49571" y="819149"/>
                  </a:lnTo>
                  <a:lnTo>
                    <a:pt x="42281" y="817699"/>
                  </a:lnTo>
                  <a:lnTo>
                    <a:pt x="7250" y="790870"/>
                  </a:lnTo>
                  <a:lnTo>
                    <a:pt x="0" y="76957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69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374" y="5559424"/>
              <a:ext cx="209550" cy="21272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054100" y="5336891"/>
            <a:ext cx="4592955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Convertissez</a:t>
            </a:r>
            <a:r>
              <a:rPr dirty="0" sz="135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35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objets</a:t>
            </a:r>
            <a:r>
              <a:rPr dirty="0" sz="135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legacy</a:t>
            </a:r>
            <a:r>
              <a:rPr dirty="0" sz="135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en</a:t>
            </a:r>
            <a:r>
              <a:rPr dirty="0" sz="135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Courier New"/>
                <a:cs typeface="Courier New"/>
              </a:rPr>
              <a:t>java.time</a:t>
            </a:r>
            <a:r>
              <a:rPr dirty="0" sz="1350" spc="-475">
                <a:solidFill>
                  <a:srgbClr val="13532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dès</a:t>
            </a:r>
            <a:r>
              <a:rPr dirty="0" sz="1350" spc="-4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la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frontière du</a:t>
            </a:r>
            <a:r>
              <a:rPr dirty="0" sz="1350" spc="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système.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150864" y="5227320"/>
            <a:ext cx="5605780" cy="899160"/>
            <a:chOff x="6150864" y="5227320"/>
            <a:chExt cx="5605780" cy="899160"/>
          </a:xfrm>
        </p:grpSpPr>
        <p:sp>
          <p:nvSpPr>
            <p:cNvPr id="14" name="object 14" descr=""/>
            <p:cNvSpPr/>
            <p:nvPr/>
          </p:nvSpPr>
          <p:spPr>
            <a:xfrm>
              <a:off x="6150864" y="5227320"/>
              <a:ext cx="5605780" cy="899160"/>
            </a:xfrm>
            <a:custGeom>
              <a:avLst/>
              <a:gdLst/>
              <a:ahLst/>
              <a:cxnLst/>
              <a:rect l="l" t="t" r="r" b="b"/>
              <a:pathLst>
                <a:path w="5605780" h="899160">
                  <a:moveTo>
                    <a:pt x="5605272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40004"/>
                  </a:lnTo>
                  <a:lnTo>
                    <a:pt x="97535" y="40004"/>
                  </a:lnTo>
                  <a:lnTo>
                    <a:pt x="88033" y="40876"/>
                  </a:lnTo>
                  <a:lnTo>
                    <a:pt x="53397" y="69346"/>
                  </a:lnTo>
                  <a:lnTo>
                    <a:pt x="49910" y="87629"/>
                  </a:lnTo>
                  <a:lnTo>
                    <a:pt x="49910" y="792479"/>
                  </a:lnTo>
                  <a:lnTo>
                    <a:pt x="71195" y="832257"/>
                  </a:lnTo>
                  <a:lnTo>
                    <a:pt x="97535" y="840104"/>
                  </a:lnTo>
                  <a:lnTo>
                    <a:pt x="5605272" y="840104"/>
                  </a:lnTo>
                  <a:lnTo>
                    <a:pt x="5605272" y="899160"/>
                  </a:lnTo>
                  <a:close/>
                </a:path>
                <a:path w="5605780" h="899160">
                  <a:moveTo>
                    <a:pt x="5605272" y="840104"/>
                  </a:moveTo>
                  <a:lnTo>
                    <a:pt x="5507735" y="840104"/>
                  </a:lnTo>
                  <a:lnTo>
                    <a:pt x="5517237" y="839232"/>
                  </a:lnTo>
                  <a:lnTo>
                    <a:pt x="5526017" y="836617"/>
                  </a:lnTo>
                  <a:lnTo>
                    <a:pt x="5554488" y="801981"/>
                  </a:lnTo>
                  <a:lnTo>
                    <a:pt x="5555360" y="792479"/>
                  </a:lnTo>
                  <a:lnTo>
                    <a:pt x="5555360" y="87629"/>
                  </a:lnTo>
                  <a:lnTo>
                    <a:pt x="5534075" y="47850"/>
                  </a:lnTo>
                  <a:lnTo>
                    <a:pt x="5507735" y="40004"/>
                  </a:lnTo>
                  <a:lnTo>
                    <a:pt x="5605272" y="40004"/>
                  </a:lnTo>
                  <a:lnTo>
                    <a:pt x="5605272" y="84010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215061" y="5257799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8" y="819149"/>
                  </a:moveTo>
                  <a:lnTo>
                    <a:pt x="28916" y="819149"/>
                  </a:lnTo>
                  <a:lnTo>
                    <a:pt x="24664" y="817699"/>
                  </a:lnTo>
                  <a:lnTo>
                    <a:pt x="845" y="776868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1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47288" y="0"/>
                  </a:lnTo>
                  <a:lnTo>
                    <a:pt x="5486601" y="19392"/>
                  </a:lnTo>
                  <a:lnTo>
                    <a:pt x="5500686" y="53397"/>
                  </a:lnTo>
                  <a:lnTo>
                    <a:pt x="5500686" y="765752"/>
                  </a:lnTo>
                  <a:lnTo>
                    <a:pt x="5481292" y="805064"/>
                  </a:lnTo>
                  <a:lnTo>
                    <a:pt x="5451004" y="818783"/>
                  </a:lnTo>
                  <a:lnTo>
                    <a:pt x="5447288" y="8191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191249" y="5257799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10" h="819150">
                  <a:moveTo>
                    <a:pt x="54519" y="819149"/>
                  </a:moveTo>
                  <a:lnTo>
                    <a:pt x="49570" y="819149"/>
                  </a:lnTo>
                  <a:lnTo>
                    <a:pt x="42280" y="817699"/>
                  </a:lnTo>
                  <a:lnTo>
                    <a:pt x="7249" y="790870"/>
                  </a:lnTo>
                  <a:lnTo>
                    <a:pt x="0" y="7695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69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5724" y="5559424"/>
              <a:ext cx="146050" cy="21272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6716712" y="5336539"/>
            <a:ext cx="458216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1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Utilisez</a:t>
            </a:r>
            <a:r>
              <a:rPr dirty="0" sz="1350" spc="-2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toInstant()</a:t>
            </a:r>
            <a:r>
              <a:rPr dirty="0" sz="1350" spc="-459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comme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pivot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universel</a:t>
            </a:r>
            <a:r>
              <a:rPr dirty="0" sz="1350" spc="-3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Arial"/>
                <a:cs typeface="Arial"/>
              </a:rPr>
              <a:t>pour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toutes</a:t>
            </a:r>
            <a:r>
              <a:rPr dirty="0" sz="1350" spc="1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les</a:t>
            </a:r>
            <a:r>
              <a:rPr dirty="0" sz="1350" spc="1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conversions.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420624" y="1478280"/>
            <a:ext cx="6044565" cy="3444240"/>
            <a:chOff x="420624" y="1478280"/>
            <a:chExt cx="6044565" cy="3444240"/>
          </a:xfrm>
        </p:grpSpPr>
        <p:sp>
          <p:nvSpPr>
            <p:cNvPr id="21" name="object 21" descr=""/>
            <p:cNvSpPr/>
            <p:nvPr/>
          </p:nvSpPr>
          <p:spPr>
            <a:xfrm>
              <a:off x="420624" y="1478280"/>
              <a:ext cx="6044565" cy="3444240"/>
            </a:xfrm>
            <a:custGeom>
              <a:avLst/>
              <a:gdLst/>
              <a:ahLst/>
              <a:cxnLst/>
              <a:rect l="l" t="t" r="r" b="b"/>
              <a:pathLst>
                <a:path w="6044565" h="3444240">
                  <a:moveTo>
                    <a:pt x="6044184" y="3444240"/>
                  </a:moveTo>
                  <a:lnTo>
                    <a:pt x="0" y="3444240"/>
                  </a:lnTo>
                  <a:lnTo>
                    <a:pt x="0" y="0"/>
                  </a:lnTo>
                  <a:lnTo>
                    <a:pt x="6044184" y="0"/>
                  </a:lnTo>
                  <a:lnTo>
                    <a:pt x="6044184" y="45719"/>
                  </a:lnTo>
                  <a:lnTo>
                    <a:pt x="131825" y="45719"/>
                  </a:lnTo>
                  <a:lnTo>
                    <a:pt x="125257" y="46037"/>
                  </a:lnTo>
                  <a:lnTo>
                    <a:pt x="89548" y="60828"/>
                  </a:lnTo>
                  <a:lnTo>
                    <a:pt x="68005" y="93068"/>
                  </a:lnTo>
                  <a:lnTo>
                    <a:pt x="65150" y="112394"/>
                  </a:lnTo>
                  <a:lnTo>
                    <a:pt x="65150" y="3293744"/>
                  </a:lnTo>
                  <a:lnTo>
                    <a:pt x="76377" y="3330793"/>
                  </a:lnTo>
                  <a:lnTo>
                    <a:pt x="106310" y="3355343"/>
                  </a:lnTo>
                  <a:lnTo>
                    <a:pt x="131825" y="3360419"/>
                  </a:lnTo>
                  <a:lnTo>
                    <a:pt x="6044184" y="3360419"/>
                  </a:lnTo>
                  <a:lnTo>
                    <a:pt x="6044184" y="3444240"/>
                  </a:lnTo>
                  <a:close/>
                </a:path>
                <a:path w="6044565" h="3444240">
                  <a:moveTo>
                    <a:pt x="6044184" y="3360419"/>
                  </a:moveTo>
                  <a:lnTo>
                    <a:pt x="5913500" y="3360419"/>
                  </a:lnTo>
                  <a:lnTo>
                    <a:pt x="5920068" y="3360102"/>
                  </a:lnTo>
                  <a:lnTo>
                    <a:pt x="5926510" y="3359150"/>
                  </a:lnTo>
                  <a:lnTo>
                    <a:pt x="5960646" y="3340890"/>
                  </a:lnTo>
                  <a:lnTo>
                    <a:pt x="5978906" y="3306754"/>
                  </a:lnTo>
                  <a:lnTo>
                    <a:pt x="5980175" y="3293744"/>
                  </a:lnTo>
                  <a:lnTo>
                    <a:pt x="5980175" y="112394"/>
                  </a:lnTo>
                  <a:lnTo>
                    <a:pt x="5968948" y="75344"/>
                  </a:lnTo>
                  <a:lnTo>
                    <a:pt x="5939015" y="50795"/>
                  </a:lnTo>
                  <a:lnTo>
                    <a:pt x="5913500" y="45719"/>
                  </a:lnTo>
                  <a:lnTo>
                    <a:pt x="6044184" y="45719"/>
                  </a:lnTo>
                  <a:lnTo>
                    <a:pt x="6044184" y="336041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1012" y="1519237"/>
              <a:ext cx="5924550" cy="3324225"/>
            </a:xfrm>
            <a:custGeom>
              <a:avLst/>
              <a:gdLst/>
              <a:ahLst/>
              <a:cxnLst/>
              <a:rect l="l" t="t" r="r" b="b"/>
              <a:pathLst>
                <a:path w="5924550" h="3324225">
                  <a:moveTo>
                    <a:pt x="5857802" y="3324224"/>
                  </a:moveTo>
                  <a:lnTo>
                    <a:pt x="66746" y="3324224"/>
                  </a:lnTo>
                  <a:lnTo>
                    <a:pt x="62101" y="3323766"/>
                  </a:lnTo>
                  <a:lnTo>
                    <a:pt x="24240" y="3306617"/>
                  </a:lnTo>
                  <a:lnTo>
                    <a:pt x="2287" y="3271324"/>
                  </a:lnTo>
                  <a:lnTo>
                    <a:pt x="0" y="3257477"/>
                  </a:lnTo>
                  <a:lnTo>
                    <a:pt x="0" y="3252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857802" y="0"/>
                  </a:lnTo>
                  <a:lnTo>
                    <a:pt x="5896700" y="14645"/>
                  </a:lnTo>
                  <a:lnTo>
                    <a:pt x="5920906" y="48433"/>
                  </a:lnTo>
                  <a:lnTo>
                    <a:pt x="5924549" y="66746"/>
                  </a:lnTo>
                  <a:lnTo>
                    <a:pt x="5924549" y="3257477"/>
                  </a:lnTo>
                  <a:lnTo>
                    <a:pt x="5909902" y="3296375"/>
                  </a:lnTo>
                  <a:lnTo>
                    <a:pt x="5876115" y="3320581"/>
                  </a:lnTo>
                  <a:lnTo>
                    <a:pt x="5862448" y="3323766"/>
                  </a:lnTo>
                  <a:lnTo>
                    <a:pt x="5857802" y="33242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1012" y="1519237"/>
              <a:ext cx="5924550" cy="3324225"/>
            </a:xfrm>
            <a:custGeom>
              <a:avLst/>
              <a:gdLst/>
              <a:ahLst/>
              <a:cxnLst/>
              <a:rect l="l" t="t" r="r" b="b"/>
              <a:pathLst>
                <a:path w="5924550" h="3324225">
                  <a:moveTo>
                    <a:pt x="0" y="3252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853112" y="0"/>
                  </a:lnTo>
                  <a:lnTo>
                    <a:pt x="5857802" y="0"/>
                  </a:lnTo>
                  <a:lnTo>
                    <a:pt x="5862448" y="457"/>
                  </a:lnTo>
                  <a:lnTo>
                    <a:pt x="5867048" y="1372"/>
                  </a:lnTo>
                  <a:lnTo>
                    <a:pt x="5871648" y="2287"/>
                  </a:lnTo>
                  <a:lnTo>
                    <a:pt x="5876115" y="3642"/>
                  </a:lnTo>
                  <a:lnTo>
                    <a:pt x="5880449" y="5437"/>
                  </a:lnTo>
                  <a:lnTo>
                    <a:pt x="5884783" y="7232"/>
                  </a:lnTo>
                  <a:lnTo>
                    <a:pt x="5888899" y="9433"/>
                  </a:lnTo>
                  <a:lnTo>
                    <a:pt x="5892799" y="12039"/>
                  </a:lnTo>
                  <a:lnTo>
                    <a:pt x="5896700" y="14645"/>
                  </a:lnTo>
                  <a:lnTo>
                    <a:pt x="5900308" y="17606"/>
                  </a:lnTo>
                  <a:lnTo>
                    <a:pt x="5903625" y="20923"/>
                  </a:lnTo>
                  <a:lnTo>
                    <a:pt x="5906941" y="24240"/>
                  </a:lnTo>
                  <a:lnTo>
                    <a:pt x="5919110" y="44099"/>
                  </a:lnTo>
                  <a:lnTo>
                    <a:pt x="5920906" y="48433"/>
                  </a:lnTo>
                  <a:lnTo>
                    <a:pt x="5922261" y="52900"/>
                  </a:lnTo>
                  <a:lnTo>
                    <a:pt x="5923176" y="57500"/>
                  </a:lnTo>
                  <a:lnTo>
                    <a:pt x="5924092" y="62101"/>
                  </a:lnTo>
                  <a:lnTo>
                    <a:pt x="5924549" y="66746"/>
                  </a:lnTo>
                  <a:lnTo>
                    <a:pt x="5924549" y="71437"/>
                  </a:lnTo>
                  <a:lnTo>
                    <a:pt x="5924549" y="3252787"/>
                  </a:lnTo>
                  <a:lnTo>
                    <a:pt x="5924549" y="3257477"/>
                  </a:lnTo>
                  <a:lnTo>
                    <a:pt x="5924092" y="3262122"/>
                  </a:lnTo>
                  <a:lnTo>
                    <a:pt x="5923176" y="3266723"/>
                  </a:lnTo>
                  <a:lnTo>
                    <a:pt x="5922261" y="3271324"/>
                  </a:lnTo>
                  <a:lnTo>
                    <a:pt x="5920906" y="3275791"/>
                  </a:lnTo>
                  <a:lnTo>
                    <a:pt x="5919110" y="3280124"/>
                  </a:lnTo>
                  <a:lnTo>
                    <a:pt x="5917316" y="3284457"/>
                  </a:lnTo>
                  <a:lnTo>
                    <a:pt x="5915115" y="3288574"/>
                  </a:lnTo>
                  <a:lnTo>
                    <a:pt x="5912508" y="3292474"/>
                  </a:lnTo>
                  <a:lnTo>
                    <a:pt x="5909902" y="3296375"/>
                  </a:lnTo>
                  <a:lnTo>
                    <a:pt x="5892799" y="3312184"/>
                  </a:lnTo>
                  <a:lnTo>
                    <a:pt x="5888899" y="3314790"/>
                  </a:lnTo>
                  <a:lnTo>
                    <a:pt x="5884783" y="3316991"/>
                  </a:lnTo>
                  <a:lnTo>
                    <a:pt x="5880449" y="3318786"/>
                  </a:lnTo>
                  <a:lnTo>
                    <a:pt x="5876115" y="3320581"/>
                  </a:lnTo>
                  <a:lnTo>
                    <a:pt x="5871648" y="3321936"/>
                  </a:lnTo>
                  <a:lnTo>
                    <a:pt x="5867048" y="3322851"/>
                  </a:lnTo>
                  <a:lnTo>
                    <a:pt x="5862448" y="3323766"/>
                  </a:lnTo>
                  <a:lnTo>
                    <a:pt x="5857802" y="3324224"/>
                  </a:lnTo>
                  <a:lnTo>
                    <a:pt x="5853112" y="3324224"/>
                  </a:lnTo>
                  <a:lnTo>
                    <a:pt x="71437" y="3324224"/>
                  </a:lnTo>
                  <a:lnTo>
                    <a:pt x="66746" y="3324224"/>
                  </a:lnTo>
                  <a:lnTo>
                    <a:pt x="62101" y="3323766"/>
                  </a:lnTo>
                  <a:lnTo>
                    <a:pt x="57500" y="3322851"/>
                  </a:lnTo>
                  <a:lnTo>
                    <a:pt x="52900" y="3321936"/>
                  </a:lnTo>
                  <a:lnTo>
                    <a:pt x="48433" y="3320581"/>
                  </a:lnTo>
                  <a:lnTo>
                    <a:pt x="44099" y="3318786"/>
                  </a:lnTo>
                  <a:lnTo>
                    <a:pt x="39765" y="3316991"/>
                  </a:lnTo>
                  <a:lnTo>
                    <a:pt x="35649" y="3314790"/>
                  </a:lnTo>
                  <a:lnTo>
                    <a:pt x="31748" y="3312184"/>
                  </a:lnTo>
                  <a:lnTo>
                    <a:pt x="27848" y="3309578"/>
                  </a:lnTo>
                  <a:lnTo>
                    <a:pt x="3642" y="3275791"/>
                  </a:lnTo>
                  <a:lnTo>
                    <a:pt x="1372" y="3266723"/>
                  </a:lnTo>
                  <a:lnTo>
                    <a:pt x="457" y="3262122"/>
                  </a:lnTo>
                  <a:lnTo>
                    <a:pt x="0" y="3257477"/>
                  </a:lnTo>
                  <a:lnTo>
                    <a:pt x="0" y="32527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63574" y="1626615"/>
            <a:ext cx="5563870" cy="299402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650" spc="39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6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29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6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i="1">
                <a:solidFill>
                  <a:srgbClr val="6A737D"/>
                </a:solidFill>
                <a:latin typeface="Times New Roman"/>
                <a:cs typeface="Times New Roman"/>
              </a:rPr>
              <a:t>Date</a:t>
            </a:r>
            <a:r>
              <a:rPr dirty="0" sz="16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14" i="1">
                <a:solidFill>
                  <a:srgbClr val="6A737D"/>
                </a:solidFill>
                <a:latin typeface="Times New Roman"/>
                <a:cs typeface="Times New Roman"/>
              </a:rPr>
              <a:t>(Legacy)</a:t>
            </a:r>
            <a:r>
              <a:rPr dirty="0" sz="165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-</a:t>
            </a:r>
            <a:r>
              <a:rPr dirty="0" sz="1650" spc="-270" i="1">
                <a:solidFill>
                  <a:srgbClr val="6A737D"/>
                </a:solidFill>
                <a:latin typeface="Times New Roman"/>
                <a:cs typeface="Times New Roman"/>
              </a:rPr>
              <a:t>&gt;</a:t>
            </a:r>
            <a:r>
              <a:rPr dirty="0" sz="165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50" i="1">
                <a:solidFill>
                  <a:srgbClr val="6A737D"/>
                </a:solidFill>
                <a:latin typeface="Times New Roman"/>
                <a:cs typeface="Times New Roman"/>
              </a:rPr>
              <a:t>LocalDateTime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210">
                <a:solidFill>
                  <a:srgbClr val="005CC4"/>
                </a:solidFill>
                <a:latin typeface="Times New Roman"/>
                <a:cs typeface="Times New Roman"/>
              </a:rPr>
              <a:t>Date</a:t>
            </a:r>
            <a:r>
              <a:rPr dirty="0" sz="13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265">
                <a:solidFill>
                  <a:srgbClr val="334054"/>
                </a:solidFill>
                <a:latin typeface="Times New Roman"/>
                <a:cs typeface="Times New Roman"/>
              </a:rPr>
              <a:t>date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00" spc="105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30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285">
                <a:solidFill>
                  <a:srgbClr val="005CC4"/>
                </a:solidFill>
                <a:latin typeface="Times New Roman"/>
                <a:cs typeface="Times New Roman"/>
              </a:rPr>
              <a:t>Date</a:t>
            </a:r>
            <a:r>
              <a:rPr dirty="0" sz="1400" spc="28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650" spc="39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75" i="1">
                <a:solidFill>
                  <a:srgbClr val="6A737D"/>
                </a:solidFill>
                <a:latin typeface="Times New Roman"/>
                <a:cs typeface="Times New Roman"/>
              </a:rPr>
              <a:t>Étape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04" i="1">
                <a:solidFill>
                  <a:srgbClr val="6A737D"/>
                </a:solidFill>
                <a:latin typeface="Times New Roman"/>
                <a:cs typeface="Times New Roman"/>
              </a:rPr>
              <a:t>clé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30" i="1">
                <a:solidFill>
                  <a:srgbClr val="6A737D"/>
                </a:solidFill>
                <a:latin typeface="Times New Roman"/>
                <a:cs typeface="Times New Roman"/>
              </a:rPr>
              <a:t>passer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85" i="1">
                <a:solidFill>
                  <a:srgbClr val="6A737D"/>
                </a:solidFill>
                <a:latin typeface="Times New Roman"/>
                <a:cs typeface="Times New Roman"/>
              </a:rPr>
              <a:t>par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85" i="1">
                <a:solidFill>
                  <a:srgbClr val="6A737D"/>
                </a:solidFill>
                <a:latin typeface="Times New Roman"/>
                <a:cs typeface="Times New Roman"/>
              </a:rPr>
              <a:t>Instant</a:t>
            </a:r>
            <a:endParaRPr sz="1650">
              <a:latin typeface="Times New Roman"/>
              <a:cs typeface="Times New Roman"/>
            </a:endParaRPr>
          </a:p>
          <a:p>
            <a:pPr marL="447040" marR="547370" indent="-434340">
              <a:lnSpc>
                <a:spcPct val="125000"/>
              </a:lnSpc>
              <a:spcBef>
                <a:spcPts val="25"/>
              </a:spcBef>
            </a:pPr>
            <a:r>
              <a:rPr dirty="0" sz="1350" spc="19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35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355">
                <a:solidFill>
                  <a:srgbClr val="334054"/>
                </a:solidFill>
                <a:latin typeface="Times New Roman"/>
                <a:cs typeface="Times New Roman"/>
              </a:rPr>
              <a:t>ldt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24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00" spc="245">
                <a:solidFill>
                  <a:srgbClr val="334054"/>
                </a:solidFill>
                <a:latin typeface="Times New Roman"/>
                <a:cs typeface="Times New Roman"/>
              </a:rPr>
              <a:t>.ofInstant( </a:t>
            </a:r>
            <a:r>
              <a:rPr dirty="0" sz="1400" spc="330">
                <a:solidFill>
                  <a:srgbClr val="334054"/>
                </a:solidFill>
                <a:latin typeface="Times New Roman"/>
                <a:cs typeface="Times New Roman"/>
              </a:rPr>
              <a:t>date.toInstant(),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250">
                <a:solidFill>
                  <a:srgbClr val="005CC4"/>
                </a:solidFill>
                <a:latin typeface="Times New Roman"/>
                <a:cs typeface="Times New Roman"/>
              </a:rPr>
              <a:t>ZoneId</a:t>
            </a:r>
            <a:r>
              <a:rPr dirty="0" sz="1400" spc="250">
                <a:solidFill>
                  <a:srgbClr val="334054"/>
                </a:solidFill>
                <a:latin typeface="Times New Roman"/>
                <a:cs typeface="Times New Roman"/>
              </a:rPr>
              <a:t>.systemDefault());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50" spc="39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650" spc="44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29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650" spc="44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70" i="1">
                <a:solidFill>
                  <a:srgbClr val="6A737D"/>
                </a:solidFill>
                <a:latin typeface="Times New Roman"/>
                <a:cs typeface="Times New Roman"/>
              </a:rPr>
              <a:t>Calendar</a:t>
            </a:r>
            <a:r>
              <a:rPr dirty="0" sz="1650" spc="45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300" i="1">
                <a:solidFill>
                  <a:srgbClr val="6A737D"/>
                </a:solidFill>
                <a:latin typeface="Times New Roman"/>
                <a:cs typeface="Times New Roman"/>
              </a:rPr>
              <a:t>-</a:t>
            </a:r>
            <a:r>
              <a:rPr dirty="0" sz="1650" spc="-270" i="1">
                <a:solidFill>
                  <a:srgbClr val="6A737D"/>
                </a:solidFill>
                <a:latin typeface="Times New Roman"/>
                <a:cs typeface="Times New Roman"/>
              </a:rPr>
              <a:t>&gt;</a:t>
            </a:r>
            <a:r>
              <a:rPr dirty="0" sz="1650" spc="44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-10" i="1">
                <a:solidFill>
                  <a:srgbClr val="6A737D"/>
                </a:solidFill>
                <a:latin typeface="Times New Roman"/>
                <a:cs typeface="Times New Roman"/>
              </a:rPr>
              <a:t>ZonedDateTime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240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3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305">
                <a:solidFill>
                  <a:srgbClr val="334054"/>
                </a:solidFill>
                <a:latin typeface="Times New Roman"/>
                <a:cs typeface="Times New Roman"/>
              </a:rPr>
              <a:t>cal</a:t>
            </a:r>
            <a:r>
              <a:rPr dirty="0" sz="14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280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00" spc="280">
                <a:solidFill>
                  <a:srgbClr val="334054"/>
                </a:solidFill>
                <a:latin typeface="Times New Roman"/>
                <a:cs typeface="Times New Roman"/>
              </a:rPr>
              <a:t>.getInstance();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650" spc="39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650" spc="45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85" i="1">
                <a:solidFill>
                  <a:srgbClr val="6A737D"/>
                </a:solidFill>
                <a:latin typeface="Times New Roman"/>
                <a:cs typeface="Times New Roman"/>
              </a:rPr>
              <a:t>Conversion</a:t>
            </a:r>
            <a:r>
              <a:rPr dirty="0" sz="1650" spc="459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95" i="1">
                <a:solidFill>
                  <a:srgbClr val="6A737D"/>
                </a:solidFill>
                <a:latin typeface="Times New Roman"/>
                <a:cs typeface="Times New Roman"/>
              </a:rPr>
              <a:t>directe</a:t>
            </a:r>
            <a:r>
              <a:rPr dirty="0" sz="1650" spc="459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175" i="1">
                <a:solidFill>
                  <a:srgbClr val="6A737D"/>
                </a:solidFill>
                <a:latin typeface="Times New Roman"/>
                <a:cs typeface="Times New Roman"/>
              </a:rPr>
              <a:t>via</a:t>
            </a:r>
            <a:r>
              <a:rPr dirty="0" sz="1650" spc="459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650" spc="204" i="1">
                <a:solidFill>
                  <a:srgbClr val="6A737D"/>
                </a:solidFill>
                <a:latin typeface="Times New Roman"/>
                <a:cs typeface="Times New Roman"/>
              </a:rPr>
              <a:t>toInstant()</a:t>
            </a:r>
            <a:endParaRPr sz="1650">
              <a:latin typeface="Times New Roman"/>
              <a:cs typeface="Times New Roman"/>
            </a:endParaRPr>
          </a:p>
          <a:p>
            <a:pPr marL="447040" marR="5080" indent="-434340">
              <a:lnSpc>
                <a:spcPct val="125000"/>
              </a:lnSpc>
              <a:spcBef>
                <a:spcPts val="25"/>
              </a:spcBef>
            </a:pPr>
            <a:r>
              <a:rPr dirty="0" sz="1350" spc="165">
                <a:solidFill>
                  <a:srgbClr val="005CC4"/>
                </a:solidFill>
                <a:latin typeface="Times New Roman"/>
                <a:cs typeface="Times New Roman"/>
              </a:rPr>
              <a:t>ZonedDateTime</a:t>
            </a:r>
            <a:r>
              <a:rPr dirty="0" sz="135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280">
                <a:solidFill>
                  <a:srgbClr val="334054"/>
                </a:solidFill>
                <a:latin typeface="Times New Roman"/>
                <a:cs typeface="Times New Roman"/>
              </a:rPr>
              <a:t>zdt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229">
                <a:solidFill>
                  <a:srgbClr val="005CC4"/>
                </a:solidFill>
                <a:latin typeface="Times New Roman"/>
                <a:cs typeface="Times New Roman"/>
              </a:rPr>
              <a:t>ZonedDateTime</a:t>
            </a:r>
            <a:r>
              <a:rPr dirty="0" sz="1400" spc="229">
                <a:solidFill>
                  <a:srgbClr val="334054"/>
                </a:solidFill>
                <a:latin typeface="Times New Roman"/>
                <a:cs typeface="Times New Roman"/>
              </a:rPr>
              <a:t>.ofInstant( </a:t>
            </a:r>
            <a:r>
              <a:rPr dirty="0" sz="1400" spc="340">
                <a:solidFill>
                  <a:srgbClr val="334054"/>
                </a:solidFill>
                <a:latin typeface="Times New Roman"/>
                <a:cs typeface="Times New Roman"/>
              </a:rPr>
              <a:t>cal.toInstant(),</a:t>
            </a:r>
            <a:r>
              <a:rPr dirty="0" sz="140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00" spc="245">
                <a:solidFill>
                  <a:srgbClr val="334054"/>
                </a:solidFill>
                <a:latin typeface="Times New Roman"/>
                <a:cs typeface="Times New Roman"/>
              </a:rPr>
              <a:t>cal.getTimeZone().toZoneId());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25.</a:t>
            </a:r>
            <a:r>
              <a:rPr dirty="0" spc="-60"/>
              <a:t> </a:t>
            </a:r>
            <a:r>
              <a:rPr dirty="0" spc="-100"/>
              <a:t>Schéma</a:t>
            </a:r>
            <a:r>
              <a:rPr dirty="0" spc="-55"/>
              <a:t> </a:t>
            </a:r>
            <a:r>
              <a:rPr dirty="0" spc="-75"/>
              <a:t>ASCII</a:t>
            </a:r>
            <a:r>
              <a:rPr dirty="0" spc="-60"/>
              <a:t> </a:t>
            </a:r>
            <a:r>
              <a:rPr dirty="0" spc="-650"/>
              <a:t>—</a:t>
            </a:r>
            <a:r>
              <a:rPr dirty="0" spc="-55"/>
              <a:t> </a:t>
            </a:r>
            <a:r>
              <a:rPr dirty="0" spc="-114"/>
              <a:t>Legacy</a:t>
            </a:r>
            <a:r>
              <a:rPr dirty="0" spc="-55"/>
              <a:t> </a:t>
            </a:r>
            <a:r>
              <a:rPr dirty="0"/>
              <a:t>→</a:t>
            </a:r>
            <a:r>
              <a:rPr dirty="0" spc="-60"/>
              <a:t> </a:t>
            </a:r>
            <a:r>
              <a:rPr dirty="0" spc="-35"/>
              <a:t>java.time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6450"/>
            <a:ext cx="10674985" cy="134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solidFill>
                  <a:srgbClr val="64738B"/>
                </a:solidFill>
                <a:latin typeface="Arial"/>
                <a:cs typeface="Arial"/>
              </a:rPr>
              <a:t>Le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pivot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universel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pour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migrer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classe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Monaco"/>
                <a:cs typeface="Monaco"/>
              </a:rPr>
              <a:t>Instant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28699"/>
              </a:lnSpc>
            </a:pP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passer</a:t>
            </a:r>
            <a:r>
              <a:rPr dirty="0" sz="1700" spc="-9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l'ancien</a:t>
            </a:r>
            <a:r>
              <a:rPr dirty="0" sz="1700" spc="-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monde</a:t>
            </a:r>
            <a:r>
              <a:rPr dirty="0" sz="1700" spc="-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(</a:t>
            </a:r>
            <a:r>
              <a:rPr dirty="0" sz="1650" spc="-25">
                <a:solidFill>
                  <a:srgbClr val="334054"/>
                </a:solidFill>
                <a:latin typeface="Monaco"/>
                <a:cs typeface="Monaco"/>
              </a:rPr>
              <a:t>Date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Calendar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)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au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nouveau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(</a:t>
            </a:r>
            <a:r>
              <a:rPr dirty="0" sz="1650" spc="-10">
                <a:solidFill>
                  <a:srgbClr val="334054"/>
                </a:solidFill>
                <a:latin typeface="Monaco"/>
                <a:cs typeface="Monaco"/>
              </a:rPr>
              <a:t>java.time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),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on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passe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toujours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pivot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334054"/>
                </a:solidFill>
                <a:latin typeface="Arial"/>
                <a:cs typeface="Arial"/>
              </a:rPr>
              <a:t>Instant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(point</a:t>
            </a:r>
            <a:r>
              <a:rPr dirty="0" sz="1700" spc="-10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sur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timeline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25">
                <a:solidFill>
                  <a:srgbClr val="334054"/>
                </a:solidFill>
                <a:latin typeface="Arial"/>
                <a:cs typeface="Arial"/>
              </a:rPr>
              <a:t>UTC),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auquel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on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applique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334054"/>
                </a:solidFill>
                <a:latin typeface="Arial"/>
                <a:cs typeface="Arial"/>
              </a:rPr>
              <a:t>ZoneId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35863" y="5486400"/>
            <a:ext cx="5605780" cy="896619"/>
            <a:chOff x="435863" y="5486400"/>
            <a:chExt cx="5605780" cy="896619"/>
          </a:xfrm>
        </p:grpSpPr>
        <p:sp>
          <p:nvSpPr>
            <p:cNvPr id="5" name="object 5" descr=""/>
            <p:cNvSpPr/>
            <p:nvPr/>
          </p:nvSpPr>
          <p:spPr>
            <a:xfrm>
              <a:off x="435863" y="5486400"/>
              <a:ext cx="5605780" cy="896619"/>
            </a:xfrm>
            <a:custGeom>
              <a:avLst/>
              <a:gdLst/>
              <a:ahLst/>
              <a:cxnLst/>
              <a:rect l="l" t="t" r="r" b="b"/>
              <a:pathLst>
                <a:path w="5605780" h="896620">
                  <a:moveTo>
                    <a:pt x="5605272" y="896112"/>
                  </a:moveTo>
                  <a:lnTo>
                    <a:pt x="0" y="896112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790574"/>
                  </a:lnTo>
                  <a:lnTo>
                    <a:pt x="71195" y="830352"/>
                  </a:lnTo>
                  <a:lnTo>
                    <a:pt x="97535" y="838199"/>
                  </a:lnTo>
                  <a:lnTo>
                    <a:pt x="5605272" y="838199"/>
                  </a:lnTo>
                  <a:lnTo>
                    <a:pt x="5605272" y="896112"/>
                  </a:lnTo>
                  <a:close/>
                </a:path>
                <a:path w="5605780" h="896620">
                  <a:moveTo>
                    <a:pt x="5605272" y="838199"/>
                  </a:moveTo>
                  <a:lnTo>
                    <a:pt x="5507735" y="838199"/>
                  </a:lnTo>
                  <a:lnTo>
                    <a:pt x="5517237" y="837327"/>
                  </a:lnTo>
                  <a:lnTo>
                    <a:pt x="5526017" y="834712"/>
                  </a:lnTo>
                  <a:lnTo>
                    <a:pt x="5554488" y="800076"/>
                  </a:lnTo>
                  <a:lnTo>
                    <a:pt x="5555360" y="790574"/>
                  </a:lnTo>
                  <a:lnTo>
                    <a:pt x="5555360" y="85724"/>
                  </a:lnTo>
                  <a:lnTo>
                    <a:pt x="5534075" y="45945"/>
                  </a:lnTo>
                  <a:lnTo>
                    <a:pt x="5507735" y="38099"/>
                  </a:lnTo>
                  <a:lnTo>
                    <a:pt x="5605272" y="38099"/>
                  </a:lnTo>
                  <a:lnTo>
                    <a:pt x="5605272" y="8381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0062" y="5514974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9" y="819149"/>
                  </a:moveTo>
                  <a:lnTo>
                    <a:pt x="28916" y="819149"/>
                  </a:lnTo>
                  <a:lnTo>
                    <a:pt x="24664" y="817699"/>
                  </a:lnTo>
                  <a:lnTo>
                    <a:pt x="845" y="776868"/>
                  </a:lnTo>
                  <a:lnTo>
                    <a:pt x="0" y="769578"/>
                  </a:lnTo>
                  <a:lnTo>
                    <a:pt x="0" y="7619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9" y="0"/>
                  </a:lnTo>
                  <a:lnTo>
                    <a:pt x="5486601" y="19391"/>
                  </a:lnTo>
                  <a:lnTo>
                    <a:pt x="5500687" y="53397"/>
                  </a:lnTo>
                  <a:lnTo>
                    <a:pt x="5500687" y="765752"/>
                  </a:lnTo>
                  <a:lnTo>
                    <a:pt x="5481294" y="805064"/>
                  </a:lnTo>
                  <a:lnTo>
                    <a:pt x="5451005" y="818783"/>
                  </a:lnTo>
                  <a:lnTo>
                    <a:pt x="5447289" y="8191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249" y="5514974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09" h="819150">
                  <a:moveTo>
                    <a:pt x="54519" y="819149"/>
                  </a:moveTo>
                  <a:lnTo>
                    <a:pt x="49571" y="819149"/>
                  </a:lnTo>
                  <a:lnTo>
                    <a:pt x="42281" y="817698"/>
                  </a:lnTo>
                  <a:lnTo>
                    <a:pt x="7250" y="790871"/>
                  </a:lnTo>
                  <a:lnTo>
                    <a:pt x="0" y="76957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70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4" y="5816599"/>
              <a:ext cx="209550" cy="21272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54100" y="5612672"/>
            <a:ext cx="4569460" cy="54038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Ne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convertissez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jamais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directement</a:t>
            </a:r>
            <a:r>
              <a:rPr dirty="0" sz="1350" spc="-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sans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préciser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la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350" spc="-10">
                <a:solidFill>
                  <a:srgbClr val="13532D"/>
                </a:solidFill>
                <a:latin typeface="Monaco"/>
                <a:cs typeface="Monaco"/>
              </a:rPr>
              <a:t>ZoneId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150864" y="5486400"/>
            <a:ext cx="5605780" cy="896619"/>
            <a:chOff x="6150864" y="5486400"/>
            <a:chExt cx="5605780" cy="896619"/>
          </a:xfrm>
        </p:grpSpPr>
        <p:sp>
          <p:nvSpPr>
            <p:cNvPr id="11" name="object 11" descr=""/>
            <p:cNvSpPr/>
            <p:nvPr/>
          </p:nvSpPr>
          <p:spPr>
            <a:xfrm>
              <a:off x="6150864" y="5486400"/>
              <a:ext cx="5605780" cy="896619"/>
            </a:xfrm>
            <a:custGeom>
              <a:avLst/>
              <a:gdLst/>
              <a:ahLst/>
              <a:cxnLst/>
              <a:rect l="l" t="t" r="r" b="b"/>
              <a:pathLst>
                <a:path w="5605780" h="896620">
                  <a:moveTo>
                    <a:pt x="5605272" y="896112"/>
                  </a:moveTo>
                  <a:lnTo>
                    <a:pt x="0" y="896112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7" y="67441"/>
                  </a:lnTo>
                  <a:lnTo>
                    <a:pt x="49910" y="85724"/>
                  </a:lnTo>
                  <a:lnTo>
                    <a:pt x="49910" y="790574"/>
                  </a:lnTo>
                  <a:lnTo>
                    <a:pt x="71195" y="830352"/>
                  </a:lnTo>
                  <a:lnTo>
                    <a:pt x="97535" y="838199"/>
                  </a:lnTo>
                  <a:lnTo>
                    <a:pt x="5605272" y="838199"/>
                  </a:lnTo>
                  <a:lnTo>
                    <a:pt x="5605272" y="896112"/>
                  </a:lnTo>
                  <a:close/>
                </a:path>
                <a:path w="5605780" h="896620">
                  <a:moveTo>
                    <a:pt x="5605272" y="838199"/>
                  </a:moveTo>
                  <a:lnTo>
                    <a:pt x="5507735" y="838199"/>
                  </a:lnTo>
                  <a:lnTo>
                    <a:pt x="5517237" y="837327"/>
                  </a:lnTo>
                  <a:lnTo>
                    <a:pt x="5526017" y="834712"/>
                  </a:lnTo>
                  <a:lnTo>
                    <a:pt x="5554488" y="800076"/>
                  </a:lnTo>
                  <a:lnTo>
                    <a:pt x="5555360" y="790574"/>
                  </a:lnTo>
                  <a:lnTo>
                    <a:pt x="5555360" y="85724"/>
                  </a:lnTo>
                  <a:lnTo>
                    <a:pt x="5534075" y="45945"/>
                  </a:lnTo>
                  <a:lnTo>
                    <a:pt x="5507735" y="38099"/>
                  </a:lnTo>
                  <a:lnTo>
                    <a:pt x="5605272" y="38099"/>
                  </a:lnTo>
                  <a:lnTo>
                    <a:pt x="5605272" y="83819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15061" y="5514974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8" y="819149"/>
                  </a:moveTo>
                  <a:lnTo>
                    <a:pt x="28916" y="819149"/>
                  </a:lnTo>
                  <a:lnTo>
                    <a:pt x="24664" y="817699"/>
                  </a:lnTo>
                  <a:lnTo>
                    <a:pt x="845" y="776868"/>
                  </a:lnTo>
                  <a:lnTo>
                    <a:pt x="0" y="769578"/>
                  </a:lnTo>
                  <a:lnTo>
                    <a:pt x="0" y="7619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8" y="0"/>
                  </a:lnTo>
                  <a:lnTo>
                    <a:pt x="5486601" y="19391"/>
                  </a:lnTo>
                  <a:lnTo>
                    <a:pt x="5500686" y="53397"/>
                  </a:lnTo>
                  <a:lnTo>
                    <a:pt x="5500686" y="765752"/>
                  </a:lnTo>
                  <a:lnTo>
                    <a:pt x="5481292" y="805064"/>
                  </a:lnTo>
                  <a:lnTo>
                    <a:pt x="5451004" y="818783"/>
                  </a:lnTo>
                  <a:lnTo>
                    <a:pt x="5447288" y="81914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191249" y="5514974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10" h="819150">
                  <a:moveTo>
                    <a:pt x="54519" y="819149"/>
                  </a:moveTo>
                  <a:lnTo>
                    <a:pt x="49570" y="819149"/>
                  </a:lnTo>
                  <a:lnTo>
                    <a:pt x="42280" y="817698"/>
                  </a:lnTo>
                  <a:lnTo>
                    <a:pt x="7249" y="790871"/>
                  </a:lnTo>
                  <a:lnTo>
                    <a:pt x="0" y="7695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70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6199" y="5829299"/>
              <a:ext cx="215900" cy="18732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6769100" y="5594066"/>
            <a:ext cx="4259580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4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Monaco"/>
                <a:cs typeface="Monaco"/>
              </a:rPr>
              <a:t>Date.toString()</a:t>
            </a:r>
            <a:r>
              <a:rPr dirty="0" sz="1350" spc="-470">
                <a:solidFill>
                  <a:srgbClr val="7E1C1C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affiche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la</a:t>
            </a:r>
            <a:r>
              <a:rPr dirty="0" sz="1350" spc="-6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TZ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système,</a:t>
            </a:r>
            <a:r>
              <a:rPr dirty="0" sz="1350" spc="-4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7E1C1C"/>
                </a:solidFill>
                <a:latin typeface="Arial"/>
                <a:cs typeface="Arial"/>
              </a:rPr>
              <a:t>mais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stocke</a:t>
            </a:r>
            <a:r>
              <a:rPr dirty="0" sz="1350" spc="-1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du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7E1C1C"/>
                </a:solidFill>
                <a:latin typeface="Arial"/>
                <a:cs typeface="Arial"/>
              </a:rPr>
              <a:t>UTC.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476249" y="2419349"/>
            <a:ext cx="11239500" cy="3162300"/>
            <a:chOff x="476249" y="2419349"/>
            <a:chExt cx="11239500" cy="3162300"/>
          </a:xfrm>
        </p:grpSpPr>
        <p:sp>
          <p:nvSpPr>
            <p:cNvPr id="18" name="object 18" descr=""/>
            <p:cNvSpPr/>
            <p:nvPr/>
          </p:nvSpPr>
          <p:spPr>
            <a:xfrm>
              <a:off x="485774" y="2428874"/>
              <a:ext cx="11220450" cy="3143250"/>
            </a:xfrm>
            <a:custGeom>
              <a:avLst/>
              <a:gdLst/>
              <a:ahLst/>
              <a:cxnLst/>
              <a:rect l="l" t="t" r="r" b="b"/>
              <a:pathLst>
                <a:path w="11220450" h="3143250">
                  <a:moveTo>
                    <a:pt x="11122552" y="3143249"/>
                  </a:moveTo>
                  <a:lnTo>
                    <a:pt x="97895" y="3143249"/>
                  </a:lnTo>
                  <a:lnTo>
                    <a:pt x="91081" y="3142578"/>
                  </a:lnTo>
                  <a:lnTo>
                    <a:pt x="52285" y="3129412"/>
                  </a:lnTo>
                  <a:lnTo>
                    <a:pt x="21479" y="3102403"/>
                  </a:lnTo>
                  <a:lnTo>
                    <a:pt x="3355" y="3065662"/>
                  </a:lnTo>
                  <a:lnTo>
                    <a:pt x="0" y="3045353"/>
                  </a:lnTo>
                  <a:lnTo>
                    <a:pt x="0" y="3038474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2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11122552" y="0"/>
                  </a:lnTo>
                  <a:lnTo>
                    <a:pt x="11162124" y="10608"/>
                  </a:lnTo>
                  <a:lnTo>
                    <a:pt x="11194623" y="35552"/>
                  </a:lnTo>
                  <a:lnTo>
                    <a:pt x="11215104" y="71034"/>
                  </a:lnTo>
                  <a:lnTo>
                    <a:pt x="11220447" y="97895"/>
                  </a:lnTo>
                  <a:lnTo>
                    <a:pt x="11220447" y="3045353"/>
                  </a:lnTo>
                  <a:lnTo>
                    <a:pt x="11209839" y="3084925"/>
                  </a:lnTo>
                  <a:lnTo>
                    <a:pt x="11184896" y="3117425"/>
                  </a:lnTo>
                  <a:lnTo>
                    <a:pt x="11149411" y="3137905"/>
                  </a:lnTo>
                  <a:lnTo>
                    <a:pt x="11129366" y="3142578"/>
                  </a:lnTo>
                  <a:lnTo>
                    <a:pt x="11122552" y="31432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5299" y="2438399"/>
              <a:ext cx="11201400" cy="3124200"/>
            </a:xfrm>
            <a:custGeom>
              <a:avLst/>
              <a:gdLst/>
              <a:ahLst/>
              <a:cxnLst/>
              <a:rect l="l" t="t" r="r" b="b"/>
              <a:pathLst>
                <a:path w="11201400" h="3124200">
                  <a:moveTo>
                    <a:pt x="11106149" y="3124199"/>
                  </a:moveTo>
                  <a:lnTo>
                    <a:pt x="95249" y="3124199"/>
                  </a:lnTo>
                  <a:lnTo>
                    <a:pt x="85866" y="3123746"/>
                  </a:lnTo>
                  <a:lnTo>
                    <a:pt x="42321" y="3108161"/>
                  </a:lnTo>
                  <a:lnTo>
                    <a:pt x="11259" y="3073894"/>
                  </a:lnTo>
                  <a:lnTo>
                    <a:pt x="0" y="30289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11106149" y="0"/>
                  </a:lnTo>
                  <a:lnTo>
                    <a:pt x="11151094" y="11259"/>
                  </a:lnTo>
                  <a:lnTo>
                    <a:pt x="11185360" y="42321"/>
                  </a:lnTo>
                  <a:lnTo>
                    <a:pt x="11200945" y="85866"/>
                  </a:lnTo>
                  <a:lnTo>
                    <a:pt x="11201399" y="95249"/>
                  </a:lnTo>
                  <a:lnTo>
                    <a:pt x="11201399" y="3028949"/>
                  </a:lnTo>
                  <a:lnTo>
                    <a:pt x="11190138" y="3073894"/>
                  </a:lnTo>
                  <a:lnTo>
                    <a:pt x="11159076" y="3108161"/>
                  </a:lnTo>
                  <a:lnTo>
                    <a:pt x="11115531" y="3123746"/>
                  </a:lnTo>
                  <a:lnTo>
                    <a:pt x="11106149" y="312419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5774" y="2428874"/>
              <a:ext cx="11220450" cy="3143250"/>
            </a:xfrm>
            <a:custGeom>
              <a:avLst/>
              <a:gdLst/>
              <a:ahLst/>
              <a:cxnLst/>
              <a:rect l="l" t="t" r="r" b="b"/>
              <a:pathLst>
                <a:path w="11220450" h="3143250">
                  <a:moveTo>
                    <a:pt x="0" y="3038474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2013" y="84334"/>
                  </a:lnTo>
                  <a:lnTo>
                    <a:pt x="3355" y="77586"/>
                  </a:lnTo>
                  <a:lnTo>
                    <a:pt x="5342" y="71034"/>
                  </a:lnTo>
                  <a:lnTo>
                    <a:pt x="7975" y="64678"/>
                  </a:lnTo>
                  <a:lnTo>
                    <a:pt x="10608" y="58322"/>
                  </a:lnTo>
                  <a:lnTo>
                    <a:pt x="30687" y="30687"/>
                  </a:lnTo>
                  <a:lnTo>
                    <a:pt x="35552" y="25822"/>
                  </a:lnTo>
                  <a:lnTo>
                    <a:pt x="71035" y="5342"/>
                  </a:lnTo>
                  <a:lnTo>
                    <a:pt x="84334" y="2013"/>
                  </a:lnTo>
                  <a:lnTo>
                    <a:pt x="91081" y="671"/>
                  </a:lnTo>
                  <a:lnTo>
                    <a:pt x="97895" y="0"/>
                  </a:lnTo>
                  <a:lnTo>
                    <a:pt x="104774" y="0"/>
                  </a:lnTo>
                  <a:lnTo>
                    <a:pt x="11115674" y="0"/>
                  </a:lnTo>
                  <a:lnTo>
                    <a:pt x="11122552" y="0"/>
                  </a:lnTo>
                  <a:lnTo>
                    <a:pt x="11129366" y="671"/>
                  </a:lnTo>
                  <a:lnTo>
                    <a:pt x="11136113" y="2013"/>
                  </a:lnTo>
                  <a:lnTo>
                    <a:pt x="11142860" y="3355"/>
                  </a:lnTo>
                  <a:lnTo>
                    <a:pt x="11173882" y="17657"/>
                  </a:lnTo>
                  <a:lnTo>
                    <a:pt x="11179603" y="21479"/>
                  </a:lnTo>
                  <a:lnTo>
                    <a:pt x="11184896" y="25822"/>
                  </a:lnTo>
                  <a:lnTo>
                    <a:pt x="11189760" y="30687"/>
                  </a:lnTo>
                  <a:lnTo>
                    <a:pt x="11194623" y="35552"/>
                  </a:lnTo>
                  <a:lnTo>
                    <a:pt x="11215104" y="71034"/>
                  </a:lnTo>
                  <a:lnTo>
                    <a:pt x="11220449" y="104774"/>
                  </a:lnTo>
                  <a:lnTo>
                    <a:pt x="11220449" y="3038474"/>
                  </a:lnTo>
                  <a:lnTo>
                    <a:pt x="11212471" y="3078569"/>
                  </a:lnTo>
                  <a:lnTo>
                    <a:pt x="11202789" y="3096683"/>
                  </a:lnTo>
                  <a:lnTo>
                    <a:pt x="11198967" y="3102403"/>
                  </a:lnTo>
                  <a:lnTo>
                    <a:pt x="11168162" y="3129412"/>
                  </a:lnTo>
                  <a:lnTo>
                    <a:pt x="11136113" y="3141235"/>
                  </a:lnTo>
                  <a:lnTo>
                    <a:pt x="11129366" y="3142578"/>
                  </a:lnTo>
                  <a:lnTo>
                    <a:pt x="11122552" y="3143249"/>
                  </a:lnTo>
                  <a:lnTo>
                    <a:pt x="11115674" y="3143249"/>
                  </a:lnTo>
                  <a:lnTo>
                    <a:pt x="104774" y="3143249"/>
                  </a:lnTo>
                  <a:lnTo>
                    <a:pt x="64679" y="3135273"/>
                  </a:lnTo>
                  <a:lnTo>
                    <a:pt x="30687" y="3112561"/>
                  </a:lnTo>
                  <a:lnTo>
                    <a:pt x="17657" y="3096683"/>
                  </a:lnTo>
                  <a:lnTo>
                    <a:pt x="13835" y="3090963"/>
                  </a:lnTo>
                  <a:lnTo>
                    <a:pt x="671" y="3052167"/>
                  </a:lnTo>
                  <a:lnTo>
                    <a:pt x="0" y="3045353"/>
                  </a:lnTo>
                  <a:lnTo>
                    <a:pt x="0" y="3038474"/>
                  </a:lnTo>
                  <a:close/>
                </a:path>
              </a:pathLst>
            </a:custGeom>
            <a:ln w="19049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284462" y="2424401"/>
            <a:ext cx="4739005" cy="31019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835025" algn="l"/>
                <a:tab pos="1109345" algn="l"/>
              </a:tabLst>
            </a:pPr>
            <a:r>
              <a:rPr dirty="0" sz="1700" spc="270" b="1">
                <a:solidFill>
                  <a:srgbClr val="DB2525"/>
                </a:solidFill>
                <a:latin typeface="Times New Roman"/>
                <a:cs typeface="Times New Roman"/>
              </a:rPr>
              <a:t>[Date</a:t>
            </a:r>
            <a:r>
              <a:rPr dirty="0" sz="1700" b="1">
                <a:solidFill>
                  <a:srgbClr val="DB2525"/>
                </a:solidFill>
                <a:latin typeface="Times New Roman"/>
                <a:cs typeface="Times New Roman"/>
              </a:rPr>
              <a:t>	</a:t>
            </a:r>
            <a:r>
              <a:rPr dirty="0" sz="1700" spc="550" b="1">
                <a:solidFill>
                  <a:srgbClr val="DB2525"/>
                </a:solidFill>
                <a:latin typeface="Times New Roman"/>
                <a:cs typeface="Times New Roman"/>
              </a:rPr>
              <a:t>/</a:t>
            </a:r>
            <a:r>
              <a:rPr dirty="0" sz="1700" b="1">
                <a:solidFill>
                  <a:srgbClr val="DB2525"/>
                </a:solidFill>
                <a:latin typeface="Times New Roman"/>
                <a:cs typeface="Times New Roman"/>
              </a:rPr>
              <a:t>	</a:t>
            </a:r>
            <a:r>
              <a:rPr dirty="0" sz="1700" spc="245" b="1">
                <a:solidFill>
                  <a:srgbClr val="DB2525"/>
                </a:solidFill>
                <a:latin typeface="Times New Roman"/>
                <a:cs typeface="Times New Roman"/>
              </a:rPr>
              <a:t>Calendar]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800" spc="150" b="1">
                <a:solidFill>
                  <a:srgbClr val="94A2B8"/>
                </a:solidFill>
                <a:latin typeface="Arial"/>
                <a:cs typeface="Arial"/>
              </a:rPr>
              <a:t>│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311785" algn="l"/>
              </a:tabLst>
            </a:pPr>
            <a:r>
              <a:rPr dirty="0" sz="1800" spc="95" b="1">
                <a:solidFill>
                  <a:srgbClr val="94A2B8"/>
                </a:solidFill>
                <a:latin typeface="Arial"/>
                <a:cs typeface="Arial"/>
              </a:rPr>
              <a:t>│</a:t>
            </a:r>
            <a:r>
              <a:rPr dirty="0" sz="1800" b="1">
                <a:solidFill>
                  <a:srgbClr val="94A2B8"/>
                </a:solidFill>
                <a:latin typeface="Arial"/>
                <a:cs typeface="Arial"/>
              </a:rPr>
              <a:t>	</a:t>
            </a:r>
            <a:r>
              <a:rPr dirty="0" sz="1500" spc="325" i="1">
                <a:solidFill>
                  <a:srgbClr val="049569"/>
                </a:solidFill>
                <a:latin typeface="Times New Roman"/>
                <a:cs typeface="Times New Roman"/>
              </a:rPr>
              <a:t>.toInstant()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 b="1">
                <a:solidFill>
                  <a:srgbClr val="94A2B8"/>
                </a:solidFill>
                <a:latin typeface="Arial"/>
                <a:cs typeface="Arial"/>
              </a:rPr>
              <a:t>▼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1384300" algn="l"/>
              </a:tabLst>
            </a:pPr>
            <a:r>
              <a:rPr dirty="0" sz="1750" spc="340" b="1">
                <a:solidFill>
                  <a:srgbClr val="2562EB"/>
                </a:solidFill>
                <a:latin typeface="Times New Roman"/>
                <a:cs typeface="Times New Roman"/>
              </a:rPr>
              <a:t>[Instant]</a:t>
            </a:r>
            <a:r>
              <a:rPr dirty="0" sz="1750" b="1">
                <a:solidFill>
                  <a:srgbClr val="2562EB"/>
                </a:solidFill>
                <a:latin typeface="Times New Roman"/>
                <a:cs typeface="Times New Roman"/>
              </a:rPr>
              <a:t>	</a:t>
            </a:r>
            <a:r>
              <a:rPr dirty="0" sz="1500" spc="50" i="1">
                <a:solidFill>
                  <a:srgbClr val="049569"/>
                </a:solidFill>
                <a:latin typeface="Times New Roman"/>
                <a:cs typeface="Times New Roman"/>
              </a:rPr>
              <a:t>(UTC/GMT)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800" spc="150" b="1">
                <a:solidFill>
                  <a:srgbClr val="94A2B8"/>
                </a:solidFill>
                <a:latin typeface="Arial"/>
                <a:cs typeface="Arial"/>
              </a:rPr>
              <a:t>│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311785" algn="l"/>
              </a:tabLst>
            </a:pPr>
            <a:r>
              <a:rPr dirty="0" sz="1800" spc="95" b="1">
                <a:solidFill>
                  <a:srgbClr val="94A2B8"/>
                </a:solidFill>
                <a:latin typeface="Arial"/>
                <a:cs typeface="Arial"/>
              </a:rPr>
              <a:t>│</a:t>
            </a:r>
            <a:r>
              <a:rPr dirty="0" sz="1800" b="1">
                <a:solidFill>
                  <a:srgbClr val="94A2B8"/>
                </a:solidFill>
                <a:latin typeface="Arial"/>
                <a:cs typeface="Arial"/>
              </a:rPr>
              <a:t>	</a:t>
            </a:r>
            <a:r>
              <a:rPr dirty="0" sz="1500" spc="250" i="1">
                <a:solidFill>
                  <a:srgbClr val="049569"/>
                </a:solidFill>
                <a:latin typeface="Times New Roman"/>
                <a:cs typeface="Times New Roman"/>
              </a:rPr>
              <a:t>.atZone(ZoneId.systemDefault())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 b="1">
                <a:solidFill>
                  <a:srgbClr val="94A2B8"/>
                </a:solidFill>
                <a:latin typeface="Arial"/>
                <a:cs typeface="Arial"/>
              </a:rPr>
              <a:t>▼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2207260" algn="l"/>
                <a:tab pos="2668270" algn="l"/>
              </a:tabLst>
            </a:pPr>
            <a:r>
              <a:rPr dirty="0" sz="1750" spc="175" b="1">
                <a:solidFill>
                  <a:srgbClr val="2562EB"/>
                </a:solidFill>
                <a:latin typeface="Times New Roman"/>
                <a:cs typeface="Times New Roman"/>
              </a:rPr>
              <a:t>[ZonedDateTime]</a:t>
            </a:r>
            <a:r>
              <a:rPr dirty="0" sz="1750" b="1">
                <a:solidFill>
                  <a:srgbClr val="2562EB"/>
                </a:solidFill>
                <a:latin typeface="Times New Roman"/>
                <a:cs typeface="Times New Roman"/>
              </a:rPr>
              <a:t>	</a:t>
            </a:r>
            <a:r>
              <a:rPr dirty="0" sz="1800" spc="-25" b="1">
                <a:solidFill>
                  <a:srgbClr val="94A2B8"/>
                </a:solidFill>
                <a:latin typeface="Arial"/>
                <a:cs typeface="Arial"/>
              </a:rPr>
              <a:t>──</a:t>
            </a:r>
            <a:r>
              <a:rPr dirty="0" sz="1800" b="1">
                <a:solidFill>
                  <a:srgbClr val="94A2B8"/>
                </a:solidFill>
                <a:latin typeface="Arial"/>
                <a:cs typeface="Arial"/>
              </a:rPr>
              <a:t>	</a:t>
            </a:r>
            <a:r>
              <a:rPr dirty="0" sz="1500" spc="225" i="1">
                <a:solidFill>
                  <a:srgbClr val="049569"/>
                </a:solidFill>
                <a:latin typeface="Times New Roman"/>
                <a:cs typeface="Times New Roman"/>
              </a:rPr>
              <a:t>.toLocalDateTime()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7134919" y="5213994"/>
            <a:ext cx="277304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2310" algn="l"/>
              </a:tabLst>
            </a:pPr>
            <a:r>
              <a:rPr dirty="0" sz="1800" spc="190" b="1">
                <a:solidFill>
                  <a:srgbClr val="94A2B8"/>
                </a:solidFill>
                <a:latin typeface="Arial"/>
                <a:cs typeface="Arial"/>
              </a:rPr>
              <a:t>──</a:t>
            </a:r>
            <a:r>
              <a:rPr dirty="0" sz="1900" spc="190">
                <a:solidFill>
                  <a:srgbClr val="94A2B8"/>
                </a:solidFill>
                <a:latin typeface="Arial Unicode MS"/>
                <a:cs typeface="Arial Unicode MS"/>
              </a:rPr>
              <a:t>▶</a:t>
            </a:r>
            <a:r>
              <a:rPr dirty="0" sz="1900">
                <a:solidFill>
                  <a:srgbClr val="94A2B8"/>
                </a:solidFill>
                <a:latin typeface="Arial Unicode MS"/>
                <a:cs typeface="Arial Unicode MS"/>
              </a:rPr>
              <a:t>	</a:t>
            </a:r>
            <a:r>
              <a:rPr dirty="0" sz="1750" spc="215" b="1">
                <a:solidFill>
                  <a:srgbClr val="2562EB"/>
                </a:solidFill>
                <a:latin typeface="Times New Roman"/>
                <a:cs typeface="Times New Roman"/>
              </a:rPr>
              <a:t>[LocalDateTime]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26.</a:t>
            </a:r>
            <a:r>
              <a:rPr dirty="0" spc="-40"/>
              <a:t> </a:t>
            </a:r>
            <a:r>
              <a:rPr dirty="0" spc="-125"/>
              <a:t>Conversion</a:t>
            </a:r>
            <a:r>
              <a:rPr dirty="0" spc="-40"/>
              <a:t> </a:t>
            </a:r>
            <a:r>
              <a:rPr dirty="0" spc="-60"/>
              <a:t>Date/Calendar</a:t>
            </a:r>
            <a:r>
              <a:rPr dirty="0" spc="-35"/>
              <a:t> </a:t>
            </a:r>
            <a:r>
              <a:rPr dirty="0"/>
              <a:t>→</a:t>
            </a:r>
            <a:r>
              <a:rPr dirty="0" spc="-40"/>
              <a:t> </a:t>
            </a:r>
            <a:r>
              <a:rPr dirty="0" spc="-60"/>
              <a:t>LocalDateTime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270760"/>
            <a:ext cx="12192000" cy="4196715"/>
            <a:chOff x="0" y="2270760"/>
            <a:chExt cx="12192000" cy="4196715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6266688"/>
              <a:ext cx="3728085" cy="191770"/>
            </a:xfrm>
            <a:custGeom>
              <a:avLst/>
              <a:gdLst/>
              <a:ahLst/>
              <a:cxnLst/>
              <a:rect l="l" t="t" r="r" b="b"/>
              <a:pathLst>
                <a:path w="3728085" h="191770">
                  <a:moveTo>
                    <a:pt x="49910" y="191261"/>
                  </a:moveTo>
                  <a:lnTo>
                    <a:pt x="0" y="191261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7535" y="38861"/>
                  </a:lnTo>
                  <a:lnTo>
                    <a:pt x="88033" y="39733"/>
                  </a:lnTo>
                  <a:lnTo>
                    <a:pt x="53398" y="68204"/>
                  </a:lnTo>
                  <a:lnTo>
                    <a:pt x="49910" y="86486"/>
                  </a:lnTo>
                  <a:lnTo>
                    <a:pt x="49910" y="191261"/>
                  </a:lnTo>
                  <a:close/>
                </a:path>
                <a:path w="3728085" h="191770">
                  <a:moveTo>
                    <a:pt x="3727704" y="191261"/>
                  </a:moveTo>
                  <a:lnTo>
                    <a:pt x="3678935" y="191261"/>
                  </a:lnTo>
                  <a:lnTo>
                    <a:pt x="3678935" y="86486"/>
                  </a:lnTo>
                  <a:lnTo>
                    <a:pt x="3678064" y="76984"/>
                  </a:lnTo>
                  <a:lnTo>
                    <a:pt x="3649593" y="42348"/>
                  </a:lnTo>
                  <a:lnTo>
                    <a:pt x="3631310" y="38861"/>
                  </a:lnTo>
                  <a:lnTo>
                    <a:pt x="3727704" y="38861"/>
                  </a:lnTo>
                  <a:lnTo>
                    <a:pt x="3727704" y="1912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6296024"/>
              <a:ext cx="3624579" cy="161925"/>
            </a:xfrm>
            <a:custGeom>
              <a:avLst/>
              <a:gdLst/>
              <a:ahLst/>
              <a:cxnLst/>
              <a:rect l="l" t="t" r="r" b="b"/>
              <a:pathLst>
                <a:path w="3624579" h="161925">
                  <a:moveTo>
                    <a:pt x="3624262" y="161925"/>
                  </a:moveTo>
                  <a:lnTo>
                    <a:pt x="0" y="161925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3570864" y="0"/>
                  </a:lnTo>
                  <a:lnTo>
                    <a:pt x="3610176" y="19391"/>
                  </a:lnTo>
                  <a:lnTo>
                    <a:pt x="3624262" y="16192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6296024"/>
              <a:ext cx="54610" cy="161925"/>
            </a:xfrm>
            <a:custGeom>
              <a:avLst/>
              <a:gdLst/>
              <a:ahLst/>
              <a:cxnLst/>
              <a:rect l="l" t="t" r="r" b="b"/>
              <a:pathLst>
                <a:path w="54609" h="161925">
                  <a:moveTo>
                    <a:pt x="47624" y="161924"/>
                  </a:moveTo>
                  <a:lnTo>
                    <a:pt x="0" y="161924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1619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27576" y="6266688"/>
              <a:ext cx="3736975" cy="191770"/>
            </a:xfrm>
            <a:custGeom>
              <a:avLst/>
              <a:gdLst/>
              <a:ahLst/>
              <a:cxnLst/>
              <a:rect l="l" t="t" r="r" b="b"/>
              <a:pathLst>
                <a:path w="3736975" h="191770">
                  <a:moveTo>
                    <a:pt x="49148" y="191261"/>
                  </a:moveTo>
                  <a:lnTo>
                    <a:pt x="0" y="191261"/>
                  </a:lnTo>
                  <a:lnTo>
                    <a:pt x="0" y="0"/>
                  </a:lnTo>
                  <a:lnTo>
                    <a:pt x="3736848" y="0"/>
                  </a:lnTo>
                  <a:lnTo>
                    <a:pt x="3736848" y="38861"/>
                  </a:lnTo>
                  <a:lnTo>
                    <a:pt x="96773" y="38861"/>
                  </a:lnTo>
                  <a:lnTo>
                    <a:pt x="87271" y="39733"/>
                  </a:lnTo>
                  <a:lnTo>
                    <a:pt x="52635" y="68204"/>
                  </a:lnTo>
                  <a:lnTo>
                    <a:pt x="49148" y="86486"/>
                  </a:lnTo>
                  <a:lnTo>
                    <a:pt x="49148" y="191261"/>
                  </a:lnTo>
                  <a:close/>
                </a:path>
                <a:path w="3736975" h="191770">
                  <a:moveTo>
                    <a:pt x="3736848" y="191261"/>
                  </a:moveTo>
                  <a:lnTo>
                    <a:pt x="3687698" y="191261"/>
                  </a:lnTo>
                  <a:lnTo>
                    <a:pt x="3687698" y="86486"/>
                  </a:lnTo>
                  <a:lnTo>
                    <a:pt x="3686826" y="76984"/>
                  </a:lnTo>
                  <a:lnTo>
                    <a:pt x="3658356" y="42348"/>
                  </a:lnTo>
                  <a:lnTo>
                    <a:pt x="3640073" y="38861"/>
                  </a:lnTo>
                  <a:lnTo>
                    <a:pt x="3736848" y="38861"/>
                  </a:lnTo>
                  <a:lnTo>
                    <a:pt x="3736848" y="1912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291011" y="6296024"/>
              <a:ext cx="3634104" cy="161925"/>
            </a:xfrm>
            <a:custGeom>
              <a:avLst/>
              <a:gdLst/>
              <a:ahLst/>
              <a:cxnLst/>
              <a:rect l="l" t="t" r="r" b="b"/>
              <a:pathLst>
                <a:path w="3634104" h="161925">
                  <a:moveTo>
                    <a:pt x="3633787" y="161925"/>
                  </a:moveTo>
                  <a:lnTo>
                    <a:pt x="0" y="161925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3580389" y="0"/>
                  </a:lnTo>
                  <a:lnTo>
                    <a:pt x="3619700" y="19391"/>
                  </a:lnTo>
                  <a:lnTo>
                    <a:pt x="3633787" y="161925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267199" y="6296024"/>
              <a:ext cx="54610" cy="161925"/>
            </a:xfrm>
            <a:custGeom>
              <a:avLst/>
              <a:gdLst/>
              <a:ahLst/>
              <a:cxnLst/>
              <a:rect l="l" t="t" r="r" b="b"/>
              <a:pathLst>
                <a:path w="54610" h="161925">
                  <a:moveTo>
                    <a:pt x="47624" y="161924"/>
                  </a:moveTo>
                  <a:lnTo>
                    <a:pt x="0" y="161924"/>
                  </a:lnTo>
                  <a:lnTo>
                    <a:pt x="0" y="49569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1619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028432" y="6266688"/>
              <a:ext cx="3728085" cy="191770"/>
            </a:xfrm>
            <a:custGeom>
              <a:avLst/>
              <a:gdLst/>
              <a:ahLst/>
              <a:cxnLst/>
              <a:rect l="l" t="t" r="r" b="b"/>
              <a:pathLst>
                <a:path w="3728084" h="191770">
                  <a:moveTo>
                    <a:pt x="48767" y="191261"/>
                  </a:moveTo>
                  <a:lnTo>
                    <a:pt x="0" y="191261"/>
                  </a:lnTo>
                  <a:lnTo>
                    <a:pt x="0" y="0"/>
                  </a:lnTo>
                  <a:lnTo>
                    <a:pt x="3727704" y="0"/>
                  </a:lnTo>
                  <a:lnTo>
                    <a:pt x="3727704" y="38861"/>
                  </a:lnTo>
                  <a:lnTo>
                    <a:pt x="96392" y="38861"/>
                  </a:lnTo>
                  <a:lnTo>
                    <a:pt x="86890" y="39733"/>
                  </a:lnTo>
                  <a:lnTo>
                    <a:pt x="52254" y="68204"/>
                  </a:lnTo>
                  <a:lnTo>
                    <a:pt x="48767" y="86486"/>
                  </a:lnTo>
                  <a:lnTo>
                    <a:pt x="48767" y="191261"/>
                  </a:lnTo>
                  <a:close/>
                </a:path>
                <a:path w="3728084" h="191770">
                  <a:moveTo>
                    <a:pt x="3727704" y="191261"/>
                  </a:moveTo>
                  <a:lnTo>
                    <a:pt x="3677792" y="191261"/>
                  </a:lnTo>
                  <a:lnTo>
                    <a:pt x="3677792" y="86486"/>
                  </a:lnTo>
                  <a:lnTo>
                    <a:pt x="3676920" y="76984"/>
                  </a:lnTo>
                  <a:lnTo>
                    <a:pt x="3648449" y="42348"/>
                  </a:lnTo>
                  <a:lnTo>
                    <a:pt x="3630167" y="38861"/>
                  </a:lnTo>
                  <a:lnTo>
                    <a:pt x="3727704" y="38861"/>
                  </a:lnTo>
                  <a:lnTo>
                    <a:pt x="3727704" y="19126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091485" y="6296024"/>
              <a:ext cx="3624579" cy="161925"/>
            </a:xfrm>
            <a:custGeom>
              <a:avLst/>
              <a:gdLst/>
              <a:ahLst/>
              <a:cxnLst/>
              <a:rect l="l" t="t" r="r" b="b"/>
              <a:pathLst>
                <a:path w="3624579" h="161925">
                  <a:moveTo>
                    <a:pt x="3624262" y="161925"/>
                  </a:moveTo>
                  <a:lnTo>
                    <a:pt x="0" y="161925"/>
                  </a:lnTo>
                  <a:lnTo>
                    <a:pt x="0" y="49570"/>
                  </a:lnTo>
                  <a:lnTo>
                    <a:pt x="12889" y="11378"/>
                  </a:lnTo>
                  <a:lnTo>
                    <a:pt x="28916" y="0"/>
                  </a:lnTo>
                  <a:lnTo>
                    <a:pt x="3570863" y="0"/>
                  </a:lnTo>
                  <a:lnTo>
                    <a:pt x="3610176" y="19391"/>
                  </a:lnTo>
                  <a:lnTo>
                    <a:pt x="3624262" y="16192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067674" y="6296024"/>
              <a:ext cx="54610" cy="161925"/>
            </a:xfrm>
            <a:custGeom>
              <a:avLst/>
              <a:gdLst/>
              <a:ahLst/>
              <a:cxnLst/>
              <a:rect l="l" t="t" r="r" b="b"/>
              <a:pathLst>
                <a:path w="54609" h="161925">
                  <a:moveTo>
                    <a:pt x="47624" y="161924"/>
                  </a:moveTo>
                  <a:lnTo>
                    <a:pt x="0" y="161924"/>
                  </a:lnTo>
                  <a:lnTo>
                    <a:pt x="0" y="49567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1619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0624" y="2270760"/>
              <a:ext cx="11351260" cy="3956685"/>
            </a:xfrm>
            <a:custGeom>
              <a:avLst/>
              <a:gdLst/>
              <a:ahLst/>
              <a:cxnLst/>
              <a:rect l="l" t="t" r="r" b="b"/>
              <a:pathLst>
                <a:path w="11351260" h="3956685">
                  <a:moveTo>
                    <a:pt x="11350752" y="3956304"/>
                  </a:moveTo>
                  <a:lnTo>
                    <a:pt x="0" y="3956304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3814"/>
                  </a:lnTo>
                  <a:lnTo>
                    <a:pt x="131825" y="43814"/>
                  </a:lnTo>
                  <a:lnTo>
                    <a:pt x="125257" y="44131"/>
                  </a:lnTo>
                  <a:lnTo>
                    <a:pt x="89548" y="58923"/>
                  </a:lnTo>
                  <a:lnTo>
                    <a:pt x="68005" y="91163"/>
                  </a:lnTo>
                  <a:lnTo>
                    <a:pt x="65150" y="110489"/>
                  </a:lnTo>
                  <a:lnTo>
                    <a:pt x="65150" y="3806189"/>
                  </a:lnTo>
                  <a:lnTo>
                    <a:pt x="76377" y="3843238"/>
                  </a:lnTo>
                  <a:lnTo>
                    <a:pt x="106310" y="3867788"/>
                  </a:lnTo>
                  <a:lnTo>
                    <a:pt x="131825" y="3872864"/>
                  </a:lnTo>
                  <a:lnTo>
                    <a:pt x="11350752" y="3872864"/>
                  </a:lnTo>
                  <a:lnTo>
                    <a:pt x="11350752" y="3956304"/>
                  </a:lnTo>
                  <a:close/>
                </a:path>
                <a:path w="11351260" h="3956685">
                  <a:moveTo>
                    <a:pt x="11350752" y="3872864"/>
                  </a:moveTo>
                  <a:lnTo>
                    <a:pt x="11218925" y="3872864"/>
                  </a:lnTo>
                  <a:lnTo>
                    <a:pt x="11225493" y="3872547"/>
                  </a:lnTo>
                  <a:lnTo>
                    <a:pt x="11231935" y="3871595"/>
                  </a:lnTo>
                  <a:lnTo>
                    <a:pt x="11266071" y="3853335"/>
                  </a:lnTo>
                  <a:lnTo>
                    <a:pt x="11284331" y="3819199"/>
                  </a:lnTo>
                  <a:lnTo>
                    <a:pt x="11285600" y="3806189"/>
                  </a:lnTo>
                  <a:lnTo>
                    <a:pt x="11285600" y="110489"/>
                  </a:lnTo>
                  <a:lnTo>
                    <a:pt x="11274372" y="73439"/>
                  </a:lnTo>
                  <a:lnTo>
                    <a:pt x="11244439" y="48889"/>
                  </a:lnTo>
                  <a:lnTo>
                    <a:pt x="11218925" y="43814"/>
                  </a:lnTo>
                  <a:lnTo>
                    <a:pt x="11350752" y="43814"/>
                  </a:lnTo>
                  <a:lnTo>
                    <a:pt x="11350752" y="38728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1012" y="2309812"/>
              <a:ext cx="11229975" cy="3838575"/>
            </a:xfrm>
            <a:custGeom>
              <a:avLst/>
              <a:gdLst/>
              <a:ahLst/>
              <a:cxnLst/>
              <a:rect l="l" t="t" r="r" b="b"/>
              <a:pathLst>
                <a:path w="11229975" h="3838575">
                  <a:moveTo>
                    <a:pt x="11163227" y="3838574"/>
                  </a:moveTo>
                  <a:lnTo>
                    <a:pt x="66746" y="3838574"/>
                  </a:lnTo>
                  <a:lnTo>
                    <a:pt x="62101" y="3838117"/>
                  </a:lnTo>
                  <a:lnTo>
                    <a:pt x="24240" y="3820967"/>
                  </a:lnTo>
                  <a:lnTo>
                    <a:pt x="2287" y="3785673"/>
                  </a:lnTo>
                  <a:lnTo>
                    <a:pt x="0" y="3771827"/>
                  </a:lnTo>
                  <a:lnTo>
                    <a:pt x="0" y="37671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771827"/>
                  </a:lnTo>
                  <a:lnTo>
                    <a:pt x="11215327" y="3810725"/>
                  </a:lnTo>
                  <a:lnTo>
                    <a:pt x="11181539" y="3834931"/>
                  </a:lnTo>
                  <a:lnTo>
                    <a:pt x="11167872" y="3838117"/>
                  </a:lnTo>
                  <a:lnTo>
                    <a:pt x="11163227" y="38385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1012" y="2309812"/>
              <a:ext cx="11229975" cy="3838575"/>
            </a:xfrm>
            <a:custGeom>
              <a:avLst/>
              <a:gdLst/>
              <a:ahLst/>
              <a:cxnLst/>
              <a:rect l="l" t="t" r="r" b="b"/>
              <a:pathLst>
                <a:path w="11229975" h="3838575">
                  <a:moveTo>
                    <a:pt x="0" y="37671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3767137"/>
                  </a:lnTo>
                  <a:lnTo>
                    <a:pt x="11229972" y="3771827"/>
                  </a:lnTo>
                  <a:lnTo>
                    <a:pt x="11229514" y="3776473"/>
                  </a:lnTo>
                  <a:lnTo>
                    <a:pt x="11228599" y="3781073"/>
                  </a:lnTo>
                  <a:lnTo>
                    <a:pt x="11227684" y="3785673"/>
                  </a:lnTo>
                  <a:lnTo>
                    <a:pt x="11205732" y="3820967"/>
                  </a:lnTo>
                  <a:lnTo>
                    <a:pt x="11198222" y="3826534"/>
                  </a:lnTo>
                  <a:lnTo>
                    <a:pt x="11194322" y="3829140"/>
                  </a:lnTo>
                  <a:lnTo>
                    <a:pt x="11190206" y="3831341"/>
                  </a:lnTo>
                  <a:lnTo>
                    <a:pt x="11185873" y="3833136"/>
                  </a:lnTo>
                  <a:lnTo>
                    <a:pt x="11181539" y="3834931"/>
                  </a:lnTo>
                  <a:lnTo>
                    <a:pt x="11177072" y="3836286"/>
                  </a:lnTo>
                  <a:lnTo>
                    <a:pt x="11172472" y="3837201"/>
                  </a:lnTo>
                  <a:lnTo>
                    <a:pt x="11167872" y="3838117"/>
                  </a:lnTo>
                  <a:lnTo>
                    <a:pt x="11163227" y="3838574"/>
                  </a:lnTo>
                  <a:lnTo>
                    <a:pt x="11158536" y="3838574"/>
                  </a:lnTo>
                  <a:lnTo>
                    <a:pt x="71437" y="3838574"/>
                  </a:lnTo>
                  <a:lnTo>
                    <a:pt x="66746" y="3838574"/>
                  </a:lnTo>
                  <a:lnTo>
                    <a:pt x="62101" y="3838117"/>
                  </a:lnTo>
                  <a:lnTo>
                    <a:pt x="57500" y="3837201"/>
                  </a:lnTo>
                  <a:lnTo>
                    <a:pt x="52900" y="3836286"/>
                  </a:lnTo>
                  <a:lnTo>
                    <a:pt x="48433" y="3834931"/>
                  </a:lnTo>
                  <a:lnTo>
                    <a:pt x="44099" y="3833136"/>
                  </a:lnTo>
                  <a:lnTo>
                    <a:pt x="39765" y="3831341"/>
                  </a:lnTo>
                  <a:lnTo>
                    <a:pt x="35649" y="3829140"/>
                  </a:lnTo>
                  <a:lnTo>
                    <a:pt x="31748" y="3826534"/>
                  </a:lnTo>
                  <a:lnTo>
                    <a:pt x="27848" y="3823927"/>
                  </a:lnTo>
                  <a:lnTo>
                    <a:pt x="24240" y="3820967"/>
                  </a:lnTo>
                  <a:lnTo>
                    <a:pt x="20923" y="3817650"/>
                  </a:lnTo>
                  <a:lnTo>
                    <a:pt x="17606" y="3814333"/>
                  </a:lnTo>
                  <a:lnTo>
                    <a:pt x="5437" y="3794473"/>
                  </a:lnTo>
                  <a:lnTo>
                    <a:pt x="3642" y="3790140"/>
                  </a:lnTo>
                  <a:lnTo>
                    <a:pt x="2287" y="3785673"/>
                  </a:lnTo>
                  <a:lnTo>
                    <a:pt x="1372" y="3781073"/>
                  </a:lnTo>
                  <a:lnTo>
                    <a:pt x="457" y="3776473"/>
                  </a:lnTo>
                  <a:lnTo>
                    <a:pt x="0" y="3771827"/>
                  </a:lnTo>
                  <a:lnTo>
                    <a:pt x="0" y="37671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63550" y="806450"/>
            <a:ext cx="11024870" cy="5168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Passerelle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obligatoire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par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Monaco"/>
                <a:cs typeface="Monaco"/>
              </a:rPr>
              <a:t>Instant</a:t>
            </a:r>
            <a:r>
              <a:rPr dirty="0" sz="1350" spc="-455">
                <a:solidFill>
                  <a:srgbClr val="64738B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Monaco"/>
                <a:cs typeface="Monaco"/>
              </a:rPr>
              <a:t>ZoneId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anciennes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classes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Date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Calendar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ne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contiennent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pas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fuseau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horaire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explicite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(juste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ms).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créer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un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650" spc="-10">
                <a:solidFill>
                  <a:srgbClr val="334054"/>
                </a:solidFill>
                <a:latin typeface="Monaco"/>
                <a:cs typeface="Monaco"/>
              </a:rPr>
              <a:t>LocalDateTime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,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il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faut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fournir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45" b="1">
                <a:solidFill>
                  <a:srgbClr val="334054"/>
                </a:solidFill>
                <a:latin typeface="Arial"/>
                <a:cs typeface="Arial"/>
              </a:rPr>
              <a:t>ZoneId</a:t>
            </a:r>
            <a:r>
              <a:rPr dirty="0" sz="1650" spc="-40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interpréter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ces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millisecondes.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210">
                <a:solidFill>
                  <a:srgbClr val="005CC4"/>
                </a:solidFill>
                <a:latin typeface="Times New Roman"/>
                <a:cs typeface="Times New Roman"/>
              </a:rPr>
              <a:t>Date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legacyDate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12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350" spc="114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95">
                <a:solidFill>
                  <a:srgbClr val="005CC4"/>
                </a:solidFill>
                <a:latin typeface="Times New Roman"/>
                <a:cs typeface="Times New Roman"/>
              </a:rPr>
              <a:t>Date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();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35" i="1">
                <a:solidFill>
                  <a:srgbClr val="6A737D"/>
                </a:solidFill>
                <a:latin typeface="Times New Roman"/>
                <a:cs typeface="Times New Roman"/>
              </a:rPr>
              <a:t>1.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04" i="1">
                <a:solidFill>
                  <a:srgbClr val="6A737D"/>
                </a:solidFill>
                <a:latin typeface="Times New Roman"/>
                <a:cs typeface="Times New Roman"/>
              </a:rPr>
              <a:t>Conversion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70" i="1">
                <a:solidFill>
                  <a:srgbClr val="6A737D"/>
                </a:solidFill>
                <a:latin typeface="Times New Roman"/>
                <a:cs typeface="Times New Roman"/>
              </a:rPr>
              <a:t>vers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00" i="1">
                <a:solidFill>
                  <a:srgbClr val="6A737D"/>
                </a:solidFill>
                <a:latin typeface="Times New Roman"/>
                <a:cs typeface="Times New Roman"/>
              </a:rPr>
              <a:t>Instant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70" i="1">
                <a:solidFill>
                  <a:srgbClr val="6A737D"/>
                </a:solidFill>
                <a:latin typeface="Times New Roman"/>
                <a:cs typeface="Times New Roman"/>
              </a:rPr>
              <a:t>(le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95" i="1">
                <a:solidFill>
                  <a:srgbClr val="6A737D"/>
                </a:solidFill>
                <a:latin typeface="Times New Roman"/>
                <a:cs typeface="Times New Roman"/>
              </a:rPr>
              <a:t>pivot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85" i="1">
                <a:solidFill>
                  <a:srgbClr val="6A737D"/>
                </a:solidFill>
                <a:latin typeface="Times New Roman"/>
                <a:cs typeface="Times New Roman"/>
              </a:rPr>
              <a:t>universel)</a:t>
            </a:r>
            <a:endParaRPr sz="15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00"/>
              </a:spcBef>
            </a:pPr>
            <a:r>
              <a:rPr dirty="0" sz="1450" spc="330">
                <a:solidFill>
                  <a:srgbClr val="005CC4"/>
                </a:solidFill>
                <a:latin typeface="Times New Roman"/>
                <a:cs typeface="Times New Roman"/>
              </a:rPr>
              <a:t>Instant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70">
                <a:solidFill>
                  <a:srgbClr val="334054"/>
                </a:solidFill>
                <a:latin typeface="Times New Roman"/>
                <a:cs typeface="Times New Roman"/>
              </a:rPr>
              <a:t>inst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334054"/>
                </a:solidFill>
                <a:latin typeface="Times New Roman"/>
                <a:cs typeface="Times New Roman"/>
              </a:rPr>
              <a:t>legacyDate.toInstant();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35" i="1">
                <a:solidFill>
                  <a:srgbClr val="6A737D"/>
                </a:solidFill>
                <a:latin typeface="Times New Roman"/>
                <a:cs typeface="Times New Roman"/>
              </a:rPr>
              <a:t>2.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45" i="1">
                <a:solidFill>
                  <a:srgbClr val="6A737D"/>
                </a:solidFill>
                <a:latin typeface="Times New Roman"/>
                <a:cs typeface="Times New Roman"/>
              </a:rPr>
              <a:t>Ajout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90" i="1">
                <a:solidFill>
                  <a:srgbClr val="6A737D"/>
                </a:solidFill>
                <a:latin typeface="Times New Roman"/>
                <a:cs typeface="Times New Roman"/>
              </a:rPr>
              <a:t>ZoneId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90" i="1">
                <a:solidFill>
                  <a:srgbClr val="6A737D"/>
                </a:solidFill>
                <a:latin typeface="Times New Roman"/>
                <a:cs typeface="Times New Roman"/>
              </a:rPr>
              <a:t>pour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75" i="1">
                <a:solidFill>
                  <a:srgbClr val="6A737D"/>
                </a:solidFill>
                <a:latin typeface="Times New Roman"/>
                <a:cs typeface="Times New Roman"/>
              </a:rPr>
              <a:t>obtenir</a:t>
            </a:r>
            <a:r>
              <a:rPr dirty="0" sz="1500" spc="8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65" i="1">
                <a:solidFill>
                  <a:srgbClr val="6A737D"/>
                </a:solidFill>
                <a:latin typeface="Times New Roman"/>
                <a:cs typeface="Times New Roman"/>
              </a:rPr>
              <a:t>LocalDateTime</a:t>
            </a:r>
            <a:endParaRPr sz="1500">
              <a:latin typeface="Times New Roman"/>
              <a:cs typeface="Times New Roman"/>
            </a:endParaRPr>
          </a:p>
          <a:p>
            <a:pPr marL="621665" marR="5479415" indent="-457200">
              <a:lnSpc>
                <a:spcPct val="126400"/>
              </a:lnSpc>
              <a:spcBef>
                <a:spcPts val="40"/>
              </a:spcBef>
            </a:pP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85">
                <a:solidFill>
                  <a:srgbClr val="334054"/>
                </a:solidFill>
                <a:latin typeface="Times New Roman"/>
                <a:cs typeface="Times New Roman"/>
              </a:rPr>
              <a:t>ldt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54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.ofInstant( </a:t>
            </a:r>
            <a:r>
              <a:rPr dirty="0" sz="1450" spc="405">
                <a:solidFill>
                  <a:srgbClr val="334054"/>
                </a:solidFill>
                <a:latin typeface="Times New Roman"/>
                <a:cs typeface="Times New Roman"/>
              </a:rPr>
              <a:t>inst,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80">
                <a:solidFill>
                  <a:srgbClr val="005CC4"/>
                </a:solidFill>
                <a:latin typeface="Times New Roman"/>
                <a:cs typeface="Times New Roman"/>
              </a:rPr>
              <a:t>ZoneId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.systemDefault());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60" i="1">
                <a:solidFill>
                  <a:srgbClr val="6A737D"/>
                </a:solidFill>
                <a:latin typeface="Times New Roman"/>
                <a:cs typeface="Times New Roman"/>
              </a:rPr>
              <a:t>Fuseau</a:t>
            </a:r>
            <a:r>
              <a:rPr dirty="0" sz="1500" spc="8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-25" i="1">
                <a:solidFill>
                  <a:srgbClr val="6A737D"/>
                </a:solidFill>
                <a:latin typeface="Times New Roman"/>
                <a:cs typeface="Times New Roman"/>
              </a:rPr>
              <a:t>OS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30">
                <a:solidFill>
                  <a:srgbClr val="334054"/>
                </a:solidFill>
                <a:latin typeface="Times New Roman"/>
                <a:cs typeface="Times New Roman"/>
              </a:rPr>
              <a:t>cal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95">
                <a:solidFill>
                  <a:srgbClr val="005CC4"/>
                </a:solidFill>
                <a:latin typeface="Times New Roman"/>
                <a:cs typeface="Times New Roman"/>
              </a:rPr>
              <a:t>Calendar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.getInstance();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459"/>
              </a:spcBef>
            </a:pPr>
            <a:r>
              <a:rPr dirty="0" sz="1500" spc="47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335" i="1">
                <a:solidFill>
                  <a:srgbClr val="6A737D"/>
                </a:solidFill>
                <a:latin typeface="Times New Roman"/>
                <a:cs typeface="Times New Roman"/>
              </a:rPr>
              <a:t>3.</a:t>
            </a:r>
            <a:r>
              <a:rPr dirty="0" sz="150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i="1">
                <a:solidFill>
                  <a:srgbClr val="6A737D"/>
                </a:solidFill>
                <a:latin typeface="Times New Roman"/>
                <a:cs typeface="Times New Roman"/>
              </a:rPr>
              <a:t>Même</a:t>
            </a:r>
            <a:r>
              <a:rPr dirty="0" sz="150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54" i="1">
                <a:solidFill>
                  <a:srgbClr val="6A737D"/>
                </a:solidFill>
                <a:latin typeface="Times New Roman"/>
                <a:cs typeface="Times New Roman"/>
              </a:rPr>
              <a:t>logique</a:t>
            </a:r>
            <a:r>
              <a:rPr dirty="0" sz="150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90" i="1">
                <a:solidFill>
                  <a:srgbClr val="6A737D"/>
                </a:solidFill>
                <a:latin typeface="Times New Roman"/>
                <a:cs typeface="Times New Roman"/>
              </a:rPr>
              <a:t>pour</a:t>
            </a:r>
            <a:r>
              <a:rPr dirty="0" sz="150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75" i="1">
                <a:solidFill>
                  <a:srgbClr val="6A737D"/>
                </a:solidFill>
                <a:latin typeface="Times New Roman"/>
                <a:cs typeface="Times New Roman"/>
              </a:rPr>
              <a:t>Calendar</a:t>
            </a:r>
            <a:endParaRPr sz="1500">
              <a:latin typeface="Times New Roman"/>
              <a:cs typeface="Times New Roman"/>
            </a:endParaRPr>
          </a:p>
          <a:p>
            <a:pPr marL="621665" marR="5365115" indent="-457200">
              <a:lnSpc>
                <a:spcPts val="2250"/>
              </a:lnSpc>
              <a:spcBef>
                <a:spcPts val="95"/>
              </a:spcBef>
            </a:pPr>
            <a:r>
              <a:rPr dirty="0" sz="1450" spc="195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8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04">
                <a:solidFill>
                  <a:srgbClr val="334054"/>
                </a:solidFill>
                <a:latin typeface="Times New Roman"/>
                <a:cs typeface="Times New Roman"/>
              </a:rPr>
              <a:t>fromCal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54">
                <a:solidFill>
                  <a:srgbClr val="005CC4"/>
                </a:solidFill>
                <a:latin typeface="Times New Roman"/>
                <a:cs typeface="Times New Roman"/>
              </a:rPr>
              <a:t>LocalDateTime</a:t>
            </a:r>
            <a:r>
              <a:rPr dirty="0" sz="1450" spc="254">
                <a:solidFill>
                  <a:srgbClr val="334054"/>
                </a:solidFill>
                <a:latin typeface="Times New Roman"/>
                <a:cs typeface="Times New Roman"/>
              </a:rPr>
              <a:t>.ofInstant( </a:t>
            </a:r>
            <a:r>
              <a:rPr dirty="0" sz="1450" spc="365">
                <a:solidFill>
                  <a:srgbClr val="334054"/>
                </a:solidFill>
                <a:latin typeface="Times New Roman"/>
                <a:cs typeface="Times New Roman"/>
              </a:rPr>
              <a:t>cal.toInstant(),</a:t>
            </a:r>
            <a:r>
              <a:rPr dirty="0" sz="1450" spc="12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80">
                <a:solidFill>
                  <a:srgbClr val="005CC4"/>
                </a:solidFill>
                <a:latin typeface="Times New Roman"/>
                <a:cs typeface="Times New Roman"/>
              </a:rPr>
              <a:t>ZoneId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.of(</a:t>
            </a:r>
            <a:r>
              <a:rPr dirty="0" sz="1450" spc="280">
                <a:solidFill>
                  <a:srgbClr val="21863A"/>
                </a:solidFill>
                <a:latin typeface="Times New Roman"/>
                <a:cs typeface="Times New Roman"/>
              </a:rPr>
              <a:t>"Europe/Paris"</a:t>
            </a:r>
            <a:r>
              <a:rPr dirty="0" sz="1450" spc="280">
                <a:solidFill>
                  <a:srgbClr val="334054"/>
                </a:solidFill>
                <a:latin typeface="Times New Roman"/>
                <a:cs typeface="Times New Roman"/>
              </a:rPr>
              <a:t>));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27.</a:t>
            </a:r>
            <a:r>
              <a:rPr dirty="0" spc="-70"/>
              <a:t> Comparatif </a:t>
            </a:r>
            <a:r>
              <a:rPr dirty="0" spc="-650"/>
              <a:t>—</a:t>
            </a:r>
            <a:r>
              <a:rPr dirty="0" spc="-70"/>
              <a:t> </a:t>
            </a:r>
            <a:r>
              <a:rPr dirty="0" spc="-45"/>
              <a:t>java.time</a:t>
            </a:r>
            <a:r>
              <a:rPr dirty="0" spc="-70"/>
              <a:t> </a:t>
            </a:r>
            <a:r>
              <a:rPr dirty="0" spc="-135"/>
              <a:t>vs</a:t>
            </a:r>
            <a:r>
              <a:rPr dirty="0" spc="-70"/>
              <a:t> </a:t>
            </a:r>
            <a:r>
              <a:rPr dirty="0" spc="-50"/>
              <a:t>Date/Calendar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6450"/>
            <a:ext cx="10605135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Pourquoi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migrer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absolument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vers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l'API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moderne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64738B"/>
                </a:solidFill>
                <a:latin typeface="Arial"/>
                <a:cs typeface="Arial"/>
              </a:rPr>
              <a:t>?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00" spc="-85">
                <a:solidFill>
                  <a:srgbClr val="334054"/>
                </a:solidFill>
                <a:latin typeface="Arial"/>
                <a:cs typeface="Arial"/>
              </a:rPr>
              <a:t>L'API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java.time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(introduite</a:t>
            </a:r>
            <a:r>
              <a:rPr dirty="0" sz="1700" spc="-114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en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8)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corrige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défauts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conception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majeurs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334054"/>
                </a:solidFill>
                <a:latin typeface="Arial"/>
                <a:cs typeface="Arial"/>
              </a:rPr>
              <a:t>anciennes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classes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Date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et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Calendar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.</a:t>
            </a:r>
            <a:r>
              <a:rPr dirty="0" sz="1700" spc="-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C'est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standard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actuel.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20624" y="2298192"/>
            <a:ext cx="11351260" cy="2822575"/>
            <a:chOff x="420624" y="2298192"/>
            <a:chExt cx="11351260" cy="2822575"/>
          </a:xfrm>
        </p:grpSpPr>
        <p:sp>
          <p:nvSpPr>
            <p:cNvPr id="5" name="object 5" descr=""/>
            <p:cNvSpPr/>
            <p:nvPr/>
          </p:nvSpPr>
          <p:spPr>
            <a:xfrm>
              <a:off x="420624" y="2298192"/>
              <a:ext cx="11351260" cy="2822575"/>
            </a:xfrm>
            <a:custGeom>
              <a:avLst/>
              <a:gdLst/>
              <a:ahLst/>
              <a:cxnLst/>
              <a:rect l="l" t="t" r="r" b="b"/>
              <a:pathLst>
                <a:path w="11351260" h="2822575">
                  <a:moveTo>
                    <a:pt x="11350752" y="2822448"/>
                  </a:moveTo>
                  <a:lnTo>
                    <a:pt x="0" y="2822448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35432"/>
                  </a:lnTo>
                  <a:lnTo>
                    <a:pt x="131825" y="35432"/>
                  </a:lnTo>
                  <a:lnTo>
                    <a:pt x="124319" y="35795"/>
                  </a:lnTo>
                  <a:lnTo>
                    <a:pt x="83508" y="52699"/>
                  </a:lnTo>
                  <a:lnTo>
                    <a:pt x="58888" y="89545"/>
                  </a:lnTo>
                  <a:lnTo>
                    <a:pt x="55625" y="111632"/>
                  </a:lnTo>
                  <a:lnTo>
                    <a:pt x="55625" y="2673857"/>
                  </a:lnTo>
                  <a:lnTo>
                    <a:pt x="68456" y="2716199"/>
                  </a:lnTo>
                  <a:lnTo>
                    <a:pt x="102665" y="2744256"/>
                  </a:lnTo>
                  <a:lnTo>
                    <a:pt x="131825" y="2750057"/>
                  </a:lnTo>
                  <a:lnTo>
                    <a:pt x="11350752" y="2750057"/>
                  </a:lnTo>
                  <a:lnTo>
                    <a:pt x="11350752" y="2822448"/>
                  </a:lnTo>
                  <a:close/>
                </a:path>
                <a:path w="11351260" h="2822575">
                  <a:moveTo>
                    <a:pt x="11350752" y="2750057"/>
                  </a:moveTo>
                  <a:lnTo>
                    <a:pt x="11218925" y="2750057"/>
                  </a:lnTo>
                  <a:lnTo>
                    <a:pt x="11226431" y="2749694"/>
                  </a:lnTo>
                  <a:lnTo>
                    <a:pt x="11233793" y="2748607"/>
                  </a:lnTo>
                  <a:lnTo>
                    <a:pt x="11272805" y="2727738"/>
                  </a:lnTo>
                  <a:lnTo>
                    <a:pt x="11293674" y="2688725"/>
                  </a:lnTo>
                  <a:lnTo>
                    <a:pt x="11295125" y="2673857"/>
                  </a:lnTo>
                  <a:lnTo>
                    <a:pt x="11295125" y="111632"/>
                  </a:lnTo>
                  <a:lnTo>
                    <a:pt x="11282293" y="69290"/>
                  </a:lnTo>
                  <a:lnTo>
                    <a:pt x="11248084" y="41232"/>
                  </a:lnTo>
                  <a:lnTo>
                    <a:pt x="11218925" y="35432"/>
                  </a:lnTo>
                  <a:lnTo>
                    <a:pt x="11350752" y="35432"/>
                  </a:lnTo>
                  <a:lnTo>
                    <a:pt x="11350752" y="275005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50" y="2333624"/>
              <a:ext cx="2809875" cy="581025"/>
            </a:xfrm>
            <a:custGeom>
              <a:avLst/>
              <a:gdLst/>
              <a:ahLst/>
              <a:cxnLst/>
              <a:rect l="l" t="t" r="r" b="b"/>
              <a:pathLst>
                <a:path w="2809875" h="581025">
                  <a:moveTo>
                    <a:pt x="2809874" y="581024"/>
                  </a:moveTo>
                  <a:lnTo>
                    <a:pt x="0" y="5810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2809874" y="0"/>
                  </a:lnTo>
                  <a:lnTo>
                    <a:pt x="2809874" y="58102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86124" y="2333624"/>
              <a:ext cx="4219575" cy="581025"/>
            </a:xfrm>
            <a:custGeom>
              <a:avLst/>
              <a:gdLst/>
              <a:ahLst/>
              <a:cxnLst/>
              <a:rect l="l" t="t" r="r" b="b"/>
              <a:pathLst>
                <a:path w="4219575" h="581025">
                  <a:moveTo>
                    <a:pt x="0" y="0"/>
                  </a:moveTo>
                  <a:lnTo>
                    <a:pt x="4219574" y="0"/>
                  </a:lnTo>
                  <a:lnTo>
                    <a:pt x="4219574" y="581024"/>
                  </a:lnTo>
                  <a:lnTo>
                    <a:pt x="0" y="581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05700" y="2333624"/>
              <a:ext cx="4210050" cy="581025"/>
            </a:xfrm>
            <a:custGeom>
              <a:avLst/>
              <a:gdLst/>
              <a:ahLst/>
              <a:cxnLst/>
              <a:rect l="l" t="t" r="r" b="b"/>
              <a:pathLst>
                <a:path w="4210050" h="581025">
                  <a:moveTo>
                    <a:pt x="4210049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4133849" y="0"/>
                  </a:lnTo>
                  <a:lnTo>
                    <a:pt x="4141355" y="362"/>
                  </a:lnTo>
                  <a:lnTo>
                    <a:pt x="4182165" y="17266"/>
                  </a:lnTo>
                  <a:lnTo>
                    <a:pt x="4206785" y="54113"/>
                  </a:lnTo>
                  <a:lnTo>
                    <a:pt x="4210049" y="76198"/>
                  </a:lnTo>
                  <a:lnTo>
                    <a:pt x="4210049" y="5810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286124" y="2914649"/>
              <a:ext cx="4219575" cy="533400"/>
            </a:xfrm>
            <a:custGeom>
              <a:avLst/>
              <a:gdLst/>
              <a:ahLst/>
              <a:cxnLst/>
              <a:rect l="l" t="t" r="r" b="b"/>
              <a:pathLst>
                <a:path w="4219575" h="533400">
                  <a:moveTo>
                    <a:pt x="421957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9574" y="0"/>
                  </a:lnTo>
                  <a:lnTo>
                    <a:pt x="4219574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505699" y="2914649"/>
              <a:ext cx="4210050" cy="533400"/>
            </a:xfrm>
            <a:custGeom>
              <a:avLst/>
              <a:gdLst/>
              <a:ahLst/>
              <a:cxnLst/>
              <a:rect l="l" t="t" r="r" b="b"/>
              <a:pathLst>
                <a:path w="4210050" h="533400">
                  <a:moveTo>
                    <a:pt x="4210049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0049" y="0"/>
                  </a:lnTo>
                  <a:lnTo>
                    <a:pt x="4210049" y="5333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6124" y="3448049"/>
              <a:ext cx="4219575" cy="533400"/>
            </a:xfrm>
            <a:custGeom>
              <a:avLst/>
              <a:gdLst/>
              <a:ahLst/>
              <a:cxnLst/>
              <a:rect l="l" t="t" r="r" b="b"/>
              <a:pathLst>
                <a:path w="4219575" h="533400">
                  <a:moveTo>
                    <a:pt x="421957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9574" y="0"/>
                  </a:lnTo>
                  <a:lnTo>
                    <a:pt x="4219574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05699" y="3448049"/>
              <a:ext cx="4210050" cy="533400"/>
            </a:xfrm>
            <a:custGeom>
              <a:avLst/>
              <a:gdLst/>
              <a:ahLst/>
              <a:cxnLst/>
              <a:rect l="l" t="t" r="r" b="b"/>
              <a:pathLst>
                <a:path w="4210050" h="533400">
                  <a:moveTo>
                    <a:pt x="4210049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0049" y="0"/>
                  </a:lnTo>
                  <a:lnTo>
                    <a:pt x="4210049" y="5333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286124" y="3981449"/>
              <a:ext cx="4219575" cy="533400"/>
            </a:xfrm>
            <a:custGeom>
              <a:avLst/>
              <a:gdLst/>
              <a:ahLst/>
              <a:cxnLst/>
              <a:rect l="l" t="t" r="r" b="b"/>
              <a:pathLst>
                <a:path w="4219575" h="533400">
                  <a:moveTo>
                    <a:pt x="421957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9574" y="0"/>
                  </a:lnTo>
                  <a:lnTo>
                    <a:pt x="4219574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505699" y="3981449"/>
              <a:ext cx="4210050" cy="533400"/>
            </a:xfrm>
            <a:custGeom>
              <a:avLst/>
              <a:gdLst/>
              <a:ahLst/>
              <a:cxnLst/>
              <a:rect l="l" t="t" r="r" b="b"/>
              <a:pathLst>
                <a:path w="4210050" h="533400">
                  <a:moveTo>
                    <a:pt x="4210049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0049" y="0"/>
                  </a:lnTo>
                  <a:lnTo>
                    <a:pt x="4210049" y="5333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86124" y="4514849"/>
              <a:ext cx="4219575" cy="533400"/>
            </a:xfrm>
            <a:custGeom>
              <a:avLst/>
              <a:gdLst/>
              <a:ahLst/>
              <a:cxnLst/>
              <a:rect l="l" t="t" r="r" b="b"/>
              <a:pathLst>
                <a:path w="4219575" h="533400">
                  <a:moveTo>
                    <a:pt x="421957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9574" y="0"/>
                  </a:lnTo>
                  <a:lnTo>
                    <a:pt x="4219574" y="533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05700" y="4514849"/>
              <a:ext cx="4210050" cy="533400"/>
            </a:xfrm>
            <a:custGeom>
              <a:avLst/>
              <a:gdLst/>
              <a:ahLst/>
              <a:cxnLst/>
              <a:rect l="l" t="t" r="r" b="b"/>
              <a:pathLst>
                <a:path w="4210050" h="533400">
                  <a:moveTo>
                    <a:pt x="4133850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210049" y="0"/>
                  </a:lnTo>
                  <a:lnTo>
                    <a:pt x="4210049" y="457201"/>
                  </a:lnTo>
                  <a:lnTo>
                    <a:pt x="4197217" y="499541"/>
                  </a:lnTo>
                  <a:lnTo>
                    <a:pt x="4163009" y="527599"/>
                  </a:lnTo>
                  <a:lnTo>
                    <a:pt x="4133850" y="5333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54049" y="2482850"/>
            <a:ext cx="5988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D293B"/>
                </a:solidFill>
                <a:latin typeface="Arial"/>
                <a:cs typeface="Arial"/>
              </a:rPr>
              <a:t>Critère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63925" y="2475222"/>
            <a:ext cx="21424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100" b="1">
                <a:solidFill>
                  <a:srgbClr val="334054"/>
                </a:solidFill>
                <a:latin typeface="Arial"/>
                <a:cs typeface="Arial"/>
              </a:rPr>
              <a:t>Legacy</a:t>
            </a:r>
            <a:r>
              <a:rPr dirty="0" sz="1550" spc="-35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spc="-60" b="1">
                <a:solidFill>
                  <a:srgbClr val="334054"/>
                </a:solidFill>
                <a:latin typeface="Arial"/>
                <a:cs typeface="Arial"/>
              </a:rPr>
              <a:t>(Date</a:t>
            </a:r>
            <a:r>
              <a:rPr dirty="0" sz="1550" spc="-35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spc="120" b="1">
                <a:solidFill>
                  <a:srgbClr val="334054"/>
                </a:solidFill>
                <a:latin typeface="Arial"/>
                <a:cs typeface="Arial"/>
              </a:rPr>
              <a:t>/</a:t>
            </a:r>
            <a:r>
              <a:rPr dirty="0" sz="1550" spc="-35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spc="-60" b="1">
                <a:solidFill>
                  <a:srgbClr val="334054"/>
                </a:solidFill>
                <a:latin typeface="Arial"/>
                <a:cs typeface="Arial"/>
              </a:rPr>
              <a:t>Calendar)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678737" y="2475222"/>
            <a:ext cx="165290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80" b="1">
                <a:solidFill>
                  <a:srgbClr val="334054"/>
                </a:solidFill>
                <a:latin typeface="Arial"/>
                <a:cs typeface="Arial"/>
              </a:rPr>
              <a:t>Modern</a:t>
            </a:r>
            <a:r>
              <a:rPr dirty="0" sz="1550" spc="-5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spc="-40" b="1">
                <a:solidFill>
                  <a:srgbClr val="334054"/>
                </a:solidFill>
                <a:latin typeface="Arial"/>
                <a:cs typeface="Arial"/>
              </a:rPr>
              <a:t>(java.time)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476624" y="3067049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68132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81327" y="0"/>
                </a:lnTo>
                <a:lnTo>
                  <a:pt x="713407" y="28186"/>
                </a:lnTo>
                <a:lnTo>
                  <a:pt x="714374" y="33047"/>
                </a:lnTo>
                <a:lnTo>
                  <a:pt x="714374" y="233652"/>
                </a:lnTo>
                <a:lnTo>
                  <a:pt x="686186" y="265732"/>
                </a:lnTo>
                <a:lnTo>
                  <a:pt x="681327" y="266699"/>
                </a:lnTo>
                <a:close/>
              </a:path>
            </a:pathLst>
          </a:custGeom>
          <a:solidFill>
            <a:srgbClr val="FE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696198" y="3067049"/>
            <a:ext cx="885825" cy="266700"/>
          </a:xfrm>
          <a:custGeom>
            <a:avLst/>
            <a:gdLst/>
            <a:ahLst/>
            <a:cxnLst/>
            <a:rect l="l" t="t" r="r" b="b"/>
            <a:pathLst>
              <a:path w="885825" h="266700">
                <a:moveTo>
                  <a:pt x="85277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852777" y="0"/>
                </a:lnTo>
                <a:lnTo>
                  <a:pt x="884858" y="28186"/>
                </a:lnTo>
                <a:lnTo>
                  <a:pt x="885824" y="33047"/>
                </a:lnTo>
                <a:lnTo>
                  <a:pt x="885824" y="233652"/>
                </a:lnTo>
                <a:lnTo>
                  <a:pt x="857637" y="265732"/>
                </a:lnTo>
                <a:lnTo>
                  <a:pt x="852777" y="266699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3476624" y="3600449"/>
            <a:ext cx="638175" cy="266700"/>
          </a:xfrm>
          <a:custGeom>
            <a:avLst/>
            <a:gdLst/>
            <a:ahLst/>
            <a:cxnLst/>
            <a:rect l="l" t="t" r="r" b="b"/>
            <a:pathLst>
              <a:path w="638175" h="266700">
                <a:moveTo>
                  <a:pt x="60512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05127" y="0"/>
                </a:lnTo>
                <a:lnTo>
                  <a:pt x="637207" y="28187"/>
                </a:lnTo>
                <a:lnTo>
                  <a:pt x="638174" y="33047"/>
                </a:lnTo>
                <a:lnTo>
                  <a:pt x="638174" y="233652"/>
                </a:lnTo>
                <a:lnTo>
                  <a:pt x="609987" y="265732"/>
                </a:lnTo>
                <a:lnTo>
                  <a:pt x="605127" y="2666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696198" y="3600449"/>
            <a:ext cx="647700" cy="266700"/>
          </a:xfrm>
          <a:custGeom>
            <a:avLst/>
            <a:gdLst/>
            <a:ahLst/>
            <a:cxnLst/>
            <a:rect l="l" t="t" r="r" b="b"/>
            <a:pathLst>
              <a:path w="647700" h="266700">
                <a:moveTo>
                  <a:pt x="614652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2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14652" y="0"/>
                </a:lnTo>
                <a:lnTo>
                  <a:pt x="646732" y="28187"/>
                </a:lnTo>
                <a:lnTo>
                  <a:pt x="647699" y="33047"/>
                </a:lnTo>
                <a:lnTo>
                  <a:pt x="647699" y="233652"/>
                </a:lnTo>
                <a:lnTo>
                  <a:pt x="619512" y="265732"/>
                </a:lnTo>
                <a:lnTo>
                  <a:pt x="614652" y="266699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476624" y="4133849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71942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1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19427" y="0"/>
                </a:lnTo>
                <a:lnTo>
                  <a:pt x="751507" y="28187"/>
                </a:lnTo>
                <a:lnTo>
                  <a:pt x="752474" y="33047"/>
                </a:lnTo>
                <a:lnTo>
                  <a:pt x="752474" y="233652"/>
                </a:lnTo>
                <a:lnTo>
                  <a:pt x="724286" y="265732"/>
                </a:lnTo>
                <a:lnTo>
                  <a:pt x="719427" y="266699"/>
                </a:lnTo>
                <a:close/>
              </a:path>
            </a:pathLst>
          </a:custGeom>
          <a:solidFill>
            <a:srgbClr val="FFEC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696198" y="4133849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70037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1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700377" y="0"/>
                </a:lnTo>
                <a:lnTo>
                  <a:pt x="732458" y="28187"/>
                </a:lnTo>
                <a:lnTo>
                  <a:pt x="733424" y="33047"/>
                </a:lnTo>
                <a:lnTo>
                  <a:pt x="733424" y="233652"/>
                </a:lnTo>
                <a:lnTo>
                  <a:pt x="705237" y="265732"/>
                </a:lnTo>
                <a:lnTo>
                  <a:pt x="700377" y="266699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476250" y="2905124"/>
          <a:ext cx="11239500" cy="1603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9450"/>
                <a:gridCol w="4210050"/>
              </a:tblGrid>
              <a:tr h="53784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75"/>
                        </a:spcBef>
                        <a:tabLst>
                          <a:tab pos="3075940" algn="l"/>
                        </a:tabLst>
                      </a:pP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Immutabilité</a:t>
                      </a:r>
                      <a:r>
                        <a:rPr dirty="0" sz="150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00" b="1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Mutable</a:t>
                      </a:r>
                      <a:r>
                        <a:rPr dirty="0" sz="1200" spc="114" b="1">
                          <a:solidFill>
                            <a:srgbClr val="991B1B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550" spc="-2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(Non</a:t>
                      </a:r>
                      <a:r>
                        <a:rPr dirty="0" sz="1550" spc="-9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4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thread-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safe)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6525"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0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Immutable</a:t>
                      </a:r>
                      <a:r>
                        <a:rPr dirty="0" sz="1200" spc="47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5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(Thread-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safe)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6525">
                    <a:lnT w="19050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35"/>
                        </a:spcBef>
                        <a:tabLst>
                          <a:tab pos="3075940" algn="l"/>
                        </a:tabLst>
                      </a:pPr>
                      <a:r>
                        <a:rPr dirty="0" sz="150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Clarté</a:t>
                      </a:r>
                      <a:r>
                        <a:rPr dirty="0" sz="1500" spc="-45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des</a:t>
                      </a:r>
                      <a:r>
                        <a:rPr dirty="0" sz="1500" spc="-4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2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mois</a:t>
                      </a:r>
                      <a:r>
                        <a:rPr dirty="0" sz="150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00" b="1">
                          <a:solidFill>
                            <a:srgbClr val="993312"/>
                          </a:solidFill>
                          <a:latin typeface="Arial"/>
                          <a:cs typeface="Arial"/>
                        </a:rPr>
                        <a:t>Confus</a:t>
                      </a:r>
                      <a:r>
                        <a:rPr dirty="0" sz="1200" spc="365" b="1">
                          <a:solidFill>
                            <a:srgbClr val="99331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(Janvier</a:t>
                      </a:r>
                      <a:r>
                        <a:rPr dirty="0" sz="1550" spc="-8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550" spc="-6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0)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20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Naturel</a:t>
                      </a:r>
                      <a:r>
                        <a:rPr dirty="0" sz="1200" spc="475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(Janvier</a:t>
                      </a:r>
                      <a:r>
                        <a:rPr dirty="0" sz="1550" spc="-9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550" spc="-6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1)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035"/>
                        </a:spcBef>
                        <a:tabLst>
                          <a:tab pos="3075940" algn="l"/>
                        </a:tabLst>
                      </a:pP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Gestion</a:t>
                      </a:r>
                      <a:r>
                        <a:rPr dirty="0" sz="1500" spc="-4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TimeZone</a:t>
                      </a:r>
                      <a:r>
                        <a:rPr dirty="0" sz="150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00" b="1">
                          <a:solidFill>
                            <a:srgbClr val="993312"/>
                          </a:solidFill>
                          <a:latin typeface="Arial"/>
                          <a:cs typeface="Arial"/>
                        </a:rPr>
                        <a:t>Implicite</a:t>
                      </a:r>
                      <a:r>
                        <a:rPr dirty="0" sz="1200" spc="490" b="1">
                          <a:solidFill>
                            <a:srgbClr val="99331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5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(souvent</a:t>
                      </a:r>
                      <a:r>
                        <a:rPr dirty="0" sz="1550" spc="-8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système)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200" spc="-10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Explicite</a:t>
                      </a:r>
                      <a:r>
                        <a:rPr dirty="0" sz="1200" spc="365" b="1">
                          <a:solidFill>
                            <a:srgbClr val="1665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465469"/>
                          </a:solidFill>
                          <a:latin typeface="Arial"/>
                          <a:cs typeface="Arial"/>
                        </a:rPr>
                        <a:t>(ZonedDateTime)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 descr=""/>
          <p:cNvSpPr txBox="1"/>
          <p:nvPr/>
        </p:nvSpPr>
        <p:spPr>
          <a:xfrm>
            <a:off x="654049" y="4645025"/>
            <a:ext cx="7975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D293B"/>
                </a:solidFill>
                <a:latin typeface="Arial"/>
                <a:cs typeface="Arial"/>
              </a:rPr>
              <a:t>Style</a:t>
            </a:r>
            <a:r>
              <a:rPr dirty="0" sz="1500" spc="-8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1D293B"/>
                </a:solidFill>
                <a:latin typeface="Arial"/>
                <a:cs typeface="Arial"/>
              </a:rPr>
              <a:t>API</a:t>
            </a:r>
            <a:endParaRPr sz="1500">
              <a:latin typeface="Arial"/>
              <a:cs typeface="Arial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3476624" y="4667249"/>
            <a:ext cx="714375" cy="266700"/>
          </a:xfrm>
          <a:custGeom>
            <a:avLst/>
            <a:gdLst/>
            <a:ahLst/>
            <a:cxnLst/>
            <a:rect l="l" t="t" r="r" b="b"/>
            <a:pathLst>
              <a:path w="714375" h="266700">
                <a:moveTo>
                  <a:pt x="681327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1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681327" y="0"/>
                </a:lnTo>
                <a:lnTo>
                  <a:pt x="713407" y="28186"/>
                </a:lnTo>
                <a:lnTo>
                  <a:pt x="714374" y="33047"/>
                </a:lnTo>
                <a:lnTo>
                  <a:pt x="714374" y="233652"/>
                </a:lnTo>
                <a:lnTo>
                  <a:pt x="686186" y="265732"/>
                </a:lnTo>
                <a:lnTo>
                  <a:pt x="681327" y="266699"/>
                </a:lnTo>
                <a:close/>
              </a:path>
            </a:pathLst>
          </a:custGeom>
          <a:solidFill>
            <a:srgbClr val="FE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3540125" y="4635072"/>
            <a:ext cx="1859914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solidFill>
                  <a:srgbClr val="991B1B"/>
                </a:solidFill>
                <a:latin typeface="Arial"/>
                <a:cs typeface="Arial"/>
              </a:rPr>
              <a:t>Verbeux</a:t>
            </a:r>
            <a:r>
              <a:rPr dirty="0" sz="1200" spc="345" b="1">
                <a:solidFill>
                  <a:srgbClr val="991B1B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(set,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add,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roll)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7696198" y="4667249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528926" y="266699"/>
                </a:moveTo>
                <a:lnTo>
                  <a:pt x="33047" y="266699"/>
                </a:lnTo>
                <a:lnTo>
                  <a:pt x="28187" y="265732"/>
                </a:lnTo>
                <a:lnTo>
                  <a:pt x="966" y="238511"/>
                </a:lnTo>
                <a:lnTo>
                  <a:pt x="0" y="233652"/>
                </a:lnTo>
                <a:lnTo>
                  <a:pt x="0" y="2285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28926" y="0"/>
                </a:lnTo>
                <a:lnTo>
                  <a:pt x="561008" y="28186"/>
                </a:lnTo>
                <a:lnTo>
                  <a:pt x="561974" y="33047"/>
                </a:lnTo>
                <a:lnTo>
                  <a:pt x="561974" y="233652"/>
                </a:lnTo>
                <a:lnTo>
                  <a:pt x="533787" y="265732"/>
                </a:lnTo>
                <a:lnTo>
                  <a:pt x="528926" y="266699"/>
                </a:lnTo>
                <a:close/>
              </a:path>
            </a:pathLst>
          </a:custGeom>
          <a:solidFill>
            <a:srgbClr val="DBFB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7754937" y="4635072"/>
            <a:ext cx="19119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solidFill>
                  <a:srgbClr val="166533"/>
                </a:solidFill>
                <a:latin typeface="Arial"/>
                <a:cs typeface="Arial"/>
              </a:rPr>
              <a:t>Fluide</a:t>
            </a:r>
            <a:r>
              <a:rPr dirty="0" sz="1200" spc="380" b="1">
                <a:solidFill>
                  <a:srgbClr val="166533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(plusDays,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with)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35863" y="5379720"/>
            <a:ext cx="5633085" cy="841375"/>
            <a:chOff x="435863" y="5379720"/>
            <a:chExt cx="5633085" cy="841375"/>
          </a:xfrm>
        </p:grpSpPr>
        <p:sp>
          <p:nvSpPr>
            <p:cNvPr id="33" name="object 33" descr=""/>
            <p:cNvSpPr/>
            <p:nvPr/>
          </p:nvSpPr>
          <p:spPr>
            <a:xfrm>
              <a:off x="435863" y="5379720"/>
              <a:ext cx="5633085" cy="841375"/>
            </a:xfrm>
            <a:custGeom>
              <a:avLst/>
              <a:gdLst/>
              <a:ahLst/>
              <a:cxnLst/>
              <a:rect l="l" t="t" r="r" b="b"/>
              <a:pathLst>
                <a:path w="5633085" h="841375">
                  <a:moveTo>
                    <a:pt x="5632704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40004"/>
                  </a:lnTo>
                  <a:lnTo>
                    <a:pt x="97535" y="40004"/>
                  </a:lnTo>
                  <a:lnTo>
                    <a:pt x="88033" y="40876"/>
                  </a:lnTo>
                  <a:lnTo>
                    <a:pt x="53398" y="69346"/>
                  </a:lnTo>
                  <a:lnTo>
                    <a:pt x="49910" y="87629"/>
                  </a:lnTo>
                  <a:lnTo>
                    <a:pt x="49910" y="735329"/>
                  </a:lnTo>
                  <a:lnTo>
                    <a:pt x="71195" y="775108"/>
                  </a:lnTo>
                  <a:lnTo>
                    <a:pt x="97535" y="782954"/>
                  </a:lnTo>
                  <a:lnTo>
                    <a:pt x="5632704" y="782954"/>
                  </a:lnTo>
                  <a:lnTo>
                    <a:pt x="5632704" y="841248"/>
                  </a:lnTo>
                  <a:close/>
                </a:path>
                <a:path w="5633085" h="841375">
                  <a:moveTo>
                    <a:pt x="5632704" y="782954"/>
                  </a:moveTo>
                  <a:lnTo>
                    <a:pt x="5536310" y="782954"/>
                  </a:lnTo>
                  <a:lnTo>
                    <a:pt x="5545812" y="782082"/>
                  </a:lnTo>
                  <a:lnTo>
                    <a:pt x="5554592" y="779467"/>
                  </a:lnTo>
                  <a:lnTo>
                    <a:pt x="5583063" y="744831"/>
                  </a:lnTo>
                  <a:lnTo>
                    <a:pt x="5583935" y="735329"/>
                  </a:lnTo>
                  <a:lnTo>
                    <a:pt x="5583935" y="87629"/>
                  </a:lnTo>
                  <a:lnTo>
                    <a:pt x="5562650" y="47850"/>
                  </a:lnTo>
                  <a:lnTo>
                    <a:pt x="5536310" y="40004"/>
                  </a:lnTo>
                  <a:lnTo>
                    <a:pt x="5632704" y="40004"/>
                  </a:lnTo>
                  <a:lnTo>
                    <a:pt x="5632704" y="7829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00062" y="5410199"/>
              <a:ext cx="5529580" cy="762000"/>
            </a:xfrm>
            <a:custGeom>
              <a:avLst/>
              <a:gdLst/>
              <a:ahLst/>
              <a:cxnLst/>
              <a:rect l="l" t="t" r="r" b="b"/>
              <a:pathLst>
                <a:path w="5529580" h="762000">
                  <a:moveTo>
                    <a:pt x="5475864" y="761999"/>
                  </a:moveTo>
                  <a:lnTo>
                    <a:pt x="28916" y="761999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90" y="11380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708602"/>
                  </a:lnTo>
                  <a:lnTo>
                    <a:pt x="5509869" y="747914"/>
                  </a:lnTo>
                  <a:lnTo>
                    <a:pt x="5479580" y="761633"/>
                  </a:lnTo>
                  <a:lnTo>
                    <a:pt x="5475864" y="7619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76249" y="5410199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09" h="762000">
                  <a:moveTo>
                    <a:pt x="54519" y="761999"/>
                  </a:moveTo>
                  <a:lnTo>
                    <a:pt x="49571" y="761999"/>
                  </a:lnTo>
                  <a:lnTo>
                    <a:pt x="42281" y="760548"/>
                  </a:lnTo>
                  <a:lnTo>
                    <a:pt x="7250" y="733721"/>
                  </a:lnTo>
                  <a:lnTo>
                    <a:pt x="0" y="712427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689599"/>
              <a:ext cx="190500" cy="193675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939800" y="5664115"/>
            <a:ext cx="495236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N'utilisez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plus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Date</a:t>
            </a:r>
            <a:r>
              <a:rPr dirty="0" sz="1350" spc="-46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ou</a:t>
            </a:r>
            <a:r>
              <a:rPr dirty="0" sz="135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Calendar</a:t>
            </a:r>
            <a:r>
              <a:rPr dirty="0" sz="1350" spc="-459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dans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nouveau</a:t>
            </a:r>
            <a:r>
              <a:rPr dirty="0" sz="135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code.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132576" y="5379720"/>
            <a:ext cx="5623560" cy="841375"/>
            <a:chOff x="6132576" y="5379720"/>
            <a:chExt cx="5623560" cy="841375"/>
          </a:xfrm>
        </p:grpSpPr>
        <p:sp>
          <p:nvSpPr>
            <p:cNvPr id="39" name="object 39" descr=""/>
            <p:cNvSpPr/>
            <p:nvPr/>
          </p:nvSpPr>
          <p:spPr>
            <a:xfrm>
              <a:off x="6132576" y="5379720"/>
              <a:ext cx="5623560" cy="841375"/>
            </a:xfrm>
            <a:custGeom>
              <a:avLst/>
              <a:gdLst/>
              <a:ahLst/>
              <a:cxnLst/>
              <a:rect l="l" t="t" r="r" b="b"/>
              <a:pathLst>
                <a:path w="5623559" h="841375">
                  <a:moveTo>
                    <a:pt x="5623560" y="841248"/>
                  </a:moveTo>
                  <a:lnTo>
                    <a:pt x="0" y="841248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40004"/>
                  </a:lnTo>
                  <a:lnTo>
                    <a:pt x="96773" y="40004"/>
                  </a:lnTo>
                  <a:lnTo>
                    <a:pt x="87271" y="40876"/>
                  </a:lnTo>
                  <a:lnTo>
                    <a:pt x="52635" y="69346"/>
                  </a:lnTo>
                  <a:lnTo>
                    <a:pt x="49148" y="87629"/>
                  </a:lnTo>
                  <a:lnTo>
                    <a:pt x="49148" y="735329"/>
                  </a:lnTo>
                  <a:lnTo>
                    <a:pt x="70433" y="775108"/>
                  </a:lnTo>
                  <a:lnTo>
                    <a:pt x="96773" y="782954"/>
                  </a:lnTo>
                  <a:lnTo>
                    <a:pt x="5623560" y="782954"/>
                  </a:lnTo>
                  <a:lnTo>
                    <a:pt x="5623560" y="841248"/>
                  </a:lnTo>
                  <a:close/>
                </a:path>
                <a:path w="5623559" h="841375">
                  <a:moveTo>
                    <a:pt x="5623560" y="782954"/>
                  </a:moveTo>
                  <a:lnTo>
                    <a:pt x="5526023" y="782954"/>
                  </a:lnTo>
                  <a:lnTo>
                    <a:pt x="5535525" y="782082"/>
                  </a:lnTo>
                  <a:lnTo>
                    <a:pt x="5544305" y="779467"/>
                  </a:lnTo>
                  <a:lnTo>
                    <a:pt x="5572776" y="744831"/>
                  </a:lnTo>
                  <a:lnTo>
                    <a:pt x="5573648" y="735329"/>
                  </a:lnTo>
                  <a:lnTo>
                    <a:pt x="5573648" y="87629"/>
                  </a:lnTo>
                  <a:lnTo>
                    <a:pt x="5552363" y="47850"/>
                  </a:lnTo>
                  <a:lnTo>
                    <a:pt x="5526023" y="40004"/>
                  </a:lnTo>
                  <a:lnTo>
                    <a:pt x="5623560" y="40004"/>
                  </a:lnTo>
                  <a:lnTo>
                    <a:pt x="5623560" y="7829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196011" y="5410199"/>
              <a:ext cx="5520055" cy="762000"/>
            </a:xfrm>
            <a:custGeom>
              <a:avLst/>
              <a:gdLst/>
              <a:ahLst/>
              <a:cxnLst/>
              <a:rect l="l" t="t" r="r" b="b"/>
              <a:pathLst>
                <a:path w="5520055" h="762000">
                  <a:moveTo>
                    <a:pt x="5466338" y="761999"/>
                  </a:moveTo>
                  <a:lnTo>
                    <a:pt x="28916" y="761999"/>
                  </a:lnTo>
                  <a:lnTo>
                    <a:pt x="845" y="719718"/>
                  </a:lnTo>
                  <a:lnTo>
                    <a:pt x="0" y="712427"/>
                  </a:lnTo>
                  <a:lnTo>
                    <a:pt x="0" y="704849"/>
                  </a:lnTo>
                  <a:lnTo>
                    <a:pt x="0" y="49570"/>
                  </a:lnTo>
                  <a:lnTo>
                    <a:pt x="12889" y="11380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708602"/>
                  </a:lnTo>
                  <a:lnTo>
                    <a:pt x="5500342" y="747914"/>
                  </a:lnTo>
                  <a:lnTo>
                    <a:pt x="5470054" y="761633"/>
                  </a:lnTo>
                  <a:lnTo>
                    <a:pt x="5466338" y="7619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172199" y="5410199"/>
              <a:ext cx="54610" cy="762000"/>
            </a:xfrm>
            <a:custGeom>
              <a:avLst/>
              <a:gdLst/>
              <a:ahLst/>
              <a:cxnLst/>
              <a:rect l="l" t="t" r="r" b="b"/>
              <a:pathLst>
                <a:path w="54610" h="762000">
                  <a:moveTo>
                    <a:pt x="54519" y="761999"/>
                  </a:moveTo>
                  <a:lnTo>
                    <a:pt x="49570" y="761999"/>
                  </a:lnTo>
                  <a:lnTo>
                    <a:pt x="42280" y="760548"/>
                  </a:lnTo>
                  <a:lnTo>
                    <a:pt x="7249" y="733721"/>
                  </a:lnTo>
                  <a:lnTo>
                    <a:pt x="0" y="71242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04849"/>
                  </a:lnTo>
                  <a:lnTo>
                    <a:pt x="50414" y="745260"/>
                  </a:lnTo>
                  <a:lnTo>
                    <a:pt x="52274" y="756419"/>
                  </a:lnTo>
                  <a:lnTo>
                    <a:pt x="54519" y="7619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4762" y="5702299"/>
              <a:ext cx="196850" cy="168275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6630987" y="5479414"/>
            <a:ext cx="450786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7E1C1C"/>
                </a:solidFill>
                <a:latin typeface="Arial"/>
                <a:cs typeface="Arial"/>
              </a:rPr>
              <a:t>Attention</a:t>
            </a:r>
            <a:r>
              <a:rPr dirty="0" sz="1300" spc="-20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00" spc="-1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Certaines</a:t>
            </a:r>
            <a:r>
              <a:rPr dirty="0" sz="1350" spc="-3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vieilles</a:t>
            </a:r>
            <a:r>
              <a:rPr dirty="0" sz="1350" spc="-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librairies</a:t>
            </a:r>
            <a:r>
              <a:rPr dirty="0" sz="1350" spc="-3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JDBC/Swing</a:t>
            </a:r>
            <a:r>
              <a:rPr dirty="0" sz="1350" spc="-3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utilisent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encore</a:t>
            </a:r>
            <a:r>
              <a:rPr dirty="0" sz="1350" spc="-95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7E1C1C"/>
                </a:solidFill>
                <a:latin typeface="Courier New"/>
                <a:cs typeface="Courier New"/>
              </a:rPr>
              <a:t>Date</a:t>
            </a:r>
            <a:r>
              <a:rPr dirty="0" sz="1350" spc="-10">
                <a:solidFill>
                  <a:srgbClr val="7E1C1C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28.</a:t>
            </a:r>
            <a:r>
              <a:rPr dirty="0" spc="-60"/>
              <a:t> </a:t>
            </a:r>
            <a:r>
              <a:rPr dirty="0" spc="-80"/>
              <a:t>Fil</a:t>
            </a:r>
            <a:r>
              <a:rPr dirty="0" spc="-60"/>
              <a:t> </a:t>
            </a:r>
            <a:r>
              <a:rPr dirty="0" spc="-114"/>
              <a:t>rouge</a:t>
            </a:r>
            <a:r>
              <a:rPr dirty="0" spc="-55"/>
              <a:t> </a:t>
            </a:r>
            <a:r>
              <a:rPr dirty="0" spc="-650"/>
              <a:t>—</a:t>
            </a:r>
            <a:r>
              <a:rPr dirty="0" spc="-60"/>
              <a:t> </a:t>
            </a:r>
            <a:r>
              <a:rPr dirty="0" spc="-110"/>
              <a:t>EtudiantRecord</a:t>
            </a:r>
            <a:r>
              <a:rPr dirty="0" spc="-55"/>
              <a:t> </a:t>
            </a:r>
            <a:r>
              <a:rPr dirty="0" spc="-95"/>
              <a:t>avec</a:t>
            </a:r>
            <a:r>
              <a:rPr dirty="0" spc="-60"/>
              <a:t> validation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998464"/>
            <a:ext cx="5633085" cy="494665"/>
            <a:chOff x="435863" y="5998464"/>
            <a:chExt cx="5633085" cy="494665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998464"/>
              <a:ext cx="5633085" cy="459740"/>
            </a:xfrm>
            <a:custGeom>
              <a:avLst/>
              <a:gdLst/>
              <a:ahLst/>
              <a:cxnLst/>
              <a:rect l="l" t="t" r="r" b="b"/>
              <a:pathLst>
                <a:path w="5633085" h="459739">
                  <a:moveTo>
                    <a:pt x="49910" y="459485"/>
                  </a:moveTo>
                  <a:lnTo>
                    <a:pt x="0" y="459485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40385"/>
                  </a:lnTo>
                  <a:lnTo>
                    <a:pt x="97535" y="40385"/>
                  </a:lnTo>
                  <a:lnTo>
                    <a:pt x="88033" y="41257"/>
                  </a:lnTo>
                  <a:lnTo>
                    <a:pt x="53398" y="69727"/>
                  </a:lnTo>
                  <a:lnTo>
                    <a:pt x="49910" y="88010"/>
                  </a:lnTo>
                  <a:lnTo>
                    <a:pt x="49910" y="459485"/>
                  </a:lnTo>
                  <a:close/>
                </a:path>
                <a:path w="5633085" h="459739">
                  <a:moveTo>
                    <a:pt x="5632704" y="459485"/>
                  </a:moveTo>
                  <a:lnTo>
                    <a:pt x="5583935" y="459485"/>
                  </a:lnTo>
                  <a:lnTo>
                    <a:pt x="5583935" y="88010"/>
                  </a:lnTo>
                  <a:lnTo>
                    <a:pt x="5583063" y="78508"/>
                  </a:lnTo>
                  <a:lnTo>
                    <a:pt x="5554592" y="43872"/>
                  </a:lnTo>
                  <a:lnTo>
                    <a:pt x="5536310" y="40385"/>
                  </a:lnTo>
                  <a:lnTo>
                    <a:pt x="5632704" y="40385"/>
                  </a:lnTo>
                  <a:lnTo>
                    <a:pt x="5632704" y="4594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6029324"/>
              <a:ext cx="5529580" cy="428625"/>
            </a:xfrm>
            <a:custGeom>
              <a:avLst/>
              <a:gdLst/>
              <a:ahLst/>
              <a:cxnLst/>
              <a:rect l="l" t="t" r="r" b="b"/>
              <a:pathLst>
                <a:path w="5529580" h="428625">
                  <a:moveTo>
                    <a:pt x="5529262" y="428625"/>
                  </a:moveTo>
                  <a:lnTo>
                    <a:pt x="0" y="428625"/>
                  </a:lnTo>
                  <a:lnTo>
                    <a:pt x="0" y="49571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2"/>
                  </a:lnTo>
                  <a:lnTo>
                    <a:pt x="5529262" y="42862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6029324"/>
              <a:ext cx="54610" cy="428625"/>
            </a:xfrm>
            <a:custGeom>
              <a:avLst/>
              <a:gdLst/>
              <a:ahLst/>
              <a:cxnLst/>
              <a:rect l="l" t="t" r="r" b="b"/>
              <a:pathLst>
                <a:path w="54609" h="428625">
                  <a:moveTo>
                    <a:pt x="47624" y="428624"/>
                  </a:moveTo>
                  <a:lnTo>
                    <a:pt x="0" y="428624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286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299199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6149890"/>
            <a:ext cx="463296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7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Toujours</a:t>
            </a:r>
            <a:r>
              <a:rPr dirty="0" sz="1350" spc="-8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valider</a:t>
            </a:r>
            <a:r>
              <a:rPr dirty="0" sz="1350" spc="-6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35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données</a:t>
            </a:r>
            <a:r>
              <a:rPr dirty="0" sz="135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en</a:t>
            </a:r>
            <a:r>
              <a:rPr dirty="0" sz="1350" spc="-6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entrée</a:t>
            </a:r>
            <a:r>
              <a:rPr dirty="0" sz="135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35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éviter</a:t>
            </a:r>
            <a:r>
              <a:rPr dirty="0" sz="135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les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998464"/>
            <a:ext cx="5623560" cy="494665"/>
            <a:chOff x="6132576" y="5998464"/>
            <a:chExt cx="5623560" cy="494665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998464"/>
              <a:ext cx="5623560" cy="459740"/>
            </a:xfrm>
            <a:custGeom>
              <a:avLst/>
              <a:gdLst/>
              <a:ahLst/>
              <a:cxnLst/>
              <a:rect l="l" t="t" r="r" b="b"/>
              <a:pathLst>
                <a:path w="5623559" h="459739">
                  <a:moveTo>
                    <a:pt x="49148" y="459485"/>
                  </a:moveTo>
                  <a:lnTo>
                    <a:pt x="0" y="459485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40385"/>
                  </a:lnTo>
                  <a:lnTo>
                    <a:pt x="96773" y="40385"/>
                  </a:lnTo>
                  <a:lnTo>
                    <a:pt x="87271" y="41257"/>
                  </a:lnTo>
                  <a:lnTo>
                    <a:pt x="52635" y="69727"/>
                  </a:lnTo>
                  <a:lnTo>
                    <a:pt x="49148" y="88010"/>
                  </a:lnTo>
                  <a:lnTo>
                    <a:pt x="49148" y="459485"/>
                  </a:lnTo>
                  <a:close/>
                </a:path>
                <a:path w="5623559" h="459739">
                  <a:moveTo>
                    <a:pt x="5623560" y="459485"/>
                  </a:moveTo>
                  <a:lnTo>
                    <a:pt x="5573648" y="459485"/>
                  </a:lnTo>
                  <a:lnTo>
                    <a:pt x="5573648" y="88010"/>
                  </a:lnTo>
                  <a:lnTo>
                    <a:pt x="5572776" y="78508"/>
                  </a:lnTo>
                  <a:lnTo>
                    <a:pt x="5544305" y="43872"/>
                  </a:lnTo>
                  <a:lnTo>
                    <a:pt x="5526023" y="40385"/>
                  </a:lnTo>
                  <a:lnTo>
                    <a:pt x="5623560" y="40385"/>
                  </a:lnTo>
                  <a:lnTo>
                    <a:pt x="5623560" y="4594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6029324"/>
              <a:ext cx="5520055" cy="428625"/>
            </a:xfrm>
            <a:custGeom>
              <a:avLst/>
              <a:gdLst/>
              <a:ahLst/>
              <a:cxnLst/>
              <a:rect l="l" t="t" r="r" b="b"/>
              <a:pathLst>
                <a:path w="5520055" h="428625">
                  <a:moveTo>
                    <a:pt x="5519737" y="428625"/>
                  </a:moveTo>
                  <a:lnTo>
                    <a:pt x="0" y="428625"/>
                  </a:lnTo>
                  <a:lnTo>
                    <a:pt x="0" y="49571"/>
                  </a:lnTo>
                  <a:lnTo>
                    <a:pt x="12889" y="11378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2"/>
                  </a:lnTo>
                  <a:lnTo>
                    <a:pt x="5519737" y="42862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6029324"/>
              <a:ext cx="54610" cy="428625"/>
            </a:xfrm>
            <a:custGeom>
              <a:avLst/>
              <a:gdLst/>
              <a:ahLst/>
              <a:cxnLst/>
              <a:rect l="l" t="t" r="r" b="b"/>
              <a:pathLst>
                <a:path w="54610" h="428625">
                  <a:moveTo>
                    <a:pt x="47624" y="428624"/>
                  </a:moveTo>
                  <a:lnTo>
                    <a:pt x="0" y="42862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286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6299199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6149974"/>
            <a:ext cx="49072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3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3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Arial"/>
                <a:cs typeface="Arial"/>
              </a:rPr>
              <a:t>Le</a:t>
            </a:r>
            <a:r>
              <a:rPr dirty="0" sz="1350" spc="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constructeur</a:t>
            </a:r>
            <a:r>
              <a:rPr dirty="0" sz="1350" spc="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compact</a:t>
            </a:r>
            <a:r>
              <a:rPr dirty="0" sz="1350" spc="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assigne</a:t>
            </a:r>
            <a:r>
              <a:rPr dirty="0" sz="1350" spc="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automatiquement</a:t>
            </a:r>
            <a:r>
              <a:rPr dirty="0" sz="1350" spc="2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D3A8A"/>
                </a:solidFill>
                <a:latin typeface="Arial"/>
                <a:cs typeface="Arial"/>
              </a:rPr>
              <a:t>les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31136"/>
            <a:ext cx="12192000" cy="4627245"/>
            <a:chOff x="0" y="2231136"/>
            <a:chExt cx="12192000" cy="4627245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400050"/>
            </a:xfrm>
            <a:custGeom>
              <a:avLst/>
              <a:gdLst/>
              <a:ahLst/>
              <a:cxnLst/>
              <a:rect l="l" t="t" r="r" b="b"/>
              <a:pathLst>
                <a:path w="12192000" h="400050">
                  <a:moveTo>
                    <a:pt x="12191999" y="400049"/>
                  </a:moveTo>
                  <a:lnTo>
                    <a:pt x="0" y="4000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0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20624" y="2231136"/>
              <a:ext cx="11351260" cy="3728085"/>
            </a:xfrm>
            <a:custGeom>
              <a:avLst/>
              <a:gdLst/>
              <a:ahLst/>
              <a:cxnLst/>
              <a:rect l="l" t="t" r="r" b="b"/>
              <a:pathLst>
                <a:path w="11351260" h="3728085">
                  <a:moveTo>
                    <a:pt x="11350752" y="3727704"/>
                  </a:moveTo>
                  <a:lnTo>
                    <a:pt x="0" y="3727704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579113"/>
                  </a:lnTo>
                  <a:lnTo>
                    <a:pt x="76377" y="3616162"/>
                  </a:lnTo>
                  <a:lnTo>
                    <a:pt x="106310" y="3640712"/>
                  </a:lnTo>
                  <a:lnTo>
                    <a:pt x="131825" y="3645788"/>
                  </a:lnTo>
                  <a:lnTo>
                    <a:pt x="11350752" y="3645788"/>
                  </a:lnTo>
                  <a:lnTo>
                    <a:pt x="11350752" y="3727704"/>
                  </a:lnTo>
                  <a:close/>
                </a:path>
                <a:path w="11351260" h="3728085">
                  <a:moveTo>
                    <a:pt x="11350752" y="3645788"/>
                  </a:moveTo>
                  <a:lnTo>
                    <a:pt x="11218925" y="3645788"/>
                  </a:lnTo>
                  <a:lnTo>
                    <a:pt x="11225493" y="3645471"/>
                  </a:lnTo>
                  <a:lnTo>
                    <a:pt x="11231935" y="3644519"/>
                  </a:lnTo>
                  <a:lnTo>
                    <a:pt x="11266071" y="3626259"/>
                  </a:lnTo>
                  <a:lnTo>
                    <a:pt x="11284331" y="3592123"/>
                  </a:lnTo>
                  <a:lnTo>
                    <a:pt x="11285600" y="35791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6457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71712"/>
              <a:ext cx="11229975" cy="3609975"/>
            </a:xfrm>
            <a:custGeom>
              <a:avLst/>
              <a:gdLst/>
              <a:ahLst/>
              <a:cxnLst/>
              <a:rect l="l" t="t" r="r" b="b"/>
              <a:pathLst>
                <a:path w="11229975" h="3609975">
                  <a:moveTo>
                    <a:pt x="11163227" y="3609974"/>
                  </a:moveTo>
                  <a:lnTo>
                    <a:pt x="66746" y="3609974"/>
                  </a:lnTo>
                  <a:lnTo>
                    <a:pt x="62101" y="3609517"/>
                  </a:lnTo>
                  <a:lnTo>
                    <a:pt x="24240" y="3592367"/>
                  </a:lnTo>
                  <a:lnTo>
                    <a:pt x="2287" y="3557073"/>
                  </a:lnTo>
                  <a:lnTo>
                    <a:pt x="0" y="3543227"/>
                  </a:lnTo>
                  <a:lnTo>
                    <a:pt x="0" y="3538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543227"/>
                  </a:lnTo>
                  <a:lnTo>
                    <a:pt x="11215327" y="3582125"/>
                  </a:lnTo>
                  <a:lnTo>
                    <a:pt x="11181539" y="3606331"/>
                  </a:lnTo>
                  <a:lnTo>
                    <a:pt x="11167872" y="3609517"/>
                  </a:lnTo>
                  <a:lnTo>
                    <a:pt x="11163227" y="36099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1012" y="2271712"/>
              <a:ext cx="11229975" cy="3609975"/>
            </a:xfrm>
            <a:custGeom>
              <a:avLst/>
              <a:gdLst/>
              <a:ahLst/>
              <a:cxnLst/>
              <a:rect l="l" t="t" r="r" b="b"/>
              <a:pathLst>
                <a:path w="11229975" h="3609975">
                  <a:moveTo>
                    <a:pt x="0" y="3538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3538537"/>
                  </a:lnTo>
                  <a:lnTo>
                    <a:pt x="11229972" y="3543227"/>
                  </a:lnTo>
                  <a:lnTo>
                    <a:pt x="11229514" y="3547873"/>
                  </a:lnTo>
                  <a:lnTo>
                    <a:pt x="11228599" y="3552473"/>
                  </a:lnTo>
                  <a:lnTo>
                    <a:pt x="11227684" y="3557073"/>
                  </a:lnTo>
                  <a:lnTo>
                    <a:pt x="11205732" y="3592367"/>
                  </a:lnTo>
                  <a:lnTo>
                    <a:pt x="11198222" y="3597934"/>
                  </a:lnTo>
                  <a:lnTo>
                    <a:pt x="11194322" y="3600540"/>
                  </a:lnTo>
                  <a:lnTo>
                    <a:pt x="11172472" y="3608601"/>
                  </a:lnTo>
                  <a:lnTo>
                    <a:pt x="11167872" y="3609517"/>
                  </a:lnTo>
                  <a:lnTo>
                    <a:pt x="11163227" y="3609974"/>
                  </a:lnTo>
                  <a:lnTo>
                    <a:pt x="11158536" y="3609974"/>
                  </a:lnTo>
                  <a:lnTo>
                    <a:pt x="71437" y="3609974"/>
                  </a:lnTo>
                  <a:lnTo>
                    <a:pt x="66746" y="3609974"/>
                  </a:lnTo>
                  <a:lnTo>
                    <a:pt x="62101" y="3609517"/>
                  </a:lnTo>
                  <a:lnTo>
                    <a:pt x="57500" y="3608601"/>
                  </a:lnTo>
                  <a:lnTo>
                    <a:pt x="52900" y="3607686"/>
                  </a:lnTo>
                  <a:lnTo>
                    <a:pt x="20923" y="3589050"/>
                  </a:lnTo>
                  <a:lnTo>
                    <a:pt x="17606" y="3585734"/>
                  </a:lnTo>
                  <a:lnTo>
                    <a:pt x="1372" y="3552473"/>
                  </a:lnTo>
                  <a:lnTo>
                    <a:pt x="457" y="3547873"/>
                  </a:lnTo>
                  <a:lnTo>
                    <a:pt x="0" y="3543227"/>
                  </a:lnTo>
                  <a:lnTo>
                    <a:pt x="0" y="35385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63550" y="806450"/>
            <a:ext cx="11214735" cy="490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0">
                <a:solidFill>
                  <a:srgbClr val="64738B"/>
                </a:solidFill>
                <a:latin typeface="Arial"/>
                <a:cs typeface="Arial"/>
              </a:rPr>
              <a:t>Garantir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l'intégrité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dirty="0" sz="1350" spc="-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dès</a:t>
            </a:r>
            <a:r>
              <a:rPr dirty="0" sz="1350" spc="-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construction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l'objet.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2500"/>
              </a:lnSpc>
              <a:spcBef>
                <a:spcPts val="1165"/>
              </a:spcBef>
            </a:pP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34054"/>
                </a:solidFill>
                <a:latin typeface="Arial"/>
                <a:cs typeface="Arial"/>
              </a:rPr>
              <a:t>constructeur</a:t>
            </a:r>
            <a:r>
              <a:rPr dirty="0" sz="1550" spc="-30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334054"/>
                </a:solidFill>
                <a:latin typeface="Arial"/>
                <a:cs typeface="Arial"/>
              </a:rPr>
              <a:t>compact</a:t>
            </a:r>
            <a:r>
              <a:rPr dirty="0" sz="1550" spc="-30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record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permet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valider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données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avant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même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que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l'objet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ne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soit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créé.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34054"/>
                </a:solidFill>
                <a:latin typeface="Arial"/>
                <a:cs typeface="Arial"/>
              </a:rPr>
              <a:t>C'est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principe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du</a:t>
            </a:r>
            <a:r>
              <a:rPr dirty="0" sz="165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 i="1">
                <a:solidFill>
                  <a:srgbClr val="334054"/>
                </a:solidFill>
                <a:latin typeface="Arial"/>
                <a:cs typeface="Arial"/>
              </a:rPr>
              <a:t>Fail</a:t>
            </a:r>
            <a:r>
              <a:rPr dirty="0" sz="1700" spc="-65" i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5" i="1">
                <a:solidFill>
                  <a:srgbClr val="334054"/>
                </a:solidFill>
                <a:latin typeface="Arial"/>
                <a:cs typeface="Arial"/>
              </a:rPr>
              <a:t>Fast</a:t>
            </a:r>
            <a:r>
              <a:rPr dirty="0" sz="1700" spc="-75" i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: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empêcher</a:t>
            </a:r>
            <a:r>
              <a:rPr dirty="0" sz="165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l'existence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d'étudiants</a:t>
            </a:r>
            <a:r>
              <a:rPr dirty="0" sz="165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invalides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dans</a:t>
            </a:r>
            <a:r>
              <a:rPr dirty="0" sz="165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650" spc="-5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système.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 marL="278765" marR="3497579" indent="-114300">
              <a:lnSpc>
                <a:spcPct val="119600"/>
              </a:lnSpc>
              <a:spcBef>
                <a:spcPts val="1425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10" b="1">
                <a:solidFill>
                  <a:srgbClr val="D63A49"/>
                </a:solidFill>
                <a:latin typeface="Times New Roman"/>
                <a:cs typeface="Times New Roman"/>
              </a:rPr>
              <a:t>record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00">
                <a:solidFill>
                  <a:srgbClr val="005CC4"/>
                </a:solidFill>
                <a:latin typeface="Times New Roman"/>
                <a:cs typeface="Times New Roman"/>
              </a:rPr>
              <a:t>Etudiant</a:t>
            </a:r>
            <a:r>
              <a:rPr dirty="0" sz="1450" spc="30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300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60">
                <a:solidFill>
                  <a:srgbClr val="334054"/>
                </a:solidFill>
                <a:latin typeface="Times New Roman"/>
                <a:cs typeface="Times New Roman"/>
              </a:rPr>
              <a:t>nom,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305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email,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20">
                <a:solidFill>
                  <a:srgbClr val="334054"/>
                </a:solidFill>
                <a:latin typeface="Times New Roman"/>
                <a:cs typeface="Times New Roman"/>
              </a:rPr>
              <a:t>neLe)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80">
                <a:solidFill>
                  <a:srgbClr val="005CC4"/>
                </a:solidFill>
                <a:latin typeface="Times New Roman"/>
                <a:cs typeface="Times New Roman"/>
              </a:rPr>
              <a:t>Etudiant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5" i="1">
                <a:solidFill>
                  <a:srgbClr val="6A737D"/>
                </a:solidFill>
                <a:latin typeface="Times New Roman"/>
                <a:cs typeface="Times New Roman"/>
              </a:rPr>
              <a:t>Constructeur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45" i="1">
                <a:solidFill>
                  <a:srgbClr val="6A737D"/>
                </a:solidFill>
                <a:latin typeface="Times New Roman"/>
                <a:cs typeface="Times New Roman"/>
              </a:rPr>
              <a:t>compact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0" i="1">
                <a:solidFill>
                  <a:srgbClr val="6A737D"/>
                </a:solidFill>
                <a:latin typeface="Times New Roman"/>
                <a:cs typeface="Times New Roman"/>
              </a:rPr>
              <a:t>(sans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parenthèses) </a:t>
            </a:r>
            <a:r>
              <a:rPr dirty="0" sz="1450" spc="250">
                <a:solidFill>
                  <a:srgbClr val="005CC4"/>
                </a:solidFill>
                <a:latin typeface="Times New Roman"/>
                <a:cs typeface="Times New Roman"/>
              </a:rPr>
              <a:t>Objects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.</a:t>
            </a:r>
            <a:r>
              <a:rPr dirty="0" sz="1450" spc="250">
                <a:solidFill>
                  <a:srgbClr val="6F41C1"/>
                </a:solidFill>
                <a:latin typeface="Times New Roman"/>
                <a:cs typeface="Times New Roman"/>
              </a:rPr>
              <a:t>requireNonNull</a:t>
            </a:r>
            <a:r>
              <a:rPr dirty="0" sz="1450" spc="250">
                <a:solidFill>
                  <a:srgbClr val="334054"/>
                </a:solidFill>
                <a:latin typeface="Times New Roman"/>
                <a:cs typeface="Times New Roman"/>
              </a:rPr>
              <a:t>(nom,</a:t>
            </a:r>
            <a:r>
              <a:rPr dirty="0" sz="1450" spc="49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650" spc="90">
                <a:solidFill>
                  <a:srgbClr val="21863A"/>
                </a:solidFill>
                <a:latin typeface="Times New Roman"/>
                <a:cs typeface="Times New Roman"/>
              </a:rPr>
              <a:t>"Le</a:t>
            </a:r>
            <a:r>
              <a:rPr dirty="0" sz="1650" spc="445">
                <a:solidFill>
                  <a:srgbClr val="21863A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21863A"/>
                </a:solidFill>
                <a:latin typeface="Times New Roman"/>
                <a:cs typeface="Times New Roman"/>
              </a:rPr>
              <a:t>nom</a:t>
            </a:r>
            <a:r>
              <a:rPr dirty="0" sz="1650" spc="445">
                <a:solidFill>
                  <a:srgbClr val="21863A"/>
                </a:solidFill>
                <a:latin typeface="Times New Roman"/>
                <a:cs typeface="Times New Roman"/>
              </a:rPr>
              <a:t> </a:t>
            </a:r>
            <a:r>
              <a:rPr dirty="0" sz="1650" spc="285">
                <a:solidFill>
                  <a:srgbClr val="21863A"/>
                </a:solidFill>
                <a:latin typeface="Times New Roman"/>
                <a:cs typeface="Times New Roman"/>
              </a:rPr>
              <a:t>est</a:t>
            </a:r>
            <a:r>
              <a:rPr dirty="0" sz="1650" spc="445">
                <a:solidFill>
                  <a:srgbClr val="21863A"/>
                </a:solidFill>
                <a:latin typeface="Times New Roman"/>
                <a:cs typeface="Times New Roman"/>
              </a:rPr>
              <a:t> </a:t>
            </a:r>
            <a:r>
              <a:rPr dirty="0" sz="1650" spc="265">
                <a:solidFill>
                  <a:srgbClr val="21863A"/>
                </a:solidFill>
                <a:latin typeface="Times New Roman"/>
                <a:cs typeface="Times New Roman"/>
              </a:rPr>
              <a:t>requis"</a:t>
            </a:r>
            <a:r>
              <a:rPr dirty="0" sz="1450" spc="265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</a:pPr>
            <a:r>
              <a:rPr dirty="0" sz="1450" spc="455" b="1">
                <a:solidFill>
                  <a:srgbClr val="D63A49"/>
                </a:solidFill>
                <a:latin typeface="Times New Roman"/>
                <a:cs typeface="Times New Roman"/>
              </a:rPr>
              <a:t>if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(!email.contains(</a:t>
            </a:r>
            <a:r>
              <a:rPr dirty="0" sz="1650" spc="260">
                <a:solidFill>
                  <a:srgbClr val="21863A"/>
                </a:solidFill>
                <a:latin typeface="Times New Roman"/>
                <a:cs typeface="Times New Roman"/>
              </a:rPr>
              <a:t>"@"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))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270"/>
              </a:spcBef>
            </a:pPr>
            <a:r>
              <a:rPr dirty="0" sz="1450" spc="150" b="1">
                <a:solidFill>
                  <a:srgbClr val="D63A49"/>
                </a:solidFill>
                <a:latin typeface="Times New Roman"/>
                <a:cs typeface="Times New Roman"/>
              </a:rPr>
              <a:t>throw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29">
                <a:solidFill>
                  <a:srgbClr val="005CC4"/>
                </a:solidFill>
                <a:latin typeface="Times New Roman"/>
                <a:cs typeface="Times New Roman"/>
              </a:rPr>
              <a:t>IllegalArgumentException</a:t>
            </a:r>
            <a:r>
              <a:rPr dirty="0" sz="1450" spc="229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650" spc="229">
                <a:solidFill>
                  <a:srgbClr val="21863A"/>
                </a:solidFill>
                <a:latin typeface="Times New Roman"/>
                <a:cs typeface="Times New Roman"/>
              </a:rPr>
              <a:t>"Email</a:t>
            </a:r>
            <a:r>
              <a:rPr dirty="0" sz="1650" spc="5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229">
                <a:solidFill>
                  <a:srgbClr val="21863A"/>
                </a:solidFill>
                <a:latin typeface="Times New Roman"/>
                <a:cs typeface="Times New Roman"/>
              </a:rPr>
              <a:t>invalide</a:t>
            </a:r>
            <a:r>
              <a:rPr dirty="0" sz="1650" spc="4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440">
                <a:solidFill>
                  <a:srgbClr val="21863A"/>
                </a:solidFill>
                <a:latin typeface="Times New Roman"/>
                <a:cs typeface="Times New Roman"/>
              </a:rPr>
              <a:t>:</a:t>
            </a:r>
            <a:r>
              <a:rPr dirty="0" sz="1650" spc="5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220">
                <a:solidFill>
                  <a:srgbClr val="21863A"/>
                </a:solidFill>
                <a:latin typeface="Times New Roman"/>
                <a:cs typeface="Times New Roman"/>
              </a:rPr>
              <a:t>"</a:t>
            </a:r>
            <a:r>
              <a:rPr dirty="0" sz="1650" spc="5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95">
                <a:solidFill>
                  <a:srgbClr val="334054"/>
                </a:solidFill>
                <a:latin typeface="Times New Roman"/>
                <a:cs typeface="Times New Roman"/>
              </a:rPr>
              <a:t>email);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40" i="1">
                <a:solidFill>
                  <a:srgbClr val="6A737D"/>
                </a:solidFill>
                <a:latin typeface="Times New Roman"/>
                <a:cs typeface="Times New Roman"/>
              </a:rPr>
              <a:t>Validation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25" i="1">
                <a:solidFill>
                  <a:srgbClr val="6A737D"/>
                </a:solidFill>
                <a:latin typeface="Times New Roman"/>
                <a:cs typeface="Times New Roman"/>
              </a:rPr>
              <a:t>date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90" i="1">
                <a:solidFill>
                  <a:srgbClr val="6A737D"/>
                </a:solidFill>
                <a:latin typeface="Times New Roman"/>
                <a:cs typeface="Times New Roman"/>
              </a:rPr>
              <a:t>(ex: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min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20" i="1">
                <a:solidFill>
                  <a:srgbClr val="6A737D"/>
                </a:solidFill>
                <a:latin typeface="Times New Roman"/>
                <a:cs typeface="Times New Roman"/>
              </a:rPr>
              <a:t>16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0" i="1">
                <a:solidFill>
                  <a:srgbClr val="6A737D"/>
                </a:solidFill>
                <a:latin typeface="Times New Roman"/>
                <a:cs typeface="Times New Roman"/>
              </a:rPr>
              <a:t>ans)</a:t>
            </a:r>
            <a:endParaRPr sz="15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90"/>
              </a:spcBef>
            </a:pPr>
            <a:r>
              <a:rPr dirty="0" sz="1450" spc="455" b="1">
                <a:solidFill>
                  <a:srgbClr val="D63A49"/>
                </a:solidFill>
                <a:latin typeface="Times New Roman"/>
                <a:cs typeface="Times New Roman"/>
              </a:rPr>
              <a:t>if</a:t>
            </a:r>
            <a:r>
              <a:rPr dirty="0" sz="1450" spc="8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(neLe.isAfter(</a:t>
            </a:r>
            <a:r>
              <a:rPr dirty="0" sz="1450" spc="26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.now().minusYears(</a:t>
            </a:r>
            <a:r>
              <a:rPr dirty="0" sz="1350" spc="260" b="1">
                <a:solidFill>
                  <a:srgbClr val="6F41C1"/>
                </a:solidFill>
                <a:latin typeface="Times New Roman"/>
                <a:cs typeface="Times New Roman"/>
              </a:rPr>
              <a:t>16</a:t>
            </a:r>
            <a:r>
              <a:rPr dirty="0" sz="1450" spc="260">
                <a:solidFill>
                  <a:srgbClr val="334054"/>
                </a:solidFill>
                <a:latin typeface="Times New Roman"/>
                <a:cs typeface="Times New Roman"/>
              </a:rPr>
              <a:t>)))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310"/>
              </a:spcBef>
            </a:pPr>
            <a:r>
              <a:rPr dirty="0" sz="1450" spc="150" b="1">
                <a:solidFill>
                  <a:srgbClr val="D63A49"/>
                </a:solidFill>
                <a:latin typeface="Times New Roman"/>
                <a:cs typeface="Times New Roman"/>
              </a:rPr>
              <a:t>throw</a:t>
            </a:r>
            <a:r>
              <a:rPr dirty="0" sz="145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IllegalArgumentException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650" spc="240">
                <a:solidFill>
                  <a:srgbClr val="21863A"/>
                </a:solidFill>
                <a:latin typeface="Times New Roman"/>
                <a:cs typeface="Times New Roman"/>
              </a:rPr>
              <a:t>"Étudiant</a:t>
            </a:r>
            <a:r>
              <a:rPr dirty="0" sz="1650" spc="5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229">
                <a:solidFill>
                  <a:srgbClr val="21863A"/>
                </a:solidFill>
                <a:latin typeface="Times New Roman"/>
                <a:cs typeface="Times New Roman"/>
              </a:rPr>
              <a:t>trop</a:t>
            </a:r>
            <a:r>
              <a:rPr dirty="0" sz="1650" spc="5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180">
                <a:solidFill>
                  <a:srgbClr val="21863A"/>
                </a:solidFill>
                <a:latin typeface="Times New Roman"/>
                <a:cs typeface="Times New Roman"/>
              </a:rPr>
              <a:t>jeune</a:t>
            </a:r>
            <a:r>
              <a:rPr dirty="0" sz="1650" spc="5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150">
                <a:solidFill>
                  <a:srgbClr val="21863A"/>
                </a:solidFill>
                <a:latin typeface="Times New Roman"/>
                <a:cs typeface="Times New Roman"/>
              </a:rPr>
              <a:t>(&lt;</a:t>
            </a:r>
            <a:r>
              <a:rPr dirty="0" sz="1650" spc="5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70">
                <a:solidFill>
                  <a:srgbClr val="21863A"/>
                </a:solidFill>
                <a:latin typeface="Times New Roman"/>
                <a:cs typeface="Times New Roman"/>
              </a:rPr>
              <a:t>16</a:t>
            </a:r>
            <a:r>
              <a:rPr dirty="0" sz="1650" spc="5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650" spc="270">
                <a:solidFill>
                  <a:srgbClr val="21863A"/>
                </a:solidFill>
                <a:latin typeface="Times New Roman"/>
                <a:cs typeface="Times New Roman"/>
              </a:rPr>
              <a:t>ans)"</a:t>
            </a:r>
            <a:r>
              <a:rPr dirty="0" sz="1450" spc="27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  <a:p>
            <a:pPr marL="393065">
              <a:lnSpc>
                <a:spcPct val="100000"/>
              </a:lnSpc>
              <a:spcBef>
                <a:spcPts val="470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29.</a:t>
            </a:r>
            <a:r>
              <a:rPr dirty="0" spc="-65"/>
              <a:t> </a:t>
            </a:r>
            <a:r>
              <a:rPr dirty="0" spc="-80"/>
              <a:t>Fil</a:t>
            </a:r>
            <a:r>
              <a:rPr dirty="0" spc="-65"/>
              <a:t> </a:t>
            </a:r>
            <a:r>
              <a:rPr dirty="0" spc="-114"/>
              <a:t>rouge</a:t>
            </a:r>
            <a:r>
              <a:rPr dirty="0" spc="-65"/>
              <a:t> </a:t>
            </a:r>
            <a:r>
              <a:rPr dirty="0" spc="-650"/>
              <a:t>—</a:t>
            </a:r>
            <a:r>
              <a:rPr dirty="0" spc="-60"/>
              <a:t> </a:t>
            </a:r>
            <a:r>
              <a:rPr dirty="0" spc="-50"/>
              <a:t>Mention</a:t>
            </a:r>
            <a:r>
              <a:rPr dirty="0" spc="-65"/>
              <a:t> </a:t>
            </a:r>
            <a:r>
              <a:rPr dirty="0" spc="-105"/>
              <a:t>enum</a:t>
            </a:r>
            <a:r>
              <a:rPr dirty="0" spc="-65"/>
              <a:t> </a:t>
            </a:r>
            <a:r>
              <a:rPr dirty="0" spc="-70"/>
              <a:t>avancé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846064"/>
            <a:ext cx="5633085" cy="612140"/>
            <a:chOff x="435863" y="5846064"/>
            <a:chExt cx="5633085" cy="61214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846064"/>
              <a:ext cx="5633085" cy="612140"/>
            </a:xfrm>
            <a:custGeom>
              <a:avLst/>
              <a:gdLst/>
              <a:ahLst/>
              <a:cxnLst/>
              <a:rect l="l" t="t" r="r" b="b"/>
              <a:pathLst>
                <a:path w="5633085" h="612139">
                  <a:moveTo>
                    <a:pt x="49910" y="611885"/>
                  </a:moveTo>
                  <a:lnTo>
                    <a:pt x="0" y="611885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40385"/>
                  </a:lnTo>
                  <a:lnTo>
                    <a:pt x="97535" y="40385"/>
                  </a:lnTo>
                  <a:lnTo>
                    <a:pt x="88033" y="41257"/>
                  </a:lnTo>
                  <a:lnTo>
                    <a:pt x="53398" y="69727"/>
                  </a:lnTo>
                  <a:lnTo>
                    <a:pt x="49910" y="88010"/>
                  </a:lnTo>
                  <a:lnTo>
                    <a:pt x="49910" y="611885"/>
                  </a:lnTo>
                  <a:close/>
                </a:path>
                <a:path w="5633085" h="612139">
                  <a:moveTo>
                    <a:pt x="5632704" y="611885"/>
                  </a:moveTo>
                  <a:lnTo>
                    <a:pt x="5583935" y="611885"/>
                  </a:lnTo>
                  <a:lnTo>
                    <a:pt x="5583935" y="88010"/>
                  </a:lnTo>
                  <a:lnTo>
                    <a:pt x="5583063" y="78508"/>
                  </a:lnTo>
                  <a:lnTo>
                    <a:pt x="5554592" y="43872"/>
                  </a:lnTo>
                  <a:lnTo>
                    <a:pt x="5536310" y="40385"/>
                  </a:lnTo>
                  <a:lnTo>
                    <a:pt x="5632704" y="40385"/>
                  </a:lnTo>
                  <a:lnTo>
                    <a:pt x="5632704" y="6118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876924"/>
              <a:ext cx="5529580" cy="581025"/>
            </a:xfrm>
            <a:custGeom>
              <a:avLst/>
              <a:gdLst/>
              <a:ahLst/>
              <a:cxnLst/>
              <a:rect l="l" t="t" r="r" b="b"/>
              <a:pathLst>
                <a:path w="5529580" h="581025">
                  <a:moveTo>
                    <a:pt x="5529262" y="581025"/>
                  </a:moveTo>
                  <a:lnTo>
                    <a:pt x="0" y="581025"/>
                  </a:lnTo>
                  <a:lnTo>
                    <a:pt x="0" y="49571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2" y="581025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876924"/>
              <a:ext cx="54610" cy="581025"/>
            </a:xfrm>
            <a:custGeom>
              <a:avLst/>
              <a:gdLst/>
              <a:ahLst/>
              <a:cxnLst/>
              <a:rect l="l" t="t" r="r" b="b"/>
              <a:pathLst>
                <a:path w="54609" h="581025">
                  <a:moveTo>
                    <a:pt x="47624" y="581024"/>
                  </a:moveTo>
                  <a:lnTo>
                    <a:pt x="0" y="581024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6"/>
                  </a:lnTo>
                  <a:lnTo>
                    <a:pt x="47624" y="57149"/>
                  </a:lnTo>
                  <a:lnTo>
                    <a:pt x="47624" y="5810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6156324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957456"/>
            <a:ext cx="468058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4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3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Encapsulez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règles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métier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liées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aux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13532D"/>
                </a:solidFill>
                <a:latin typeface="Arial"/>
                <a:cs typeface="Arial"/>
              </a:rPr>
              <a:t>valeurs</a:t>
            </a:r>
            <a:r>
              <a:rPr dirty="0" sz="1400" spc="-5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(seuils) </a:t>
            </a:r>
            <a:r>
              <a:rPr dirty="0" sz="1400" spc="-25">
                <a:solidFill>
                  <a:srgbClr val="13532D"/>
                </a:solidFill>
                <a:latin typeface="Arial"/>
                <a:cs typeface="Arial"/>
              </a:rPr>
              <a:t>dans</a:t>
            </a:r>
            <a:r>
              <a:rPr dirty="0" sz="1400" spc="-7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l'enum.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846064"/>
            <a:ext cx="5623560" cy="612140"/>
            <a:chOff x="6132576" y="5846064"/>
            <a:chExt cx="5623560" cy="612140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846064"/>
              <a:ext cx="5623560" cy="612140"/>
            </a:xfrm>
            <a:custGeom>
              <a:avLst/>
              <a:gdLst/>
              <a:ahLst/>
              <a:cxnLst/>
              <a:rect l="l" t="t" r="r" b="b"/>
              <a:pathLst>
                <a:path w="5623559" h="612139">
                  <a:moveTo>
                    <a:pt x="49148" y="611885"/>
                  </a:moveTo>
                  <a:lnTo>
                    <a:pt x="0" y="611885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40385"/>
                  </a:lnTo>
                  <a:lnTo>
                    <a:pt x="96773" y="40385"/>
                  </a:lnTo>
                  <a:lnTo>
                    <a:pt x="87271" y="41257"/>
                  </a:lnTo>
                  <a:lnTo>
                    <a:pt x="52635" y="69727"/>
                  </a:lnTo>
                  <a:lnTo>
                    <a:pt x="49148" y="88010"/>
                  </a:lnTo>
                  <a:lnTo>
                    <a:pt x="49148" y="611885"/>
                  </a:lnTo>
                  <a:close/>
                </a:path>
                <a:path w="5623559" h="612139">
                  <a:moveTo>
                    <a:pt x="5623560" y="611885"/>
                  </a:moveTo>
                  <a:lnTo>
                    <a:pt x="5573648" y="611885"/>
                  </a:lnTo>
                  <a:lnTo>
                    <a:pt x="5573648" y="88010"/>
                  </a:lnTo>
                  <a:lnTo>
                    <a:pt x="5572776" y="78508"/>
                  </a:lnTo>
                  <a:lnTo>
                    <a:pt x="5544305" y="43872"/>
                  </a:lnTo>
                  <a:lnTo>
                    <a:pt x="5526023" y="40385"/>
                  </a:lnTo>
                  <a:lnTo>
                    <a:pt x="5623560" y="40385"/>
                  </a:lnTo>
                  <a:lnTo>
                    <a:pt x="5623560" y="61188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876924"/>
              <a:ext cx="5520055" cy="581025"/>
            </a:xfrm>
            <a:custGeom>
              <a:avLst/>
              <a:gdLst/>
              <a:ahLst/>
              <a:cxnLst/>
              <a:rect l="l" t="t" r="r" b="b"/>
              <a:pathLst>
                <a:path w="5520055" h="581025">
                  <a:moveTo>
                    <a:pt x="5519737" y="581025"/>
                  </a:moveTo>
                  <a:lnTo>
                    <a:pt x="0" y="581025"/>
                  </a:lnTo>
                  <a:lnTo>
                    <a:pt x="0" y="49571"/>
                  </a:lnTo>
                  <a:lnTo>
                    <a:pt x="12889" y="11379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7" y="581025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876924"/>
              <a:ext cx="54610" cy="581025"/>
            </a:xfrm>
            <a:custGeom>
              <a:avLst/>
              <a:gdLst/>
              <a:ahLst/>
              <a:cxnLst/>
              <a:rect l="l" t="t" r="r" b="b"/>
              <a:pathLst>
                <a:path w="54610" h="581025">
                  <a:moveTo>
                    <a:pt x="47624" y="581024"/>
                  </a:moveTo>
                  <a:lnTo>
                    <a:pt x="0" y="58102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6"/>
                  </a:lnTo>
                  <a:lnTo>
                    <a:pt x="47624" y="57149"/>
                  </a:lnTo>
                  <a:lnTo>
                    <a:pt x="47624" y="5810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6156324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5927441"/>
            <a:ext cx="4810760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4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3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Arial"/>
                <a:cs typeface="Arial"/>
              </a:rPr>
              <a:t>Retourner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un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Courier New"/>
                <a:cs typeface="Courier New"/>
              </a:rPr>
              <a:t>Optional</a:t>
            </a:r>
            <a:r>
              <a:rPr dirty="0" sz="1350" spc="-475">
                <a:solidFill>
                  <a:srgbClr val="1D3A8A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force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l'appelant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à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gérer</a:t>
            </a:r>
            <a:r>
              <a:rPr dirty="0" sz="1350" spc="-5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le</a:t>
            </a:r>
            <a:r>
              <a:rPr dirty="0" sz="135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1D3A8A"/>
                </a:solidFill>
                <a:latin typeface="Arial"/>
                <a:cs typeface="Arial"/>
              </a:rPr>
              <a:t>cas 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"échec".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249424"/>
            <a:ext cx="12192000" cy="4608830"/>
            <a:chOff x="0" y="2249424"/>
            <a:chExt cx="12192000" cy="4608830"/>
          </a:xfrm>
        </p:grpSpPr>
        <p:sp>
          <p:nvSpPr>
            <p:cNvPr id="16" name="object 16" descr=""/>
            <p:cNvSpPr/>
            <p:nvPr/>
          </p:nvSpPr>
          <p:spPr>
            <a:xfrm>
              <a:off x="0" y="6457949"/>
              <a:ext cx="12192000" cy="400050"/>
            </a:xfrm>
            <a:custGeom>
              <a:avLst/>
              <a:gdLst/>
              <a:ahLst/>
              <a:cxnLst/>
              <a:rect l="l" t="t" r="r" b="b"/>
              <a:pathLst>
                <a:path w="12192000" h="400050">
                  <a:moveTo>
                    <a:pt x="12191999" y="400049"/>
                  </a:moveTo>
                  <a:lnTo>
                    <a:pt x="0" y="4000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40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0" y="6457949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12191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20624" y="2249424"/>
              <a:ext cx="11351260" cy="3557270"/>
            </a:xfrm>
            <a:custGeom>
              <a:avLst/>
              <a:gdLst/>
              <a:ahLst/>
              <a:cxnLst/>
              <a:rect l="l" t="t" r="r" b="b"/>
              <a:pathLst>
                <a:path w="11351260" h="3557270">
                  <a:moveTo>
                    <a:pt x="11350752" y="3557016"/>
                  </a:moveTo>
                  <a:lnTo>
                    <a:pt x="0" y="3557016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6100"/>
                  </a:lnTo>
                  <a:lnTo>
                    <a:pt x="131825" y="46100"/>
                  </a:lnTo>
                  <a:lnTo>
                    <a:pt x="125258" y="46417"/>
                  </a:lnTo>
                  <a:lnTo>
                    <a:pt x="89548" y="61209"/>
                  </a:lnTo>
                  <a:lnTo>
                    <a:pt x="68005" y="93449"/>
                  </a:lnTo>
                  <a:lnTo>
                    <a:pt x="65150" y="112775"/>
                  </a:lnTo>
                  <a:lnTo>
                    <a:pt x="65150" y="3408425"/>
                  </a:lnTo>
                  <a:lnTo>
                    <a:pt x="76377" y="3445474"/>
                  </a:lnTo>
                  <a:lnTo>
                    <a:pt x="106310" y="3470024"/>
                  </a:lnTo>
                  <a:lnTo>
                    <a:pt x="131825" y="3475100"/>
                  </a:lnTo>
                  <a:lnTo>
                    <a:pt x="11350752" y="3475100"/>
                  </a:lnTo>
                  <a:lnTo>
                    <a:pt x="11350752" y="3557016"/>
                  </a:lnTo>
                  <a:close/>
                </a:path>
                <a:path w="11351260" h="3557270">
                  <a:moveTo>
                    <a:pt x="11350752" y="3475100"/>
                  </a:moveTo>
                  <a:lnTo>
                    <a:pt x="11218925" y="3475100"/>
                  </a:lnTo>
                  <a:lnTo>
                    <a:pt x="11225493" y="3474783"/>
                  </a:lnTo>
                  <a:lnTo>
                    <a:pt x="11231935" y="3473831"/>
                  </a:lnTo>
                  <a:lnTo>
                    <a:pt x="11266071" y="3455571"/>
                  </a:lnTo>
                  <a:lnTo>
                    <a:pt x="11284331" y="3421435"/>
                  </a:lnTo>
                  <a:lnTo>
                    <a:pt x="11285600" y="3408425"/>
                  </a:lnTo>
                  <a:lnTo>
                    <a:pt x="11285600" y="112775"/>
                  </a:lnTo>
                  <a:lnTo>
                    <a:pt x="11274372" y="75725"/>
                  </a:lnTo>
                  <a:lnTo>
                    <a:pt x="11244439" y="51175"/>
                  </a:lnTo>
                  <a:lnTo>
                    <a:pt x="11218925" y="46100"/>
                  </a:lnTo>
                  <a:lnTo>
                    <a:pt x="11350752" y="46100"/>
                  </a:lnTo>
                  <a:lnTo>
                    <a:pt x="11350752" y="34751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90762"/>
              <a:ext cx="11229975" cy="3438525"/>
            </a:xfrm>
            <a:custGeom>
              <a:avLst/>
              <a:gdLst/>
              <a:ahLst/>
              <a:cxnLst/>
              <a:rect l="l" t="t" r="r" b="b"/>
              <a:pathLst>
                <a:path w="11229975" h="3438525">
                  <a:moveTo>
                    <a:pt x="11163227" y="3438524"/>
                  </a:moveTo>
                  <a:lnTo>
                    <a:pt x="66746" y="3438524"/>
                  </a:lnTo>
                  <a:lnTo>
                    <a:pt x="62101" y="3438067"/>
                  </a:lnTo>
                  <a:lnTo>
                    <a:pt x="24240" y="3420917"/>
                  </a:lnTo>
                  <a:lnTo>
                    <a:pt x="2287" y="3385623"/>
                  </a:lnTo>
                  <a:lnTo>
                    <a:pt x="0" y="3371777"/>
                  </a:lnTo>
                  <a:lnTo>
                    <a:pt x="0" y="33670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371777"/>
                  </a:lnTo>
                  <a:lnTo>
                    <a:pt x="11215327" y="3410674"/>
                  </a:lnTo>
                  <a:lnTo>
                    <a:pt x="11181539" y="3434881"/>
                  </a:lnTo>
                  <a:lnTo>
                    <a:pt x="11167872" y="3438067"/>
                  </a:lnTo>
                  <a:lnTo>
                    <a:pt x="11163227" y="343852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1012" y="2290762"/>
              <a:ext cx="11229975" cy="3438525"/>
            </a:xfrm>
            <a:custGeom>
              <a:avLst/>
              <a:gdLst/>
              <a:ahLst/>
              <a:cxnLst/>
              <a:rect l="l" t="t" r="r" b="b"/>
              <a:pathLst>
                <a:path w="11229975" h="3438525">
                  <a:moveTo>
                    <a:pt x="0" y="33670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367087"/>
                  </a:lnTo>
                  <a:lnTo>
                    <a:pt x="11229972" y="3371777"/>
                  </a:lnTo>
                  <a:lnTo>
                    <a:pt x="11229514" y="3376423"/>
                  </a:lnTo>
                  <a:lnTo>
                    <a:pt x="11228599" y="3381023"/>
                  </a:lnTo>
                  <a:lnTo>
                    <a:pt x="11227684" y="3385623"/>
                  </a:lnTo>
                  <a:lnTo>
                    <a:pt x="11217932" y="3406774"/>
                  </a:lnTo>
                  <a:lnTo>
                    <a:pt x="11215327" y="3410674"/>
                  </a:lnTo>
                  <a:lnTo>
                    <a:pt x="11198222" y="3426484"/>
                  </a:lnTo>
                  <a:lnTo>
                    <a:pt x="11194322" y="3429090"/>
                  </a:lnTo>
                  <a:lnTo>
                    <a:pt x="11190206" y="3431291"/>
                  </a:lnTo>
                  <a:lnTo>
                    <a:pt x="11185873" y="3433086"/>
                  </a:lnTo>
                  <a:lnTo>
                    <a:pt x="11181539" y="3434881"/>
                  </a:lnTo>
                  <a:lnTo>
                    <a:pt x="11177072" y="3436236"/>
                  </a:lnTo>
                  <a:lnTo>
                    <a:pt x="11172472" y="3437151"/>
                  </a:lnTo>
                  <a:lnTo>
                    <a:pt x="11167872" y="3438067"/>
                  </a:lnTo>
                  <a:lnTo>
                    <a:pt x="11163227" y="3438524"/>
                  </a:lnTo>
                  <a:lnTo>
                    <a:pt x="11158536" y="3438524"/>
                  </a:lnTo>
                  <a:lnTo>
                    <a:pt x="71437" y="3438524"/>
                  </a:lnTo>
                  <a:lnTo>
                    <a:pt x="66746" y="3438524"/>
                  </a:lnTo>
                  <a:lnTo>
                    <a:pt x="62101" y="3438067"/>
                  </a:lnTo>
                  <a:lnTo>
                    <a:pt x="57500" y="3437151"/>
                  </a:lnTo>
                  <a:lnTo>
                    <a:pt x="52900" y="3436236"/>
                  </a:lnTo>
                  <a:lnTo>
                    <a:pt x="48433" y="3434881"/>
                  </a:lnTo>
                  <a:lnTo>
                    <a:pt x="44099" y="3433086"/>
                  </a:lnTo>
                  <a:lnTo>
                    <a:pt x="39765" y="3431291"/>
                  </a:lnTo>
                  <a:lnTo>
                    <a:pt x="35649" y="3429090"/>
                  </a:lnTo>
                  <a:lnTo>
                    <a:pt x="31748" y="3426484"/>
                  </a:lnTo>
                  <a:lnTo>
                    <a:pt x="27848" y="3423878"/>
                  </a:lnTo>
                  <a:lnTo>
                    <a:pt x="24240" y="3420917"/>
                  </a:lnTo>
                  <a:lnTo>
                    <a:pt x="20923" y="3417600"/>
                  </a:lnTo>
                  <a:lnTo>
                    <a:pt x="17606" y="3414283"/>
                  </a:lnTo>
                  <a:lnTo>
                    <a:pt x="14645" y="3410674"/>
                  </a:lnTo>
                  <a:lnTo>
                    <a:pt x="12039" y="3406774"/>
                  </a:lnTo>
                  <a:lnTo>
                    <a:pt x="9433" y="3402874"/>
                  </a:lnTo>
                  <a:lnTo>
                    <a:pt x="1372" y="3381023"/>
                  </a:lnTo>
                  <a:lnTo>
                    <a:pt x="457" y="3376423"/>
                  </a:lnTo>
                  <a:lnTo>
                    <a:pt x="0" y="3371777"/>
                  </a:lnTo>
                  <a:lnTo>
                    <a:pt x="0" y="336708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63550" y="806450"/>
            <a:ext cx="11146155" cy="246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Centralisation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la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logique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métier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dans</a:t>
            </a:r>
            <a:r>
              <a:rPr dirty="0" sz="1350" spc="-2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l'énumération.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125"/>
              </a:spcBef>
            </a:pP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Au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lieu</a:t>
            </a:r>
            <a:r>
              <a:rPr dirty="0" sz="1700" spc="-9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disperser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conditions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(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if</a:t>
            </a:r>
            <a:r>
              <a:rPr dirty="0" sz="1650" spc="-1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note</a:t>
            </a:r>
            <a:r>
              <a:rPr dirty="0" sz="1650" spc="-1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&gt;</a:t>
            </a:r>
            <a:r>
              <a:rPr dirty="0" sz="1650" spc="-1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10...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)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partout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dans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334054"/>
                </a:solidFill>
                <a:latin typeface="Arial"/>
                <a:cs typeface="Arial"/>
              </a:rPr>
              <a:t>code,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on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place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7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logique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calcul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directement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dans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l'</a:t>
            </a:r>
            <a:r>
              <a:rPr dirty="0" sz="1650" spc="-10">
                <a:solidFill>
                  <a:srgbClr val="334054"/>
                </a:solidFill>
                <a:latin typeface="Monaco"/>
                <a:cs typeface="Monaco"/>
              </a:rPr>
              <a:t>enum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via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334054"/>
                </a:solidFill>
                <a:latin typeface="Arial"/>
                <a:cs typeface="Arial"/>
              </a:rPr>
              <a:t>méthode </a:t>
            </a:r>
            <a:r>
              <a:rPr dirty="0" sz="1650" spc="-40" b="1">
                <a:solidFill>
                  <a:srgbClr val="334054"/>
                </a:solidFill>
                <a:latin typeface="Arial"/>
                <a:cs typeface="Arial"/>
              </a:rPr>
              <a:t>statique</a:t>
            </a:r>
            <a:r>
              <a:rPr dirty="0" sz="1650" spc="-50" b="1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(Factory).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b="1">
                <a:solidFill>
                  <a:srgbClr val="D63A49"/>
                </a:solidFill>
                <a:latin typeface="Times New Roman"/>
                <a:cs typeface="Times New Roman"/>
              </a:rPr>
              <a:t>enum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19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114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09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Constantes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(PASSABLE...)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95" i="1">
                <a:solidFill>
                  <a:srgbClr val="6A737D"/>
                </a:solidFill>
                <a:latin typeface="Times New Roman"/>
                <a:cs typeface="Times New Roman"/>
              </a:rPr>
              <a:t>définies</a:t>
            </a:r>
            <a:r>
              <a:rPr dirty="0" sz="15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30" i="1">
                <a:solidFill>
                  <a:srgbClr val="6A737D"/>
                </a:solidFill>
                <a:latin typeface="Times New Roman"/>
                <a:cs typeface="Times New Roman"/>
              </a:rPr>
              <a:t>précédemment</a:t>
            </a:r>
            <a:endParaRPr sz="1550">
              <a:latin typeface="Times New Roman"/>
              <a:cs typeface="Times New Roman"/>
            </a:endParaRPr>
          </a:p>
          <a:p>
            <a:pPr marL="278765">
              <a:lnSpc>
                <a:spcPct val="100000"/>
              </a:lnSpc>
              <a:spcBef>
                <a:spcPts val="490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45" b="1">
                <a:solidFill>
                  <a:srgbClr val="D63A49"/>
                </a:solidFill>
                <a:latin typeface="Times New Roman"/>
                <a:cs typeface="Times New Roman"/>
              </a:rPr>
              <a:t>static</a:t>
            </a:r>
            <a:r>
              <a:rPr dirty="0" sz="145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10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450" spc="21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450" spc="21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21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785CA2"/>
                </a:solidFill>
                <a:latin typeface="Times New Roman"/>
                <a:cs typeface="Times New Roman"/>
              </a:rPr>
              <a:t>of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40" b="1">
                <a:solidFill>
                  <a:srgbClr val="D63A49"/>
                </a:solidFill>
                <a:latin typeface="Times New Roman"/>
                <a:cs typeface="Times New Roman"/>
              </a:rPr>
              <a:t>double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n)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11471621" y="6596729"/>
            <a:ext cx="447675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19"/>
              </a:lnSpc>
            </a:pPr>
            <a:r>
              <a:rPr dirty="0" sz="1000" b="1">
                <a:solidFill>
                  <a:srgbClr val="64738B"/>
                </a:solidFill>
                <a:latin typeface="Arial"/>
                <a:cs typeface="Arial"/>
              </a:rPr>
              <a:t>29</a:t>
            </a:r>
            <a:r>
              <a:rPr dirty="0" sz="1000" spc="25" b="1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000" spc="110" b="1">
                <a:solidFill>
                  <a:srgbClr val="64738B"/>
                </a:solidFill>
                <a:latin typeface="Arial"/>
                <a:cs typeface="Arial"/>
              </a:rPr>
              <a:t>/</a:t>
            </a:r>
            <a:r>
              <a:rPr dirty="0" sz="1000" spc="25" b="1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64738B"/>
                </a:solidFill>
                <a:latin typeface="Arial"/>
                <a:cs typeface="Arial"/>
              </a:rPr>
              <a:t>35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22" name="object 22" descr=""/>
          <p:cNvGraphicFramePr>
            <a:graphicFrameLocks noGrp="1"/>
          </p:cNvGraphicFramePr>
          <p:nvPr/>
        </p:nvGraphicFramePr>
        <p:xfrm>
          <a:off x="711199" y="3364991"/>
          <a:ext cx="4978400" cy="75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"/>
                <a:gridCol w="342900"/>
                <a:gridCol w="228600"/>
                <a:gridCol w="457200"/>
                <a:gridCol w="800100"/>
                <a:gridCol w="2832100"/>
              </a:tblGrid>
              <a:tr h="233045">
                <a:tc>
                  <a:txBody>
                    <a:bodyPr/>
                    <a:lstStyle/>
                    <a:p>
                      <a:pPr algn="ctr" marR="18415">
                        <a:lnSpc>
                          <a:spcPts val="1395"/>
                        </a:lnSpc>
                      </a:pPr>
                      <a:r>
                        <a:rPr dirty="0" sz="1450" spc="430" b="1">
                          <a:solidFill>
                            <a:srgbClr val="D63A4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450" spc="26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45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ts val="1395"/>
                        </a:lnSpc>
                      </a:pPr>
                      <a:r>
                        <a:rPr dirty="0" sz="1450" spc="22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10)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ts val="1395"/>
                        </a:lnSpc>
                      </a:pPr>
                      <a:r>
                        <a:rPr dirty="0" sz="1450" spc="210" b="1">
                          <a:solidFill>
                            <a:srgbClr val="D63A49"/>
                          </a:solidFill>
                          <a:latin typeface="Times New Roman"/>
                          <a:cs typeface="Times New Roman"/>
                        </a:rPr>
                        <a:t>return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395"/>
                        </a:lnSpc>
                      </a:pPr>
                      <a:r>
                        <a:rPr dirty="0" sz="1450" spc="270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Optional</a:t>
                      </a:r>
                      <a:r>
                        <a:rPr dirty="0" sz="1450" spc="27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.empty();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85115">
                <a:tc>
                  <a:txBody>
                    <a:bodyPr/>
                    <a:lstStyle/>
                    <a:p>
                      <a:pPr algn="ctr" marR="184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450" spc="430" b="1">
                          <a:solidFill>
                            <a:srgbClr val="D63A4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450" spc="26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45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450" spc="22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12)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450" spc="210" b="1">
                          <a:solidFill>
                            <a:srgbClr val="D63A49"/>
                          </a:solidFill>
                          <a:latin typeface="Times New Roman"/>
                          <a:cs typeface="Times New Roman"/>
                        </a:rPr>
                        <a:t>return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450" spc="204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Optional</a:t>
                      </a:r>
                      <a:r>
                        <a:rPr dirty="0" sz="1450" spc="204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.of(</a:t>
                      </a:r>
                      <a:r>
                        <a:rPr dirty="0" sz="1350" spc="204" b="1">
                          <a:solidFill>
                            <a:srgbClr val="6F41C1"/>
                          </a:solidFill>
                          <a:latin typeface="Times New Roman"/>
                          <a:cs typeface="Times New Roman"/>
                        </a:rPr>
                        <a:t>PASSABLE</a:t>
                      </a:r>
                      <a:r>
                        <a:rPr dirty="0" sz="1450" spc="204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);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</a:tr>
              <a:tr h="233045">
                <a:tc>
                  <a:txBody>
                    <a:bodyPr/>
                    <a:lstStyle/>
                    <a:p>
                      <a:pPr algn="ctr" marR="18415">
                        <a:lnSpc>
                          <a:spcPts val="1670"/>
                        </a:lnSpc>
                        <a:spcBef>
                          <a:spcPts val="65"/>
                        </a:spcBef>
                      </a:pPr>
                      <a:r>
                        <a:rPr dirty="0" sz="1450" spc="430" b="1">
                          <a:solidFill>
                            <a:srgbClr val="D63A4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  <a:spcBef>
                          <a:spcPts val="65"/>
                        </a:spcBef>
                      </a:pPr>
                      <a:r>
                        <a:rPr dirty="0" sz="1450" spc="26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(n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  <a:spcBef>
                          <a:spcPts val="65"/>
                        </a:spcBef>
                      </a:pPr>
                      <a:r>
                        <a:rPr dirty="0" sz="1450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ts val="1670"/>
                        </a:lnSpc>
                        <a:spcBef>
                          <a:spcPts val="65"/>
                        </a:spcBef>
                      </a:pPr>
                      <a:r>
                        <a:rPr dirty="0" sz="1450" spc="225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14)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ts val="1670"/>
                        </a:lnSpc>
                        <a:spcBef>
                          <a:spcPts val="65"/>
                        </a:spcBef>
                      </a:pPr>
                      <a:r>
                        <a:rPr dirty="0" sz="1450" spc="210" b="1">
                          <a:solidFill>
                            <a:srgbClr val="D63A49"/>
                          </a:solidFill>
                          <a:latin typeface="Times New Roman"/>
                          <a:cs typeface="Times New Roman"/>
                        </a:rPr>
                        <a:t>return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70"/>
                        </a:lnSpc>
                        <a:spcBef>
                          <a:spcPts val="65"/>
                        </a:spcBef>
                      </a:pPr>
                      <a:r>
                        <a:rPr dirty="0" sz="1450" spc="204">
                          <a:solidFill>
                            <a:srgbClr val="005CC4"/>
                          </a:solidFill>
                          <a:latin typeface="Times New Roman"/>
                          <a:cs typeface="Times New Roman"/>
                        </a:rPr>
                        <a:t>Optional</a:t>
                      </a:r>
                      <a:r>
                        <a:rPr dirty="0" sz="1450" spc="204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.of(</a:t>
                      </a:r>
                      <a:r>
                        <a:rPr dirty="0" sz="1350" spc="204" b="1">
                          <a:solidFill>
                            <a:srgbClr val="6F41C1"/>
                          </a:solidFill>
                          <a:latin typeface="Times New Roman"/>
                          <a:cs typeface="Times New Roman"/>
                        </a:rPr>
                        <a:t>ASSEZ_BIEN</a:t>
                      </a:r>
                      <a:r>
                        <a:rPr dirty="0" sz="1450" spc="204">
                          <a:solidFill>
                            <a:srgbClr val="334054"/>
                          </a:solidFill>
                          <a:latin typeface="Times New Roman"/>
                          <a:cs typeface="Times New Roman"/>
                        </a:rPr>
                        <a:t>);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/>
                </a:tc>
              </a:tr>
            </a:tbl>
          </a:graphicData>
        </a:graphic>
      </p:graphicFrame>
      <p:sp>
        <p:nvSpPr>
          <p:cNvPr id="23" name="object 23" descr=""/>
          <p:cNvSpPr txBox="1"/>
          <p:nvPr/>
        </p:nvSpPr>
        <p:spPr>
          <a:xfrm>
            <a:off x="3930650" y="4162678"/>
            <a:ext cx="2082800" cy="250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 b="1">
                <a:solidFill>
                  <a:srgbClr val="6F41C1"/>
                </a:solidFill>
                <a:latin typeface="Times New Roman"/>
                <a:cs typeface="Times New Roman"/>
              </a:rPr>
              <a:t>BIEN</a:t>
            </a:r>
            <a:r>
              <a:rPr dirty="0" sz="1350" spc="114" b="1">
                <a:solidFill>
                  <a:srgbClr val="6F41C1"/>
                </a:solidFill>
                <a:latin typeface="Times New Roman"/>
                <a:cs typeface="Times New Roman"/>
              </a:rPr>
              <a:t>  </a:t>
            </a:r>
            <a:r>
              <a:rPr dirty="0" sz="1450" spc="495">
                <a:solidFill>
                  <a:srgbClr val="334054"/>
                </a:solidFill>
                <a:latin typeface="Times New Roman"/>
                <a:cs typeface="Times New Roman"/>
              </a:rPr>
              <a:t>: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120" b="1">
                <a:solidFill>
                  <a:srgbClr val="6F41C1"/>
                </a:solidFill>
                <a:latin typeface="Times New Roman"/>
                <a:cs typeface="Times New Roman"/>
              </a:rPr>
              <a:t>TRES_BIEN</a:t>
            </a:r>
            <a:r>
              <a:rPr dirty="0" sz="1450" spc="12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15949" y="4100555"/>
            <a:ext cx="3225800" cy="117221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610"/>
              </a:spcBef>
            </a:pPr>
            <a:r>
              <a:rPr dirty="0" sz="1450" spc="220" b="1">
                <a:solidFill>
                  <a:srgbClr val="D63A49"/>
                </a:solidFill>
                <a:latin typeface="Times New Roman"/>
                <a:cs typeface="Times New Roman"/>
              </a:rPr>
              <a:t>return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90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450" spc="290">
                <a:solidFill>
                  <a:srgbClr val="334054"/>
                </a:solidFill>
                <a:latin typeface="Times New Roman"/>
                <a:cs typeface="Times New Roman"/>
              </a:rPr>
              <a:t>.of(n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70">
                <a:solidFill>
                  <a:srgbClr val="334054"/>
                </a:solidFill>
                <a:latin typeface="Times New Roman"/>
                <a:cs typeface="Times New Roman"/>
              </a:rPr>
              <a:t>16</a:t>
            </a:r>
            <a:r>
              <a:rPr dirty="0" sz="14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?</a:t>
            </a:r>
            <a:endParaRPr sz="14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05" i="1">
                <a:solidFill>
                  <a:srgbClr val="6A737D"/>
                </a:solidFill>
                <a:latin typeface="Times New Roman"/>
                <a:cs typeface="Times New Roman"/>
              </a:rPr>
              <a:t>Usage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38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15" i="1">
                <a:solidFill>
                  <a:srgbClr val="6A737D"/>
                </a:solidFill>
                <a:latin typeface="Times New Roman"/>
                <a:cs typeface="Times New Roman"/>
              </a:rPr>
              <a:t>conversion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80" i="1">
                <a:solidFill>
                  <a:srgbClr val="6A737D"/>
                </a:solidFill>
                <a:latin typeface="Times New Roman"/>
                <a:cs typeface="Times New Roman"/>
              </a:rPr>
              <a:t>propre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930645" y="5005335"/>
            <a:ext cx="219710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204" i="1">
                <a:solidFill>
                  <a:srgbClr val="6A737D"/>
                </a:solidFill>
                <a:latin typeface="Times New Roman"/>
                <a:cs typeface="Times New Roman"/>
              </a:rPr>
              <a:t>sans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50" i="1">
                <a:solidFill>
                  <a:srgbClr val="6A737D"/>
                </a:solidFill>
                <a:latin typeface="Times New Roman"/>
                <a:cs typeface="Times New Roman"/>
              </a:rPr>
              <a:t>risque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165" i="1">
                <a:solidFill>
                  <a:srgbClr val="6A737D"/>
                </a:solidFill>
                <a:latin typeface="Times New Roman"/>
                <a:cs typeface="Times New Roman"/>
              </a:rPr>
              <a:t>de</a:t>
            </a:r>
            <a:r>
              <a:rPr dirty="0" sz="15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50" spc="270" i="1">
                <a:solidFill>
                  <a:srgbClr val="6A737D"/>
                </a:solidFill>
                <a:latin typeface="Times New Roman"/>
                <a:cs typeface="Times New Roman"/>
              </a:rPr>
              <a:t>null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15949" y="5291085"/>
            <a:ext cx="6197600" cy="267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9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450">
                <a:solidFill>
                  <a:srgbClr val="005CC4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334054"/>
                </a:solidFill>
                <a:latin typeface="Times New Roman"/>
                <a:cs typeface="Times New Roman"/>
              </a:rPr>
              <a:t>m</a:t>
            </a:r>
            <a:r>
              <a:rPr dirty="0" sz="1450" spc="45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50" spc="8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50" spc="45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450" spc="275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450" spc="275">
                <a:solidFill>
                  <a:srgbClr val="334054"/>
                </a:solidFill>
                <a:latin typeface="Times New Roman"/>
                <a:cs typeface="Times New Roman"/>
              </a:rPr>
              <a:t>.of(15.5).orElseThrow();</a:t>
            </a:r>
            <a:r>
              <a:rPr dirty="0" sz="1450" spc="45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550" spc="465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50" spc="43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i="1">
                <a:solidFill>
                  <a:srgbClr val="6A737D"/>
                </a:solidFill>
                <a:latin typeface="Times New Roman"/>
                <a:cs typeface="Times New Roman"/>
              </a:rPr>
              <a:t>=&gt;</a:t>
            </a:r>
            <a:r>
              <a:rPr dirty="0" sz="1550" spc="43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50" spc="-20" i="1">
                <a:solidFill>
                  <a:srgbClr val="6A737D"/>
                </a:solidFill>
                <a:latin typeface="Times New Roman"/>
                <a:cs typeface="Times New Roman"/>
              </a:rPr>
              <a:t>BIEN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30.</a:t>
            </a:r>
            <a:r>
              <a:rPr dirty="0" spc="-45"/>
              <a:t> </a:t>
            </a:r>
            <a:r>
              <a:rPr dirty="0" spc="-80"/>
              <a:t>Fil</a:t>
            </a:r>
            <a:r>
              <a:rPr dirty="0" spc="-45"/>
              <a:t> </a:t>
            </a:r>
            <a:r>
              <a:rPr dirty="0" spc="-114"/>
              <a:t>rouge</a:t>
            </a:r>
            <a:r>
              <a:rPr dirty="0" spc="-45"/>
              <a:t> </a:t>
            </a:r>
            <a:r>
              <a:rPr dirty="0" spc="-650"/>
              <a:t>—</a:t>
            </a:r>
            <a:r>
              <a:rPr dirty="0" spc="-45"/>
              <a:t> </a:t>
            </a:r>
            <a:r>
              <a:rPr dirty="0" spc="-105"/>
              <a:t>NoteRecord</a:t>
            </a:r>
            <a:r>
              <a:rPr dirty="0" spc="-45"/>
              <a:t> </a:t>
            </a:r>
            <a:r>
              <a:rPr dirty="0" spc="-95"/>
              <a:t>avec</a:t>
            </a:r>
            <a:r>
              <a:rPr dirty="0" spc="-45"/>
              <a:t> </a:t>
            </a:r>
            <a:r>
              <a:rPr dirty="0" spc="-75"/>
              <a:t>Optional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702808"/>
            <a:ext cx="5605780" cy="755650"/>
            <a:chOff x="435863" y="5702808"/>
            <a:chExt cx="5605780" cy="755650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702808"/>
              <a:ext cx="5605780" cy="755650"/>
            </a:xfrm>
            <a:custGeom>
              <a:avLst/>
              <a:gdLst/>
              <a:ahLst/>
              <a:cxnLst/>
              <a:rect l="l" t="t" r="r" b="b"/>
              <a:pathLst>
                <a:path w="5605780" h="755650">
                  <a:moveTo>
                    <a:pt x="49910" y="755141"/>
                  </a:moveTo>
                  <a:lnTo>
                    <a:pt x="0" y="755141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40766"/>
                  </a:lnTo>
                  <a:lnTo>
                    <a:pt x="97535" y="40766"/>
                  </a:lnTo>
                  <a:lnTo>
                    <a:pt x="88033" y="41638"/>
                  </a:lnTo>
                  <a:lnTo>
                    <a:pt x="53398" y="70108"/>
                  </a:lnTo>
                  <a:lnTo>
                    <a:pt x="49910" y="88391"/>
                  </a:lnTo>
                  <a:lnTo>
                    <a:pt x="49910" y="755141"/>
                  </a:lnTo>
                  <a:close/>
                </a:path>
                <a:path w="5605780" h="755650">
                  <a:moveTo>
                    <a:pt x="5605272" y="755141"/>
                  </a:moveTo>
                  <a:lnTo>
                    <a:pt x="5555360" y="755141"/>
                  </a:lnTo>
                  <a:lnTo>
                    <a:pt x="5555360" y="88391"/>
                  </a:lnTo>
                  <a:lnTo>
                    <a:pt x="5554488" y="78889"/>
                  </a:lnTo>
                  <a:lnTo>
                    <a:pt x="5526017" y="44253"/>
                  </a:lnTo>
                  <a:lnTo>
                    <a:pt x="5507735" y="40766"/>
                  </a:lnTo>
                  <a:lnTo>
                    <a:pt x="5605272" y="40766"/>
                  </a:lnTo>
                  <a:lnTo>
                    <a:pt x="5605272" y="75514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734049"/>
              <a:ext cx="5501005" cy="723900"/>
            </a:xfrm>
            <a:custGeom>
              <a:avLst/>
              <a:gdLst/>
              <a:ahLst/>
              <a:cxnLst/>
              <a:rect l="l" t="t" r="r" b="b"/>
              <a:pathLst>
                <a:path w="5501005" h="723900">
                  <a:moveTo>
                    <a:pt x="5500687" y="723899"/>
                  </a:moveTo>
                  <a:lnTo>
                    <a:pt x="0" y="723899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47289" y="0"/>
                  </a:lnTo>
                  <a:lnTo>
                    <a:pt x="5486601" y="19391"/>
                  </a:lnTo>
                  <a:lnTo>
                    <a:pt x="5500687" y="53397"/>
                  </a:lnTo>
                  <a:lnTo>
                    <a:pt x="5500687" y="7238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734049"/>
              <a:ext cx="54610" cy="723900"/>
            </a:xfrm>
            <a:custGeom>
              <a:avLst/>
              <a:gdLst/>
              <a:ahLst/>
              <a:cxnLst/>
              <a:rect l="l" t="t" r="r" b="b"/>
              <a:pathLst>
                <a:path w="54609" h="723900">
                  <a:moveTo>
                    <a:pt x="47624" y="723899"/>
                  </a:moveTo>
                  <a:lnTo>
                    <a:pt x="0" y="723899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2389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4" y="6067424"/>
              <a:ext cx="228600" cy="2286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073150" y="5806962"/>
            <a:ext cx="4067810" cy="63563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500" spc="-60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50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500" spc="-3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3532D"/>
                </a:solidFill>
                <a:latin typeface="Arial"/>
                <a:cs typeface="Arial"/>
              </a:rPr>
              <a:t>Ne</a:t>
            </a:r>
            <a:r>
              <a:rPr dirty="0" sz="1500" spc="-2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stockez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jamais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Courier New"/>
                <a:cs typeface="Courier New"/>
              </a:rPr>
              <a:t>null</a:t>
            </a:r>
            <a:r>
              <a:rPr dirty="0" sz="1500" spc="-509">
                <a:solidFill>
                  <a:srgbClr val="13532D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dans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532D"/>
                </a:solidFill>
                <a:latin typeface="Arial"/>
                <a:cs typeface="Arial"/>
              </a:rPr>
              <a:t>un</a:t>
            </a:r>
            <a:r>
              <a:rPr dirty="0" sz="1500" spc="-3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3532D"/>
                </a:solidFill>
                <a:latin typeface="Arial"/>
                <a:cs typeface="Arial"/>
              </a:rPr>
              <a:t>champ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500" spc="-10">
                <a:solidFill>
                  <a:srgbClr val="13532D"/>
                </a:solidFill>
                <a:latin typeface="Courier New"/>
                <a:cs typeface="Courier New"/>
              </a:rPr>
              <a:t>Optional</a:t>
            </a:r>
            <a:r>
              <a:rPr dirty="0" sz="1500" spc="-10">
                <a:solidFill>
                  <a:srgbClr val="13532D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50864" y="5702808"/>
            <a:ext cx="5605780" cy="755650"/>
            <a:chOff x="6150864" y="5702808"/>
            <a:chExt cx="5605780" cy="755650"/>
          </a:xfrm>
        </p:grpSpPr>
        <p:sp>
          <p:nvSpPr>
            <p:cNvPr id="10" name="object 10" descr=""/>
            <p:cNvSpPr/>
            <p:nvPr/>
          </p:nvSpPr>
          <p:spPr>
            <a:xfrm>
              <a:off x="6150864" y="5702808"/>
              <a:ext cx="5605780" cy="755650"/>
            </a:xfrm>
            <a:custGeom>
              <a:avLst/>
              <a:gdLst/>
              <a:ahLst/>
              <a:cxnLst/>
              <a:rect l="l" t="t" r="r" b="b"/>
              <a:pathLst>
                <a:path w="5605780" h="755650">
                  <a:moveTo>
                    <a:pt x="49910" y="755141"/>
                  </a:moveTo>
                  <a:lnTo>
                    <a:pt x="0" y="755141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40766"/>
                  </a:lnTo>
                  <a:lnTo>
                    <a:pt x="97535" y="40766"/>
                  </a:lnTo>
                  <a:lnTo>
                    <a:pt x="88033" y="41638"/>
                  </a:lnTo>
                  <a:lnTo>
                    <a:pt x="53397" y="70108"/>
                  </a:lnTo>
                  <a:lnTo>
                    <a:pt x="49910" y="88391"/>
                  </a:lnTo>
                  <a:lnTo>
                    <a:pt x="49910" y="755141"/>
                  </a:lnTo>
                  <a:close/>
                </a:path>
                <a:path w="5605780" h="755650">
                  <a:moveTo>
                    <a:pt x="5605272" y="755141"/>
                  </a:moveTo>
                  <a:lnTo>
                    <a:pt x="5555360" y="755141"/>
                  </a:lnTo>
                  <a:lnTo>
                    <a:pt x="5555360" y="88391"/>
                  </a:lnTo>
                  <a:lnTo>
                    <a:pt x="5554488" y="78889"/>
                  </a:lnTo>
                  <a:lnTo>
                    <a:pt x="5526017" y="44253"/>
                  </a:lnTo>
                  <a:lnTo>
                    <a:pt x="5507735" y="40766"/>
                  </a:lnTo>
                  <a:lnTo>
                    <a:pt x="5605272" y="40766"/>
                  </a:lnTo>
                  <a:lnTo>
                    <a:pt x="5605272" y="75514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15061" y="5734049"/>
              <a:ext cx="5501005" cy="723900"/>
            </a:xfrm>
            <a:custGeom>
              <a:avLst/>
              <a:gdLst/>
              <a:ahLst/>
              <a:cxnLst/>
              <a:rect l="l" t="t" r="r" b="b"/>
              <a:pathLst>
                <a:path w="5501005" h="723900">
                  <a:moveTo>
                    <a:pt x="5500687" y="723899"/>
                  </a:moveTo>
                  <a:lnTo>
                    <a:pt x="0" y="723899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47288" y="0"/>
                  </a:lnTo>
                  <a:lnTo>
                    <a:pt x="5486601" y="19391"/>
                  </a:lnTo>
                  <a:lnTo>
                    <a:pt x="5500687" y="7238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91249" y="5734049"/>
              <a:ext cx="54610" cy="723900"/>
            </a:xfrm>
            <a:custGeom>
              <a:avLst/>
              <a:gdLst/>
              <a:ahLst/>
              <a:cxnLst/>
              <a:rect l="l" t="t" r="r" b="b"/>
              <a:pathLst>
                <a:path w="54610" h="723900">
                  <a:moveTo>
                    <a:pt x="47624" y="723899"/>
                  </a:moveTo>
                  <a:lnTo>
                    <a:pt x="0" y="72389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23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724" y="6067424"/>
              <a:ext cx="158750" cy="22860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731000" y="5816990"/>
            <a:ext cx="467741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450" spc="-30" b="1">
                <a:solidFill>
                  <a:srgbClr val="1D3A8A"/>
                </a:solidFill>
                <a:latin typeface="Arial"/>
                <a:cs typeface="Arial"/>
              </a:rPr>
              <a:t>Design</a:t>
            </a:r>
            <a:r>
              <a:rPr dirty="0" sz="1450" spc="-7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450" spc="-6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Courier New"/>
                <a:cs typeface="Courier New"/>
              </a:rPr>
              <a:t>Optional</a:t>
            </a:r>
            <a:r>
              <a:rPr dirty="0" sz="1500" spc="-530">
                <a:solidFill>
                  <a:srgbClr val="1D3A8A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dans</a:t>
            </a:r>
            <a:r>
              <a:rPr dirty="0" sz="150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un</a:t>
            </a:r>
            <a:r>
              <a:rPr dirty="0" sz="1500" spc="-7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record</a:t>
            </a:r>
            <a:r>
              <a:rPr dirty="0" sz="150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signale</a:t>
            </a:r>
            <a:r>
              <a:rPr dirty="0" sz="150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une</a:t>
            </a:r>
            <a:r>
              <a:rPr dirty="0" sz="1500" spc="-6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D3A8A"/>
                </a:solidFill>
                <a:latin typeface="Arial"/>
                <a:cs typeface="Arial"/>
              </a:rPr>
              <a:t>donnée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facultative</a:t>
            </a:r>
            <a:r>
              <a:rPr dirty="0" sz="1500" spc="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D3A8A"/>
                </a:solidFill>
                <a:latin typeface="Arial"/>
                <a:cs typeface="Arial"/>
              </a:rPr>
              <a:t>dès</a:t>
            </a:r>
            <a:r>
              <a:rPr dirty="0" sz="1500" spc="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D3A8A"/>
                </a:solidFill>
                <a:latin typeface="Arial"/>
                <a:cs typeface="Arial"/>
              </a:rPr>
              <a:t>l'API.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393192" y="1862327"/>
            <a:ext cx="11405870" cy="3706495"/>
            <a:chOff x="393192" y="1862327"/>
            <a:chExt cx="11405870" cy="3706495"/>
          </a:xfrm>
        </p:grpSpPr>
        <p:sp>
          <p:nvSpPr>
            <p:cNvPr id="17" name="object 17" descr=""/>
            <p:cNvSpPr/>
            <p:nvPr/>
          </p:nvSpPr>
          <p:spPr>
            <a:xfrm>
              <a:off x="393192" y="1862327"/>
              <a:ext cx="11405870" cy="3706495"/>
            </a:xfrm>
            <a:custGeom>
              <a:avLst/>
              <a:gdLst/>
              <a:ahLst/>
              <a:cxnLst/>
              <a:rect l="l" t="t" r="r" b="b"/>
              <a:pathLst>
                <a:path w="11405870" h="3706495">
                  <a:moveTo>
                    <a:pt x="11405616" y="3706368"/>
                  </a:moveTo>
                  <a:lnTo>
                    <a:pt x="0" y="3706368"/>
                  </a:lnTo>
                  <a:lnTo>
                    <a:pt x="0" y="0"/>
                  </a:lnTo>
                  <a:lnTo>
                    <a:pt x="11405616" y="0"/>
                  </a:lnTo>
                  <a:lnTo>
                    <a:pt x="11405616" y="52196"/>
                  </a:lnTo>
                  <a:lnTo>
                    <a:pt x="159257" y="52196"/>
                  </a:lnTo>
                  <a:lnTo>
                    <a:pt x="152689" y="52513"/>
                  </a:lnTo>
                  <a:lnTo>
                    <a:pt x="116980" y="67305"/>
                  </a:lnTo>
                  <a:lnTo>
                    <a:pt x="95437" y="99545"/>
                  </a:lnTo>
                  <a:lnTo>
                    <a:pt x="92582" y="118871"/>
                  </a:lnTo>
                  <a:lnTo>
                    <a:pt x="92582" y="3509771"/>
                  </a:lnTo>
                  <a:lnTo>
                    <a:pt x="103809" y="3546820"/>
                  </a:lnTo>
                  <a:lnTo>
                    <a:pt x="133742" y="3571370"/>
                  </a:lnTo>
                  <a:lnTo>
                    <a:pt x="159257" y="3576446"/>
                  </a:lnTo>
                  <a:lnTo>
                    <a:pt x="11405616" y="3576446"/>
                  </a:lnTo>
                  <a:lnTo>
                    <a:pt x="11405616" y="3706368"/>
                  </a:lnTo>
                  <a:close/>
                </a:path>
                <a:path w="11405870" h="3706495">
                  <a:moveTo>
                    <a:pt x="11405616" y="3576446"/>
                  </a:moveTo>
                  <a:lnTo>
                    <a:pt x="11246357" y="3576446"/>
                  </a:lnTo>
                  <a:lnTo>
                    <a:pt x="11252925" y="3576129"/>
                  </a:lnTo>
                  <a:lnTo>
                    <a:pt x="11259366" y="3575177"/>
                  </a:lnTo>
                  <a:lnTo>
                    <a:pt x="11293503" y="3556917"/>
                  </a:lnTo>
                  <a:lnTo>
                    <a:pt x="11311763" y="3522781"/>
                  </a:lnTo>
                  <a:lnTo>
                    <a:pt x="11313032" y="3509771"/>
                  </a:lnTo>
                  <a:lnTo>
                    <a:pt x="11313032" y="118871"/>
                  </a:lnTo>
                  <a:lnTo>
                    <a:pt x="11301804" y="81821"/>
                  </a:lnTo>
                  <a:lnTo>
                    <a:pt x="11271871" y="57272"/>
                  </a:lnTo>
                  <a:lnTo>
                    <a:pt x="11246357" y="52196"/>
                  </a:lnTo>
                  <a:lnTo>
                    <a:pt x="11405616" y="52196"/>
                  </a:lnTo>
                  <a:lnTo>
                    <a:pt x="11405616" y="357644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1909762"/>
              <a:ext cx="11229975" cy="3533775"/>
            </a:xfrm>
            <a:custGeom>
              <a:avLst/>
              <a:gdLst/>
              <a:ahLst/>
              <a:cxnLst/>
              <a:rect l="l" t="t" r="r" b="b"/>
              <a:pathLst>
                <a:path w="11229975" h="3533775">
                  <a:moveTo>
                    <a:pt x="11163227" y="3533774"/>
                  </a:moveTo>
                  <a:lnTo>
                    <a:pt x="66746" y="3533774"/>
                  </a:lnTo>
                  <a:lnTo>
                    <a:pt x="62101" y="3533316"/>
                  </a:lnTo>
                  <a:lnTo>
                    <a:pt x="24240" y="3516167"/>
                  </a:lnTo>
                  <a:lnTo>
                    <a:pt x="2287" y="3480874"/>
                  </a:lnTo>
                  <a:lnTo>
                    <a:pt x="0" y="3467028"/>
                  </a:lnTo>
                  <a:lnTo>
                    <a:pt x="0" y="34623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467028"/>
                  </a:lnTo>
                  <a:lnTo>
                    <a:pt x="11215327" y="3505925"/>
                  </a:lnTo>
                  <a:lnTo>
                    <a:pt x="11181539" y="3530131"/>
                  </a:lnTo>
                  <a:lnTo>
                    <a:pt x="11167872" y="3533316"/>
                  </a:lnTo>
                  <a:lnTo>
                    <a:pt x="11163227" y="35337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1909762"/>
              <a:ext cx="11229975" cy="3533775"/>
            </a:xfrm>
            <a:custGeom>
              <a:avLst/>
              <a:gdLst/>
              <a:ahLst/>
              <a:cxnLst/>
              <a:rect l="l" t="t" r="r" b="b"/>
              <a:pathLst>
                <a:path w="11229975" h="3533775">
                  <a:moveTo>
                    <a:pt x="0" y="34623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4" y="71437"/>
                  </a:lnTo>
                  <a:lnTo>
                    <a:pt x="11229974" y="3462337"/>
                  </a:lnTo>
                  <a:lnTo>
                    <a:pt x="11217932" y="3502024"/>
                  </a:lnTo>
                  <a:lnTo>
                    <a:pt x="11215327" y="3505925"/>
                  </a:lnTo>
                  <a:lnTo>
                    <a:pt x="11198222" y="3521735"/>
                  </a:lnTo>
                  <a:lnTo>
                    <a:pt x="11194322" y="3524340"/>
                  </a:lnTo>
                  <a:lnTo>
                    <a:pt x="11172472" y="3532400"/>
                  </a:lnTo>
                  <a:lnTo>
                    <a:pt x="11167872" y="3533316"/>
                  </a:lnTo>
                  <a:lnTo>
                    <a:pt x="11163227" y="3533774"/>
                  </a:lnTo>
                  <a:lnTo>
                    <a:pt x="11158536" y="3533774"/>
                  </a:lnTo>
                  <a:lnTo>
                    <a:pt x="71437" y="3533774"/>
                  </a:lnTo>
                  <a:lnTo>
                    <a:pt x="66746" y="3533774"/>
                  </a:lnTo>
                  <a:lnTo>
                    <a:pt x="62101" y="3533316"/>
                  </a:lnTo>
                  <a:lnTo>
                    <a:pt x="57500" y="3532400"/>
                  </a:lnTo>
                  <a:lnTo>
                    <a:pt x="52900" y="3531486"/>
                  </a:lnTo>
                  <a:lnTo>
                    <a:pt x="31748" y="3521734"/>
                  </a:lnTo>
                  <a:lnTo>
                    <a:pt x="27848" y="3519128"/>
                  </a:lnTo>
                  <a:lnTo>
                    <a:pt x="24240" y="3516167"/>
                  </a:lnTo>
                  <a:lnTo>
                    <a:pt x="20923" y="3512850"/>
                  </a:lnTo>
                  <a:lnTo>
                    <a:pt x="17606" y="3509534"/>
                  </a:lnTo>
                  <a:lnTo>
                    <a:pt x="5437" y="3489674"/>
                  </a:lnTo>
                  <a:lnTo>
                    <a:pt x="3642" y="3485341"/>
                  </a:lnTo>
                  <a:lnTo>
                    <a:pt x="2287" y="3480874"/>
                  </a:lnTo>
                  <a:lnTo>
                    <a:pt x="1372" y="3476274"/>
                  </a:lnTo>
                  <a:lnTo>
                    <a:pt x="457" y="3471673"/>
                  </a:lnTo>
                  <a:lnTo>
                    <a:pt x="0" y="3467028"/>
                  </a:lnTo>
                  <a:lnTo>
                    <a:pt x="0" y="34623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6450"/>
            <a:ext cx="9781540" cy="283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Intégration</a:t>
            </a:r>
            <a:r>
              <a:rPr dirty="0" sz="1350" spc="-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 l'immutabilité et de la gestion des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valeurs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absentes.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statique</a:t>
            </a:r>
            <a:r>
              <a:rPr dirty="0" sz="180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Monaco"/>
                <a:cs typeface="Monaco"/>
              </a:rPr>
              <a:t>Mention.fromNote()</a:t>
            </a:r>
            <a:r>
              <a:rPr dirty="0" sz="1800" spc="-590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800" spc="-20">
                <a:solidFill>
                  <a:srgbClr val="334054"/>
                </a:solidFill>
                <a:latin typeface="Arial"/>
                <a:cs typeface="Arial"/>
              </a:rPr>
              <a:t>créée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précédemment.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Arial"/>
              <a:cs typeface="Arial"/>
            </a:endParaRPr>
          </a:p>
          <a:p>
            <a:pPr marL="338455" marR="1388745" indent="-126364">
              <a:lnSpc>
                <a:spcPct val="125000"/>
              </a:lnSpc>
            </a:pPr>
            <a:r>
              <a:rPr dirty="0" sz="1600" spc="275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60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00" spc="229" b="1">
                <a:solidFill>
                  <a:srgbClr val="D63A49"/>
                </a:solidFill>
                <a:latin typeface="Times New Roman"/>
                <a:cs typeface="Times New Roman"/>
              </a:rPr>
              <a:t>record</a:t>
            </a:r>
            <a:r>
              <a:rPr dirty="0" sz="160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00" spc="229">
                <a:solidFill>
                  <a:srgbClr val="005CC4"/>
                </a:solidFill>
                <a:latin typeface="Times New Roman"/>
                <a:cs typeface="Times New Roman"/>
              </a:rPr>
              <a:t>Note</a:t>
            </a:r>
            <a:r>
              <a:rPr dirty="0" sz="1650" spc="229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600" spc="229" b="1">
                <a:solidFill>
                  <a:srgbClr val="D63A49"/>
                </a:solidFill>
                <a:latin typeface="Times New Roman"/>
                <a:cs typeface="Times New Roman"/>
              </a:rPr>
              <a:t>double</a:t>
            </a:r>
            <a:r>
              <a:rPr dirty="0" sz="160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50" spc="340">
                <a:solidFill>
                  <a:srgbClr val="334054"/>
                </a:solidFill>
                <a:latin typeface="Times New Roman"/>
                <a:cs typeface="Times New Roman"/>
              </a:rPr>
              <a:t>valeur,</a:t>
            </a:r>
            <a:r>
              <a:rPr dirty="0" sz="16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270">
                <a:solidFill>
                  <a:srgbClr val="005CC4"/>
                </a:solidFill>
                <a:latin typeface="Times New Roman"/>
                <a:cs typeface="Times New Roman"/>
              </a:rPr>
              <a:t>Optional</a:t>
            </a:r>
            <a:r>
              <a:rPr dirty="0" sz="1650" spc="270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600" spc="270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650" spc="270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6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220">
                <a:solidFill>
                  <a:srgbClr val="334054"/>
                </a:solidFill>
                <a:latin typeface="Times New Roman"/>
                <a:cs typeface="Times New Roman"/>
              </a:rPr>
              <a:t>commentaire)</a:t>
            </a:r>
            <a:r>
              <a:rPr dirty="0" sz="16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145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dirty="0" sz="1600" spc="275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60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50" spc="185">
                <a:solidFill>
                  <a:srgbClr val="334054"/>
                </a:solidFill>
                <a:latin typeface="Times New Roman"/>
                <a:cs typeface="Times New Roman"/>
              </a:rPr>
              <a:t>Note</a:t>
            </a:r>
            <a:r>
              <a:rPr dirty="0" sz="16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145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650">
              <a:latin typeface="Times New Roman"/>
              <a:cs typeface="Times New Roman"/>
            </a:endParaRPr>
          </a:p>
          <a:p>
            <a:pPr marL="338455" marR="5080">
              <a:lnSpc>
                <a:spcPct val="119900"/>
              </a:lnSpc>
              <a:spcBef>
                <a:spcPts val="100"/>
              </a:spcBef>
            </a:pPr>
            <a:r>
              <a:rPr dirty="0" sz="1600" spc="495" b="1">
                <a:solidFill>
                  <a:srgbClr val="D63A49"/>
                </a:solidFill>
                <a:latin typeface="Times New Roman"/>
                <a:cs typeface="Times New Roman"/>
              </a:rPr>
              <a:t>if</a:t>
            </a:r>
            <a:r>
              <a:rPr dirty="0" sz="160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50" spc="320">
                <a:solidFill>
                  <a:srgbClr val="334054"/>
                </a:solidFill>
                <a:latin typeface="Times New Roman"/>
                <a:cs typeface="Times New Roman"/>
              </a:rPr>
              <a:t>(valeur</a:t>
            </a:r>
            <a:r>
              <a:rPr dirty="0" sz="16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55">
                <a:solidFill>
                  <a:srgbClr val="334054"/>
                </a:solidFill>
                <a:latin typeface="Times New Roman"/>
                <a:cs typeface="Times New Roman"/>
              </a:rPr>
              <a:t>&lt;</a:t>
            </a:r>
            <a:r>
              <a:rPr dirty="0" sz="16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165">
                <a:solidFill>
                  <a:srgbClr val="334054"/>
                </a:solidFill>
                <a:latin typeface="Times New Roman"/>
                <a:cs typeface="Times New Roman"/>
              </a:rPr>
              <a:t>0</a:t>
            </a:r>
            <a:r>
              <a:rPr dirty="0" sz="1650" spc="59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650" spc="655">
                <a:solidFill>
                  <a:srgbClr val="334054"/>
                </a:solidFill>
                <a:latin typeface="Times New Roman"/>
                <a:cs typeface="Times New Roman"/>
              </a:rPr>
              <a:t>||</a:t>
            </a:r>
            <a:r>
              <a:rPr dirty="0" sz="1650" spc="585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dirty="0" sz="1650" spc="300">
                <a:solidFill>
                  <a:srgbClr val="334054"/>
                </a:solidFill>
                <a:latin typeface="Times New Roman"/>
                <a:cs typeface="Times New Roman"/>
              </a:rPr>
              <a:t>valeur</a:t>
            </a:r>
            <a:r>
              <a:rPr dirty="0" sz="16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55">
                <a:solidFill>
                  <a:srgbClr val="334054"/>
                </a:solidFill>
                <a:latin typeface="Times New Roman"/>
                <a:cs typeface="Times New Roman"/>
              </a:rPr>
              <a:t>&gt;</a:t>
            </a:r>
            <a:r>
              <a:rPr dirty="0" sz="165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254">
                <a:solidFill>
                  <a:srgbClr val="334054"/>
                </a:solidFill>
                <a:latin typeface="Times New Roman"/>
                <a:cs typeface="Times New Roman"/>
              </a:rPr>
              <a:t>20)</a:t>
            </a:r>
            <a:r>
              <a:rPr dirty="0" sz="16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00" spc="165" b="1">
                <a:solidFill>
                  <a:srgbClr val="D63A49"/>
                </a:solidFill>
                <a:latin typeface="Times New Roman"/>
                <a:cs typeface="Times New Roman"/>
              </a:rPr>
              <a:t>throw</a:t>
            </a:r>
            <a:r>
              <a:rPr dirty="0" sz="160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00" spc="65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600" spc="10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600" spc="285">
                <a:solidFill>
                  <a:srgbClr val="005CC4"/>
                </a:solidFill>
                <a:latin typeface="Times New Roman"/>
                <a:cs typeface="Times New Roman"/>
              </a:rPr>
              <a:t>IllegalArgumentException</a:t>
            </a:r>
            <a:r>
              <a:rPr dirty="0" sz="1650" spc="28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550" spc="285">
                <a:solidFill>
                  <a:srgbClr val="21863A"/>
                </a:solidFill>
                <a:latin typeface="Times New Roman"/>
                <a:cs typeface="Times New Roman"/>
              </a:rPr>
              <a:t>"0-</a:t>
            </a:r>
            <a:r>
              <a:rPr dirty="0" sz="1550" spc="355">
                <a:solidFill>
                  <a:srgbClr val="21863A"/>
                </a:solidFill>
                <a:latin typeface="Times New Roman"/>
                <a:cs typeface="Times New Roman"/>
              </a:rPr>
              <a:t>20!"</a:t>
            </a:r>
            <a:r>
              <a:rPr dirty="0" sz="1650" spc="355">
                <a:solidFill>
                  <a:srgbClr val="334054"/>
                </a:solidFill>
                <a:latin typeface="Times New Roman"/>
                <a:cs typeface="Times New Roman"/>
              </a:rPr>
              <a:t>); </a:t>
            </a:r>
            <a:r>
              <a:rPr dirty="0" sz="1600" spc="265">
                <a:solidFill>
                  <a:srgbClr val="005CC4"/>
                </a:solidFill>
                <a:latin typeface="Times New Roman"/>
                <a:cs typeface="Times New Roman"/>
              </a:rPr>
              <a:t>Objects</a:t>
            </a:r>
            <a:r>
              <a:rPr dirty="0" sz="1650" spc="265">
                <a:solidFill>
                  <a:srgbClr val="334054"/>
                </a:solidFill>
                <a:latin typeface="Times New Roman"/>
                <a:cs typeface="Times New Roman"/>
              </a:rPr>
              <a:t>.requireNonNull(commentaire);</a:t>
            </a:r>
            <a:r>
              <a:rPr dirty="0" sz="16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750" spc="50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7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160" i="1">
                <a:solidFill>
                  <a:srgbClr val="6A737D"/>
                </a:solidFill>
                <a:latin typeface="Times New Roman"/>
                <a:cs typeface="Times New Roman"/>
              </a:rPr>
              <a:t>Jamais</a:t>
            </a:r>
            <a:r>
              <a:rPr dirty="0" sz="17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355" i="1">
                <a:solidFill>
                  <a:srgbClr val="6A737D"/>
                </a:solidFill>
                <a:latin typeface="Times New Roman"/>
                <a:cs typeface="Times New Roman"/>
              </a:rPr>
              <a:t>null,</a:t>
            </a:r>
            <a:r>
              <a:rPr dirty="0" sz="1750" spc="7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35" i="1">
                <a:solidFill>
                  <a:srgbClr val="6A737D"/>
                </a:solidFill>
                <a:latin typeface="Times New Roman"/>
                <a:cs typeface="Times New Roman"/>
              </a:rPr>
              <a:t>Optional.empty()</a:t>
            </a:r>
            <a:r>
              <a:rPr dirty="0" sz="17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135" i="1">
                <a:solidFill>
                  <a:srgbClr val="6A737D"/>
                </a:solidFill>
                <a:latin typeface="Times New Roman"/>
                <a:cs typeface="Times New Roman"/>
              </a:rPr>
              <a:t>ok</a:t>
            </a:r>
            <a:endParaRPr sz="1750">
              <a:latin typeface="Times New Roman"/>
              <a:cs typeface="Times New Roman"/>
            </a:endParaRPr>
          </a:p>
          <a:p>
            <a:pPr marL="715645">
              <a:lnSpc>
                <a:spcPct val="100000"/>
              </a:lnSpc>
              <a:spcBef>
                <a:spcPts val="475"/>
              </a:spcBef>
            </a:pPr>
            <a:r>
              <a:rPr dirty="0" sz="1650" spc="195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032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11281121" y="6596729"/>
            <a:ext cx="447675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19"/>
              </a:lnSpc>
            </a:pPr>
            <a:r>
              <a:rPr dirty="0" sz="1000" b="1">
                <a:solidFill>
                  <a:srgbClr val="64738B"/>
                </a:solidFill>
                <a:latin typeface="Arial"/>
                <a:cs typeface="Arial"/>
              </a:rPr>
              <a:t>30</a:t>
            </a:r>
            <a:r>
              <a:rPr dirty="0" sz="1000" spc="25" b="1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000" spc="110" b="1">
                <a:solidFill>
                  <a:srgbClr val="64738B"/>
                </a:solidFill>
                <a:latin typeface="Arial"/>
                <a:cs typeface="Arial"/>
              </a:rPr>
              <a:t>/</a:t>
            </a:r>
            <a:r>
              <a:rPr dirty="0" sz="1000" spc="25" b="1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64738B"/>
                </a:solidFill>
                <a:latin typeface="Arial"/>
                <a:cs typeface="Arial"/>
              </a:rPr>
              <a:t>35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69504" y="3635216"/>
            <a:ext cx="7192645" cy="6419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600" spc="21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600" spc="10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600" spc="275">
                <a:solidFill>
                  <a:srgbClr val="6F41C1"/>
                </a:solidFill>
                <a:latin typeface="Times New Roman"/>
                <a:cs typeface="Times New Roman"/>
              </a:rPr>
              <a:t>getMention</a:t>
            </a:r>
            <a:r>
              <a:rPr dirty="0" sz="1650" spc="275">
                <a:solidFill>
                  <a:srgbClr val="334054"/>
                </a:solidFill>
                <a:latin typeface="Times New Roman"/>
                <a:cs typeface="Times New Roman"/>
              </a:rPr>
              <a:t>()</a:t>
            </a:r>
            <a:r>
              <a:rPr dirty="0" sz="1650" spc="10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650" spc="145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600" spc="270">
                <a:solidFill>
                  <a:srgbClr val="005CC4"/>
                </a:solidFill>
                <a:latin typeface="Times New Roman"/>
                <a:cs typeface="Times New Roman"/>
              </a:rPr>
              <a:t>Mention</a:t>
            </a:r>
            <a:r>
              <a:rPr dirty="0" sz="1650" spc="270">
                <a:solidFill>
                  <a:srgbClr val="334054"/>
                </a:solidFill>
                <a:latin typeface="Times New Roman"/>
                <a:cs typeface="Times New Roman"/>
              </a:rPr>
              <a:t>.fromNote(valeur);</a:t>
            </a:r>
            <a:r>
              <a:rPr dirty="0" sz="16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750" spc="50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7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95" i="1">
                <a:solidFill>
                  <a:srgbClr val="6A737D"/>
                </a:solidFill>
                <a:latin typeface="Times New Roman"/>
                <a:cs typeface="Times New Roman"/>
              </a:rPr>
              <a:t>Réutilisation</a:t>
            </a:r>
            <a:r>
              <a:rPr dirty="0" sz="1750" spc="7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35" i="1">
                <a:solidFill>
                  <a:srgbClr val="6A737D"/>
                </a:solidFill>
                <a:latin typeface="Times New Roman"/>
                <a:cs typeface="Times New Roman"/>
              </a:rPr>
              <a:t>logique</a:t>
            </a:r>
            <a:r>
              <a:rPr dirty="0" sz="175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29" i="1">
                <a:solidFill>
                  <a:srgbClr val="6A737D"/>
                </a:solidFill>
                <a:latin typeface="Times New Roman"/>
                <a:cs typeface="Times New Roman"/>
              </a:rPr>
              <a:t>métier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89334" y="3619548"/>
            <a:ext cx="779780" cy="969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8899"/>
              </a:lnSpc>
              <a:spcBef>
                <a:spcPts val="95"/>
              </a:spcBef>
            </a:pPr>
            <a:r>
              <a:rPr dirty="0" sz="1600" spc="265" b="1">
                <a:solidFill>
                  <a:srgbClr val="D63A49"/>
                </a:solidFill>
                <a:latin typeface="Times New Roman"/>
                <a:cs typeface="Times New Roman"/>
              </a:rPr>
              <a:t>public </a:t>
            </a:r>
            <a:r>
              <a:rPr dirty="0" sz="1600" spc="235" b="1">
                <a:solidFill>
                  <a:srgbClr val="D63A49"/>
                </a:solidFill>
                <a:latin typeface="Times New Roman"/>
                <a:cs typeface="Times New Roman"/>
              </a:rPr>
              <a:t>return</a:t>
            </a:r>
            <a:endParaRPr sz="1600">
              <a:latin typeface="Times New Roman"/>
              <a:cs typeface="Times New Roman"/>
            </a:endParaRPr>
          </a:p>
          <a:p>
            <a:pPr algn="ctr" marL="125095">
              <a:lnSpc>
                <a:spcPct val="100000"/>
              </a:lnSpc>
              <a:spcBef>
                <a:spcPts val="505"/>
              </a:spcBef>
            </a:pPr>
            <a:r>
              <a:rPr dirty="0" sz="1650" spc="195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63574" y="4578191"/>
            <a:ext cx="7821295" cy="6419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650" spc="195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750" spc="500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7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90" i="1">
                <a:solidFill>
                  <a:srgbClr val="6A737D"/>
                </a:solidFill>
                <a:latin typeface="Times New Roman"/>
                <a:cs typeface="Times New Roman"/>
              </a:rPr>
              <a:t>Usage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400" i="1">
                <a:solidFill>
                  <a:srgbClr val="6A737D"/>
                </a:solidFill>
                <a:latin typeface="Times New Roman"/>
                <a:cs typeface="Times New Roman"/>
              </a:rPr>
              <a:t>:</a:t>
            </a:r>
            <a:r>
              <a:rPr dirty="0" sz="17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10" i="1">
                <a:solidFill>
                  <a:srgbClr val="6A737D"/>
                </a:solidFill>
                <a:latin typeface="Times New Roman"/>
                <a:cs typeface="Times New Roman"/>
              </a:rPr>
              <a:t>var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110" i="1">
                <a:solidFill>
                  <a:srgbClr val="6A737D"/>
                </a:solidFill>
                <a:latin typeface="Times New Roman"/>
                <a:cs typeface="Times New Roman"/>
              </a:rPr>
              <a:t>n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i="1">
                <a:solidFill>
                  <a:srgbClr val="6A737D"/>
                </a:solidFill>
                <a:latin typeface="Times New Roman"/>
                <a:cs typeface="Times New Roman"/>
              </a:rPr>
              <a:t>=</a:t>
            </a:r>
            <a:r>
              <a:rPr dirty="0" sz="17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i="1">
                <a:solidFill>
                  <a:srgbClr val="6A737D"/>
                </a:solidFill>
                <a:latin typeface="Times New Roman"/>
                <a:cs typeface="Times New Roman"/>
              </a:rPr>
              <a:t>new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45" i="1">
                <a:solidFill>
                  <a:srgbClr val="6A737D"/>
                </a:solidFill>
                <a:latin typeface="Times New Roman"/>
                <a:cs typeface="Times New Roman"/>
              </a:rPr>
              <a:t>Note(15.5,</a:t>
            </a:r>
            <a:r>
              <a:rPr dirty="0" sz="1750" spc="5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225" i="1">
                <a:solidFill>
                  <a:srgbClr val="6A737D"/>
                </a:solidFill>
                <a:latin typeface="Times New Roman"/>
                <a:cs typeface="Times New Roman"/>
              </a:rPr>
              <a:t>Optional.of("Bon</a:t>
            </a:r>
            <a:r>
              <a:rPr dirty="0" sz="175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750" spc="325" i="1">
                <a:solidFill>
                  <a:srgbClr val="6A737D"/>
                </a:solidFill>
                <a:latin typeface="Times New Roman"/>
                <a:cs typeface="Times New Roman"/>
              </a:rPr>
              <a:t>travail"));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31.</a:t>
            </a:r>
            <a:r>
              <a:rPr dirty="0" spc="-45"/>
              <a:t> </a:t>
            </a:r>
            <a:r>
              <a:rPr dirty="0" spc="-80"/>
              <a:t>Fil</a:t>
            </a:r>
            <a:r>
              <a:rPr dirty="0" spc="-45"/>
              <a:t> </a:t>
            </a:r>
            <a:r>
              <a:rPr dirty="0" spc="-114"/>
              <a:t>rouge</a:t>
            </a:r>
            <a:r>
              <a:rPr dirty="0" spc="-45"/>
              <a:t> </a:t>
            </a:r>
            <a:r>
              <a:rPr dirty="0" spc="-650"/>
              <a:t>—</a:t>
            </a:r>
            <a:r>
              <a:rPr dirty="0" spc="-45"/>
              <a:t> </a:t>
            </a:r>
            <a:r>
              <a:rPr dirty="0" spc="-100"/>
              <a:t>ModuleRecord</a:t>
            </a:r>
            <a:r>
              <a:rPr dirty="0" spc="-40"/>
              <a:t> </a:t>
            </a:r>
            <a:r>
              <a:rPr dirty="0" spc="-120"/>
              <a:t>+ </a:t>
            </a:r>
            <a:r>
              <a:rPr dirty="0" spc="-85"/>
              <a:t>TypeModule</a:t>
            </a:r>
            <a:r>
              <a:rPr dirty="0" spc="-45"/>
              <a:t> </a:t>
            </a:r>
            <a:r>
              <a:rPr dirty="0" spc="-120"/>
              <a:t>+</a:t>
            </a:r>
            <a:r>
              <a:rPr dirty="0" spc="-45"/>
              <a:t> </a:t>
            </a:r>
            <a:r>
              <a:rPr dirty="0" spc="-25"/>
              <a:t>dates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35863" y="5638800"/>
            <a:ext cx="5633085" cy="582295"/>
            <a:chOff x="435863" y="5638800"/>
            <a:chExt cx="5633085" cy="582295"/>
          </a:xfrm>
        </p:grpSpPr>
        <p:sp>
          <p:nvSpPr>
            <p:cNvPr id="4" name="object 4" descr=""/>
            <p:cNvSpPr/>
            <p:nvPr/>
          </p:nvSpPr>
          <p:spPr>
            <a:xfrm>
              <a:off x="435863" y="5638800"/>
              <a:ext cx="5633085" cy="582295"/>
            </a:xfrm>
            <a:custGeom>
              <a:avLst/>
              <a:gdLst/>
              <a:ahLst/>
              <a:cxnLst/>
              <a:rect l="l" t="t" r="r" b="b"/>
              <a:pathLst>
                <a:path w="5633085" h="582295">
                  <a:moveTo>
                    <a:pt x="5632704" y="582168"/>
                  </a:moveTo>
                  <a:lnTo>
                    <a:pt x="0" y="582168"/>
                  </a:lnTo>
                  <a:lnTo>
                    <a:pt x="0" y="0"/>
                  </a:lnTo>
                  <a:lnTo>
                    <a:pt x="5632704" y="0"/>
                  </a:lnTo>
                  <a:lnTo>
                    <a:pt x="5632704" y="38099"/>
                  </a:lnTo>
                  <a:lnTo>
                    <a:pt x="97535" y="38099"/>
                  </a:lnTo>
                  <a:lnTo>
                    <a:pt x="88033" y="38971"/>
                  </a:lnTo>
                  <a:lnTo>
                    <a:pt x="53398" y="67441"/>
                  </a:lnTo>
                  <a:lnTo>
                    <a:pt x="49910" y="85724"/>
                  </a:lnTo>
                  <a:lnTo>
                    <a:pt x="49910" y="476249"/>
                  </a:lnTo>
                  <a:lnTo>
                    <a:pt x="71195" y="516028"/>
                  </a:lnTo>
                  <a:lnTo>
                    <a:pt x="97535" y="523874"/>
                  </a:lnTo>
                  <a:lnTo>
                    <a:pt x="5632704" y="523874"/>
                  </a:lnTo>
                  <a:lnTo>
                    <a:pt x="5632704" y="582168"/>
                  </a:lnTo>
                  <a:close/>
                </a:path>
                <a:path w="5633085" h="582295">
                  <a:moveTo>
                    <a:pt x="5632704" y="523874"/>
                  </a:moveTo>
                  <a:lnTo>
                    <a:pt x="5536310" y="523874"/>
                  </a:lnTo>
                  <a:lnTo>
                    <a:pt x="5545812" y="523002"/>
                  </a:lnTo>
                  <a:lnTo>
                    <a:pt x="5554592" y="520387"/>
                  </a:lnTo>
                  <a:lnTo>
                    <a:pt x="5583063" y="485751"/>
                  </a:lnTo>
                  <a:lnTo>
                    <a:pt x="5583935" y="476249"/>
                  </a:lnTo>
                  <a:lnTo>
                    <a:pt x="5583935" y="85724"/>
                  </a:lnTo>
                  <a:lnTo>
                    <a:pt x="5562650" y="45945"/>
                  </a:lnTo>
                  <a:lnTo>
                    <a:pt x="5536310" y="38099"/>
                  </a:lnTo>
                  <a:lnTo>
                    <a:pt x="5632704" y="38099"/>
                  </a:lnTo>
                  <a:lnTo>
                    <a:pt x="5632704" y="52387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0062" y="5667374"/>
              <a:ext cx="5529580" cy="504825"/>
            </a:xfrm>
            <a:custGeom>
              <a:avLst/>
              <a:gdLst/>
              <a:ahLst/>
              <a:cxnLst/>
              <a:rect l="l" t="t" r="r" b="b"/>
              <a:pathLst>
                <a:path w="5529580" h="504825">
                  <a:moveTo>
                    <a:pt x="5475864" y="504824"/>
                  </a:moveTo>
                  <a:lnTo>
                    <a:pt x="28916" y="504824"/>
                  </a:lnTo>
                  <a:lnTo>
                    <a:pt x="845" y="462543"/>
                  </a:lnTo>
                  <a:lnTo>
                    <a:pt x="0" y="455252"/>
                  </a:lnTo>
                  <a:lnTo>
                    <a:pt x="0" y="447674"/>
                  </a:lnTo>
                  <a:lnTo>
                    <a:pt x="0" y="49570"/>
                  </a:lnTo>
                  <a:lnTo>
                    <a:pt x="12890" y="11378"/>
                  </a:lnTo>
                  <a:lnTo>
                    <a:pt x="28916" y="0"/>
                  </a:lnTo>
                  <a:lnTo>
                    <a:pt x="5475864" y="0"/>
                  </a:lnTo>
                  <a:lnTo>
                    <a:pt x="5515176" y="19391"/>
                  </a:lnTo>
                  <a:lnTo>
                    <a:pt x="5529261" y="53397"/>
                  </a:lnTo>
                  <a:lnTo>
                    <a:pt x="5529261" y="451427"/>
                  </a:lnTo>
                  <a:lnTo>
                    <a:pt x="5509869" y="490739"/>
                  </a:lnTo>
                  <a:lnTo>
                    <a:pt x="5479580" y="504458"/>
                  </a:lnTo>
                  <a:lnTo>
                    <a:pt x="5475864" y="50482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249" y="5667374"/>
              <a:ext cx="54610" cy="504825"/>
            </a:xfrm>
            <a:custGeom>
              <a:avLst/>
              <a:gdLst/>
              <a:ahLst/>
              <a:cxnLst/>
              <a:rect l="l" t="t" r="r" b="b"/>
              <a:pathLst>
                <a:path w="54609" h="504825">
                  <a:moveTo>
                    <a:pt x="54519" y="504824"/>
                  </a:moveTo>
                  <a:lnTo>
                    <a:pt x="49571" y="504824"/>
                  </a:lnTo>
                  <a:lnTo>
                    <a:pt x="42281" y="503373"/>
                  </a:lnTo>
                  <a:lnTo>
                    <a:pt x="7250" y="476546"/>
                  </a:lnTo>
                  <a:lnTo>
                    <a:pt x="0" y="455252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47674"/>
                  </a:lnTo>
                  <a:lnTo>
                    <a:pt x="50414" y="488085"/>
                  </a:lnTo>
                  <a:lnTo>
                    <a:pt x="52274" y="499244"/>
                  </a:lnTo>
                  <a:lnTo>
                    <a:pt x="54519" y="504824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5822949"/>
              <a:ext cx="190500" cy="1936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9800" y="5788592"/>
            <a:ext cx="470979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2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2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13532D"/>
                </a:solidFill>
                <a:latin typeface="Arial"/>
                <a:cs typeface="Arial"/>
              </a:rPr>
              <a:t>Validez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toujours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532D"/>
                </a:solidFill>
                <a:latin typeface="Arial"/>
                <a:cs typeface="Arial"/>
              </a:rPr>
              <a:t>la</a:t>
            </a:r>
            <a:r>
              <a:rPr dirty="0" sz="1400" spc="-40">
                <a:solidFill>
                  <a:srgbClr val="13532D"/>
                </a:solidFill>
                <a:latin typeface="Arial"/>
                <a:cs typeface="Arial"/>
              </a:rPr>
              <a:t> cohérence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3532D"/>
                </a:solidFill>
                <a:latin typeface="Arial"/>
                <a:cs typeface="Arial"/>
              </a:rPr>
              <a:t>temporelle</a:t>
            </a:r>
            <a:r>
              <a:rPr dirty="0" sz="140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3532D"/>
                </a:solidFill>
                <a:latin typeface="Arial"/>
                <a:cs typeface="Arial"/>
              </a:rPr>
              <a:t>(start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45">
                <a:solidFill>
                  <a:srgbClr val="13532D"/>
                </a:solidFill>
                <a:latin typeface="Arial"/>
                <a:cs typeface="Arial"/>
              </a:rPr>
              <a:t>&lt;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end).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32576" y="5638800"/>
            <a:ext cx="5623560" cy="582295"/>
            <a:chOff x="6132576" y="5638800"/>
            <a:chExt cx="5623560" cy="582295"/>
          </a:xfrm>
        </p:grpSpPr>
        <p:sp>
          <p:nvSpPr>
            <p:cNvPr id="10" name="object 10" descr=""/>
            <p:cNvSpPr/>
            <p:nvPr/>
          </p:nvSpPr>
          <p:spPr>
            <a:xfrm>
              <a:off x="6132576" y="5638800"/>
              <a:ext cx="5623560" cy="582295"/>
            </a:xfrm>
            <a:custGeom>
              <a:avLst/>
              <a:gdLst/>
              <a:ahLst/>
              <a:cxnLst/>
              <a:rect l="l" t="t" r="r" b="b"/>
              <a:pathLst>
                <a:path w="5623559" h="582295">
                  <a:moveTo>
                    <a:pt x="5623560" y="582168"/>
                  </a:moveTo>
                  <a:lnTo>
                    <a:pt x="0" y="582168"/>
                  </a:lnTo>
                  <a:lnTo>
                    <a:pt x="0" y="0"/>
                  </a:lnTo>
                  <a:lnTo>
                    <a:pt x="5623560" y="0"/>
                  </a:lnTo>
                  <a:lnTo>
                    <a:pt x="5623560" y="38099"/>
                  </a:lnTo>
                  <a:lnTo>
                    <a:pt x="96773" y="38099"/>
                  </a:lnTo>
                  <a:lnTo>
                    <a:pt x="87271" y="38971"/>
                  </a:lnTo>
                  <a:lnTo>
                    <a:pt x="52635" y="67441"/>
                  </a:lnTo>
                  <a:lnTo>
                    <a:pt x="49148" y="85724"/>
                  </a:lnTo>
                  <a:lnTo>
                    <a:pt x="49148" y="476249"/>
                  </a:lnTo>
                  <a:lnTo>
                    <a:pt x="70433" y="516028"/>
                  </a:lnTo>
                  <a:lnTo>
                    <a:pt x="96773" y="523874"/>
                  </a:lnTo>
                  <a:lnTo>
                    <a:pt x="5623560" y="523874"/>
                  </a:lnTo>
                  <a:lnTo>
                    <a:pt x="5623560" y="582168"/>
                  </a:lnTo>
                  <a:close/>
                </a:path>
                <a:path w="5623559" h="582295">
                  <a:moveTo>
                    <a:pt x="5623560" y="523874"/>
                  </a:moveTo>
                  <a:lnTo>
                    <a:pt x="5526023" y="523874"/>
                  </a:lnTo>
                  <a:lnTo>
                    <a:pt x="5535525" y="523002"/>
                  </a:lnTo>
                  <a:lnTo>
                    <a:pt x="5544305" y="520387"/>
                  </a:lnTo>
                  <a:lnTo>
                    <a:pt x="5572776" y="485751"/>
                  </a:lnTo>
                  <a:lnTo>
                    <a:pt x="5573648" y="476249"/>
                  </a:lnTo>
                  <a:lnTo>
                    <a:pt x="5573648" y="85724"/>
                  </a:lnTo>
                  <a:lnTo>
                    <a:pt x="5552363" y="45945"/>
                  </a:lnTo>
                  <a:lnTo>
                    <a:pt x="5526023" y="38099"/>
                  </a:lnTo>
                  <a:lnTo>
                    <a:pt x="5623560" y="38099"/>
                  </a:lnTo>
                  <a:lnTo>
                    <a:pt x="5623560" y="52387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96011" y="5667374"/>
              <a:ext cx="5520055" cy="504825"/>
            </a:xfrm>
            <a:custGeom>
              <a:avLst/>
              <a:gdLst/>
              <a:ahLst/>
              <a:cxnLst/>
              <a:rect l="l" t="t" r="r" b="b"/>
              <a:pathLst>
                <a:path w="5520055" h="504825">
                  <a:moveTo>
                    <a:pt x="5466338" y="504824"/>
                  </a:moveTo>
                  <a:lnTo>
                    <a:pt x="28916" y="504824"/>
                  </a:lnTo>
                  <a:lnTo>
                    <a:pt x="845" y="462543"/>
                  </a:lnTo>
                  <a:lnTo>
                    <a:pt x="0" y="455252"/>
                  </a:lnTo>
                  <a:lnTo>
                    <a:pt x="0" y="447674"/>
                  </a:lnTo>
                  <a:lnTo>
                    <a:pt x="0" y="49570"/>
                  </a:lnTo>
                  <a:lnTo>
                    <a:pt x="12889" y="11378"/>
                  </a:lnTo>
                  <a:lnTo>
                    <a:pt x="28916" y="0"/>
                  </a:lnTo>
                  <a:lnTo>
                    <a:pt x="5466338" y="0"/>
                  </a:lnTo>
                  <a:lnTo>
                    <a:pt x="5505651" y="19391"/>
                  </a:lnTo>
                  <a:lnTo>
                    <a:pt x="5519736" y="53397"/>
                  </a:lnTo>
                  <a:lnTo>
                    <a:pt x="5519736" y="451427"/>
                  </a:lnTo>
                  <a:lnTo>
                    <a:pt x="5500342" y="490739"/>
                  </a:lnTo>
                  <a:lnTo>
                    <a:pt x="5470054" y="504458"/>
                  </a:lnTo>
                  <a:lnTo>
                    <a:pt x="5466338" y="5048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172199" y="5667374"/>
              <a:ext cx="54610" cy="504825"/>
            </a:xfrm>
            <a:custGeom>
              <a:avLst/>
              <a:gdLst/>
              <a:ahLst/>
              <a:cxnLst/>
              <a:rect l="l" t="t" r="r" b="b"/>
              <a:pathLst>
                <a:path w="54610" h="504825">
                  <a:moveTo>
                    <a:pt x="54519" y="504824"/>
                  </a:moveTo>
                  <a:lnTo>
                    <a:pt x="49570" y="504824"/>
                  </a:lnTo>
                  <a:lnTo>
                    <a:pt x="42280" y="503373"/>
                  </a:lnTo>
                  <a:lnTo>
                    <a:pt x="7249" y="476546"/>
                  </a:lnTo>
                  <a:lnTo>
                    <a:pt x="0" y="455254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447674"/>
                  </a:lnTo>
                  <a:lnTo>
                    <a:pt x="50414" y="488085"/>
                  </a:lnTo>
                  <a:lnTo>
                    <a:pt x="52274" y="499244"/>
                  </a:lnTo>
                  <a:lnTo>
                    <a:pt x="54519" y="5048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1112" y="5822949"/>
              <a:ext cx="136525" cy="19367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6583362" y="5786266"/>
            <a:ext cx="4977765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30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2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Monaco"/>
                <a:cs typeface="Monaco"/>
              </a:rPr>
              <a:t>LocalDate</a:t>
            </a:r>
            <a:r>
              <a:rPr dirty="0" sz="1350" spc="-470">
                <a:solidFill>
                  <a:srgbClr val="1D3A8A"/>
                </a:solidFill>
                <a:latin typeface="Monaco"/>
                <a:cs typeface="Monaco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étant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immuable,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le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record</a:t>
            </a:r>
            <a:r>
              <a:rPr dirty="0" sz="1350" spc="-4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D3A8A"/>
                </a:solidFill>
                <a:latin typeface="Arial"/>
                <a:cs typeface="Arial"/>
              </a:rPr>
              <a:t>reste</a:t>
            </a:r>
            <a:r>
              <a:rPr dirty="0" sz="1350" spc="-4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1D3A8A"/>
                </a:solidFill>
                <a:latin typeface="Arial"/>
                <a:cs typeface="Arial"/>
              </a:rPr>
              <a:t>thread-</a:t>
            </a:r>
            <a:r>
              <a:rPr dirty="0" sz="1350" spc="-10">
                <a:solidFill>
                  <a:srgbClr val="1D3A8A"/>
                </a:solidFill>
                <a:latin typeface="Arial"/>
                <a:cs typeface="Arial"/>
              </a:rPr>
              <a:t>safe.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420624" y="2231136"/>
            <a:ext cx="11351260" cy="3270885"/>
            <a:chOff x="420624" y="2231136"/>
            <a:chExt cx="11351260" cy="3270885"/>
          </a:xfrm>
        </p:grpSpPr>
        <p:sp>
          <p:nvSpPr>
            <p:cNvPr id="17" name="object 17" descr=""/>
            <p:cNvSpPr/>
            <p:nvPr/>
          </p:nvSpPr>
          <p:spPr>
            <a:xfrm>
              <a:off x="420624" y="2231136"/>
              <a:ext cx="11351260" cy="3270885"/>
            </a:xfrm>
            <a:custGeom>
              <a:avLst/>
              <a:gdLst/>
              <a:ahLst/>
              <a:cxnLst/>
              <a:rect l="l" t="t" r="r" b="b"/>
              <a:pathLst>
                <a:path w="11351260" h="3270885">
                  <a:moveTo>
                    <a:pt x="11350752" y="3270504"/>
                  </a:moveTo>
                  <a:lnTo>
                    <a:pt x="0" y="3270504"/>
                  </a:lnTo>
                  <a:lnTo>
                    <a:pt x="0" y="0"/>
                  </a:lnTo>
                  <a:lnTo>
                    <a:pt x="11350752" y="0"/>
                  </a:lnTo>
                  <a:lnTo>
                    <a:pt x="11350752" y="45338"/>
                  </a:lnTo>
                  <a:lnTo>
                    <a:pt x="131825" y="45338"/>
                  </a:lnTo>
                  <a:lnTo>
                    <a:pt x="125257" y="45655"/>
                  </a:lnTo>
                  <a:lnTo>
                    <a:pt x="89548" y="60447"/>
                  </a:lnTo>
                  <a:lnTo>
                    <a:pt x="68005" y="92687"/>
                  </a:lnTo>
                  <a:lnTo>
                    <a:pt x="65150" y="112013"/>
                  </a:lnTo>
                  <a:lnTo>
                    <a:pt x="65150" y="3121913"/>
                  </a:lnTo>
                  <a:lnTo>
                    <a:pt x="76377" y="3158962"/>
                  </a:lnTo>
                  <a:lnTo>
                    <a:pt x="106310" y="3183512"/>
                  </a:lnTo>
                  <a:lnTo>
                    <a:pt x="131825" y="3188588"/>
                  </a:lnTo>
                  <a:lnTo>
                    <a:pt x="11350752" y="3188588"/>
                  </a:lnTo>
                  <a:lnTo>
                    <a:pt x="11350752" y="3270504"/>
                  </a:lnTo>
                  <a:close/>
                </a:path>
                <a:path w="11351260" h="3270885">
                  <a:moveTo>
                    <a:pt x="11350752" y="3188588"/>
                  </a:moveTo>
                  <a:lnTo>
                    <a:pt x="11218925" y="3188588"/>
                  </a:lnTo>
                  <a:lnTo>
                    <a:pt x="11225493" y="3188271"/>
                  </a:lnTo>
                  <a:lnTo>
                    <a:pt x="11231935" y="3187319"/>
                  </a:lnTo>
                  <a:lnTo>
                    <a:pt x="11266071" y="3169059"/>
                  </a:lnTo>
                  <a:lnTo>
                    <a:pt x="11284331" y="3134923"/>
                  </a:lnTo>
                  <a:lnTo>
                    <a:pt x="11285600" y="3121913"/>
                  </a:lnTo>
                  <a:lnTo>
                    <a:pt x="11285600" y="112013"/>
                  </a:lnTo>
                  <a:lnTo>
                    <a:pt x="11274372" y="74963"/>
                  </a:lnTo>
                  <a:lnTo>
                    <a:pt x="11244439" y="50413"/>
                  </a:lnTo>
                  <a:lnTo>
                    <a:pt x="11218925" y="45338"/>
                  </a:lnTo>
                  <a:lnTo>
                    <a:pt x="11350752" y="45338"/>
                  </a:lnTo>
                  <a:lnTo>
                    <a:pt x="11350752" y="318858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1012" y="2271712"/>
              <a:ext cx="11229975" cy="3152775"/>
            </a:xfrm>
            <a:custGeom>
              <a:avLst/>
              <a:gdLst/>
              <a:ahLst/>
              <a:cxnLst/>
              <a:rect l="l" t="t" r="r" b="b"/>
              <a:pathLst>
                <a:path w="11229975" h="3152775">
                  <a:moveTo>
                    <a:pt x="11163227" y="3152774"/>
                  </a:moveTo>
                  <a:lnTo>
                    <a:pt x="66746" y="3152774"/>
                  </a:lnTo>
                  <a:lnTo>
                    <a:pt x="62101" y="3152316"/>
                  </a:lnTo>
                  <a:lnTo>
                    <a:pt x="24240" y="3135167"/>
                  </a:lnTo>
                  <a:lnTo>
                    <a:pt x="2287" y="3099873"/>
                  </a:lnTo>
                  <a:lnTo>
                    <a:pt x="0" y="3086027"/>
                  </a:lnTo>
                  <a:lnTo>
                    <a:pt x="0" y="30813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1163227" y="0"/>
                  </a:lnTo>
                  <a:lnTo>
                    <a:pt x="11202123" y="14645"/>
                  </a:lnTo>
                  <a:lnTo>
                    <a:pt x="11226328" y="48432"/>
                  </a:lnTo>
                  <a:lnTo>
                    <a:pt x="11229972" y="66746"/>
                  </a:lnTo>
                  <a:lnTo>
                    <a:pt x="11229972" y="3086027"/>
                  </a:lnTo>
                  <a:lnTo>
                    <a:pt x="11215327" y="3124924"/>
                  </a:lnTo>
                  <a:lnTo>
                    <a:pt x="11181539" y="3149131"/>
                  </a:lnTo>
                  <a:lnTo>
                    <a:pt x="11167872" y="3152316"/>
                  </a:lnTo>
                  <a:lnTo>
                    <a:pt x="11163227" y="31527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1012" y="2271712"/>
              <a:ext cx="11229975" cy="3152775"/>
            </a:xfrm>
            <a:custGeom>
              <a:avLst/>
              <a:gdLst/>
              <a:ahLst/>
              <a:cxnLst/>
              <a:rect l="l" t="t" r="r" b="b"/>
              <a:pathLst>
                <a:path w="11229975" h="3152775">
                  <a:moveTo>
                    <a:pt x="0" y="30813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1158536" y="0"/>
                  </a:lnTo>
                  <a:lnTo>
                    <a:pt x="11163227" y="0"/>
                  </a:lnTo>
                  <a:lnTo>
                    <a:pt x="11167872" y="457"/>
                  </a:lnTo>
                  <a:lnTo>
                    <a:pt x="11198222" y="12039"/>
                  </a:lnTo>
                  <a:lnTo>
                    <a:pt x="11202123" y="14645"/>
                  </a:lnTo>
                  <a:lnTo>
                    <a:pt x="11217932" y="31748"/>
                  </a:lnTo>
                  <a:lnTo>
                    <a:pt x="11220538" y="35648"/>
                  </a:lnTo>
                  <a:lnTo>
                    <a:pt x="11229974" y="71437"/>
                  </a:lnTo>
                  <a:lnTo>
                    <a:pt x="11229974" y="3081337"/>
                  </a:lnTo>
                  <a:lnTo>
                    <a:pt x="11229972" y="3086027"/>
                  </a:lnTo>
                  <a:lnTo>
                    <a:pt x="11229514" y="3090672"/>
                  </a:lnTo>
                  <a:lnTo>
                    <a:pt x="11228599" y="3095272"/>
                  </a:lnTo>
                  <a:lnTo>
                    <a:pt x="11227684" y="3099873"/>
                  </a:lnTo>
                  <a:lnTo>
                    <a:pt x="11217932" y="3121024"/>
                  </a:lnTo>
                  <a:lnTo>
                    <a:pt x="11215327" y="3124924"/>
                  </a:lnTo>
                  <a:lnTo>
                    <a:pt x="11198222" y="3140734"/>
                  </a:lnTo>
                  <a:lnTo>
                    <a:pt x="11194322" y="3143340"/>
                  </a:lnTo>
                  <a:lnTo>
                    <a:pt x="11158536" y="3152774"/>
                  </a:lnTo>
                  <a:lnTo>
                    <a:pt x="71437" y="3152774"/>
                  </a:lnTo>
                  <a:lnTo>
                    <a:pt x="66746" y="3152774"/>
                  </a:lnTo>
                  <a:lnTo>
                    <a:pt x="62101" y="3152316"/>
                  </a:lnTo>
                  <a:lnTo>
                    <a:pt x="57500" y="3151401"/>
                  </a:lnTo>
                  <a:lnTo>
                    <a:pt x="52900" y="3150486"/>
                  </a:lnTo>
                  <a:lnTo>
                    <a:pt x="31748" y="3140734"/>
                  </a:lnTo>
                  <a:lnTo>
                    <a:pt x="27848" y="3138128"/>
                  </a:lnTo>
                  <a:lnTo>
                    <a:pt x="12039" y="3121024"/>
                  </a:lnTo>
                  <a:lnTo>
                    <a:pt x="9433" y="3117124"/>
                  </a:lnTo>
                  <a:lnTo>
                    <a:pt x="7232" y="3113007"/>
                  </a:lnTo>
                  <a:lnTo>
                    <a:pt x="5437" y="3108674"/>
                  </a:lnTo>
                  <a:lnTo>
                    <a:pt x="3642" y="3104340"/>
                  </a:lnTo>
                  <a:lnTo>
                    <a:pt x="2287" y="3099873"/>
                  </a:lnTo>
                  <a:lnTo>
                    <a:pt x="1372" y="3095272"/>
                  </a:lnTo>
                  <a:lnTo>
                    <a:pt x="457" y="3090672"/>
                  </a:lnTo>
                  <a:lnTo>
                    <a:pt x="0" y="3086027"/>
                  </a:lnTo>
                  <a:lnTo>
                    <a:pt x="0" y="30813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63550" y="806450"/>
            <a:ext cx="10099675" cy="330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Agrégation</a:t>
            </a:r>
            <a:r>
              <a:rPr dirty="0" sz="1350" spc="-3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données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immuables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cohérence</a:t>
            </a:r>
            <a:r>
              <a:rPr dirty="0" sz="1350" spc="-3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temporelle.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21300"/>
              </a:lnSpc>
              <a:spcBef>
                <a:spcPts val="1125"/>
              </a:spcBef>
            </a:pP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Le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record</a:t>
            </a:r>
            <a:r>
              <a:rPr dirty="0" sz="1700" spc="-8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Module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combine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nom,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un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TypeModule</a:t>
            </a:r>
            <a:r>
              <a:rPr dirty="0" sz="1650" spc="-585">
                <a:solidFill>
                  <a:srgbClr val="334054"/>
                </a:solidFill>
                <a:latin typeface="Monaco"/>
                <a:cs typeface="Monaco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(enum)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334054"/>
                </a:solidFill>
                <a:latin typeface="Arial"/>
                <a:cs typeface="Arial"/>
              </a:rPr>
              <a:t>une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période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334054"/>
                </a:solidFill>
                <a:latin typeface="Arial"/>
                <a:cs typeface="Arial"/>
              </a:rPr>
              <a:t>définie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par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34054"/>
                </a:solidFill>
                <a:latin typeface="Arial"/>
                <a:cs typeface="Arial"/>
              </a:rPr>
              <a:t>deux</a:t>
            </a:r>
            <a:r>
              <a:rPr dirty="0" sz="1700" spc="-7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Monaco"/>
                <a:cs typeface="Monaco"/>
              </a:rPr>
              <a:t>LocalDate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.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334054"/>
                </a:solidFill>
                <a:latin typeface="Arial"/>
                <a:cs typeface="Arial"/>
              </a:rPr>
              <a:t>Le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constructeur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compact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garantit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l'intégrité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dates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(début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65">
                <a:solidFill>
                  <a:srgbClr val="334054"/>
                </a:solidFill>
                <a:latin typeface="Arial"/>
                <a:cs typeface="Arial"/>
              </a:rPr>
              <a:t>&lt;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fin)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30">
                <a:solidFill>
                  <a:srgbClr val="334054"/>
                </a:solidFill>
                <a:latin typeface="Arial"/>
                <a:cs typeface="Arial"/>
              </a:rPr>
              <a:t>dès</a:t>
            </a:r>
            <a:r>
              <a:rPr dirty="0" sz="1700" spc="-6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700" spc="-6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34054"/>
                </a:solidFill>
                <a:latin typeface="Arial"/>
                <a:cs typeface="Arial"/>
              </a:rPr>
              <a:t>création.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278765" marR="4325620" indent="-114300">
              <a:lnSpc>
                <a:spcPct val="129299"/>
              </a:lnSpc>
              <a:spcBef>
                <a:spcPts val="1145"/>
              </a:spcBef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10" b="1">
                <a:solidFill>
                  <a:srgbClr val="D63A49"/>
                </a:solidFill>
                <a:latin typeface="Times New Roman"/>
                <a:cs typeface="Times New Roman"/>
              </a:rPr>
              <a:t>record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String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60">
                <a:solidFill>
                  <a:srgbClr val="334054"/>
                </a:solidFill>
                <a:latin typeface="Times New Roman"/>
                <a:cs typeface="Times New Roman"/>
              </a:rPr>
              <a:t>nom,</a:t>
            </a:r>
            <a:r>
              <a:rPr dirty="0" sz="145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45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15">
                <a:solidFill>
                  <a:srgbClr val="334054"/>
                </a:solidFill>
                <a:latin typeface="Times New Roman"/>
                <a:cs typeface="Times New Roman"/>
              </a:rPr>
              <a:t>type, </a:t>
            </a: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00">
                <a:solidFill>
                  <a:srgbClr val="334054"/>
                </a:solidFill>
                <a:latin typeface="Times New Roman"/>
                <a:cs typeface="Times New Roman"/>
              </a:rPr>
              <a:t>debut,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22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50" spc="10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375">
                <a:solidFill>
                  <a:srgbClr val="334054"/>
                </a:solidFill>
                <a:latin typeface="Times New Roman"/>
                <a:cs typeface="Times New Roman"/>
              </a:rPr>
              <a:t>fin)</a:t>
            </a:r>
            <a:r>
              <a:rPr dirty="0" sz="145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  <a:p>
            <a:pPr marL="278765" marR="6497320">
              <a:lnSpc>
                <a:spcPct val="129299"/>
              </a:lnSpc>
            </a:pPr>
            <a:r>
              <a:rPr dirty="0" sz="1450" spc="250" b="1">
                <a:solidFill>
                  <a:srgbClr val="D63A49"/>
                </a:solidFill>
                <a:latin typeface="Times New Roman"/>
                <a:cs typeface="Times New Roman"/>
              </a:rPr>
              <a:t>public</a:t>
            </a:r>
            <a:r>
              <a:rPr dirty="0" sz="14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14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 </a:t>
            </a:r>
            <a:r>
              <a:rPr dirty="0" sz="1450" spc="245">
                <a:solidFill>
                  <a:srgbClr val="005CC4"/>
                </a:solidFill>
                <a:latin typeface="Times New Roman"/>
                <a:cs typeface="Times New Roman"/>
              </a:rPr>
              <a:t>Objects</a:t>
            </a:r>
            <a:r>
              <a:rPr dirty="0" sz="1450" spc="245">
                <a:solidFill>
                  <a:srgbClr val="334054"/>
                </a:solidFill>
                <a:latin typeface="Times New Roman"/>
                <a:cs typeface="Times New Roman"/>
              </a:rPr>
              <a:t>.requireNonNull(nom); </a:t>
            </a:r>
            <a:r>
              <a:rPr dirty="0" sz="1450" spc="270">
                <a:solidFill>
                  <a:srgbClr val="005CC4"/>
                </a:solidFill>
                <a:latin typeface="Times New Roman"/>
                <a:cs typeface="Times New Roman"/>
              </a:rPr>
              <a:t>Objects</a:t>
            </a:r>
            <a:r>
              <a:rPr dirty="0" sz="1450" spc="270">
                <a:solidFill>
                  <a:srgbClr val="334054"/>
                </a:solidFill>
                <a:latin typeface="Times New Roman"/>
                <a:cs typeface="Times New Roman"/>
              </a:rPr>
              <a:t>.requireNonNull(type); </a:t>
            </a:r>
            <a:r>
              <a:rPr dirty="0" sz="1450" spc="455" b="1">
                <a:solidFill>
                  <a:srgbClr val="D63A49"/>
                </a:solidFill>
                <a:latin typeface="Times New Roman"/>
                <a:cs typeface="Times New Roman"/>
              </a:rPr>
              <a:t>if</a:t>
            </a:r>
            <a:r>
              <a:rPr dirty="0" sz="1450" spc="11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320">
                <a:solidFill>
                  <a:srgbClr val="334054"/>
                </a:solidFill>
                <a:latin typeface="Times New Roman"/>
                <a:cs typeface="Times New Roman"/>
              </a:rPr>
              <a:t>(fin.isBefore(debut))</a:t>
            </a:r>
            <a:r>
              <a:rPr dirty="0" sz="1450" spc="11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450" spc="150">
                <a:solidFill>
                  <a:srgbClr val="334054"/>
                </a:solidFill>
                <a:latin typeface="Times New Roman"/>
                <a:cs typeface="Times New Roman"/>
              </a:rPr>
              <a:t>{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31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5302249" y="4135056"/>
            <a:ext cx="1168400" cy="260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>
                <a:solidFill>
                  <a:srgbClr val="21863A"/>
                </a:solidFill>
                <a:latin typeface="Times New Roman"/>
                <a:cs typeface="Times New Roman"/>
              </a:rPr>
              <a:t>&lt;</a:t>
            </a:r>
            <a:r>
              <a:rPr dirty="0" sz="1550" spc="6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550" spc="220">
                <a:solidFill>
                  <a:srgbClr val="21863A"/>
                </a:solidFill>
                <a:latin typeface="Times New Roman"/>
                <a:cs typeface="Times New Roman"/>
              </a:rPr>
              <a:t>Début"</a:t>
            </a:r>
            <a:r>
              <a:rPr dirty="0" sz="1450" spc="22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15949" y="4072776"/>
            <a:ext cx="4597400" cy="11785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580"/>
              </a:spcBef>
            </a:pPr>
            <a:r>
              <a:rPr dirty="0" sz="1450" spc="150" b="1">
                <a:solidFill>
                  <a:srgbClr val="D63A49"/>
                </a:solidFill>
                <a:latin typeface="Times New Roman"/>
                <a:cs typeface="Times New Roman"/>
              </a:rPr>
              <a:t>throw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4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450" spc="240">
                <a:solidFill>
                  <a:srgbClr val="005CC4"/>
                </a:solidFill>
                <a:latin typeface="Times New Roman"/>
                <a:cs typeface="Times New Roman"/>
              </a:rPr>
              <a:t>IllegalArgumentException</a:t>
            </a:r>
            <a:r>
              <a:rPr dirty="0" sz="1450" spc="24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550" spc="240">
                <a:solidFill>
                  <a:srgbClr val="21863A"/>
                </a:solidFill>
                <a:latin typeface="Times New Roman"/>
                <a:cs typeface="Times New Roman"/>
              </a:rPr>
              <a:t>"Fin</a:t>
            </a:r>
            <a:endParaRPr sz="155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490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50" spc="200">
                <a:solidFill>
                  <a:srgbClr val="334054"/>
                </a:solidFill>
                <a:latin typeface="Times New Roman"/>
                <a:cs typeface="Times New Roman"/>
              </a:rPr>
              <a:t>}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32.</a:t>
            </a:r>
            <a:r>
              <a:rPr dirty="0" spc="-60"/>
              <a:t> </a:t>
            </a:r>
            <a:r>
              <a:rPr dirty="0" spc="-80"/>
              <a:t>Fil</a:t>
            </a:r>
            <a:r>
              <a:rPr dirty="0" spc="-60"/>
              <a:t> </a:t>
            </a:r>
            <a:r>
              <a:rPr dirty="0" spc="-114"/>
              <a:t>rouge</a:t>
            </a:r>
            <a:r>
              <a:rPr dirty="0" spc="-60"/>
              <a:t> </a:t>
            </a:r>
            <a:r>
              <a:rPr dirty="0" spc="-650"/>
              <a:t>—</a:t>
            </a:r>
            <a:r>
              <a:rPr dirty="0" spc="-55"/>
              <a:t> </a:t>
            </a:r>
            <a:r>
              <a:rPr dirty="0" spc="-65"/>
              <a:t>Intégration</a:t>
            </a:r>
            <a:r>
              <a:rPr dirty="0" spc="-60"/>
              <a:t> globale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779493"/>
            <a:ext cx="50114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114">
                <a:solidFill>
                  <a:srgbClr val="64738B"/>
                </a:solidFill>
                <a:latin typeface="Arial"/>
                <a:cs typeface="Arial"/>
              </a:rPr>
              <a:t>Assemblage</a:t>
            </a:r>
            <a:r>
              <a:rPr dirty="0" sz="15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114">
                <a:solidFill>
                  <a:srgbClr val="64738B"/>
                </a:solidFill>
                <a:latin typeface="Arial"/>
                <a:cs typeface="Arial"/>
              </a:rPr>
              <a:t>des</a:t>
            </a:r>
            <a:r>
              <a:rPr dirty="0" sz="15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100">
                <a:solidFill>
                  <a:srgbClr val="64738B"/>
                </a:solidFill>
                <a:latin typeface="Arial"/>
                <a:cs typeface="Arial"/>
              </a:rPr>
              <a:t>briques</a:t>
            </a:r>
            <a:r>
              <a:rPr dirty="0" sz="15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64738B"/>
                </a:solidFill>
                <a:latin typeface="Arial"/>
                <a:cs typeface="Arial"/>
              </a:rPr>
              <a:t>:</a:t>
            </a:r>
            <a:r>
              <a:rPr dirty="0" sz="155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64738B"/>
                </a:solidFill>
                <a:latin typeface="Arial"/>
                <a:cs typeface="Arial"/>
              </a:rPr>
              <a:t>Étudiant,</a:t>
            </a:r>
            <a:r>
              <a:rPr dirty="0" sz="15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85">
                <a:solidFill>
                  <a:srgbClr val="64738B"/>
                </a:solidFill>
                <a:latin typeface="Arial"/>
                <a:cs typeface="Arial"/>
              </a:rPr>
              <a:t>Inscription,</a:t>
            </a:r>
            <a:r>
              <a:rPr dirty="0" sz="15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100">
                <a:solidFill>
                  <a:srgbClr val="64738B"/>
                </a:solidFill>
                <a:latin typeface="Arial"/>
                <a:cs typeface="Arial"/>
              </a:rPr>
              <a:t>Notes</a:t>
            </a:r>
            <a:r>
              <a:rPr dirty="0" sz="15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55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64738B"/>
                </a:solidFill>
                <a:latin typeface="Arial"/>
                <a:cs typeface="Arial"/>
              </a:rPr>
              <a:t>modules.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3216" y="1568449"/>
            <a:ext cx="231775" cy="2349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589291" y="1520713"/>
            <a:ext cx="24930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solidFill>
                  <a:srgbClr val="1D293B"/>
                </a:solidFill>
                <a:latin typeface="Arial"/>
                <a:cs typeface="Arial"/>
              </a:rPr>
              <a:t>Cohérence</a:t>
            </a:r>
            <a:r>
              <a:rPr dirty="0" sz="1800" spc="-20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1D293B"/>
                </a:solidFill>
                <a:latin typeface="Arial"/>
                <a:cs typeface="Arial"/>
              </a:rPr>
              <a:t>des</a:t>
            </a:r>
            <a:r>
              <a:rPr dirty="0" sz="1800" spc="-1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1D293B"/>
                </a:solidFill>
                <a:latin typeface="Arial"/>
                <a:cs typeface="Arial"/>
              </a:rPr>
              <a:t>données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17816" y="1884765"/>
            <a:ext cx="4375150" cy="12065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190"/>
              </a:spcBef>
            </a:pPr>
            <a:r>
              <a:rPr dirty="0" sz="1550" spc="-65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classe</a:t>
            </a:r>
            <a:r>
              <a:rPr dirty="0" sz="1550" spc="-7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65469"/>
                </a:solidFill>
                <a:latin typeface="Monaco"/>
                <a:cs typeface="Monaco"/>
              </a:rPr>
              <a:t>Etudiant</a:t>
            </a:r>
            <a:r>
              <a:rPr dirty="0" sz="1500" spc="-53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agit</a:t>
            </a:r>
            <a:r>
              <a:rPr dirty="0" sz="1550" spc="-6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comme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point</a:t>
            </a:r>
            <a:r>
              <a:rPr dirty="0" sz="1550" spc="-6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d'entrée 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unique.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Elle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valide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règles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métier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(ex: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pas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dirty="0" sz="15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note sans</a:t>
            </a:r>
            <a:r>
              <a:rPr dirty="0" sz="1550" spc="-8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module)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masque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la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complexité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interne (Listes).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0516" y="3457575"/>
            <a:ext cx="260350" cy="2286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589291" y="3406663"/>
            <a:ext cx="179323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1D293B"/>
                </a:solidFill>
                <a:latin typeface="Arial"/>
                <a:cs typeface="Arial"/>
              </a:rPr>
              <a:t>Prêt</a:t>
            </a:r>
            <a:r>
              <a:rPr dirty="0" sz="1800" spc="-70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1D293B"/>
                </a:solidFill>
                <a:latin typeface="Arial"/>
                <a:cs typeface="Arial"/>
              </a:rPr>
              <a:t>pour</a:t>
            </a:r>
            <a:r>
              <a:rPr dirty="0" sz="1800" spc="-55" b="1">
                <a:solidFill>
                  <a:srgbClr val="1D293B"/>
                </a:solidFill>
                <a:latin typeface="Arial"/>
                <a:cs typeface="Arial"/>
              </a:rPr>
              <a:t> l'export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17816" y="3789765"/>
            <a:ext cx="4271645" cy="11874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40"/>
              </a:spcBef>
            </a:pP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dirty="0" sz="1550" spc="-6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structures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records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sont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idéales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465469"/>
                </a:solidFill>
                <a:latin typeface="Arial"/>
                <a:cs typeface="Arial"/>
              </a:rPr>
              <a:t>l'échange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de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données.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95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méthode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simple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65469"/>
                </a:solidFill>
                <a:latin typeface="Monaco"/>
                <a:cs typeface="Monaco"/>
              </a:rPr>
              <a:t>toCSV()</a:t>
            </a:r>
            <a:r>
              <a:rPr dirty="0" sz="1500" spc="-53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un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mapping</a:t>
            </a:r>
            <a:r>
              <a:rPr dirty="0" sz="155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90">
                <a:solidFill>
                  <a:srgbClr val="465469"/>
                </a:solidFill>
                <a:latin typeface="Arial"/>
                <a:cs typeface="Arial"/>
              </a:rPr>
              <a:t>JSON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65469"/>
                </a:solidFill>
                <a:latin typeface="Arial"/>
                <a:cs typeface="Arial"/>
              </a:rPr>
              <a:t>suffit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465469"/>
                </a:solidFill>
                <a:latin typeface="Arial"/>
                <a:cs typeface="Arial"/>
              </a:rPr>
              <a:t>sauvegarder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l'état</a:t>
            </a:r>
            <a:r>
              <a:rPr dirty="0" sz="15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65469"/>
                </a:solidFill>
                <a:latin typeface="Arial"/>
                <a:cs typeface="Arial"/>
              </a:rPr>
              <a:t>vers 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30">
                <a:solidFill>
                  <a:srgbClr val="465469"/>
                </a:solidFill>
                <a:latin typeface="Arial"/>
                <a:cs typeface="Arial"/>
              </a:rPr>
              <a:t>DB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65469"/>
                </a:solidFill>
                <a:latin typeface="Arial"/>
                <a:cs typeface="Arial"/>
              </a:rPr>
              <a:t>ou</a:t>
            </a:r>
            <a:r>
              <a:rPr dirty="0" sz="1550" spc="-7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dirty="0" sz="155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465469"/>
                </a:solidFill>
                <a:latin typeface="Arial"/>
                <a:cs typeface="Arial"/>
              </a:rPr>
              <a:t>UI.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35863" y="5446776"/>
            <a:ext cx="5605780" cy="899160"/>
            <a:chOff x="435863" y="5446776"/>
            <a:chExt cx="5605780" cy="899160"/>
          </a:xfrm>
        </p:grpSpPr>
        <p:sp>
          <p:nvSpPr>
            <p:cNvPr id="11" name="object 11" descr=""/>
            <p:cNvSpPr/>
            <p:nvPr/>
          </p:nvSpPr>
          <p:spPr>
            <a:xfrm>
              <a:off x="435863" y="5446776"/>
              <a:ext cx="5605780" cy="899160"/>
            </a:xfrm>
            <a:custGeom>
              <a:avLst/>
              <a:gdLst/>
              <a:ahLst/>
              <a:cxnLst/>
              <a:rect l="l" t="t" r="r" b="b"/>
              <a:pathLst>
                <a:path w="5605780" h="899160">
                  <a:moveTo>
                    <a:pt x="5605272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9623"/>
                  </a:lnTo>
                  <a:lnTo>
                    <a:pt x="97535" y="39623"/>
                  </a:lnTo>
                  <a:lnTo>
                    <a:pt x="88033" y="40495"/>
                  </a:lnTo>
                  <a:lnTo>
                    <a:pt x="53398" y="68965"/>
                  </a:lnTo>
                  <a:lnTo>
                    <a:pt x="49910" y="87248"/>
                  </a:lnTo>
                  <a:lnTo>
                    <a:pt x="49910" y="792098"/>
                  </a:lnTo>
                  <a:lnTo>
                    <a:pt x="71195" y="831876"/>
                  </a:lnTo>
                  <a:lnTo>
                    <a:pt x="97535" y="839723"/>
                  </a:lnTo>
                  <a:lnTo>
                    <a:pt x="5605272" y="839723"/>
                  </a:lnTo>
                  <a:lnTo>
                    <a:pt x="5605272" y="899160"/>
                  </a:lnTo>
                  <a:close/>
                </a:path>
                <a:path w="5605780" h="899160">
                  <a:moveTo>
                    <a:pt x="5605272" y="839723"/>
                  </a:moveTo>
                  <a:lnTo>
                    <a:pt x="5507735" y="839723"/>
                  </a:lnTo>
                  <a:lnTo>
                    <a:pt x="5517237" y="838851"/>
                  </a:lnTo>
                  <a:lnTo>
                    <a:pt x="5526017" y="836235"/>
                  </a:lnTo>
                  <a:lnTo>
                    <a:pt x="5554488" y="801600"/>
                  </a:lnTo>
                  <a:lnTo>
                    <a:pt x="5555360" y="792098"/>
                  </a:lnTo>
                  <a:lnTo>
                    <a:pt x="5555360" y="87248"/>
                  </a:lnTo>
                  <a:lnTo>
                    <a:pt x="5534075" y="47469"/>
                  </a:lnTo>
                  <a:lnTo>
                    <a:pt x="5507735" y="39623"/>
                  </a:lnTo>
                  <a:lnTo>
                    <a:pt x="5605272" y="39623"/>
                  </a:lnTo>
                  <a:lnTo>
                    <a:pt x="5605272" y="8397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00062" y="5476874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9" y="819149"/>
                  </a:moveTo>
                  <a:lnTo>
                    <a:pt x="28916" y="819149"/>
                  </a:lnTo>
                  <a:lnTo>
                    <a:pt x="845" y="776868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9" y="0"/>
                  </a:lnTo>
                  <a:lnTo>
                    <a:pt x="5486601" y="19391"/>
                  </a:lnTo>
                  <a:lnTo>
                    <a:pt x="5500687" y="53397"/>
                  </a:lnTo>
                  <a:lnTo>
                    <a:pt x="5500687" y="765752"/>
                  </a:lnTo>
                  <a:lnTo>
                    <a:pt x="5481294" y="805064"/>
                  </a:lnTo>
                  <a:lnTo>
                    <a:pt x="5451005" y="818783"/>
                  </a:lnTo>
                  <a:lnTo>
                    <a:pt x="5447289" y="8191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6249" y="5476874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09" h="819150">
                  <a:moveTo>
                    <a:pt x="54519" y="819149"/>
                  </a:moveTo>
                  <a:lnTo>
                    <a:pt x="49571" y="819149"/>
                  </a:lnTo>
                  <a:lnTo>
                    <a:pt x="42281" y="817698"/>
                  </a:lnTo>
                  <a:lnTo>
                    <a:pt x="7250" y="790871"/>
                  </a:lnTo>
                  <a:lnTo>
                    <a:pt x="0" y="76957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69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374" y="5778499"/>
              <a:ext cx="209550" cy="21272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054100" y="5576456"/>
            <a:ext cx="3916679" cy="53975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25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2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13532D"/>
                </a:solidFill>
                <a:latin typeface="Arial"/>
                <a:cs typeface="Arial"/>
              </a:rPr>
              <a:t>Encapsulez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toujours</a:t>
            </a:r>
            <a:r>
              <a:rPr dirty="0" sz="1400" spc="-4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collections</a:t>
            </a:r>
            <a:r>
              <a:rPr dirty="0" sz="1400" spc="-3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(utilisez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350">
                <a:solidFill>
                  <a:srgbClr val="13532D"/>
                </a:solidFill>
                <a:latin typeface="Monaco"/>
                <a:cs typeface="Monaco"/>
              </a:rPr>
              <a:t>List.copyOf</a:t>
            </a:r>
            <a:r>
              <a:rPr dirty="0" sz="1350" spc="-475">
                <a:solidFill>
                  <a:srgbClr val="13532D"/>
                </a:solidFill>
                <a:latin typeface="Monaco"/>
                <a:cs typeface="Monaco"/>
              </a:rPr>
              <a:t> </a:t>
            </a:r>
            <a:r>
              <a:rPr dirty="0" sz="1400" spc="-55">
                <a:solidFill>
                  <a:srgbClr val="13532D"/>
                </a:solidFill>
                <a:latin typeface="Arial"/>
                <a:cs typeface="Arial"/>
              </a:rPr>
              <a:t>en </a:t>
            </a:r>
            <a:r>
              <a:rPr dirty="0" sz="1400" spc="-10">
                <a:solidFill>
                  <a:srgbClr val="13532D"/>
                </a:solidFill>
                <a:latin typeface="Arial"/>
                <a:cs typeface="Arial"/>
              </a:rPr>
              <a:t>getter).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150864" y="5446776"/>
            <a:ext cx="5605780" cy="899160"/>
            <a:chOff x="6150864" y="5446776"/>
            <a:chExt cx="5605780" cy="899160"/>
          </a:xfrm>
        </p:grpSpPr>
        <p:sp>
          <p:nvSpPr>
            <p:cNvPr id="17" name="object 17" descr=""/>
            <p:cNvSpPr/>
            <p:nvPr/>
          </p:nvSpPr>
          <p:spPr>
            <a:xfrm>
              <a:off x="6150864" y="5446776"/>
              <a:ext cx="5605780" cy="899160"/>
            </a:xfrm>
            <a:custGeom>
              <a:avLst/>
              <a:gdLst/>
              <a:ahLst/>
              <a:cxnLst/>
              <a:rect l="l" t="t" r="r" b="b"/>
              <a:pathLst>
                <a:path w="5605780" h="899160">
                  <a:moveTo>
                    <a:pt x="5605272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605272" y="0"/>
                  </a:lnTo>
                  <a:lnTo>
                    <a:pt x="5605272" y="39623"/>
                  </a:lnTo>
                  <a:lnTo>
                    <a:pt x="97535" y="39623"/>
                  </a:lnTo>
                  <a:lnTo>
                    <a:pt x="88033" y="40495"/>
                  </a:lnTo>
                  <a:lnTo>
                    <a:pt x="53397" y="68965"/>
                  </a:lnTo>
                  <a:lnTo>
                    <a:pt x="49910" y="87248"/>
                  </a:lnTo>
                  <a:lnTo>
                    <a:pt x="49910" y="792098"/>
                  </a:lnTo>
                  <a:lnTo>
                    <a:pt x="71195" y="831876"/>
                  </a:lnTo>
                  <a:lnTo>
                    <a:pt x="97535" y="839723"/>
                  </a:lnTo>
                  <a:lnTo>
                    <a:pt x="5605272" y="839723"/>
                  </a:lnTo>
                  <a:lnTo>
                    <a:pt x="5605272" y="899160"/>
                  </a:lnTo>
                  <a:close/>
                </a:path>
                <a:path w="5605780" h="899160">
                  <a:moveTo>
                    <a:pt x="5605272" y="839723"/>
                  </a:moveTo>
                  <a:lnTo>
                    <a:pt x="5507735" y="839723"/>
                  </a:lnTo>
                  <a:lnTo>
                    <a:pt x="5517237" y="838851"/>
                  </a:lnTo>
                  <a:lnTo>
                    <a:pt x="5526017" y="836235"/>
                  </a:lnTo>
                  <a:lnTo>
                    <a:pt x="5554488" y="801600"/>
                  </a:lnTo>
                  <a:lnTo>
                    <a:pt x="5555360" y="792098"/>
                  </a:lnTo>
                  <a:lnTo>
                    <a:pt x="5555360" y="87248"/>
                  </a:lnTo>
                  <a:lnTo>
                    <a:pt x="5534075" y="47469"/>
                  </a:lnTo>
                  <a:lnTo>
                    <a:pt x="5507735" y="39623"/>
                  </a:lnTo>
                  <a:lnTo>
                    <a:pt x="5605272" y="39623"/>
                  </a:lnTo>
                  <a:lnTo>
                    <a:pt x="5605272" y="8397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215061" y="5476874"/>
              <a:ext cx="5501005" cy="819150"/>
            </a:xfrm>
            <a:custGeom>
              <a:avLst/>
              <a:gdLst/>
              <a:ahLst/>
              <a:cxnLst/>
              <a:rect l="l" t="t" r="r" b="b"/>
              <a:pathLst>
                <a:path w="5501005" h="819150">
                  <a:moveTo>
                    <a:pt x="5447288" y="819149"/>
                  </a:moveTo>
                  <a:lnTo>
                    <a:pt x="28916" y="819149"/>
                  </a:lnTo>
                  <a:lnTo>
                    <a:pt x="845" y="776868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447288" y="0"/>
                  </a:lnTo>
                  <a:lnTo>
                    <a:pt x="5486601" y="19391"/>
                  </a:lnTo>
                  <a:lnTo>
                    <a:pt x="5500686" y="53397"/>
                  </a:lnTo>
                  <a:lnTo>
                    <a:pt x="5500686" y="765752"/>
                  </a:lnTo>
                  <a:lnTo>
                    <a:pt x="5481292" y="805064"/>
                  </a:lnTo>
                  <a:lnTo>
                    <a:pt x="5451004" y="818783"/>
                  </a:lnTo>
                  <a:lnTo>
                    <a:pt x="5447288" y="8191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91249" y="5476874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10" h="819150">
                  <a:moveTo>
                    <a:pt x="54519" y="819149"/>
                  </a:moveTo>
                  <a:lnTo>
                    <a:pt x="49570" y="819149"/>
                  </a:lnTo>
                  <a:lnTo>
                    <a:pt x="42280" y="817698"/>
                  </a:lnTo>
                  <a:lnTo>
                    <a:pt x="7249" y="790871"/>
                  </a:lnTo>
                  <a:lnTo>
                    <a:pt x="0" y="7695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7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69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5724" y="5778499"/>
              <a:ext cx="146050" cy="212725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6716712" y="5585981"/>
            <a:ext cx="4368165" cy="539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300" spc="-20" b="1">
                <a:solidFill>
                  <a:srgbClr val="1D3A8A"/>
                </a:solidFill>
                <a:latin typeface="Arial"/>
                <a:cs typeface="Arial"/>
              </a:rPr>
              <a:t>Astuce</a:t>
            </a:r>
            <a:r>
              <a:rPr dirty="0" sz="1300" spc="-4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3A8A"/>
                </a:solidFill>
                <a:latin typeface="Arial"/>
                <a:cs typeface="Arial"/>
              </a:rPr>
              <a:t>:</a:t>
            </a:r>
            <a:r>
              <a:rPr dirty="0" sz="1300" spc="-35" b="1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1D3A8A"/>
                </a:solidFill>
                <a:latin typeface="Arial"/>
                <a:cs typeface="Arial"/>
              </a:rPr>
              <a:t>Séparez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D3A8A"/>
                </a:solidFill>
                <a:latin typeface="Arial"/>
                <a:cs typeface="Arial"/>
              </a:rPr>
              <a:t>la</a:t>
            </a:r>
            <a:r>
              <a:rPr dirty="0" sz="1400" spc="-6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D3A8A"/>
                </a:solidFill>
                <a:latin typeface="Arial"/>
                <a:cs typeface="Arial"/>
              </a:rPr>
              <a:t>logique</a:t>
            </a:r>
            <a:r>
              <a:rPr dirty="0" sz="1400" spc="-6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métier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(calculs)</a:t>
            </a:r>
            <a:r>
              <a:rPr dirty="0" sz="1400" spc="-60">
                <a:solidFill>
                  <a:srgbClr val="1D3A8A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1D3A8A"/>
                </a:solidFill>
                <a:latin typeface="Arial"/>
                <a:cs typeface="Arial"/>
              </a:rPr>
              <a:t>de </a:t>
            </a:r>
            <a:r>
              <a:rPr dirty="0" sz="1400" spc="-10">
                <a:solidFill>
                  <a:srgbClr val="1D3A8A"/>
                </a:solidFill>
                <a:latin typeface="Arial"/>
                <a:cs typeface="Arial"/>
              </a:rPr>
              <a:t>l'affichage (Console/Swing).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420624" y="1478280"/>
            <a:ext cx="6483350" cy="3386454"/>
            <a:chOff x="420624" y="1478280"/>
            <a:chExt cx="6483350" cy="3386454"/>
          </a:xfrm>
        </p:grpSpPr>
        <p:sp>
          <p:nvSpPr>
            <p:cNvPr id="24" name="object 24" descr=""/>
            <p:cNvSpPr/>
            <p:nvPr/>
          </p:nvSpPr>
          <p:spPr>
            <a:xfrm>
              <a:off x="420624" y="1478280"/>
              <a:ext cx="6483350" cy="3386454"/>
            </a:xfrm>
            <a:custGeom>
              <a:avLst/>
              <a:gdLst/>
              <a:ahLst/>
              <a:cxnLst/>
              <a:rect l="l" t="t" r="r" b="b"/>
              <a:pathLst>
                <a:path w="6483350" h="3386454">
                  <a:moveTo>
                    <a:pt x="6483096" y="3386328"/>
                  </a:moveTo>
                  <a:lnTo>
                    <a:pt x="0" y="3386328"/>
                  </a:lnTo>
                  <a:lnTo>
                    <a:pt x="0" y="0"/>
                  </a:lnTo>
                  <a:lnTo>
                    <a:pt x="6483096" y="0"/>
                  </a:lnTo>
                  <a:lnTo>
                    <a:pt x="6483096" y="45719"/>
                  </a:lnTo>
                  <a:lnTo>
                    <a:pt x="131825" y="45719"/>
                  </a:lnTo>
                  <a:lnTo>
                    <a:pt x="125257" y="46037"/>
                  </a:lnTo>
                  <a:lnTo>
                    <a:pt x="89548" y="60828"/>
                  </a:lnTo>
                  <a:lnTo>
                    <a:pt x="68005" y="93068"/>
                  </a:lnTo>
                  <a:lnTo>
                    <a:pt x="65150" y="112394"/>
                  </a:lnTo>
                  <a:lnTo>
                    <a:pt x="65150" y="3236594"/>
                  </a:lnTo>
                  <a:lnTo>
                    <a:pt x="76377" y="3273644"/>
                  </a:lnTo>
                  <a:lnTo>
                    <a:pt x="106310" y="3298193"/>
                  </a:lnTo>
                  <a:lnTo>
                    <a:pt x="131825" y="3303269"/>
                  </a:lnTo>
                  <a:lnTo>
                    <a:pt x="6483096" y="3303269"/>
                  </a:lnTo>
                  <a:lnTo>
                    <a:pt x="6483096" y="3386328"/>
                  </a:lnTo>
                  <a:close/>
                </a:path>
                <a:path w="6483350" h="3386454">
                  <a:moveTo>
                    <a:pt x="6483096" y="3303269"/>
                  </a:moveTo>
                  <a:lnTo>
                    <a:pt x="6351650" y="3303269"/>
                  </a:lnTo>
                  <a:lnTo>
                    <a:pt x="6358218" y="3302952"/>
                  </a:lnTo>
                  <a:lnTo>
                    <a:pt x="6364660" y="3302000"/>
                  </a:lnTo>
                  <a:lnTo>
                    <a:pt x="6398796" y="3283741"/>
                  </a:lnTo>
                  <a:lnTo>
                    <a:pt x="6417056" y="3249604"/>
                  </a:lnTo>
                  <a:lnTo>
                    <a:pt x="6418325" y="3236594"/>
                  </a:lnTo>
                  <a:lnTo>
                    <a:pt x="6418325" y="112394"/>
                  </a:lnTo>
                  <a:lnTo>
                    <a:pt x="6407098" y="75344"/>
                  </a:lnTo>
                  <a:lnTo>
                    <a:pt x="6377164" y="50795"/>
                  </a:lnTo>
                  <a:lnTo>
                    <a:pt x="6351650" y="45719"/>
                  </a:lnTo>
                  <a:lnTo>
                    <a:pt x="6483096" y="45719"/>
                  </a:lnTo>
                  <a:lnTo>
                    <a:pt x="6483096" y="330326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1012" y="1519237"/>
              <a:ext cx="6362700" cy="3267075"/>
            </a:xfrm>
            <a:custGeom>
              <a:avLst/>
              <a:gdLst/>
              <a:ahLst/>
              <a:cxnLst/>
              <a:rect l="l" t="t" r="r" b="b"/>
              <a:pathLst>
                <a:path w="6362700" h="3267075">
                  <a:moveTo>
                    <a:pt x="6295952" y="3267074"/>
                  </a:moveTo>
                  <a:lnTo>
                    <a:pt x="66746" y="3267074"/>
                  </a:lnTo>
                  <a:lnTo>
                    <a:pt x="62101" y="3266616"/>
                  </a:lnTo>
                  <a:lnTo>
                    <a:pt x="24240" y="3249467"/>
                  </a:lnTo>
                  <a:lnTo>
                    <a:pt x="2287" y="3214173"/>
                  </a:lnTo>
                  <a:lnTo>
                    <a:pt x="0" y="3200327"/>
                  </a:lnTo>
                  <a:lnTo>
                    <a:pt x="0" y="31956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295952" y="0"/>
                  </a:lnTo>
                  <a:lnTo>
                    <a:pt x="6334849" y="14645"/>
                  </a:lnTo>
                  <a:lnTo>
                    <a:pt x="6359054" y="48433"/>
                  </a:lnTo>
                  <a:lnTo>
                    <a:pt x="6362698" y="66746"/>
                  </a:lnTo>
                  <a:lnTo>
                    <a:pt x="6362698" y="3200327"/>
                  </a:lnTo>
                  <a:lnTo>
                    <a:pt x="6348052" y="3239225"/>
                  </a:lnTo>
                  <a:lnTo>
                    <a:pt x="6314264" y="3263431"/>
                  </a:lnTo>
                  <a:lnTo>
                    <a:pt x="6300597" y="3266616"/>
                  </a:lnTo>
                  <a:lnTo>
                    <a:pt x="6295952" y="32670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81012" y="1519237"/>
              <a:ext cx="6362700" cy="3267075"/>
            </a:xfrm>
            <a:custGeom>
              <a:avLst/>
              <a:gdLst/>
              <a:ahLst/>
              <a:cxnLst/>
              <a:rect l="l" t="t" r="r" b="b"/>
              <a:pathLst>
                <a:path w="6362700" h="3267075">
                  <a:moveTo>
                    <a:pt x="0" y="31956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291262" y="0"/>
                  </a:lnTo>
                  <a:lnTo>
                    <a:pt x="6295952" y="0"/>
                  </a:lnTo>
                  <a:lnTo>
                    <a:pt x="6300598" y="457"/>
                  </a:lnTo>
                  <a:lnTo>
                    <a:pt x="6338458" y="17606"/>
                  </a:lnTo>
                  <a:lnTo>
                    <a:pt x="6341775" y="20923"/>
                  </a:lnTo>
                  <a:lnTo>
                    <a:pt x="6345091" y="24240"/>
                  </a:lnTo>
                  <a:lnTo>
                    <a:pt x="6362241" y="62101"/>
                  </a:lnTo>
                  <a:lnTo>
                    <a:pt x="6362699" y="71437"/>
                  </a:lnTo>
                  <a:lnTo>
                    <a:pt x="6362699" y="3195637"/>
                  </a:lnTo>
                  <a:lnTo>
                    <a:pt x="6350658" y="3235325"/>
                  </a:lnTo>
                  <a:lnTo>
                    <a:pt x="6318598" y="3261636"/>
                  </a:lnTo>
                  <a:lnTo>
                    <a:pt x="6305197" y="3265701"/>
                  </a:lnTo>
                  <a:lnTo>
                    <a:pt x="6300597" y="3266616"/>
                  </a:lnTo>
                  <a:lnTo>
                    <a:pt x="6295952" y="3267074"/>
                  </a:lnTo>
                  <a:lnTo>
                    <a:pt x="6291262" y="3267074"/>
                  </a:lnTo>
                  <a:lnTo>
                    <a:pt x="71437" y="3267074"/>
                  </a:lnTo>
                  <a:lnTo>
                    <a:pt x="66746" y="3267074"/>
                  </a:lnTo>
                  <a:lnTo>
                    <a:pt x="62101" y="3266616"/>
                  </a:lnTo>
                  <a:lnTo>
                    <a:pt x="57500" y="3265701"/>
                  </a:lnTo>
                  <a:lnTo>
                    <a:pt x="52900" y="3264786"/>
                  </a:lnTo>
                  <a:lnTo>
                    <a:pt x="31748" y="3255034"/>
                  </a:lnTo>
                  <a:lnTo>
                    <a:pt x="27848" y="3252428"/>
                  </a:lnTo>
                  <a:lnTo>
                    <a:pt x="3642" y="3218641"/>
                  </a:lnTo>
                  <a:lnTo>
                    <a:pt x="1372" y="3209573"/>
                  </a:lnTo>
                  <a:lnTo>
                    <a:pt x="457" y="3204972"/>
                  </a:lnTo>
                  <a:lnTo>
                    <a:pt x="0" y="3200327"/>
                  </a:lnTo>
                  <a:lnTo>
                    <a:pt x="0" y="3195637"/>
                  </a:lnTo>
                  <a:close/>
                </a:path>
              </a:pathLst>
            </a:custGeom>
            <a:ln w="9524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63574" y="1645356"/>
            <a:ext cx="5998845" cy="86042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95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85" i="1">
                <a:solidFill>
                  <a:srgbClr val="6A737D"/>
                </a:solidFill>
                <a:latin typeface="Times New Roman"/>
                <a:cs typeface="Times New Roman"/>
              </a:rPr>
              <a:t>Scénario</a:t>
            </a:r>
            <a:r>
              <a:rPr dirty="0" sz="150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70" i="1">
                <a:solidFill>
                  <a:srgbClr val="6A737D"/>
                </a:solidFill>
                <a:latin typeface="Times New Roman"/>
                <a:cs typeface="Times New Roman"/>
              </a:rPr>
              <a:t>complet</a:t>
            </a:r>
            <a:r>
              <a:rPr dirty="0" sz="1500" spc="60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290" i="1">
                <a:solidFill>
                  <a:srgbClr val="6A737D"/>
                </a:solidFill>
                <a:latin typeface="Times New Roman"/>
                <a:cs typeface="Times New Roman"/>
              </a:rPr>
              <a:t>d'utilisation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350" spc="200" b="1">
                <a:solidFill>
                  <a:srgbClr val="D63A49"/>
                </a:solidFill>
                <a:latin typeface="Times New Roman"/>
                <a:cs typeface="Times New Roman"/>
              </a:rPr>
              <a:t>var</a:t>
            </a:r>
            <a:r>
              <a:rPr dirty="0" sz="1350" spc="9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300">
                <a:solidFill>
                  <a:srgbClr val="005CC4"/>
                </a:solidFill>
                <a:latin typeface="Times New Roman"/>
                <a:cs typeface="Times New Roman"/>
              </a:rPr>
              <a:t>etu</a:t>
            </a:r>
            <a:r>
              <a:rPr dirty="0" sz="1350" spc="90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7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3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265">
                <a:solidFill>
                  <a:srgbClr val="005CC4"/>
                </a:solidFill>
                <a:latin typeface="Times New Roman"/>
                <a:cs typeface="Times New Roman"/>
              </a:rPr>
              <a:t>Etudiant</a:t>
            </a:r>
            <a:r>
              <a:rPr dirty="0" sz="1400" spc="26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350" spc="265">
                <a:solidFill>
                  <a:srgbClr val="21863A"/>
                </a:solidFill>
                <a:latin typeface="Times New Roman"/>
                <a:cs typeface="Times New Roman"/>
              </a:rPr>
              <a:t>"Dupont"</a:t>
            </a:r>
            <a:r>
              <a:rPr dirty="0" sz="1400" spc="265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00" spc="8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240">
                <a:solidFill>
                  <a:srgbClr val="005CC4"/>
                </a:solidFill>
                <a:latin typeface="Times New Roman"/>
                <a:cs typeface="Times New Roman"/>
              </a:rPr>
              <a:t>LocalDate</a:t>
            </a:r>
            <a:r>
              <a:rPr dirty="0" sz="1400" spc="240">
                <a:solidFill>
                  <a:srgbClr val="334054"/>
                </a:solidFill>
                <a:latin typeface="Times New Roman"/>
                <a:cs typeface="Times New Roman"/>
              </a:rPr>
              <a:t>.now());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350" spc="200" b="1">
                <a:solidFill>
                  <a:srgbClr val="D63A49"/>
                </a:solidFill>
                <a:latin typeface="Times New Roman"/>
                <a:cs typeface="Times New Roman"/>
              </a:rPr>
              <a:t>var</a:t>
            </a:r>
            <a:r>
              <a:rPr dirty="0" sz="1350" spc="9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175">
                <a:solidFill>
                  <a:srgbClr val="005CC4"/>
                </a:solidFill>
                <a:latin typeface="Times New Roman"/>
                <a:cs typeface="Times New Roman"/>
              </a:rPr>
              <a:t>math</a:t>
            </a:r>
            <a:r>
              <a:rPr dirty="0" sz="1350" spc="95">
                <a:solidFill>
                  <a:srgbClr val="005CC4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=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7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350" spc="100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215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00" spc="215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350" spc="215">
                <a:solidFill>
                  <a:srgbClr val="21863A"/>
                </a:solidFill>
                <a:latin typeface="Times New Roman"/>
                <a:cs typeface="Times New Roman"/>
              </a:rPr>
              <a:t>"Maths"</a:t>
            </a:r>
            <a:r>
              <a:rPr dirty="0" sz="1400" spc="215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55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00" spc="55">
                <a:solidFill>
                  <a:srgbClr val="334054"/>
                </a:solidFill>
                <a:latin typeface="Times New Roman"/>
                <a:cs typeface="Times New Roman"/>
              </a:rPr>
              <a:t>.FONDAMENTAL);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31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663574" y="2674056"/>
            <a:ext cx="5238750" cy="86042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00" i="1">
                <a:solidFill>
                  <a:srgbClr val="6A737D"/>
                </a:solidFill>
                <a:latin typeface="Times New Roman"/>
                <a:cs typeface="Times New Roman"/>
              </a:rPr>
              <a:t>Ajout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20" i="1">
                <a:solidFill>
                  <a:srgbClr val="6A737D"/>
                </a:solidFill>
                <a:latin typeface="Times New Roman"/>
                <a:cs typeface="Times New Roman"/>
              </a:rPr>
              <a:t>notes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50" i="1">
                <a:solidFill>
                  <a:srgbClr val="6A737D"/>
                </a:solidFill>
                <a:latin typeface="Times New Roman"/>
                <a:cs typeface="Times New Roman"/>
              </a:rPr>
              <a:t>(gestion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85" i="1">
                <a:solidFill>
                  <a:srgbClr val="6A737D"/>
                </a:solidFill>
                <a:latin typeface="Times New Roman"/>
                <a:cs typeface="Times New Roman"/>
              </a:rPr>
              <a:t>Optional</a:t>
            </a:r>
            <a:r>
              <a:rPr dirty="0" sz="1500" spc="490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250" i="1">
                <a:solidFill>
                  <a:srgbClr val="6A737D"/>
                </a:solidFill>
                <a:latin typeface="Times New Roman"/>
                <a:cs typeface="Times New Roman"/>
              </a:rPr>
              <a:t>interne)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350" spc="290">
                <a:solidFill>
                  <a:srgbClr val="005CC4"/>
                </a:solidFill>
                <a:latin typeface="Times New Roman"/>
                <a:cs typeface="Times New Roman"/>
              </a:rPr>
              <a:t>etu</a:t>
            </a:r>
            <a:r>
              <a:rPr dirty="0" sz="1400" spc="290">
                <a:solidFill>
                  <a:srgbClr val="334054"/>
                </a:solidFill>
                <a:latin typeface="Times New Roman"/>
                <a:cs typeface="Times New Roman"/>
              </a:rPr>
              <a:t>.noter(</a:t>
            </a:r>
            <a:r>
              <a:rPr dirty="0" sz="1350" spc="290">
                <a:solidFill>
                  <a:srgbClr val="005CC4"/>
                </a:solidFill>
                <a:latin typeface="Times New Roman"/>
                <a:cs typeface="Times New Roman"/>
              </a:rPr>
              <a:t>math</a:t>
            </a:r>
            <a:r>
              <a:rPr dirty="0" sz="1400" spc="29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0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00" spc="320" b="1">
                <a:solidFill>
                  <a:srgbClr val="6F41C1"/>
                </a:solidFill>
                <a:latin typeface="Times New Roman"/>
                <a:cs typeface="Times New Roman"/>
              </a:rPr>
              <a:t>15.5</a:t>
            </a:r>
            <a:r>
              <a:rPr dirty="0" sz="1400" spc="32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350" spc="260">
                <a:solidFill>
                  <a:srgbClr val="005CC4"/>
                </a:solidFill>
                <a:latin typeface="Times New Roman"/>
                <a:cs typeface="Times New Roman"/>
              </a:rPr>
              <a:t>etu</a:t>
            </a:r>
            <a:r>
              <a:rPr dirty="0" sz="1400" spc="260">
                <a:solidFill>
                  <a:srgbClr val="334054"/>
                </a:solidFill>
                <a:latin typeface="Times New Roman"/>
                <a:cs typeface="Times New Roman"/>
              </a:rPr>
              <a:t>.noter(</a:t>
            </a:r>
            <a:r>
              <a:rPr dirty="0" sz="1350" spc="260" b="1">
                <a:solidFill>
                  <a:srgbClr val="D63A49"/>
                </a:solidFill>
                <a:latin typeface="Times New Roman"/>
                <a:cs typeface="Times New Roman"/>
              </a:rPr>
              <a:t>new</a:t>
            </a:r>
            <a:r>
              <a:rPr dirty="0" sz="1350" spc="105" b="1">
                <a:solidFill>
                  <a:srgbClr val="D63A49"/>
                </a:solidFill>
                <a:latin typeface="Times New Roman"/>
                <a:cs typeface="Times New Roman"/>
              </a:rPr>
              <a:t>  </a:t>
            </a:r>
            <a:r>
              <a:rPr dirty="0" sz="1350" spc="240">
                <a:solidFill>
                  <a:srgbClr val="005CC4"/>
                </a:solidFill>
                <a:latin typeface="Times New Roman"/>
                <a:cs typeface="Times New Roman"/>
              </a:rPr>
              <a:t>Module</a:t>
            </a:r>
            <a:r>
              <a:rPr dirty="0" sz="1400" spc="240">
                <a:solidFill>
                  <a:srgbClr val="334054"/>
                </a:solidFill>
                <a:latin typeface="Times New Roman"/>
                <a:cs typeface="Times New Roman"/>
              </a:rPr>
              <a:t>(</a:t>
            </a:r>
            <a:r>
              <a:rPr dirty="0" sz="1350" spc="240">
                <a:solidFill>
                  <a:srgbClr val="21863A"/>
                </a:solidFill>
                <a:latin typeface="Times New Roman"/>
                <a:cs typeface="Times New Roman"/>
              </a:rPr>
              <a:t>"Java"</a:t>
            </a:r>
            <a:r>
              <a:rPr dirty="0" sz="1400" spc="240">
                <a:solidFill>
                  <a:srgbClr val="334054"/>
                </a:solidFill>
                <a:latin typeface="Times New Roman"/>
                <a:cs typeface="Times New Roman"/>
              </a:rPr>
              <a:t>,</a:t>
            </a:r>
            <a:r>
              <a:rPr dirty="0" sz="1400" spc="9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150">
                <a:solidFill>
                  <a:srgbClr val="005CC4"/>
                </a:solidFill>
                <a:latin typeface="Times New Roman"/>
                <a:cs typeface="Times New Roman"/>
              </a:rPr>
              <a:t>TypeModule</a:t>
            </a:r>
            <a:r>
              <a:rPr dirty="0" sz="1400" spc="150">
                <a:solidFill>
                  <a:srgbClr val="334054"/>
                </a:solidFill>
                <a:latin typeface="Times New Roman"/>
                <a:cs typeface="Times New Roman"/>
              </a:rPr>
              <a:t>.PROJET),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985073" y="3295732"/>
            <a:ext cx="6775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20" b="1">
                <a:solidFill>
                  <a:srgbClr val="D63A49"/>
                </a:solidFill>
                <a:latin typeface="Times New Roman"/>
                <a:cs typeface="Times New Roman"/>
              </a:rPr>
              <a:t>null</a:t>
            </a:r>
            <a:r>
              <a:rPr dirty="0" sz="1400" spc="320">
                <a:solidFill>
                  <a:srgbClr val="334054"/>
                </a:solidFill>
                <a:latin typeface="Times New Roman"/>
                <a:cs typeface="Times New Roman"/>
              </a:rPr>
              <a:t>);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3574" y="3722549"/>
            <a:ext cx="5346700" cy="85344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85" i="1">
                <a:solidFill>
                  <a:srgbClr val="6A737D"/>
                </a:solidFill>
                <a:latin typeface="Times New Roman"/>
                <a:cs typeface="Times New Roman"/>
              </a:rPr>
              <a:t>Calcul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-315" i="1">
                <a:solidFill>
                  <a:srgbClr val="6A737D"/>
                </a:solidFill>
                <a:latin typeface="Times New Roman"/>
                <a:cs typeface="Times New Roman"/>
              </a:rPr>
              <a:t>&amp;</a:t>
            </a:r>
            <a:r>
              <a:rPr dirty="0" sz="1500" spc="484" i="1">
                <a:solidFill>
                  <a:srgbClr val="6A737D"/>
                </a:solidFill>
                <a:latin typeface="Times New Roman"/>
                <a:cs typeface="Times New Roman"/>
              </a:rPr>
              <a:t> </a:t>
            </a:r>
            <a:r>
              <a:rPr dirty="0" sz="1500" spc="160" i="1">
                <a:solidFill>
                  <a:srgbClr val="6A737D"/>
                </a:solidFill>
                <a:latin typeface="Times New Roman"/>
                <a:cs typeface="Times New Roman"/>
              </a:rPr>
              <a:t>Export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23500"/>
              </a:lnSpc>
              <a:spcBef>
                <a:spcPts val="5"/>
              </a:spcBef>
            </a:pPr>
            <a:r>
              <a:rPr dirty="0" sz="1350" spc="245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00" spc="245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r>
              <a:rPr dirty="0" sz="1350" spc="245">
                <a:solidFill>
                  <a:srgbClr val="21863A"/>
                </a:solidFill>
                <a:latin typeface="Times New Roman"/>
                <a:cs typeface="Times New Roman"/>
              </a:rPr>
              <a:t>"Moyenne</a:t>
            </a:r>
            <a:r>
              <a:rPr dirty="0" sz="1350" spc="95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350" spc="475">
                <a:solidFill>
                  <a:srgbClr val="21863A"/>
                </a:solidFill>
                <a:latin typeface="Times New Roman"/>
                <a:cs typeface="Times New Roman"/>
              </a:rPr>
              <a:t>:</a:t>
            </a:r>
            <a:r>
              <a:rPr dirty="0" sz="1350" spc="10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350" spc="300">
                <a:solidFill>
                  <a:srgbClr val="21863A"/>
                </a:solidFill>
                <a:latin typeface="Times New Roman"/>
                <a:cs typeface="Times New Roman"/>
              </a:rPr>
              <a:t>"</a:t>
            </a:r>
            <a:r>
              <a:rPr dirty="0" sz="1350" spc="100">
                <a:solidFill>
                  <a:srgbClr val="21863A"/>
                </a:solidFill>
                <a:latin typeface="Times New Roman"/>
                <a:cs typeface="Times New Roman"/>
              </a:rPr>
              <a:t>  </a:t>
            </a:r>
            <a:r>
              <a:rPr dirty="0" sz="1400" spc="60">
                <a:solidFill>
                  <a:srgbClr val="334054"/>
                </a:solidFill>
                <a:latin typeface="Times New Roman"/>
                <a:cs typeface="Times New Roman"/>
              </a:rPr>
              <a:t>+</a:t>
            </a:r>
            <a:r>
              <a:rPr dirty="0" sz="1400" spc="90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350" spc="245">
                <a:solidFill>
                  <a:srgbClr val="005CC4"/>
                </a:solidFill>
                <a:latin typeface="Times New Roman"/>
                <a:cs typeface="Times New Roman"/>
              </a:rPr>
              <a:t>etu</a:t>
            </a:r>
            <a:r>
              <a:rPr dirty="0" sz="1400" spc="245">
                <a:solidFill>
                  <a:srgbClr val="334054"/>
                </a:solidFill>
                <a:latin typeface="Times New Roman"/>
                <a:cs typeface="Times New Roman"/>
              </a:rPr>
              <a:t>.moyenne()); </a:t>
            </a:r>
            <a:r>
              <a:rPr dirty="0" sz="1350" spc="280">
                <a:solidFill>
                  <a:srgbClr val="005CC4"/>
                </a:solidFill>
                <a:latin typeface="Times New Roman"/>
                <a:cs typeface="Times New Roman"/>
              </a:rPr>
              <a:t>System</a:t>
            </a:r>
            <a:r>
              <a:rPr dirty="0" sz="1400" spc="280">
                <a:solidFill>
                  <a:srgbClr val="334054"/>
                </a:solidFill>
                <a:latin typeface="Times New Roman"/>
                <a:cs typeface="Times New Roman"/>
              </a:rPr>
              <a:t>.out.println(</a:t>
            </a:r>
            <a:r>
              <a:rPr dirty="0" sz="1350" spc="280">
                <a:solidFill>
                  <a:srgbClr val="005CC4"/>
                </a:solidFill>
                <a:latin typeface="Times New Roman"/>
                <a:cs typeface="Times New Roman"/>
              </a:rPr>
              <a:t>etu</a:t>
            </a:r>
            <a:r>
              <a:rPr dirty="0" sz="1400" spc="280">
                <a:solidFill>
                  <a:srgbClr val="334054"/>
                </a:solidFill>
                <a:latin typeface="Times New Roman"/>
                <a:cs typeface="Times New Roman"/>
              </a:rPr>
              <a:t>.toCSV());</a:t>
            </a:r>
            <a:r>
              <a:rPr dirty="0" sz="1400" spc="85">
                <a:solidFill>
                  <a:srgbClr val="334054"/>
                </a:solidFill>
                <a:latin typeface="Times New Roman"/>
                <a:cs typeface="Times New Roman"/>
              </a:rPr>
              <a:t>  </a:t>
            </a:r>
            <a:r>
              <a:rPr dirty="0" sz="1500" spc="434" i="1">
                <a:solidFill>
                  <a:srgbClr val="6A737D"/>
                </a:solidFill>
                <a:latin typeface="Times New Roman"/>
                <a:cs typeface="Times New Roman"/>
              </a:rPr>
              <a:t>//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160" i="1">
                <a:solidFill>
                  <a:srgbClr val="6A737D"/>
                </a:solidFill>
                <a:latin typeface="Times New Roman"/>
                <a:cs typeface="Times New Roman"/>
              </a:rPr>
              <a:t>Vers</a:t>
            </a:r>
            <a:r>
              <a:rPr dirty="0" sz="1500" spc="65" i="1">
                <a:solidFill>
                  <a:srgbClr val="6A737D"/>
                </a:solidFill>
                <a:latin typeface="Times New Roman"/>
                <a:cs typeface="Times New Roman"/>
              </a:rPr>
              <a:t>  </a:t>
            </a:r>
            <a:r>
              <a:rPr dirty="0" sz="1500" spc="40" i="1">
                <a:solidFill>
                  <a:srgbClr val="6A737D"/>
                </a:solidFill>
                <a:latin typeface="Times New Roman"/>
                <a:cs typeface="Times New Roman"/>
              </a:rPr>
              <a:t>UI/DB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33.</a:t>
            </a:r>
            <a:r>
              <a:rPr dirty="0" spc="-50"/>
              <a:t> </a:t>
            </a:r>
            <a:r>
              <a:rPr dirty="0" spc="-80"/>
              <a:t>Checklist</a:t>
            </a:r>
            <a:r>
              <a:rPr dirty="0" spc="-50"/>
              <a:t> </a:t>
            </a:r>
            <a:r>
              <a:rPr dirty="0" spc="-650"/>
              <a:t>—</a:t>
            </a:r>
            <a:r>
              <a:rPr dirty="0" spc="-50"/>
              <a:t> </a:t>
            </a:r>
            <a:r>
              <a:rPr dirty="0" spc="-85"/>
              <a:t>erreurs</a:t>
            </a:r>
            <a:r>
              <a:rPr dirty="0" spc="-50"/>
              <a:t> </a:t>
            </a:r>
            <a:r>
              <a:rPr dirty="0" spc="-60"/>
              <a:t>fréquentes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18160" y="2029968"/>
            <a:ext cx="11155680" cy="777240"/>
            <a:chOff x="518160" y="2029968"/>
            <a:chExt cx="11155680" cy="777240"/>
          </a:xfrm>
        </p:grpSpPr>
        <p:sp>
          <p:nvSpPr>
            <p:cNvPr id="4" name="object 4" descr=""/>
            <p:cNvSpPr/>
            <p:nvPr/>
          </p:nvSpPr>
          <p:spPr>
            <a:xfrm>
              <a:off x="518160" y="2029968"/>
              <a:ext cx="11155680" cy="777240"/>
            </a:xfrm>
            <a:custGeom>
              <a:avLst/>
              <a:gdLst/>
              <a:ahLst/>
              <a:cxnLst/>
              <a:rect l="l" t="t" r="r" b="b"/>
              <a:pathLst>
                <a:path w="11155680" h="777239">
                  <a:moveTo>
                    <a:pt x="11155680" y="777240"/>
                  </a:moveTo>
                  <a:lnTo>
                    <a:pt x="0" y="777240"/>
                  </a:lnTo>
                  <a:lnTo>
                    <a:pt x="0" y="0"/>
                  </a:lnTo>
                  <a:lnTo>
                    <a:pt x="11155680" y="0"/>
                  </a:lnTo>
                  <a:lnTo>
                    <a:pt x="11155680" y="46481"/>
                  </a:lnTo>
                  <a:lnTo>
                    <a:pt x="129539" y="46481"/>
                  </a:lnTo>
                  <a:lnTo>
                    <a:pt x="122971" y="46798"/>
                  </a:lnTo>
                  <a:lnTo>
                    <a:pt x="87262" y="61590"/>
                  </a:lnTo>
                  <a:lnTo>
                    <a:pt x="65719" y="93830"/>
                  </a:lnTo>
                  <a:lnTo>
                    <a:pt x="62864" y="113156"/>
                  </a:lnTo>
                  <a:lnTo>
                    <a:pt x="62864" y="627506"/>
                  </a:lnTo>
                  <a:lnTo>
                    <a:pt x="74091" y="664555"/>
                  </a:lnTo>
                  <a:lnTo>
                    <a:pt x="104024" y="689105"/>
                  </a:lnTo>
                  <a:lnTo>
                    <a:pt x="129539" y="694181"/>
                  </a:lnTo>
                  <a:lnTo>
                    <a:pt x="11155680" y="694181"/>
                  </a:lnTo>
                  <a:lnTo>
                    <a:pt x="11155680" y="777240"/>
                  </a:lnTo>
                  <a:close/>
                </a:path>
                <a:path w="11155680" h="777239">
                  <a:moveTo>
                    <a:pt x="11155680" y="694181"/>
                  </a:moveTo>
                  <a:lnTo>
                    <a:pt x="11026139" y="694181"/>
                  </a:lnTo>
                  <a:lnTo>
                    <a:pt x="11032707" y="693864"/>
                  </a:lnTo>
                  <a:lnTo>
                    <a:pt x="11039148" y="692912"/>
                  </a:lnTo>
                  <a:lnTo>
                    <a:pt x="11073285" y="674652"/>
                  </a:lnTo>
                  <a:lnTo>
                    <a:pt x="11091545" y="640516"/>
                  </a:lnTo>
                  <a:lnTo>
                    <a:pt x="11092814" y="627506"/>
                  </a:lnTo>
                  <a:lnTo>
                    <a:pt x="11092814" y="113156"/>
                  </a:lnTo>
                  <a:lnTo>
                    <a:pt x="11081586" y="76107"/>
                  </a:lnTo>
                  <a:lnTo>
                    <a:pt x="11051653" y="51556"/>
                  </a:lnTo>
                  <a:lnTo>
                    <a:pt x="11026139" y="46481"/>
                  </a:lnTo>
                  <a:lnTo>
                    <a:pt x="11155680" y="46481"/>
                  </a:lnTo>
                  <a:lnTo>
                    <a:pt x="11155680" y="694181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074" y="2066924"/>
              <a:ext cx="11020425" cy="666750"/>
            </a:xfrm>
            <a:custGeom>
              <a:avLst/>
              <a:gdLst/>
              <a:ahLst/>
              <a:cxnLst/>
              <a:rect l="l" t="t" r="r" b="b"/>
              <a:pathLst>
                <a:path w="11020425" h="666750">
                  <a:moveTo>
                    <a:pt x="10949227" y="666749"/>
                  </a:moveTo>
                  <a:lnTo>
                    <a:pt x="44497" y="666749"/>
                  </a:lnTo>
                  <a:lnTo>
                    <a:pt x="41400" y="666261"/>
                  </a:lnTo>
                  <a:lnTo>
                    <a:pt x="11737" y="640893"/>
                  </a:lnTo>
                  <a:lnTo>
                    <a:pt x="305" y="600508"/>
                  </a:lnTo>
                  <a:lnTo>
                    <a:pt x="0" y="595553"/>
                  </a:lnTo>
                  <a:lnTo>
                    <a:pt x="0" y="590549"/>
                  </a:lnTo>
                  <a:lnTo>
                    <a:pt x="0" y="71196"/>
                  </a:lnTo>
                  <a:lnTo>
                    <a:pt x="9763" y="29705"/>
                  </a:lnTo>
                  <a:lnTo>
                    <a:pt x="41400" y="488"/>
                  </a:lnTo>
                  <a:lnTo>
                    <a:pt x="44497" y="0"/>
                  </a:lnTo>
                  <a:lnTo>
                    <a:pt x="10949227" y="0"/>
                  </a:lnTo>
                  <a:lnTo>
                    <a:pt x="10990719" y="15621"/>
                  </a:lnTo>
                  <a:lnTo>
                    <a:pt x="11016537" y="51661"/>
                  </a:lnTo>
                  <a:lnTo>
                    <a:pt x="11020424" y="71196"/>
                  </a:lnTo>
                  <a:lnTo>
                    <a:pt x="11020424" y="595553"/>
                  </a:lnTo>
                  <a:lnTo>
                    <a:pt x="11004803" y="637044"/>
                  </a:lnTo>
                  <a:lnTo>
                    <a:pt x="10968761" y="662863"/>
                  </a:lnTo>
                  <a:lnTo>
                    <a:pt x="10954181" y="666261"/>
                  </a:lnTo>
                  <a:lnTo>
                    <a:pt x="10949227" y="6667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1499" y="2067054"/>
              <a:ext cx="73660" cy="666750"/>
            </a:xfrm>
            <a:custGeom>
              <a:avLst/>
              <a:gdLst/>
              <a:ahLst/>
              <a:cxnLst/>
              <a:rect l="l" t="t" r="r" b="b"/>
              <a:pathLst>
                <a:path w="73659" h="666750">
                  <a:moveTo>
                    <a:pt x="73510" y="666490"/>
                  </a:moveTo>
                  <a:lnTo>
                    <a:pt x="33857" y="653789"/>
                  </a:lnTo>
                  <a:lnTo>
                    <a:pt x="5800" y="619580"/>
                  </a:lnTo>
                  <a:lnTo>
                    <a:pt x="0" y="590420"/>
                  </a:lnTo>
                  <a:lnTo>
                    <a:pt x="0" y="76070"/>
                  </a:lnTo>
                  <a:lnTo>
                    <a:pt x="12830" y="33727"/>
                  </a:lnTo>
                  <a:lnTo>
                    <a:pt x="47039" y="5670"/>
                  </a:lnTo>
                  <a:lnTo>
                    <a:pt x="73510" y="0"/>
                  </a:lnTo>
                  <a:lnTo>
                    <a:pt x="71243" y="1803"/>
                  </a:lnTo>
                  <a:lnTo>
                    <a:pt x="66575" y="9537"/>
                  </a:lnTo>
                  <a:lnTo>
                    <a:pt x="57965" y="53983"/>
                  </a:lnTo>
                  <a:lnTo>
                    <a:pt x="57240" y="68563"/>
                  </a:lnTo>
                  <a:lnTo>
                    <a:pt x="57240" y="597926"/>
                  </a:lnTo>
                  <a:lnTo>
                    <a:pt x="60943" y="637156"/>
                  </a:lnTo>
                  <a:lnTo>
                    <a:pt x="71243" y="664686"/>
                  </a:lnTo>
                  <a:lnTo>
                    <a:pt x="73510" y="6664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19149" y="22097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" y="2298699"/>
              <a:ext cx="190500" cy="19367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095487" y="2285999"/>
              <a:ext cx="3943350" cy="257175"/>
            </a:xfrm>
            <a:custGeom>
              <a:avLst/>
              <a:gdLst/>
              <a:ahLst/>
              <a:cxnLst/>
              <a:rect l="l" t="t" r="r" b="b"/>
              <a:pathLst>
                <a:path w="3943350" h="257175">
                  <a:moveTo>
                    <a:pt x="1552575" y="33058"/>
                  </a:moveTo>
                  <a:lnTo>
                    <a:pt x="1524393" y="977"/>
                  </a:lnTo>
                  <a:lnTo>
                    <a:pt x="1519529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219075"/>
                  </a:lnTo>
                  <a:lnTo>
                    <a:pt x="0" y="224129"/>
                  </a:lnTo>
                  <a:lnTo>
                    <a:pt x="28194" y="256209"/>
                  </a:lnTo>
                  <a:lnTo>
                    <a:pt x="33058" y="257175"/>
                  </a:lnTo>
                  <a:lnTo>
                    <a:pt x="1519529" y="257175"/>
                  </a:lnTo>
                  <a:lnTo>
                    <a:pt x="1551609" y="228993"/>
                  </a:lnTo>
                  <a:lnTo>
                    <a:pt x="1552575" y="224129"/>
                  </a:lnTo>
                  <a:lnTo>
                    <a:pt x="1552575" y="33058"/>
                  </a:lnTo>
                  <a:close/>
                </a:path>
                <a:path w="3943350" h="257175">
                  <a:moveTo>
                    <a:pt x="3943350" y="33058"/>
                  </a:moveTo>
                  <a:lnTo>
                    <a:pt x="3915168" y="977"/>
                  </a:lnTo>
                  <a:lnTo>
                    <a:pt x="3910304" y="0"/>
                  </a:lnTo>
                  <a:lnTo>
                    <a:pt x="2728633" y="0"/>
                  </a:lnTo>
                  <a:lnTo>
                    <a:pt x="2696553" y="28194"/>
                  </a:lnTo>
                  <a:lnTo>
                    <a:pt x="2695575" y="33058"/>
                  </a:lnTo>
                  <a:lnTo>
                    <a:pt x="2695575" y="219075"/>
                  </a:lnTo>
                  <a:lnTo>
                    <a:pt x="2695575" y="224129"/>
                  </a:lnTo>
                  <a:lnTo>
                    <a:pt x="2723769" y="256209"/>
                  </a:lnTo>
                  <a:lnTo>
                    <a:pt x="2728633" y="257175"/>
                  </a:lnTo>
                  <a:lnTo>
                    <a:pt x="3910304" y="257175"/>
                  </a:lnTo>
                  <a:lnTo>
                    <a:pt x="3942384" y="228993"/>
                  </a:lnTo>
                  <a:lnTo>
                    <a:pt x="3943350" y="224129"/>
                  </a:lnTo>
                  <a:lnTo>
                    <a:pt x="3943350" y="330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63550" y="804691"/>
            <a:ext cx="9841230" cy="17056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Les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pièges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classiques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à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vérifier</a:t>
            </a:r>
            <a:r>
              <a:rPr dirty="0" sz="1350" spc="-5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avant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de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rendre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votre</a:t>
            </a:r>
            <a:r>
              <a:rPr dirty="0" sz="1350" spc="-6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code.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  <a:spcBef>
                <a:spcPts val="870"/>
              </a:spcBef>
            </a:pP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Voici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4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erreurs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plus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courantes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qui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causent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bugs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silencieux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ou</a:t>
            </a:r>
            <a:r>
              <a:rPr dirty="0" sz="1650" spc="-3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des</a:t>
            </a:r>
            <a:r>
              <a:rPr dirty="0" sz="1650" spc="-3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34054"/>
                </a:solidFill>
                <a:latin typeface="Monaco"/>
                <a:cs typeface="Monaco"/>
              </a:rPr>
              <a:t>NullPointerException</a:t>
            </a:r>
            <a:r>
              <a:rPr dirty="0" sz="1650" spc="-10">
                <a:solidFill>
                  <a:srgbClr val="334054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</a:pP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Appeler</a:t>
            </a:r>
            <a:r>
              <a:rPr dirty="0" sz="1550" spc="26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945EF"/>
                </a:solidFill>
                <a:latin typeface="Courier New"/>
                <a:cs typeface="Courier New"/>
              </a:rPr>
              <a:t>Optional.get()</a:t>
            </a:r>
            <a:r>
              <a:rPr dirty="0" sz="1350" spc="-60">
                <a:solidFill>
                  <a:srgbClr val="D945EF"/>
                </a:solidFill>
                <a:latin typeface="Courier New"/>
                <a:cs typeface="Courier New"/>
              </a:rPr>
              <a:t> </a:t>
            </a:r>
            <a:r>
              <a:rPr dirty="0" sz="1550" spc="-25">
                <a:solidFill>
                  <a:srgbClr val="1D293B"/>
                </a:solidFill>
                <a:latin typeface="Arial"/>
                <a:cs typeface="Arial"/>
              </a:rPr>
              <a:t>sans</a:t>
            </a:r>
            <a:r>
              <a:rPr dirty="0" sz="1550" spc="-8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vérifier</a:t>
            </a:r>
            <a:r>
              <a:rPr dirty="0" sz="1550" spc="31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945EF"/>
                </a:solidFill>
                <a:latin typeface="Courier New"/>
                <a:cs typeface="Courier New"/>
              </a:rPr>
              <a:t>isPresent()</a:t>
            </a:r>
            <a:r>
              <a:rPr dirty="0" sz="1350" spc="-360">
                <a:solidFill>
                  <a:srgbClr val="D945EF"/>
                </a:solidFill>
                <a:latin typeface="Courier New"/>
                <a:cs typeface="Courier New"/>
              </a:rPr>
              <a:t> </a:t>
            </a:r>
            <a:r>
              <a:rPr dirty="0" sz="1550" spc="-50">
                <a:solidFill>
                  <a:srgbClr val="1D293B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18160" y="2889504"/>
            <a:ext cx="11155680" cy="774700"/>
            <a:chOff x="518160" y="2889504"/>
            <a:chExt cx="11155680" cy="774700"/>
          </a:xfrm>
        </p:grpSpPr>
        <p:sp>
          <p:nvSpPr>
            <p:cNvPr id="12" name="object 12" descr=""/>
            <p:cNvSpPr/>
            <p:nvPr/>
          </p:nvSpPr>
          <p:spPr>
            <a:xfrm>
              <a:off x="518160" y="2889504"/>
              <a:ext cx="11155680" cy="774700"/>
            </a:xfrm>
            <a:custGeom>
              <a:avLst/>
              <a:gdLst/>
              <a:ahLst/>
              <a:cxnLst/>
              <a:rect l="l" t="t" r="r" b="b"/>
              <a:pathLst>
                <a:path w="11155680" h="774700">
                  <a:moveTo>
                    <a:pt x="11155680" y="774192"/>
                  </a:moveTo>
                  <a:lnTo>
                    <a:pt x="0" y="774192"/>
                  </a:lnTo>
                  <a:lnTo>
                    <a:pt x="0" y="0"/>
                  </a:lnTo>
                  <a:lnTo>
                    <a:pt x="11155680" y="0"/>
                  </a:lnTo>
                  <a:lnTo>
                    <a:pt x="11155680" y="44195"/>
                  </a:lnTo>
                  <a:lnTo>
                    <a:pt x="129539" y="44195"/>
                  </a:lnTo>
                  <a:lnTo>
                    <a:pt x="122972" y="44512"/>
                  </a:lnTo>
                  <a:lnTo>
                    <a:pt x="87262" y="59304"/>
                  </a:lnTo>
                  <a:lnTo>
                    <a:pt x="65719" y="91544"/>
                  </a:lnTo>
                  <a:lnTo>
                    <a:pt x="62864" y="110870"/>
                  </a:lnTo>
                  <a:lnTo>
                    <a:pt x="62864" y="625220"/>
                  </a:lnTo>
                  <a:lnTo>
                    <a:pt x="74091" y="662269"/>
                  </a:lnTo>
                  <a:lnTo>
                    <a:pt x="104024" y="686819"/>
                  </a:lnTo>
                  <a:lnTo>
                    <a:pt x="129539" y="691895"/>
                  </a:lnTo>
                  <a:lnTo>
                    <a:pt x="11155680" y="691895"/>
                  </a:lnTo>
                  <a:lnTo>
                    <a:pt x="11155680" y="774192"/>
                  </a:lnTo>
                  <a:close/>
                </a:path>
                <a:path w="11155680" h="774700">
                  <a:moveTo>
                    <a:pt x="11155680" y="691895"/>
                  </a:moveTo>
                  <a:lnTo>
                    <a:pt x="11026139" y="691895"/>
                  </a:lnTo>
                  <a:lnTo>
                    <a:pt x="11032707" y="691578"/>
                  </a:lnTo>
                  <a:lnTo>
                    <a:pt x="11039148" y="690626"/>
                  </a:lnTo>
                  <a:lnTo>
                    <a:pt x="11073285" y="672366"/>
                  </a:lnTo>
                  <a:lnTo>
                    <a:pt x="11091545" y="638230"/>
                  </a:lnTo>
                  <a:lnTo>
                    <a:pt x="11092814" y="625220"/>
                  </a:lnTo>
                  <a:lnTo>
                    <a:pt x="11092814" y="110870"/>
                  </a:lnTo>
                  <a:lnTo>
                    <a:pt x="11081586" y="73820"/>
                  </a:lnTo>
                  <a:lnTo>
                    <a:pt x="11051653" y="49270"/>
                  </a:lnTo>
                  <a:lnTo>
                    <a:pt x="11026139" y="44195"/>
                  </a:lnTo>
                  <a:lnTo>
                    <a:pt x="11155680" y="44195"/>
                  </a:lnTo>
                  <a:lnTo>
                    <a:pt x="11155680" y="69189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00074" y="2924174"/>
              <a:ext cx="11020425" cy="666750"/>
            </a:xfrm>
            <a:custGeom>
              <a:avLst/>
              <a:gdLst/>
              <a:ahLst/>
              <a:cxnLst/>
              <a:rect l="l" t="t" r="r" b="b"/>
              <a:pathLst>
                <a:path w="11020425" h="666750">
                  <a:moveTo>
                    <a:pt x="10949227" y="666749"/>
                  </a:moveTo>
                  <a:lnTo>
                    <a:pt x="44497" y="666749"/>
                  </a:lnTo>
                  <a:lnTo>
                    <a:pt x="41400" y="666261"/>
                  </a:lnTo>
                  <a:lnTo>
                    <a:pt x="11737" y="640893"/>
                  </a:lnTo>
                  <a:lnTo>
                    <a:pt x="305" y="600508"/>
                  </a:lnTo>
                  <a:lnTo>
                    <a:pt x="0" y="595553"/>
                  </a:lnTo>
                  <a:lnTo>
                    <a:pt x="0" y="590549"/>
                  </a:lnTo>
                  <a:lnTo>
                    <a:pt x="0" y="71196"/>
                  </a:lnTo>
                  <a:lnTo>
                    <a:pt x="9763" y="29705"/>
                  </a:lnTo>
                  <a:lnTo>
                    <a:pt x="41400" y="488"/>
                  </a:lnTo>
                  <a:lnTo>
                    <a:pt x="44497" y="0"/>
                  </a:lnTo>
                  <a:lnTo>
                    <a:pt x="10949227" y="0"/>
                  </a:lnTo>
                  <a:lnTo>
                    <a:pt x="10990719" y="15621"/>
                  </a:lnTo>
                  <a:lnTo>
                    <a:pt x="11016537" y="51661"/>
                  </a:lnTo>
                  <a:lnTo>
                    <a:pt x="11020424" y="71196"/>
                  </a:lnTo>
                  <a:lnTo>
                    <a:pt x="11020424" y="595553"/>
                  </a:lnTo>
                  <a:lnTo>
                    <a:pt x="11004803" y="637043"/>
                  </a:lnTo>
                  <a:lnTo>
                    <a:pt x="10968761" y="662863"/>
                  </a:lnTo>
                  <a:lnTo>
                    <a:pt x="10954181" y="666261"/>
                  </a:lnTo>
                  <a:lnTo>
                    <a:pt x="10949227" y="6667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71499" y="2924304"/>
              <a:ext cx="73660" cy="666750"/>
            </a:xfrm>
            <a:custGeom>
              <a:avLst/>
              <a:gdLst/>
              <a:ahLst/>
              <a:cxnLst/>
              <a:rect l="l" t="t" r="r" b="b"/>
              <a:pathLst>
                <a:path w="73659" h="666750">
                  <a:moveTo>
                    <a:pt x="73510" y="666490"/>
                  </a:moveTo>
                  <a:lnTo>
                    <a:pt x="33857" y="653789"/>
                  </a:lnTo>
                  <a:lnTo>
                    <a:pt x="5800" y="619579"/>
                  </a:lnTo>
                  <a:lnTo>
                    <a:pt x="0" y="590420"/>
                  </a:lnTo>
                  <a:lnTo>
                    <a:pt x="0" y="76070"/>
                  </a:lnTo>
                  <a:lnTo>
                    <a:pt x="12830" y="33727"/>
                  </a:lnTo>
                  <a:lnTo>
                    <a:pt x="47039" y="5670"/>
                  </a:lnTo>
                  <a:lnTo>
                    <a:pt x="73510" y="0"/>
                  </a:lnTo>
                  <a:lnTo>
                    <a:pt x="71243" y="1803"/>
                  </a:lnTo>
                  <a:lnTo>
                    <a:pt x="66575" y="9537"/>
                  </a:lnTo>
                  <a:lnTo>
                    <a:pt x="57965" y="53983"/>
                  </a:lnTo>
                  <a:lnTo>
                    <a:pt x="57240" y="68563"/>
                  </a:lnTo>
                  <a:lnTo>
                    <a:pt x="57240" y="597926"/>
                  </a:lnTo>
                  <a:lnTo>
                    <a:pt x="60943" y="637156"/>
                  </a:lnTo>
                  <a:lnTo>
                    <a:pt x="71243" y="664686"/>
                  </a:lnTo>
                  <a:lnTo>
                    <a:pt x="73510" y="6664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19149" y="30670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481" y="3168649"/>
              <a:ext cx="158750" cy="16827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047862" y="3143249"/>
              <a:ext cx="2247900" cy="257175"/>
            </a:xfrm>
            <a:custGeom>
              <a:avLst/>
              <a:gdLst/>
              <a:ahLst/>
              <a:cxnLst/>
              <a:rect l="l" t="t" r="r" b="b"/>
              <a:pathLst>
                <a:path w="2247900" h="257175">
                  <a:moveTo>
                    <a:pt x="942975" y="33058"/>
                  </a:moveTo>
                  <a:lnTo>
                    <a:pt x="914793" y="977"/>
                  </a:lnTo>
                  <a:lnTo>
                    <a:pt x="909929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219075"/>
                  </a:lnTo>
                  <a:lnTo>
                    <a:pt x="0" y="224129"/>
                  </a:lnTo>
                  <a:lnTo>
                    <a:pt x="28194" y="256209"/>
                  </a:lnTo>
                  <a:lnTo>
                    <a:pt x="33058" y="257175"/>
                  </a:lnTo>
                  <a:lnTo>
                    <a:pt x="909929" y="257175"/>
                  </a:lnTo>
                  <a:lnTo>
                    <a:pt x="942009" y="228993"/>
                  </a:lnTo>
                  <a:lnTo>
                    <a:pt x="942975" y="224129"/>
                  </a:lnTo>
                  <a:lnTo>
                    <a:pt x="942975" y="33058"/>
                  </a:lnTo>
                  <a:close/>
                </a:path>
                <a:path w="2247900" h="257175">
                  <a:moveTo>
                    <a:pt x="2247900" y="33058"/>
                  </a:moveTo>
                  <a:lnTo>
                    <a:pt x="2219718" y="977"/>
                  </a:lnTo>
                  <a:lnTo>
                    <a:pt x="2214854" y="0"/>
                  </a:lnTo>
                  <a:lnTo>
                    <a:pt x="1137958" y="0"/>
                  </a:lnTo>
                  <a:lnTo>
                    <a:pt x="1105877" y="28194"/>
                  </a:lnTo>
                  <a:lnTo>
                    <a:pt x="1104900" y="33058"/>
                  </a:lnTo>
                  <a:lnTo>
                    <a:pt x="1104900" y="219075"/>
                  </a:lnTo>
                  <a:lnTo>
                    <a:pt x="1104900" y="224129"/>
                  </a:lnTo>
                  <a:lnTo>
                    <a:pt x="1133094" y="256209"/>
                  </a:lnTo>
                  <a:lnTo>
                    <a:pt x="1137958" y="257175"/>
                  </a:lnTo>
                  <a:lnTo>
                    <a:pt x="2214854" y="257175"/>
                  </a:lnTo>
                  <a:lnTo>
                    <a:pt x="2246934" y="228993"/>
                  </a:lnTo>
                  <a:lnTo>
                    <a:pt x="2247900" y="224129"/>
                  </a:lnTo>
                  <a:lnTo>
                    <a:pt x="2247900" y="330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377949" y="3102756"/>
            <a:ext cx="4785995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Oublier</a:t>
            </a:r>
            <a:r>
              <a:rPr dirty="0" sz="1550" spc="28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945EF"/>
                </a:solidFill>
                <a:latin typeface="Courier New"/>
                <a:cs typeface="Courier New"/>
              </a:rPr>
              <a:t>equals()</a:t>
            </a:r>
            <a:r>
              <a:rPr dirty="0" sz="1350" spc="-65">
                <a:solidFill>
                  <a:srgbClr val="D945EF"/>
                </a:solidFill>
                <a:latin typeface="Courier New"/>
                <a:cs typeface="Courier New"/>
              </a:rPr>
              <a:t> </a:t>
            </a:r>
            <a:r>
              <a:rPr dirty="0" sz="1550" spc="150">
                <a:solidFill>
                  <a:srgbClr val="1D293B"/>
                </a:solidFill>
                <a:latin typeface="Arial"/>
                <a:cs typeface="Arial"/>
              </a:rPr>
              <a:t>/</a:t>
            </a:r>
            <a:r>
              <a:rPr dirty="0" sz="1550" spc="31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945EF"/>
                </a:solidFill>
                <a:latin typeface="Courier New"/>
                <a:cs typeface="Courier New"/>
              </a:rPr>
              <a:t>hashCode()</a:t>
            </a:r>
            <a:r>
              <a:rPr dirty="0" sz="1350" spc="-65">
                <a:solidFill>
                  <a:srgbClr val="D945EF"/>
                </a:solidFill>
                <a:latin typeface="Courier New"/>
                <a:cs typeface="Courier New"/>
              </a:rPr>
              <a:t> </a:t>
            </a:r>
            <a:r>
              <a:rPr dirty="0" sz="1550" spc="-25">
                <a:solidFill>
                  <a:srgbClr val="1D293B"/>
                </a:solidFill>
                <a:latin typeface="Arial"/>
                <a:cs typeface="Arial"/>
              </a:rPr>
              <a:t>dans</a:t>
            </a:r>
            <a:r>
              <a:rPr dirty="0" sz="1550" spc="-8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les</a:t>
            </a:r>
            <a:r>
              <a:rPr dirty="0" sz="1550" spc="-9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clés</a:t>
            </a:r>
            <a:r>
              <a:rPr dirty="0" sz="1550" spc="-9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1D293B"/>
                </a:solidFill>
                <a:latin typeface="Arial"/>
                <a:cs typeface="Arial"/>
              </a:rPr>
              <a:t>de</a:t>
            </a:r>
            <a:r>
              <a:rPr dirty="0" sz="1550" spc="-7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1D293B"/>
                </a:solidFill>
                <a:latin typeface="Courier New"/>
                <a:cs typeface="Courier New"/>
              </a:rPr>
              <a:t>Map</a:t>
            </a:r>
            <a:r>
              <a:rPr dirty="0" sz="1550" spc="-20">
                <a:solidFill>
                  <a:srgbClr val="1D293B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18160" y="3745992"/>
            <a:ext cx="11155680" cy="777240"/>
            <a:chOff x="518160" y="3745992"/>
            <a:chExt cx="11155680" cy="777240"/>
          </a:xfrm>
        </p:grpSpPr>
        <p:sp>
          <p:nvSpPr>
            <p:cNvPr id="20" name="object 20" descr=""/>
            <p:cNvSpPr/>
            <p:nvPr/>
          </p:nvSpPr>
          <p:spPr>
            <a:xfrm>
              <a:off x="518160" y="3745992"/>
              <a:ext cx="11155680" cy="777240"/>
            </a:xfrm>
            <a:custGeom>
              <a:avLst/>
              <a:gdLst/>
              <a:ahLst/>
              <a:cxnLst/>
              <a:rect l="l" t="t" r="r" b="b"/>
              <a:pathLst>
                <a:path w="11155680" h="777239">
                  <a:moveTo>
                    <a:pt x="11155680" y="777240"/>
                  </a:moveTo>
                  <a:lnTo>
                    <a:pt x="0" y="777240"/>
                  </a:lnTo>
                  <a:lnTo>
                    <a:pt x="0" y="0"/>
                  </a:lnTo>
                  <a:lnTo>
                    <a:pt x="11155680" y="0"/>
                  </a:lnTo>
                  <a:lnTo>
                    <a:pt x="11155680" y="44957"/>
                  </a:lnTo>
                  <a:lnTo>
                    <a:pt x="129539" y="44957"/>
                  </a:lnTo>
                  <a:lnTo>
                    <a:pt x="122971" y="45274"/>
                  </a:lnTo>
                  <a:lnTo>
                    <a:pt x="87262" y="60066"/>
                  </a:lnTo>
                  <a:lnTo>
                    <a:pt x="65719" y="92306"/>
                  </a:lnTo>
                  <a:lnTo>
                    <a:pt x="62864" y="111632"/>
                  </a:lnTo>
                  <a:lnTo>
                    <a:pt x="62864" y="625982"/>
                  </a:lnTo>
                  <a:lnTo>
                    <a:pt x="74091" y="663031"/>
                  </a:lnTo>
                  <a:lnTo>
                    <a:pt x="104024" y="687581"/>
                  </a:lnTo>
                  <a:lnTo>
                    <a:pt x="129539" y="692657"/>
                  </a:lnTo>
                  <a:lnTo>
                    <a:pt x="11155680" y="692657"/>
                  </a:lnTo>
                  <a:lnTo>
                    <a:pt x="11155680" y="777240"/>
                  </a:lnTo>
                  <a:close/>
                </a:path>
                <a:path w="11155680" h="777239">
                  <a:moveTo>
                    <a:pt x="11155680" y="692657"/>
                  </a:moveTo>
                  <a:lnTo>
                    <a:pt x="11026139" y="692657"/>
                  </a:lnTo>
                  <a:lnTo>
                    <a:pt x="11032707" y="692340"/>
                  </a:lnTo>
                  <a:lnTo>
                    <a:pt x="11039148" y="691388"/>
                  </a:lnTo>
                  <a:lnTo>
                    <a:pt x="11073285" y="673128"/>
                  </a:lnTo>
                  <a:lnTo>
                    <a:pt x="11091545" y="638992"/>
                  </a:lnTo>
                  <a:lnTo>
                    <a:pt x="11092814" y="625982"/>
                  </a:lnTo>
                  <a:lnTo>
                    <a:pt x="11092814" y="111632"/>
                  </a:lnTo>
                  <a:lnTo>
                    <a:pt x="11081586" y="74582"/>
                  </a:lnTo>
                  <a:lnTo>
                    <a:pt x="11051653" y="50032"/>
                  </a:lnTo>
                  <a:lnTo>
                    <a:pt x="11026139" y="44957"/>
                  </a:lnTo>
                  <a:lnTo>
                    <a:pt x="11155680" y="44957"/>
                  </a:lnTo>
                  <a:lnTo>
                    <a:pt x="11155680" y="692657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0074" y="3781424"/>
              <a:ext cx="11020425" cy="666750"/>
            </a:xfrm>
            <a:custGeom>
              <a:avLst/>
              <a:gdLst/>
              <a:ahLst/>
              <a:cxnLst/>
              <a:rect l="l" t="t" r="r" b="b"/>
              <a:pathLst>
                <a:path w="11020425" h="666750">
                  <a:moveTo>
                    <a:pt x="10949227" y="666749"/>
                  </a:moveTo>
                  <a:lnTo>
                    <a:pt x="44497" y="666749"/>
                  </a:lnTo>
                  <a:lnTo>
                    <a:pt x="41400" y="666261"/>
                  </a:lnTo>
                  <a:lnTo>
                    <a:pt x="11737" y="640893"/>
                  </a:lnTo>
                  <a:lnTo>
                    <a:pt x="305" y="600508"/>
                  </a:lnTo>
                  <a:lnTo>
                    <a:pt x="0" y="595553"/>
                  </a:lnTo>
                  <a:lnTo>
                    <a:pt x="0" y="590549"/>
                  </a:lnTo>
                  <a:lnTo>
                    <a:pt x="0" y="71196"/>
                  </a:lnTo>
                  <a:lnTo>
                    <a:pt x="9763" y="29704"/>
                  </a:lnTo>
                  <a:lnTo>
                    <a:pt x="41400" y="488"/>
                  </a:lnTo>
                  <a:lnTo>
                    <a:pt x="44497" y="0"/>
                  </a:lnTo>
                  <a:lnTo>
                    <a:pt x="10949227" y="0"/>
                  </a:lnTo>
                  <a:lnTo>
                    <a:pt x="10990719" y="15621"/>
                  </a:lnTo>
                  <a:lnTo>
                    <a:pt x="11016537" y="51661"/>
                  </a:lnTo>
                  <a:lnTo>
                    <a:pt x="11020424" y="71196"/>
                  </a:lnTo>
                  <a:lnTo>
                    <a:pt x="11020424" y="595553"/>
                  </a:lnTo>
                  <a:lnTo>
                    <a:pt x="11004803" y="637044"/>
                  </a:lnTo>
                  <a:lnTo>
                    <a:pt x="10968761" y="662863"/>
                  </a:lnTo>
                  <a:lnTo>
                    <a:pt x="10954181" y="666261"/>
                  </a:lnTo>
                  <a:lnTo>
                    <a:pt x="10949227" y="6667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71499" y="3781554"/>
              <a:ext cx="73660" cy="666750"/>
            </a:xfrm>
            <a:custGeom>
              <a:avLst/>
              <a:gdLst/>
              <a:ahLst/>
              <a:cxnLst/>
              <a:rect l="l" t="t" r="r" b="b"/>
              <a:pathLst>
                <a:path w="73659" h="666750">
                  <a:moveTo>
                    <a:pt x="73510" y="666490"/>
                  </a:moveTo>
                  <a:lnTo>
                    <a:pt x="33857" y="653789"/>
                  </a:lnTo>
                  <a:lnTo>
                    <a:pt x="5800" y="619580"/>
                  </a:lnTo>
                  <a:lnTo>
                    <a:pt x="0" y="590420"/>
                  </a:lnTo>
                  <a:lnTo>
                    <a:pt x="0" y="76070"/>
                  </a:lnTo>
                  <a:lnTo>
                    <a:pt x="12830" y="33727"/>
                  </a:lnTo>
                  <a:lnTo>
                    <a:pt x="47039" y="5669"/>
                  </a:lnTo>
                  <a:lnTo>
                    <a:pt x="73510" y="0"/>
                  </a:lnTo>
                  <a:lnTo>
                    <a:pt x="71243" y="1803"/>
                  </a:lnTo>
                  <a:lnTo>
                    <a:pt x="66575" y="9536"/>
                  </a:lnTo>
                  <a:lnTo>
                    <a:pt x="57965" y="53983"/>
                  </a:lnTo>
                  <a:lnTo>
                    <a:pt x="57240" y="68563"/>
                  </a:lnTo>
                  <a:lnTo>
                    <a:pt x="57240" y="597926"/>
                  </a:lnTo>
                  <a:lnTo>
                    <a:pt x="60943" y="637156"/>
                  </a:lnTo>
                  <a:lnTo>
                    <a:pt x="71243" y="664686"/>
                  </a:lnTo>
                  <a:lnTo>
                    <a:pt x="73510" y="6664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19149" y="3924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924" y="4013199"/>
              <a:ext cx="171450" cy="19367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886074" y="4000499"/>
              <a:ext cx="933450" cy="257175"/>
            </a:xfrm>
            <a:custGeom>
              <a:avLst/>
              <a:gdLst/>
              <a:ahLst/>
              <a:cxnLst/>
              <a:rect l="l" t="t" r="r" b="b"/>
              <a:pathLst>
                <a:path w="933450" h="257175">
                  <a:moveTo>
                    <a:pt x="900402" y="257174"/>
                  </a:moveTo>
                  <a:lnTo>
                    <a:pt x="33047" y="257174"/>
                  </a:lnTo>
                  <a:lnTo>
                    <a:pt x="28187" y="256207"/>
                  </a:lnTo>
                  <a:lnTo>
                    <a:pt x="966" y="228986"/>
                  </a:lnTo>
                  <a:lnTo>
                    <a:pt x="0" y="224127"/>
                  </a:lnTo>
                  <a:lnTo>
                    <a:pt x="0" y="2190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00402" y="0"/>
                  </a:lnTo>
                  <a:lnTo>
                    <a:pt x="932483" y="28187"/>
                  </a:lnTo>
                  <a:lnTo>
                    <a:pt x="933449" y="33047"/>
                  </a:lnTo>
                  <a:lnTo>
                    <a:pt x="933449" y="224127"/>
                  </a:lnTo>
                  <a:lnTo>
                    <a:pt x="905262" y="256207"/>
                  </a:lnTo>
                  <a:lnTo>
                    <a:pt x="900402" y="25717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377949" y="3960006"/>
            <a:ext cx="4646930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Modifier</a:t>
            </a:r>
            <a:r>
              <a:rPr dirty="0" sz="1550" spc="-5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1D293B"/>
                </a:solidFill>
                <a:latin typeface="Arial"/>
                <a:cs typeface="Arial"/>
              </a:rPr>
              <a:t>un</a:t>
            </a:r>
            <a:r>
              <a:rPr dirty="0" sz="1550" spc="-5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objet</a:t>
            </a:r>
            <a:r>
              <a:rPr dirty="0" sz="1550" spc="409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945EF"/>
                </a:solidFill>
                <a:latin typeface="Courier New"/>
                <a:cs typeface="Courier New"/>
              </a:rPr>
              <a:t>Calendar</a:t>
            </a:r>
            <a:r>
              <a:rPr dirty="0" sz="1350" spc="30">
                <a:solidFill>
                  <a:srgbClr val="D945EF"/>
                </a:solidFill>
                <a:latin typeface="Courier New"/>
                <a:cs typeface="Courier New"/>
              </a:rPr>
              <a:t> </a:t>
            </a:r>
            <a:r>
              <a:rPr dirty="0" sz="1550" spc="-20">
                <a:solidFill>
                  <a:srgbClr val="1D293B"/>
                </a:solidFill>
                <a:latin typeface="Arial"/>
                <a:cs typeface="Arial"/>
              </a:rPr>
              <a:t>partagé</a:t>
            </a:r>
            <a:r>
              <a:rPr dirty="0" sz="1550" spc="-5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(il</a:t>
            </a:r>
            <a:r>
              <a:rPr dirty="0" sz="1550" spc="-5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est</a:t>
            </a:r>
            <a:r>
              <a:rPr dirty="0" sz="1550" spc="-5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1D293B"/>
                </a:solidFill>
                <a:latin typeface="Arial"/>
                <a:cs typeface="Arial"/>
              </a:rPr>
              <a:t>mutable</a:t>
            </a:r>
            <a:r>
              <a:rPr dirty="0" sz="1500" spc="-3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1D293B"/>
                </a:solidFill>
                <a:latin typeface="Arial"/>
                <a:cs typeface="Arial"/>
              </a:rPr>
              <a:t>!).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18160" y="4602480"/>
            <a:ext cx="11155680" cy="777240"/>
            <a:chOff x="518160" y="4602480"/>
            <a:chExt cx="11155680" cy="777240"/>
          </a:xfrm>
        </p:grpSpPr>
        <p:sp>
          <p:nvSpPr>
            <p:cNvPr id="28" name="object 28" descr=""/>
            <p:cNvSpPr/>
            <p:nvPr/>
          </p:nvSpPr>
          <p:spPr>
            <a:xfrm>
              <a:off x="518160" y="4602480"/>
              <a:ext cx="11155680" cy="777240"/>
            </a:xfrm>
            <a:custGeom>
              <a:avLst/>
              <a:gdLst/>
              <a:ahLst/>
              <a:cxnLst/>
              <a:rect l="l" t="t" r="r" b="b"/>
              <a:pathLst>
                <a:path w="11155680" h="777239">
                  <a:moveTo>
                    <a:pt x="11155680" y="777240"/>
                  </a:moveTo>
                  <a:lnTo>
                    <a:pt x="0" y="777240"/>
                  </a:lnTo>
                  <a:lnTo>
                    <a:pt x="0" y="0"/>
                  </a:lnTo>
                  <a:lnTo>
                    <a:pt x="11155680" y="0"/>
                  </a:lnTo>
                  <a:lnTo>
                    <a:pt x="11155680" y="45719"/>
                  </a:lnTo>
                  <a:lnTo>
                    <a:pt x="129539" y="45719"/>
                  </a:lnTo>
                  <a:lnTo>
                    <a:pt x="122971" y="46036"/>
                  </a:lnTo>
                  <a:lnTo>
                    <a:pt x="87262" y="60827"/>
                  </a:lnTo>
                  <a:lnTo>
                    <a:pt x="65719" y="93068"/>
                  </a:lnTo>
                  <a:lnTo>
                    <a:pt x="62864" y="112394"/>
                  </a:lnTo>
                  <a:lnTo>
                    <a:pt x="62864" y="626744"/>
                  </a:lnTo>
                  <a:lnTo>
                    <a:pt x="74091" y="663793"/>
                  </a:lnTo>
                  <a:lnTo>
                    <a:pt x="104024" y="688343"/>
                  </a:lnTo>
                  <a:lnTo>
                    <a:pt x="129539" y="693419"/>
                  </a:lnTo>
                  <a:lnTo>
                    <a:pt x="11155680" y="693419"/>
                  </a:lnTo>
                  <a:lnTo>
                    <a:pt x="11155680" y="777240"/>
                  </a:lnTo>
                  <a:close/>
                </a:path>
                <a:path w="11155680" h="777239">
                  <a:moveTo>
                    <a:pt x="11155680" y="693419"/>
                  </a:moveTo>
                  <a:lnTo>
                    <a:pt x="11026139" y="693419"/>
                  </a:lnTo>
                  <a:lnTo>
                    <a:pt x="11032707" y="693102"/>
                  </a:lnTo>
                  <a:lnTo>
                    <a:pt x="11039148" y="692150"/>
                  </a:lnTo>
                  <a:lnTo>
                    <a:pt x="11073285" y="673890"/>
                  </a:lnTo>
                  <a:lnTo>
                    <a:pt x="11091545" y="639754"/>
                  </a:lnTo>
                  <a:lnTo>
                    <a:pt x="11092814" y="626744"/>
                  </a:lnTo>
                  <a:lnTo>
                    <a:pt x="11092814" y="112394"/>
                  </a:lnTo>
                  <a:lnTo>
                    <a:pt x="11081586" y="75344"/>
                  </a:lnTo>
                  <a:lnTo>
                    <a:pt x="11051653" y="50794"/>
                  </a:lnTo>
                  <a:lnTo>
                    <a:pt x="11026139" y="45719"/>
                  </a:lnTo>
                  <a:lnTo>
                    <a:pt x="11155680" y="45719"/>
                  </a:lnTo>
                  <a:lnTo>
                    <a:pt x="11155680" y="693419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00074" y="4638674"/>
              <a:ext cx="11020425" cy="666750"/>
            </a:xfrm>
            <a:custGeom>
              <a:avLst/>
              <a:gdLst/>
              <a:ahLst/>
              <a:cxnLst/>
              <a:rect l="l" t="t" r="r" b="b"/>
              <a:pathLst>
                <a:path w="11020425" h="666750">
                  <a:moveTo>
                    <a:pt x="10949227" y="666749"/>
                  </a:moveTo>
                  <a:lnTo>
                    <a:pt x="44497" y="666749"/>
                  </a:lnTo>
                  <a:lnTo>
                    <a:pt x="41400" y="666261"/>
                  </a:lnTo>
                  <a:lnTo>
                    <a:pt x="11737" y="640893"/>
                  </a:lnTo>
                  <a:lnTo>
                    <a:pt x="305" y="600508"/>
                  </a:lnTo>
                  <a:lnTo>
                    <a:pt x="0" y="595552"/>
                  </a:lnTo>
                  <a:lnTo>
                    <a:pt x="0" y="590549"/>
                  </a:lnTo>
                  <a:lnTo>
                    <a:pt x="0" y="71196"/>
                  </a:lnTo>
                  <a:lnTo>
                    <a:pt x="9763" y="29704"/>
                  </a:lnTo>
                  <a:lnTo>
                    <a:pt x="41400" y="488"/>
                  </a:lnTo>
                  <a:lnTo>
                    <a:pt x="44497" y="0"/>
                  </a:lnTo>
                  <a:lnTo>
                    <a:pt x="10949227" y="0"/>
                  </a:lnTo>
                  <a:lnTo>
                    <a:pt x="10990719" y="15621"/>
                  </a:lnTo>
                  <a:lnTo>
                    <a:pt x="11016537" y="51661"/>
                  </a:lnTo>
                  <a:lnTo>
                    <a:pt x="11020424" y="71196"/>
                  </a:lnTo>
                  <a:lnTo>
                    <a:pt x="11020424" y="595552"/>
                  </a:lnTo>
                  <a:lnTo>
                    <a:pt x="11004803" y="637044"/>
                  </a:lnTo>
                  <a:lnTo>
                    <a:pt x="10968761" y="662863"/>
                  </a:lnTo>
                  <a:lnTo>
                    <a:pt x="10954181" y="666261"/>
                  </a:lnTo>
                  <a:lnTo>
                    <a:pt x="10949227" y="6667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71499" y="4638804"/>
              <a:ext cx="73660" cy="666750"/>
            </a:xfrm>
            <a:custGeom>
              <a:avLst/>
              <a:gdLst/>
              <a:ahLst/>
              <a:cxnLst/>
              <a:rect l="l" t="t" r="r" b="b"/>
              <a:pathLst>
                <a:path w="73659" h="666750">
                  <a:moveTo>
                    <a:pt x="73510" y="666490"/>
                  </a:moveTo>
                  <a:lnTo>
                    <a:pt x="33857" y="653789"/>
                  </a:lnTo>
                  <a:lnTo>
                    <a:pt x="5800" y="619579"/>
                  </a:lnTo>
                  <a:lnTo>
                    <a:pt x="0" y="590420"/>
                  </a:lnTo>
                  <a:lnTo>
                    <a:pt x="0" y="76070"/>
                  </a:lnTo>
                  <a:lnTo>
                    <a:pt x="12830" y="33727"/>
                  </a:lnTo>
                  <a:lnTo>
                    <a:pt x="47039" y="5670"/>
                  </a:lnTo>
                  <a:lnTo>
                    <a:pt x="73510" y="0"/>
                  </a:lnTo>
                  <a:lnTo>
                    <a:pt x="71243" y="1803"/>
                  </a:lnTo>
                  <a:lnTo>
                    <a:pt x="66575" y="9537"/>
                  </a:lnTo>
                  <a:lnTo>
                    <a:pt x="57965" y="53982"/>
                  </a:lnTo>
                  <a:lnTo>
                    <a:pt x="57240" y="68563"/>
                  </a:lnTo>
                  <a:lnTo>
                    <a:pt x="57240" y="597926"/>
                  </a:lnTo>
                  <a:lnTo>
                    <a:pt x="60943" y="637155"/>
                  </a:lnTo>
                  <a:lnTo>
                    <a:pt x="71243" y="664686"/>
                  </a:lnTo>
                  <a:lnTo>
                    <a:pt x="73510" y="66649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19149" y="4781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5" y="296335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399" y="4870449"/>
              <a:ext cx="190500" cy="19367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391012" y="4857750"/>
              <a:ext cx="923925" cy="257175"/>
            </a:xfrm>
            <a:custGeom>
              <a:avLst/>
              <a:gdLst/>
              <a:ahLst/>
              <a:cxnLst/>
              <a:rect l="l" t="t" r="r" b="b"/>
              <a:pathLst>
                <a:path w="923925" h="257175">
                  <a:moveTo>
                    <a:pt x="323850" y="33058"/>
                  </a:moveTo>
                  <a:lnTo>
                    <a:pt x="295668" y="977"/>
                  </a:lnTo>
                  <a:lnTo>
                    <a:pt x="290804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219075"/>
                  </a:lnTo>
                  <a:lnTo>
                    <a:pt x="0" y="224129"/>
                  </a:lnTo>
                  <a:lnTo>
                    <a:pt x="28194" y="256209"/>
                  </a:lnTo>
                  <a:lnTo>
                    <a:pt x="33058" y="257175"/>
                  </a:lnTo>
                  <a:lnTo>
                    <a:pt x="290804" y="257175"/>
                  </a:lnTo>
                  <a:lnTo>
                    <a:pt x="322884" y="228993"/>
                  </a:lnTo>
                  <a:lnTo>
                    <a:pt x="323850" y="224129"/>
                  </a:lnTo>
                  <a:lnTo>
                    <a:pt x="323850" y="33058"/>
                  </a:lnTo>
                  <a:close/>
                </a:path>
                <a:path w="923925" h="257175">
                  <a:moveTo>
                    <a:pt x="923925" y="33058"/>
                  </a:moveTo>
                  <a:lnTo>
                    <a:pt x="895743" y="977"/>
                  </a:lnTo>
                  <a:lnTo>
                    <a:pt x="890879" y="0"/>
                  </a:lnTo>
                  <a:lnTo>
                    <a:pt x="642658" y="0"/>
                  </a:lnTo>
                  <a:lnTo>
                    <a:pt x="610577" y="28194"/>
                  </a:lnTo>
                  <a:lnTo>
                    <a:pt x="609600" y="33058"/>
                  </a:lnTo>
                  <a:lnTo>
                    <a:pt x="609600" y="219075"/>
                  </a:lnTo>
                  <a:lnTo>
                    <a:pt x="609600" y="224129"/>
                  </a:lnTo>
                  <a:lnTo>
                    <a:pt x="637794" y="256209"/>
                  </a:lnTo>
                  <a:lnTo>
                    <a:pt x="642658" y="257175"/>
                  </a:lnTo>
                  <a:lnTo>
                    <a:pt x="890879" y="257175"/>
                  </a:lnTo>
                  <a:lnTo>
                    <a:pt x="922959" y="228993"/>
                  </a:lnTo>
                  <a:lnTo>
                    <a:pt x="923925" y="224129"/>
                  </a:lnTo>
                  <a:lnTo>
                    <a:pt x="923925" y="330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377949" y="4817256"/>
            <a:ext cx="4072254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-30">
                <a:solidFill>
                  <a:srgbClr val="1D293B"/>
                </a:solidFill>
                <a:latin typeface="Arial"/>
                <a:cs typeface="Arial"/>
              </a:rPr>
              <a:t>Confondre</a:t>
            </a:r>
            <a:r>
              <a:rPr dirty="0" sz="1550" spc="-8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les</a:t>
            </a:r>
            <a:r>
              <a:rPr dirty="0" sz="1550" spc="-7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formats</a:t>
            </a:r>
            <a:r>
              <a:rPr dirty="0" sz="1550" spc="-7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1D293B"/>
                </a:solidFill>
                <a:latin typeface="Arial"/>
                <a:cs typeface="Arial"/>
              </a:rPr>
              <a:t>de</a:t>
            </a:r>
            <a:r>
              <a:rPr dirty="0" sz="1550" spc="-7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1D293B"/>
                </a:solidFill>
                <a:latin typeface="Arial"/>
                <a:cs typeface="Arial"/>
              </a:rPr>
              <a:t>date</a:t>
            </a:r>
            <a:r>
              <a:rPr dirty="0" sz="1550" spc="-65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(ex:</a:t>
            </a:r>
            <a:r>
              <a:rPr dirty="0" sz="1550" spc="37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945EF"/>
                </a:solidFill>
                <a:latin typeface="Courier New"/>
                <a:cs typeface="Courier New"/>
              </a:rPr>
              <a:t>mm</a:t>
            </a:r>
            <a:r>
              <a:rPr dirty="0" sz="1350" spc="-10">
                <a:solidFill>
                  <a:srgbClr val="D945E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1D293B"/>
                </a:solidFill>
                <a:latin typeface="Arial"/>
                <a:cs typeface="Arial"/>
              </a:rPr>
              <a:t>vs</a:t>
            </a:r>
            <a:r>
              <a:rPr dirty="0" sz="1550" spc="37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945EF"/>
                </a:solidFill>
                <a:latin typeface="Courier New"/>
                <a:cs typeface="Courier New"/>
              </a:rPr>
              <a:t>MM</a:t>
            </a:r>
            <a:r>
              <a:rPr dirty="0" sz="1350" spc="-360">
                <a:solidFill>
                  <a:srgbClr val="D945EF"/>
                </a:solidFill>
                <a:latin typeface="Courier New"/>
                <a:cs typeface="Courier New"/>
              </a:rPr>
              <a:t> </a:t>
            </a:r>
            <a:r>
              <a:rPr dirty="0" sz="1550" spc="-25">
                <a:solidFill>
                  <a:srgbClr val="1D293B"/>
                </a:solidFill>
                <a:latin typeface="Arial"/>
                <a:cs typeface="Arial"/>
              </a:rPr>
              <a:t>).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533400" y="5513832"/>
            <a:ext cx="5507990" cy="899160"/>
            <a:chOff x="533400" y="5513832"/>
            <a:chExt cx="5507990" cy="899160"/>
          </a:xfrm>
        </p:grpSpPr>
        <p:sp>
          <p:nvSpPr>
            <p:cNvPr id="36" name="object 36" descr=""/>
            <p:cNvSpPr/>
            <p:nvPr/>
          </p:nvSpPr>
          <p:spPr>
            <a:xfrm>
              <a:off x="533400" y="5513832"/>
              <a:ext cx="5507990" cy="899160"/>
            </a:xfrm>
            <a:custGeom>
              <a:avLst/>
              <a:gdLst/>
              <a:ahLst/>
              <a:cxnLst/>
              <a:rect l="l" t="t" r="r" b="b"/>
              <a:pathLst>
                <a:path w="5507990" h="899160">
                  <a:moveTo>
                    <a:pt x="5507736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507736" y="0"/>
                  </a:lnTo>
                  <a:lnTo>
                    <a:pt x="5507736" y="39242"/>
                  </a:lnTo>
                  <a:lnTo>
                    <a:pt x="95249" y="39242"/>
                  </a:lnTo>
                  <a:lnTo>
                    <a:pt x="85747" y="40114"/>
                  </a:lnTo>
                  <a:lnTo>
                    <a:pt x="51112" y="68584"/>
                  </a:lnTo>
                  <a:lnTo>
                    <a:pt x="47624" y="86867"/>
                  </a:lnTo>
                  <a:lnTo>
                    <a:pt x="47624" y="791717"/>
                  </a:lnTo>
                  <a:lnTo>
                    <a:pt x="68909" y="831495"/>
                  </a:lnTo>
                  <a:lnTo>
                    <a:pt x="95249" y="839342"/>
                  </a:lnTo>
                  <a:lnTo>
                    <a:pt x="5507736" y="839342"/>
                  </a:lnTo>
                  <a:lnTo>
                    <a:pt x="5507736" y="899160"/>
                  </a:lnTo>
                  <a:close/>
                </a:path>
                <a:path w="5507990" h="899160">
                  <a:moveTo>
                    <a:pt x="5507736" y="839342"/>
                  </a:moveTo>
                  <a:lnTo>
                    <a:pt x="5410199" y="839342"/>
                  </a:lnTo>
                  <a:lnTo>
                    <a:pt x="5419701" y="838470"/>
                  </a:lnTo>
                  <a:lnTo>
                    <a:pt x="5428481" y="835855"/>
                  </a:lnTo>
                  <a:lnTo>
                    <a:pt x="5456952" y="801219"/>
                  </a:lnTo>
                  <a:lnTo>
                    <a:pt x="5457824" y="791717"/>
                  </a:lnTo>
                  <a:lnTo>
                    <a:pt x="5457824" y="86867"/>
                  </a:lnTo>
                  <a:lnTo>
                    <a:pt x="5436539" y="47088"/>
                  </a:lnTo>
                  <a:lnTo>
                    <a:pt x="5410199" y="39242"/>
                  </a:lnTo>
                  <a:lnTo>
                    <a:pt x="5507736" y="39242"/>
                  </a:lnTo>
                  <a:lnTo>
                    <a:pt x="5507736" y="83934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95312" y="5543549"/>
              <a:ext cx="5405755" cy="819150"/>
            </a:xfrm>
            <a:custGeom>
              <a:avLst/>
              <a:gdLst/>
              <a:ahLst/>
              <a:cxnLst/>
              <a:rect l="l" t="t" r="r" b="b"/>
              <a:pathLst>
                <a:path w="5405755" h="819150">
                  <a:moveTo>
                    <a:pt x="5352039" y="819149"/>
                  </a:moveTo>
                  <a:lnTo>
                    <a:pt x="28916" y="819149"/>
                  </a:lnTo>
                  <a:lnTo>
                    <a:pt x="845" y="776867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352039" y="0"/>
                  </a:lnTo>
                  <a:lnTo>
                    <a:pt x="5391351" y="19391"/>
                  </a:lnTo>
                  <a:lnTo>
                    <a:pt x="5405437" y="53397"/>
                  </a:lnTo>
                  <a:lnTo>
                    <a:pt x="5405437" y="765752"/>
                  </a:lnTo>
                  <a:lnTo>
                    <a:pt x="5386044" y="805063"/>
                  </a:lnTo>
                  <a:lnTo>
                    <a:pt x="5355755" y="818783"/>
                  </a:lnTo>
                  <a:lnTo>
                    <a:pt x="5352039" y="81914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71499" y="5543549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09" h="819150">
                  <a:moveTo>
                    <a:pt x="54519" y="819149"/>
                  </a:moveTo>
                  <a:lnTo>
                    <a:pt x="49571" y="819149"/>
                  </a:lnTo>
                  <a:lnTo>
                    <a:pt x="42281" y="817698"/>
                  </a:lnTo>
                  <a:lnTo>
                    <a:pt x="7250" y="790871"/>
                  </a:lnTo>
                  <a:lnTo>
                    <a:pt x="0" y="76957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4" y="25541"/>
                  </a:lnTo>
                  <a:lnTo>
                    <a:pt x="48322" y="35210"/>
                  </a:lnTo>
                  <a:lnTo>
                    <a:pt x="47799" y="45746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70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624" y="5845174"/>
              <a:ext cx="209550" cy="212725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1149350" y="5622188"/>
            <a:ext cx="420306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55" b="1">
                <a:solidFill>
                  <a:srgbClr val="13532D"/>
                </a:solidFill>
                <a:latin typeface="Arial"/>
                <a:cs typeface="Arial"/>
              </a:rPr>
              <a:t>Règle</a:t>
            </a:r>
            <a:r>
              <a:rPr dirty="0" sz="1350" spc="-2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13532D"/>
                </a:solidFill>
                <a:latin typeface="Arial"/>
                <a:cs typeface="Arial"/>
              </a:rPr>
              <a:t>:</a:t>
            </a:r>
            <a:r>
              <a:rPr dirty="0" sz="1350" spc="-50" b="1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Toujours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utiliser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Courier New"/>
                <a:cs typeface="Courier New"/>
              </a:rPr>
              <a:t>java.time</a:t>
            </a:r>
            <a:r>
              <a:rPr dirty="0" sz="1350" spc="-450">
                <a:solidFill>
                  <a:srgbClr val="13532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pour</a:t>
            </a:r>
            <a:r>
              <a:rPr dirty="0" sz="1350" spc="-25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3532D"/>
                </a:solidFill>
                <a:latin typeface="Arial"/>
                <a:cs typeface="Arial"/>
              </a:rPr>
              <a:t>les</a:t>
            </a:r>
            <a:r>
              <a:rPr dirty="0" sz="1350" spc="-20">
                <a:solidFill>
                  <a:srgbClr val="13532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532D"/>
                </a:solidFill>
                <a:latin typeface="Arial"/>
                <a:cs typeface="Arial"/>
              </a:rPr>
              <a:t>nouvelles dates.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150864" y="5513832"/>
            <a:ext cx="5507990" cy="899160"/>
            <a:chOff x="6150864" y="5513832"/>
            <a:chExt cx="5507990" cy="899160"/>
          </a:xfrm>
        </p:grpSpPr>
        <p:sp>
          <p:nvSpPr>
            <p:cNvPr id="42" name="object 42" descr=""/>
            <p:cNvSpPr/>
            <p:nvPr/>
          </p:nvSpPr>
          <p:spPr>
            <a:xfrm>
              <a:off x="6150864" y="5513832"/>
              <a:ext cx="5507990" cy="899160"/>
            </a:xfrm>
            <a:custGeom>
              <a:avLst/>
              <a:gdLst/>
              <a:ahLst/>
              <a:cxnLst/>
              <a:rect l="l" t="t" r="r" b="b"/>
              <a:pathLst>
                <a:path w="5507990" h="899160">
                  <a:moveTo>
                    <a:pt x="5507736" y="899160"/>
                  </a:moveTo>
                  <a:lnTo>
                    <a:pt x="0" y="899160"/>
                  </a:lnTo>
                  <a:lnTo>
                    <a:pt x="0" y="0"/>
                  </a:lnTo>
                  <a:lnTo>
                    <a:pt x="5507736" y="0"/>
                  </a:lnTo>
                  <a:lnTo>
                    <a:pt x="5507736" y="39242"/>
                  </a:lnTo>
                  <a:lnTo>
                    <a:pt x="97535" y="39242"/>
                  </a:lnTo>
                  <a:lnTo>
                    <a:pt x="88033" y="40114"/>
                  </a:lnTo>
                  <a:lnTo>
                    <a:pt x="53397" y="68584"/>
                  </a:lnTo>
                  <a:lnTo>
                    <a:pt x="49910" y="86867"/>
                  </a:lnTo>
                  <a:lnTo>
                    <a:pt x="49910" y="791717"/>
                  </a:lnTo>
                  <a:lnTo>
                    <a:pt x="71195" y="831495"/>
                  </a:lnTo>
                  <a:lnTo>
                    <a:pt x="97535" y="839342"/>
                  </a:lnTo>
                  <a:lnTo>
                    <a:pt x="5507736" y="839342"/>
                  </a:lnTo>
                  <a:lnTo>
                    <a:pt x="5507736" y="899160"/>
                  </a:lnTo>
                  <a:close/>
                </a:path>
                <a:path w="5507990" h="899160">
                  <a:moveTo>
                    <a:pt x="5507736" y="839342"/>
                  </a:moveTo>
                  <a:lnTo>
                    <a:pt x="5412485" y="839342"/>
                  </a:lnTo>
                  <a:lnTo>
                    <a:pt x="5421987" y="838470"/>
                  </a:lnTo>
                  <a:lnTo>
                    <a:pt x="5430767" y="835855"/>
                  </a:lnTo>
                  <a:lnTo>
                    <a:pt x="5459238" y="801219"/>
                  </a:lnTo>
                  <a:lnTo>
                    <a:pt x="5460110" y="791717"/>
                  </a:lnTo>
                  <a:lnTo>
                    <a:pt x="5460110" y="86867"/>
                  </a:lnTo>
                  <a:lnTo>
                    <a:pt x="5438825" y="47088"/>
                  </a:lnTo>
                  <a:lnTo>
                    <a:pt x="5412485" y="39242"/>
                  </a:lnTo>
                  <a:lnTo>
                    <a:pt x="5507736" y="39242"/>
                  </a:lnTo>
                  <a:lnTo>
                    <a:pt x="5507736" y="839342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215061" y="5543549"/>
              <a:ext cx="5405755" cy="819150"/>
            </a:xfrm>
            <a:custGeom>
              <a:avLst/>
              <a:gdLst/>
              <a:ahLst/>
              <a:cxnLst/>
              <a:rect l="l" t="t" r="r" b="b"/>
              <a:pathLst>
                <a:path w="5405755" h="819150">
                  <a:moveTo>
                    <a:pt x="5352039" y="819149"/>
                  </a:moveTo>
                  <a:lnTo>
                    <a:pt x="28916" y="819149"/>
                  </a:lnTo>
                  <a:lnTo>
                    <a:pt x="845" y="776867"/>
                  </a:lnTo>
                  <a:lnTo>
                    <a:pt x="0" y="769577"/>
                  </a:lnTo>
                  <a:lnTo>
                    <a:pt x="0" y="761999"/>
                  </a:lnTo>
                  <a:lnTo>
                    <a:pt x="0" y="49570"/>
                  </a:lnTo>
                  <a:lnTo>
                    <a:pt x="12890" y="11379"/>
                  </a:lnTo>
                  <a:lnTo>
                    <a:pt x="28916" y="0"/>
                  </a:lnTo>
                  <a:lnTo>
                    <a:pt x="5352039" y="0"/>
                  </a:lnTo>
                  <a:lnTo>
                    <a:pt x="5391352" y="19391"/>
                  </a:lnTo>
                  <a:lnTo>
                    <a:pt x="5405437" y="53397"/>
                  </a:lnTo>
                  <a:lnTo>
                    <a:pt x="5405437" y="765752"/>
                  </a:lnTo>
                  <a:lnTo>
                    <a:pt x="5386044" y="805063"/>
                  </a:lnTo>
                  <a:lnTo>
                    <a:pt x="5355755" y="818783"/>
                  </a:lnTo>
                  <a:lnTo>
                    <a:pt x="5352039" y="81914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191249" y="5543549"/>
              <a:ext cx="54610" cy="819150"/>
            </a:xfrm>
            <a:custGeom>
              <a:avLst/>
              <a:gdLst/>
              <a:ahLst/>
              <a:cxnLst/>
              <a:rect l="l" t="t" r="r" b="b"/>
              <a:pathLst>
                <a:path w="54610" h="819150">
                  <a:moveTo>
                    <a:pt x="54519" y="819149"/>
                  </a:moveTo>
                  <a:lnTo>
                    <a:pt x="49570" y="819149"/>
                  </a:lnTo>
                  <a:lnTo>
                    <a:pt x="42280" y="817698"/>
                  </a:lnTo>
                  <a:lnTo>
                    <a:pt x="7249" y="790871"/>
                  </a:lnTo>
                  <a:lnTo>
                    <a:pt x="0" y="769579"/>
                  </a:lnTo>
                  <a:lnTo>
                    <a:pt x="0" y="49569"/>
                  </a:lnTo>
                  <a:lnTo>
                    <a:pt x="22096" y="11379"/>
                  </a:lnTo>
                  <a:lnTo>
                    <a:pt x="49570" y="0"/>
                  </a:lnTo>
                  <a:lnTo>
                    <a:pt x="54519" y="0"/>
                  </a:lnTo>
                  <a:lnTo>
                    <a:pt x="52274" y="5579"/>
                  </a:lnTo>
                  <a:lnTo>
                    <a:pt x="50414" y="16738"/>
                  </a:lnTo>
                  <a:lnTo>
                    <a:pt x="49193" y="25541"/>
                  </a:lnTo>
                  <a:lnTo>
                    <a:pt x="48322" y="35210"/>
                  </a:lnTo>
                  <a:lnTo>
                    <a:pt x="47799" y="45746"/>
                  </a:lnTo>
                  <a:lnTo>
                    <a:pt x="47624" y="57149"/>
                  </a:lnTo>
                  <a:lnTo>
                    <a:pt x="47624" y="761999"/>
                  </a:lnTo>
                  <a:lnTo>
                    <a:pt x="50414" y="802410"/>
                  </a:lnTo>
                  <a:lnTo>
                    <a:pt x="52274" y="813570"/>
                  </a:lnTo>
                  <a:lnTo>
                    <a:pt x="54519" y="8191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26199" y="5857874"/>
              <a:ext cx="215900" cy="187325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6769100" y="5814841"/>
            <a:ext cx="3949065" cy="2336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30" b="1">
                <a:solidFill>
                  <a:srgbClr val="7E1C1C"/>
                </a:solidFill>
                <a:latin typeface="Arial"/>
                <a:cs typeface="Arial"/>
              </a:rPr>
              <a:t>Piège</a:t>
            </a:r>
            <a:r>
              <a:rPr dirty="0" sz="1350" spc="-2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80" b="1">
                <a:solidFill>
                  <a:srgbClr val="7E1C1C"/>
                </a:solidFill>
                <a:latin typeface="Arial"/>
                <a:cs typeface="Arial"/>
              </a:rPr>
              <a:t>:</a:t>
            </a:r>
            <a:r>
              <a:rPr dirty="0" sz="1350" spc="-25" b="1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Courier New"/>
                <a:cs typeface="Courier New"/>
              </a:rPr>
              <a:t>SimpleDateFormat</a:t>
            </a:r>
            <a:r>
              <a:rPr dirty="0" sz="1350" spc="-465">
                <a:solidFill>
                  <a:srgbClr val="7E1C1C"/>
                </a:solidFill>
                <a:latin typeface="Courier New"/>
                <a:cs typeface="Courier New"/>
              </a:rPr>
              <a:t> </a:t>
            </a:r>
            <a:r>
              <a:rPr dirty="0" sz="1350" spc="-20">
                <a:solidFill>
                  <a:srgbClr val="7E1C1C"/>
                </a:solidFill>
                <a:latin typeface="Arial"/>
                <a:cs typeface="Arial"/>
              </a:rPr>
              <a:t>n'est</a:t>
            </a:r>
            <a:r>
              <a:rPr dirty="0" sz="1350" spc="-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pas</a:t>
            </a:r>
            <a:r>
              <a:rPr dirty="0" sz="1350" spc="-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7E1C1C"/>
                </a:solidFill>
                <a:latin typeface="Arial"/>
                <a:cs typeface="Arial"/>
              </a:rPr>
              <a:t>thread-</a:t>
            </a:r>
            <a:r>
              <a:rPr dirty="0" sz="1350">
                <a:solidFill>
                  <a:srgbClr val="7E1C1C"/>
                </a:solidFill>
                <a:latin typeface="Arial"/>
                <a:cs typeface="Arial"/>
              </a:rPr>
              <a:t>safe</a:t>
            </a:r>
            <a:r>
              <a:rPr dirty="0" sz="1350" spc="-30">
                <a:solidFill>
                  <a:srgbClr val="7E1C1C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7E1C1C"/>
                </a:solidFill>
                <a:latin typeface="Arial"/>
                <a:cs typeface="Arial"/>
              </a:rPr>
              <a:t>!</a:t>
            </a:r>
            <a:endParaRPr sz="1350">
              <a:latin typeface="Arial"/>
              <a:cs typeface="Arial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49" name="object 4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31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34.</a:t>
            </a:r>
            <a:r>
              <a:rPr dirty="0" spc="-30"/>
              <a:t> </a:t>
            </a:r>
            <a:r>
              <a:rPr dirty="0" spc="-120"/>
              <a:t>Récap</a:t>
            </a:r>
            <a:r>
              <a:rPr dirty="0" spc="-30"/>
              <a:t> </a:t>
            </a:r>
            <a:r>
              <a:rPr dirty="0" spc="-185"/>
              <a:t>&amp;</a:t>
            </a:r>
            <a:r>
              <a:rPr dirty="0" spc="-30"/>
              <a:t> </a:t>
            </a:r>
            <a:r>
              <a:rPr dirty="0" spc="-105"/>
              <a:t>Roadmap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18160" y="2042160"/>
            <a:ext cx="11155680" cy="984885"/>
            <a:chOff x="518160" y="2042160"/>
            <a:chExt cx="11155680" cy="984885"/>
          </a:xfrm>
        </p:grpSpPr>
        <p:sp>
          <p:nvSpPr>
            <p:cNvPr id="4" name="object 4" descr=""/>
            <p:cNvSpPr/>
            <p:nvPr/>
          </p:nvSpPr>
          <p:spPr>
            <a:xfrm>
              <a:off x="518160" y="2042160"/>
              <a:ext cx="11155680" cy="984885"/>
            </a:xfrm>
            <a:custGeom>
              <a:avLst/>
              <a:gdLst/>
              <a:ahLst/>
              <a:cxnLst/>
              <a:rect l="l" t="t" r="r" b="b"/>
              <a:pathLst>
                <a:path w="11155680" h="984885">
                  <a:moveTo>
                    <a:pt x="11155680" y="984504"/>
                  </a:moveTo>
                  <a:lnTo>
                    <a:pt x="0" y="984504"/>
                  </a:lnTo>
                  <a:lnTo>
                    <a:pt x="0" y="0"/>
                  </a:lnTo>
                  <a:lnTo>
                    <a:pt x="11155680" y="0"/>
                  </a:lnTo>
                  <a:lnTo>
                    <a:pt x="11155680" y="43814"/>
                  </a:lnTo>
                  <a:lnTo>
                    <a:pt x="62864" y="43814"/>
                  </a:lnTo>
                  <a:lnTo>
                    <a:pt x="62864" y="901064"/>
                  </a:lnTo>
                  <a:lnTo>
                    <a:pt x="11155680" y="901064"/>
                  </a:lnTo>
                  <a:lnTo>
                    <a:pt x="11155680" y="984504"/>
                  </a:lnTo>
                  <a:close/>
                </a:path>
                <a:path w="11155680" h="984885">
                  <a:moveTo>
                    <a:pt x="11155680" y="901064"/>
                  </a:moveTo>
                  <a:lnTo>
                    <a:pt x="11026139" y="901064"/>
                  </a:lnTo>
                  <a:lnTo>
                    <a:pt x="11032707" y="900747"/>
                  </a:lnTo>
                  <a:lnTo>
                    <a:pt x="11039148" y="899795"/>
                  </a:lnTo>
                  <a:lnTo>
                    <a:pt x="11073285" y="881536"/>
                  </a:lnTo>
                  <a:lnTo>
                    <a:pt x="11091545" y="847399"/>
                  </a:lnTo>
                  <a:lnTo>
                    <a:pt x="11092814" y="834389"/>
                  </a:lnTo>
                  <a:lnTo>
                    <a:pt x="11092814" y="110489"/>
                  </a:lnTo>
                  <a:lnTo>
                    <a:pt x="11081586" y="73440"/>
                  </a:lnTo>
                  <a:lnTo>
                    <a:pt x="11051653" y="48889"/>
                  </a:lnTo>
                  <a:lnTo>
                    <a:pt x="11026139" y="43814"/>
                  </a:lnTo>
                  <a:lnTo>
                    <a:pt x="11155680" y="43814"/>
                  </a:lnTo>
                  <a:lnTo>
                    <a:pt x="11155680" y="90106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95312" y="2076449"/>
              <a:ext cx="11025505" cy="876300"/>
            </a:xfrm>
            <a:custGeom>
              <a:avLst/>
              <a:gdLst/>
              <a:ahLst/>
              <a:cxnLst/>
              <a:rect l="l" t="t" r="r" b="b"/>
              <a:pathLst>
                <a:path w="11025505" h="876300">
                  <a:moveTo>
                    <a:pt x="1095398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10953989" y="0"/>
                  </a:lnTo>
                  <a:lnTo>
                    <a:pt x="10995481" y="15621"/>
                  </a:lnTo>
                  <a:lnTo>
                    <a:pt x="11021299" y="51661"/>
                  </a:lnTo>
                  <a:lnTo>
                    <a:pt x="11025186" y="71196"/>
                  </a:lnTo>
                  <a:lnTo>
                    <a:pt x="11025186" y="805103"/>
                  </a:lnTo>
                  <a:lnTo>
                    <a:pt x="11009565" y="846594"/>
                  </a:lnTo>
                  <a:lnTo>
                    <a:pt x="10973523" y="872414"/>
                  </a:lnTo>
                  <a:lnTo>
                    <a:pt x="10953989" y="8762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1500" y="2076449"/>
              <a:ext cx="47625" cy="876300"/>
            </a:xfrm>
            <a:custGeom>
              <a:avLst/>
              <a:gdLst/>
              <a:ahLst/>
              <a:cxnLst/>
              <a:rect l="l" t="t" r="r" b="b"/>
              <a:pathLst>
                <a:path w="47625" h="876300">
                  <a:moveTo>
                    <a:pt x="0" y="87629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876299"/>
                  </a:lnTo>
                  <a:lnTo>
                    <a:pt x="0" y="8762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09624" y="2295524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221331" y="428624"/>
                  </a:moveTo>
                  <a:lnTo>
                    <a:pt x="207293" y="428624"/>
                  </a:lnTo>
                  <a:lnTo>
                    <a:pt x="200291" y="428280"/>
                  </a:lnTo>
                  <a:lnTo>
                    <a:pt x="158817" y="421433"/>
                  </a:lnTo>
                  <a:lnTo>
                    <a:pt x="119476" y="406627"/>
                  </a:lnTo>
                  <a:lnTo>
                    <a:pt x="83779" y="384430"/>
                  </a:lnTo>
                  <a:lnTo>
                    <a:pt x="53099" y="355696"/>
                  </a:lnTo>
                  <a:lnTo>
                    <a:pt x="28614" y="321528"/>
                  </a:lnTo>
                  <a:lnTo>
                    <a:pt x="11265" y="283240"/>
                  </a:lnTo>
                  <a:lnTo>
                    <a:pt x="1719" y="242303"/>
                  </a:lnTo>
                  <a:lnTo>
                    <a:pt x="0" y="221331"/>
                  </a:lnTo>
                  <a:lnTo>
                    <a:pt x="0" y="207293"/>
                  </a:lnTo>
                  <a:lnTo>
                    <a:pt x="5487" y="165617"/>
                  </a:lnTo>
                  <a:lnTo>
                    <a:pt x="18999" y="125813"/>
                  </a:lnTo>
                  <a:lnTo>
                    <a:pt x="40017" y="89410"/>
                  </a:lnTo>
                  <a:lnTo>
                    <a:pt x="67733" y="57807"/>
                  </a:lnTo>
                  <a:lnTo>
                    <a:pt x="101082" y="32218"/>
                  </a:lnTo>
                  <a:lnTo>
                    <a:pt x="138783" y="13627"/>
                  </a:lnTo>
                  <a:lnTo>
                    <a:pt x="179386" y="2748"/>
                  </a:lnTo>
                  <a:lnTo>
                    <a:pt x="207293" y="0"/>
                  </a:lnTo>
                  <a:lnTo>
                    <a:pt x="221331" y="0"/>
                  </a:lnTo>
                  <a:lnTo>
                    <a:pt x="263006" y="5487"/>
                  </a:lnTo>
                  <a:lnTo>
                    <a:pt x="302811" y="18999"/>
                  </a:lnTo>
                  <a:lnTo>
                    <a:pt x="339214" y="40017"/>
                  </a:lnTo>
                  <a:lnTo>
                    <a:pt x="370817" y="67733"/>
                  </a:lnTo>
                  <a:lnTo>
                    <a:pt x="396406" y="101082"/>
                  </a:lnTo>
                  <a:lnTo>
                    <a:pt x="414997" y="138782"/>
                  </a:lnTo>
                  <a:lnTo>
                    <a:pt x="425876" y="179385"/>
                  </a:lnTo>
                  <a:lnTo>
                    <a:pt x="428624" y="207293"/>
                  </a:lnTo>
                  <a:lnTo>
                    <a:pt x="428624" y="214312"/>
                  </a:lnTo>
                  <a:lnTo>
                    <a:pt x="428624" y="221331"/>
                  </a:lnTo>
                  <a:lnTo>
                    <a:pt x="423137" y="263006"/>
                  </a:lnTo>
                  <a:lnTo>
                    <a:pt x="409625" y="302810"/>
                  </a:lnTo>
                  <a:lnTo>
                    <a:pt x="388607" y="339214"/>
                  </a:lnTo>
                  <a:lnTo>
                    <a:pt x="360891" y="370816"/>
                  </a:lnTo>
                  <a:lnTo>
                    <a:pt x="327541" y="396405"/>
                  </a:lnTo>
                  <a:lnTo>
                    <a:pt x="289841" y="414997"/>
                  </a:lnTo>
                  <a:lnTo>
                    <a:pt x="249238" y="425876"/>
                  </a:lnTo>
                  <a:lnTo>
                    <a:pt x="228333" y="428280"/>
                  </a:lnTo>
                  <a:lnTo>
                    <a:pt x="221331" y="4286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306" y="2409824"/>
              <a:ext cx="193675" cy="200025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518160" y="3108960"/>
            <a:ext cx="11155680" cy="1003300"/>
            <a:chOff x="518160" y="3108960"/>
            <a:chExt cx="11155680" cy="1003300"/>
          </a:xfrm>
        </p:grpSpPr>
        <p:sp>
          <p:nvSpPr>
            <p:cNvPr id="10" name="object 10" descr=""/>
            <p:cNvSpPr/>
            <p:nvPr/>
          </p:nvSpPr>
          <p:spPr>
            <a:xfrm>
              <a:off x="518160" y="3108960"/>
              <a:ext cx="11155680" cy="1003300"/>
            </a:xfrm>
            <a:custGeom>
              <a:avLst/>
              <a:gdLst/>
              <a:ahLst/>
              <a:cxnLst/>
              <a:rect l="l" t="t" r="r" b="b"/>
              <a:pathLst>
                <a:path w="11155680" h="1003300">
                  <a:moveTo>
                    <a:pt x="11155680" y="1002792"/>
                  </a:moveTo>
                  <a:lnTo>
                    <a:pt x="0" y="1002792"/>
                  </a:lnTo>
                  <a:lnTo>
                    <a:pt x="0" y="0"/>
                  </a:lnTo>
                  <a:lnTo>
                    <a:pt x="11155680" y="0"/>
                  </a:lnTo>
                  <a:lnTo>
                    <a:pt x="11155680" y="43814"/>
                  </a:lnTo>
                  <a:lnTo>
                    <a:pt x="62864" y="43814"/>
                  </a:lnTo>
                  <a:lnTo>
                    <a:pt x="62864" y="920114"/>
                  </a:lnTo>
                  <a:lnTo>
                    <a:pt x="11155680" y="920114"/>
                  </a:lnTo>
                  <a:lnTo>
                    <a:pt x="11155680" y="1002792"/>
                  </a:lnTo>
                  <a:close/>
                </a:path>
                <a:path w="11155680" h="1003300">
                  <a:moveTo>
                    <a:pt x="11155680" y="920114"/>
                  </a:moveTo>
                  <a:lnTo>
                    <a:pt x="11026139" y="920114"/>
                  </a:lnTo>
                  <a:lnTo>
                    <a:pt x="11032707" y="919797"/>
                  </a:lnTo>
                  <a:lnTo>
                    <a:pt x="11039148" y="918845"/>
                  </a:lnTo>
                  <a:lnTo>
                    <a:pt x="11073285" y="900585"/>
                  </a:lnTo>
                  <a:lnTo>
                    <a:pt x="11091545" y="866449"/>
                  </a:lnTo>
                  <a:lnTo>
                    <a:pt x="11092814" y="853439"/>
                  </a:lnTo>
                  <a:lnTo>
                    <a:pt x="11092814" y="110489"/>
                  </a:lnTo>
                  <a:lnTo>
                    <a:pt x="11081586" y="73439"/>
                  </a:lnTo>
                  <a:lnTo>
                    <a:pt x="11051653" y="48889"/>
                  </a:lnTo>
                  <a:lnTo>
                    <a:pt x="11026139" y="43814"/>
                  </a:lnTo>
                  <a:lnTo>
                    <a:pt x="11155680" y="43814"/>
                  </a:lnTo>
                  <a:lnTo>
                    <a:pt x="11155680" y="920114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5312" y="3143249"/>
              <a:ext cx="11025505" cy="895350"/>
            </a:xfrm>
            <a:custGeom>
              <a:avLst/>
              <a:gdLst/>
              <a:ahLst/>
              <a:cxnLst/>
              <a:rect l="l" t="t" r="r" b="b"/>
              <a:pathLst>
                <a:path w="11025505" h="895350">
                  <a:moveTo>
                    <a:pt x="10953989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10953989" y="0"/>
                  </a:lnTo>
                  <a:lnTo>
                    <a:pt x="10958944" y="488"/>
                  </a:lnTo>
                  <a:lnTo>
                    <a:pt x="10995481" y="15621"/>
                  </a:lnTo>
                  <a:lnTo>
                    <a:pt x="11021299" y="51661"/>
                  </a:lnTo>
                  <a:lnTo>
                    <a:pt x="11025186" y="71196"/>
                  </a:lnTo>
                  <a:lnTo>
                    <a:pt x="11025186" y="824153"/>
                  </a:lnTo>
                  <a:lnTo>
                    <a:pt x="11009565" y="865643"/>
                  </a:lnTo>
                  <a:lnTo>
                    <a:pt x="10973523" y="891463"/>
                  </a:lnTo>
                  <a:lnTo>
                    <a:pt x="10953989" y="8953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71500" y="3143249"/>
              <a:ext cx="47625" cy="895350"/>
            </a:xfrm>
            <a:custGeom>
              <a:avLst/>
              <a:gdLst/>
              <a:ahLst/>
              <a:cxnLst/>
              <a:rect l="l" t="t" r="r" b="b"/>
              <a:pathLst>
                <a:path w="47625" h="895350">
                  <a:moveTo>
                    <a:pt x="0" y="8953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895349"/>
                  </a:lnTo>
                  <a:lnTo>
                    <a:pt x="0" y="8953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9624" y="3371849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221331" y="428624"/>
                  </a:moveTo>
                  <a:lnTo>
                    <a:pt x="207293" y="428624"/>
                  </a:lnTo>
                  <a:lnTo>
                    <a:pt x="200291" y="428280"/>
                  </a:lnTo>
                  <a:lnTo>
                    <a:pt x="158817" y="421433"/>
                  </a:lnTo>
                  <a:lnTo>
                    <a:pt x="119476" y="406627"/>
                  </a:lnTo>
                  <a:lnTo>
                    <a:pt x="83779" y="384431"/>
                  </a:lnTo>
                  <a:lnTo>
                    <a:pt x="53099" y="355696"/>
                  </a:lnTo>
                  <a:lnTo>
                    <a:pt x="28614" y="321528"/>
                  </a:lnTo>
                  <a:lnTo>
                    <a:pt x="11265" y="283240"/>
                  </a:lnTo>
                  <a:lnTo>
                    <a:pt x="1719" y="242303"/>
                  </a:lnTo>
                  <a:lnTo>
                    <a:pt x="0" y="221331"/>
                  </a:lnTo>
                  <a:lnTo>
                    <a:pt x="0" y="207293"/>
                  </a:lnTo>
                  <a:lnTo>
                    <a:pt x="5487" y="165617"/>
                  </a:lnTo>
                  <a:lnTo>
                    <a:pt x="18999" y="125812"/>
                  </a:lnTo>
                  <a:lnTo>
                    <a:pt x="40017" y="89410"/>
                  </a:lnTo>
                  <a:lnTo>
                    <a:pt x="67733" y="57807"/>
                  </a:lnTo>
                  <a:lnTo>
                    <a:pt x="101082" y="32218"/>
                  </a:lnTo>
                  <a:lnTo>
                    <a:pt x="138783" y="13627"/>
                  </a:lnTo>
                  <a:lnTo>
                    <a:pt x="179386" y="2748"/>
                  </a:lnTo>
                  <a:lnTo>
                    <a:pt x="207293" y="0"/>
                  </a:lnTo>
                  <a:lnTo>
                    <a:pt x="221331" y="0"/>
                  </a:lnTo>
                  <a:lnTo>
                    <a:pt x="263006" y="5486"/>
                  </a:lnTo>
                  <a:lnTo>
                    <a:pt x="302811" y="18999"/>
                  </a:lnTo>
                  <a:lnTo>
                    <a:pt x="339214" y="40017"/>
                  </a:lnTo>
                  <a:lnTo>
                    <a:pt x="370817" y="67733"/>
                  </a:lnTo>
                  <a:lnTo>
                    <a:pt x="396406" y="101082"/>
                  </a:lnTo>
                  <a:lnTo>
                    <a:pt x="414997" y="138782"/>
                  </a:lnTo>
                  <a:lnTo>
                    <a:pt x="425876" y="179385"/>
                  </a:lnTo>
                  <a:lnTo>
                    <a:pt x="428624" y="207293"/>
                  </a:lnTo>
                  <a:lnTo>
                    <a:pt x="428624" y="214312"/>
                  </a:lnTo>
                  <a:lnTo>
                    <a:pt x="428624" y="221331"/>
                  </a:lnTo>
                  <a:lnTo>
                    <a:pt x="423137" y="263006"/>
                  </a:lnTo>
                  <a:lnTo>
                    <a:pt x="409625" y="302810"/>
                  </a:lnTo>
                  <a:lnTo>
                    <a:pt x="388607" y="339213"/>
                  </a:lnTo>
                  <a:lnTo>
                    <a:pt x="360891" y="370817"/>
                  </a:lnTo>
                  <a:lnTo>
                    <a:pt x="327541" y="396405"/>
                  </a:lnTo>
                  <a:lnTo>
                    <a:pt x="289841" y="414996"/>
                  </a:lnTo>
                  <a:lnTo>
                    <a:pt x="249238" y="425876"/>
                  </a:lnTo>
                  <a:lnTo>
                    <a:pt x="228333" y="428280"/>
                  </a:lnTo>
                  <a:lnTo>
                    <a:pt x="221331" y="4286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049" y="3502024"/>
              <a:ext cx="231775" cy="168275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518160" y="4194048"/>
            <a:ext cx="11155680" cy="1003300"/>
            <a:chOff x="518160" y="4194048"/>
            <a:chExt cx="11155680" cy="1003300"/>
          </a:xfrm>
        </p:grpSpPr>
        <p:sp>
          <p:nvSpPr>
            <p:cNvPr id="16" name="object 16" descr=""/>
            <p:cNvSpPr/>
            <p:nvPr/>
          </p:nvSpPr>
          <p:spPr>
            <a:xfrm>
              <a:off x="518160" y="4194048"/>
              <a:ext cx="11155680" cy="1003300"/>
            </a:xfrm>
            <a:custGeom>
              <a:avLst/>
              <a:gdLst/>
              <a:ahLst/>
              <a:cxnLst/>
              <a:rect l="l" t="t" r="r" b="b"/>
              <a:pathLst>
                <a:path w="11155680" h="1003300">
                  <a:moveTo>
                    <a:pt x="11155680" y="1002792"/>
                  </a:moveTo>
                  <a:lnTo>
                    <a:pt x="0" y="1002792"/>
                  </a:lnTo>
                  <a:lnTo>
                    <a:pt x="0" y="0"/>
                  </a:lnTo>
                  <a:lnTo>
                    <a:pt x="11155680" y="0"/>
                  </a:lnTo>
                  <a:lnTo>
                    <a:pt x="11155680" y="44576"/>
                  </a:lnTo>
                  <a:lnTo>
                    <a:pt x="62864" y="44576"/>
                  </a:lnTo>
                  <a:lnTo>
                    <a:pt x="62864" y="920876"/>
                  </a:lnTo>
                  <a:lnTo>
                    <a:pt x="11155680" y="920876"/>
                  </a:lnTo>
                  <a:lnTo>
                    <a:pt x="11155680" y="1002792"/>
                  </a:lnTo>
                  <a:close/>
                </a:path>
                <a:path w="11155680" h="1003300">
                  <a:moveTo>
                    <a:pt x="11155680" y="920876"/>
                  </a:moveTo>
                  <a:lnTo>
                    <a:pt x="11026139" y="920876"/>
                  </a:lnTo>
                  <a:lnTo>
                    <a:pt x="11032707" y="920559"/>
                  </a:lnTo>
                  <a:lnTo>
                    <a:pt x="11039148" y="919607"/>
                  </a:lnTo>
                  <a:lnTo>
                    <a:pt x="11073285" y="901347"/>
                  </a:lnTo>
                  <a:lnTo>
                    <a:pt x="11091545" y="867211"/>
                  </a:lnTo>
                  <a:lnTo>
                    <a:pt x="11092814" y="854201"/>
                  </a:lnTo>
                  <a:lnTo>
                    <a:pt x="11092814" y="111251"/>
                  </a:lnTo>
                  <a:lnTo>
                    <a:pt x="11081586" y="74201"/>
                  </a:lnTo>
                  <a:lnTo>
                    <a:pt x="11051653" y="49651"/>
                  </a:lnTo>
                  <a:lnTo>
                    <a:pt x="11026139" y="44576"/>
                  </a:lnTo>
                  <a:lnTo>
                    <a:pt x="11155680" y="44576"/>
                  </a:lnTo>
                  <a:lnTo>
                    <a:pt x="11155680" y="92087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95312" y="4229099"/>
              <a:ext cx="11025505" cy="895350"/>
            </a:xfrm>
            <a:custGeom>
              <a:avLst/>
              <a:gdLst/>
              <a:ahLst/>
              <a:cxnLst/>
              <a:rect l="l" t="t" r="r" b="b"/>
              <a:pathLst>
                <a:path w="11025505" h="895350">
                  <a:moveTo>
                    <a:pt x="10953989" y="895349"/>
                  </a:moveTo>
                  <a:lnTo>
                    <a:pt x="0" y="895349"/>
                  </a:lnTo>
                  <a:lnTo>
                    <a:pt x="0" y="0"/>
                  </a:lnTo>
                  <a:lnTo>
                    <a:pt x="10953989" y="0"/>
                  </a:lnTo>
                  <a:lnTo>
                    <a:pt x="10958944" y="488"/>
                  </a:lnTo>
                  <a:lnTo>
                    <a:pt x="10995481" y="15621"/>
                  </a:lnTo>
                  <a:lnTo>
                    <a:pt x="11021299" y="51661"/>
                  </a:lnTo>
                  <a:lnTo>
                    <a:pt x="11025186" y="71196"/>
                  </a:lnTo>
                  <a:lnTo>
                    <a:pt x="11025186" y="824153"/>
                  </a:lnTo>
                  <a:lnTo>
                    <a:pt x="11009565" y="865644"/>
                  </a:lnTo>
                  <a:lnTo>
                    <a:pt x="10973523" y="891463"/>
                  </a:lnTo>
                  <a:lnTo>
                    <a:pt x="10953989" y="8953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71500" y="4229100"/>
              <a:ext cx="47625" cy="895350"/>
            </a:xfrm>
            <a:custGeom>
              <a:avLst/>
              <a:gdLst/>
              <a:ahLst/>
              <a:cxnLst/>
              <a:rect l="l" t="t" r="r" b="b"/>
              <a:pathLst>
                <a:path w="47625" h="895350">
                  <a:moveTo>
                    <a:pt x="0" y="8953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895349"/>
                  </a:lnTo>
                  <a:lnTo>
                    <a:pt x="0" y="8953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9624" y="4457700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221331" y="428624"/>
                  </a:moveTo>
                  <a:lnTo>
                    <a:pt x="207293" y="428624"/>
                  </a:lnTo>
                  <a:lnTo>
                    <a:pt x="200291" y="428280"/>
                  </a:lnTo>
                  <a:lnTo>
                    <a:pt x="158817" y="421433"/>
                  </a:lnTo>
                  <a:lnTo>
                    <a:pt x="119476" y="406627"/>
                  </a:lnTo>
                  <a:lnTo>
                    <a:pt x="83779" y="384430"/>
                  </a:lnTo>
                  <a:lnTo>
                    <a:pt x="53099" y="355695"/>
                  </a:lnTo>
                  <a:lnTo>
                    <a:pt x="28614" y="321528"/>
                  </a:lnTo>
                  <a:lnTo>
                    <a:pt x="11265" y="283240"/>
                  </a:lnTo>
                  <a:lnTo>
                    <a:pt x="1719" y="242303"/>
                  </a:lnTo>
                  <a:lnTo>
                    <a:pt x="0" y="221331"/>
                  </a:lnTo>
                  <a:lnTo>
                    <a:pt x="0" y="207293"/>
                  </a:lnTo>
                  <a:lnTo>
                    <a:pt x="5487" y="165617"/>
                  </a:lnTo>
                  <a:lnTo>
                    <a:pt x="18999" y="125812"/>
                  </a:lnTo>
                  <a:lnTo>
                    <a:pt x="40017" y="89410"/>
                  </a:lnTo>
                  <a:lnTo>
                    <a:pt x="67733" y="57806"/>
                  </a:lnTo>
                  <a:lnTo>
                    <a:pt x="101082" y="32218"/>
                  </a:lnTo>
                  <a:lnTo>
                    <a:pt x="138783" y="13627"/>
                  </a:lnTo>
                  <a:lnTo>
                    <a:pt x="179386" y="2748"/>
                  </a:lnTo>
                  <a:lnTo>
                    <a:pt x="207293" y="0"/>
                  </a:lnTo>
                  <a:lnTo>
                    <a:pt x="221331" y="0"/>
                  </a:lnTo>
                  <a:lnTo>
                    <a:pt x="263006" y="5487"/>
                  </a:lnTo>
                  <a:lnTo>
                    <a:pt x="302811" y="18999"/>
                  </a:lnTo>
                  <a:lnTo>
                    <a:pt x="339214" y="40017"/>
                  </a:lnTo>
                  <a:lnTo>
                    <a:pt x="370817" y="67733"/>
                  </a:lnTo>
                  <a:lnTo>
                    <a:pt x="396406" y="101082"/>
                  </a:lnTo>
                  <a:lnTo>
                    <a:pt x="414997" y="138782"/>
                  </a:lnTo>
                  <a:lnTo>
                    <a:pt x="425876" y="179385"/>
                  </a:lnTo>
                  <a:lnTo>
                    <a:pt x="428624" y="207293"/>
                  </a:lnTo>
                  <a:lnTo>
                    <a:pt x="428624" y="214312"/>
                  </a:lnTo>
                  <a:lnTo>
                    <a:pt x="428624" y="221331"/>
                  </a:lnTo>
                  <a:lnTo>
                    <a:pt x="423137" y="263005"/>
                  </a:lnTo>
                  <a:lnTo>
                    <a:pt x="409625" y="302810"/>
                  </a:lnTo>
                  <a:lnTo>
                    <a:pt x="388607" y="339213"/>
                  </a:lnTo>
                  <a:lnTo>
                    <a:pt x="360891" y="370816"/>
                  </a:lnTo>
                  <a:lnTo>
                    <a:pt x="327541" y="396405"/>
                  </a:lnTo>
                  <a:lnTo>
                    <a:pt x="289841" y="414996"/>
                  </a:lnTo>
                  <a:lnTo>
                    <a:pt x="249238" y="425876"/>
                  </a:lnTo>
                  <a:lnTo>
                    <a:pt x="228333" y="428280"/>
                  </a:lnTo>
                  <a:lnTo>
                    <a:pt x="221331" y="4286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593" y="4575174"/>
              <a:ext cx="168275" cy="193675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499872" y="5327904"/>
            <a:ext cx="11192510" cy="1139825"/>
            <a:chOff x="499872" y="5327904"/>
            <a:chExt cx="11192510" cy="1139825"/>
          </a:xfrm>
        </p:grpSpPr>
        <p:sp>
          <p:nvSpPr>
            <p:cNvPr id="22" name="object 22" descr=""/>
            <p:cNvSpPr/>
            <p:nvPr/>
          </p:nvSpPr>
          <p:spPr>
            <a:xfrm>
              <a:off x="499872" y="5327904"/>
              <a:ext cx="11192510" cy="1130300"/>
            </a:xfrm>
            <a:custGeom>
              <a:avLst/>
              <a:gdLst/>
              <a:ahLst/>
              <a:cxnLst/>
              <a:rect l="l" t="t" r="r" b="b"/>
              <a:pathLst>
                <a:path w="11192510" h="1130300">
                  <a:moveTo>
                    <a:pt x="81152" y="1130045"/>
                  </a:moveTo>
                  <a:lnTo>
                    <a:pt x="0" y="1130045"/>
                  </a:lnTo>
                  <a:lnTo>
                    <a:pt x="0" y="0"/>
                  </a:lnTo>
                  <a:lnTo>
                    <a:pt x="11192256" y="0"/>
                  </a:lnTo>
                  <a:lnTo>
                    <a:pt x="11192256" y="44195"/>
                  </a:lnTo>
                  <a:lnTo>
                    <a:pt x="185927" y="44195"/>
                  </a:lnTo>
                  <a:lnTo>
                    <a:pt x="175606" y="44694"/>
                  </a:lnTo>
                  <a:lnTo>
                    <a:pt x="136486" y="56581"/>
                  </a:lnTo>
                  <a:lnTo>
                    <a:pt x="104894" y="82533"/>
                  </a:lnTo>
                  <a:lnTo>
                    <a:pt x="85639" y="118600"/>
                  </a:lnTo>
                  <a:lnTo>
                    <a:pt x="81152" y="148970"/>
                  </a:lnTo>
                  <a:lnTo>
                    <a:pt x="81152" y="1130045"/>
                  </a:lnTo>
                  <a:close/>
                </a:path>
                <a:path w="11192510" h="1130300">
                  <a:moveTo>
                    <a:pt x="11192256" y="1130045"/>
                  </a:moveTo>
                  <a:lnTo>
                    <a:pt x="11111102" y="1130045"/>
                  </a:lnTo>
                  <a:lnTo>
                    <a:pt x="11111102" y="148970"/>
                  </a:lnTo>
                  <a:lnTo>
                    <a:pt x="11110603" y="138648"/>
                  </a:lnTo>
                  <a:lnTo>
                    <a:pt x="11098715" y="99529"/>
                  </a:lnTo>
                  <a:lnTo>
                    <a:pt x="11072762" y="67937"/>
                  </a:lnTo>
                  <a:lnTo>
                    <a:pt x="11036694" y="48681"/>
                  </a:lnTo>
                  <a:lnTo>
                    <a:pt x="11006327" y="44195"/>
                  </a:lnTo>
                  <a:lnTo>
                    <a:pt x="11192256" y="44195"/>
                  </a:lnTo>
                  <a:lnTo>
                    <a:pt x="11192256" y="113004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81024" y="5372099"/>
              <a:ext cx="11029950" cy="1085850"/>
            </a:xfrm>
            <a:custGeom>
              <a:avLst/>
              <a:gdLst/>
              <a:ahLst/>
              <a:cxnLst/>
              <a:rect l="l" t="t" r="r" b="b"/>
              <a:pathLst>
                <a:path w="11029950" h="1085850">
                  <a:moveTo>
                    <a:pt x="11029949" y="1085849"/>
                  </a:moveTo>
                  <a:lnTo>
                    <a:pt x="0" y="1085849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2"/>
                  </a:lnTo>
                  <a:lnTo>
                    <a:pt x="71035" y="5342"/>
                  </a:lnTo>
                  <a:lnTo>
                    <a:pt x="97895" y="0"/>
                  </a:lnTo>
                  <a:lnTo>
                    <a:pt x="10932053" y="0"/>
                  </a:lnTo>
                  <a:lnTo>
                    <a:pt x="10971624" y="10607"/>
                  </a:lnTo>
                  <a:lnTo>
                    <a:pt x="11004125" y="35551"/>
                  </a:lnTo>
                  <a:lnTo>
                    <a:pt x="11024604" y="71034"/>
                  </a:lnTo>
                  <a:lnTo>
                    <a:pt x="11029949" y="108584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81024" y="5372099"/>
              <a:ext cx="11029950" cy="1085850"/>
            </a:xfrm>
            <a:custGeom>
              <a:avLst/>
              <a:gdLst/>
              <a:ahLst/>
              <a:cxnLst/>
              <a:rect l="l" t="t" r="r" b="b"/>
              <a:pathLst>
                <a:path w="11029950" h="1085850">
                  <a:moveTo>
                    <a:pt x="0" y="108584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13835" y="52284"/>
                  </a:lnTo>
                  <a:lnTo>
                    <a:pt x="30687" y="30687"/>
                  </a:lnTo>
                  <a:lnTo>
                    <a:pt x="35552" y="25822"/>
                  </a:lnTo>
                  <a:lnTo>
                    <a:pt x="71035" y="5342"/>
                  </a:lnTo>
                  <a:lnTo>
                    <a:pt x="84334" y="2013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10925174" y="0"/>
                  </a:lnTo>
                  <a:lnTo>
                    <a:pt x="10932053" y="0"/>
                  </a:lnTo>
                  <a:lnTo>
                    <a:pt x="10938866" y="670"/>
                  </a:lnTo>
                  <a:lnTo>
                    <a:pt x="10945613" y="2013"/>
                  </a:lnTo>
                  <a:lnTo>
                    <a:pt x="10952360" y="3355"/>
                  </a:lnTo>
                  <a:lnTo>
                    <a:pt x="10989102" y="21479"/>
                  </a:lnTo>
                  <a:lnTo>
                    <a:pt x="10999260" y="30687"/>
                  </a:lnTo>
                  <a:lnTo>
                    <a:pt x="11004125" y="35551"/>
                  </a:lnTo>
                  <a:lnTo>
                    <a:pt x="11024604" y="71034"/>
                  </a:lnTo>
                  <a:lnTo>
                    <a:pt x="11029949" y="104774"/>
                  </a:lnTo>
                  <a:lnTo>
                    <a:pt x="11029949" y="1085849"/>
                  </a:lnTo>
                </a:path>
              </a:pathLst>
            </a:custGeom>
            <a:ln w="19049">
              <a:solidFill>
                <a:srgbClr val="FBD34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8674" y="5686424"/>
              <a:ext cx="304800" cy="304800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463550" y="806450"/>
            <a:ext cx="9242425" cy="567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Bilan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du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module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Java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Moderne</a:t>
            </a:r>
            <a:r>
              <a:rPr dirty="0" sz="1350" spc="-4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et</a:t>
            </a:r>
            <a:r>
              <a:rPr dirty="0" sz="1350" spc="-4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perspectives.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  <a:spcBef>
                <a:spcPts val="865"/>
              </a:spcBef>
            </a:pP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Nous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avons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posé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fondations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solides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d'une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application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Java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334054"/>
                </a:solidFill>
                <a:latin typeface="Arial"/>
                <a:cs typeface="Arial"/>
              </a:rPr>
              <a:t>moderne,</a:t>
            </a:r>
            <a:r>
              <a:rPr dirty="0" sz="1800" spc="-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robuste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34054"/>
                </a:solidFill>
                <a:latin typeface="Arial"/>
                <a:cs typeface="Arial"/>
              </a:rPr>
              <a:t>et</a:t>
            </a:r>
            <a:r>
              <a:rPr dirty="0" sz="1800" spc="-10">
                <a:solidFill>
                  <a:srgbClr val="334054"/>
                </a:solidFill>
                <a:latin typeface="Arial"/>
                <a:cs typeface="Arial"/>
              </a:rPr>
              <a:t> typée.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50">
              <a:latin typeface="Arial"/>
              <a:cs typeface="Arial"/>
            </a:endParaRPr>
          </a:p>
          <a:p>
            <a:pPr marL="964565">
              <a:lnSpc>
                <a:spcPct val="100000"/>
              </a:lnSpc>
            </a:pPr>
            <a:r>
              <a:rPr dirty="0" sz="1500" spc="-100" b="1">
                <a:solidFill>
                  <a:srgbClr val="1D293B"/>
                </a:solidFill>
                <a:latin typeface="Arial"/>
                <a:cs typeface="Arial"/>
              </a:rPr>
              <a:t>Enum</a:t>
            </a:r>
            <a:r>
              <a:rPr dirty="0" sz="1500" spc="-2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00" spc="-105" b="1">
                <a:solidFill>
                  <a:srgbClr val="1D293B"/>
                </a:solidFill>
                <a:latin typeface="Arial"/>
                <a:cs typeface="Arial"/>
              </a:rPr>
              <a:t>&amp;</a:t>
            </a:r>
            <a:r>
              <a:rPr dirty="0" sz="1500" spc="-25" b="1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1D293B"/>
                </a:solidFill>
                <a:latin typeface="Arial"/>
                <a:cs typeface="Arial"/>
              </a:rPr>
              <a:t>Record</a:t>
            </a:r>
            <a:endParaRPr sz="1500">
              <a:latin typeface="Arial"/>
              <a:cs typeface="Arial"/>
            </a:endParaRPr>
          </a:p>
          <a:p>
            <a:pPr marL="964565">
              <a:lnSpc>
                <a:spcPct val="100000"/>
              </a:lnSpc>
              <a:spcBef>
                <a:spcPts val="775"/>
              </a:spcBef>
            </a:pP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Modélisation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riche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65469"/>
                </a:solidFill>
                <a:latin typeface="Arial"/>
                <a:cs typeface="Arial"/>
              </a:rPr>
              <a:t>immutable,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éliminant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65469"/>
                </a:solidFill>
                <a:latin typeface="Arial"/>
                <a:cs typeface="Arial"/>
              </a:rPr>
              <a:t>code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65469"/>
                </a:solidFill>
                <a:latin typeface="Arial"/>
                <a:cs typeface="Arial"/>
              </a:rPr>
              <a:t>répétitif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(boilerplate).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964565">
              <a:lnSpc>
                <a:spcPct val="100000"/>
              </a:lnSpc>
              <a:spcBef>
                <a:spcPts val="925"/>
              </a:spcBef>
            </a:pPr>
            <a:r>
              <a:rPr dirty="0" sz="1500" spc="-10" b="1">
                <a:solidFill>
                  <a:srgbClr val="1D293B"/>
                </a:solidFill>
                <a:latin typeface="Arial"/>
                <a:cs typeface="Arial"/>
              </a:rPr>
              <a:t>Optional</a:t>
            </a:r>
            <a:endParaRPr sz="1500">
              <a:latin typeface="Arial"/>
              <a:cs typeface="Arial"/>
            </a:endParaRPr>
          </a:p>
          <a:p>
            <a:pPr marL="964565">
              <a:lnSpc>
                <a:spcPct val="100000"/>
              </a:lnSpc>
              <a:spcBef>
                <a:spcPts val="775"/>
              </a:spcBef>
            </a:pP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Fin </a:t>
            </a:r>
            <a:r>
              <a:rPr dirty="0" sz="1400" spc="-35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465469"/>
                </a:solidFill>
                <a:latin typeface="Monaco"/>
                <a:cs typeface="Monaco"/>
              </a:rPr>
              <a:t>NullPointerException</a:t>
            </a:r>
            <a:r>
              <a:rPr dirty="0" sz="1350" spc="-47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surprises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465469"/>
                </a:solidFill>
                <a:latin typeface="Arial"/>
                <a:cs typeface="Arial"/>
              </a:rPr>
              <a:t>grâce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à </a:t>
            </a:r>
            <a:r>
              <a:rPr dirty="0" sz="1400" spc="-55">
                <a:solidFill>
                  <a:srgbClr val="465469"/>
                </a:solidFill>
                <a:latin typeface="Arial"/>
                <a:cs typeface="Arial"/>
              </a:rPr>
              <a:t>une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gestion</a:t>
            </a:r>
            <a:r>
              <a:rPr dirty="0" sz="140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explicite.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Arial"/>
              <a:cs typeface="Arial"/>
            </a:endParaRPr>
          </a:p>
          <a:p>
            <a:pPr marL="964565">
              <a:lnSpc>
                <a:spcPct val="100000"/>
              </a:lnSpc>
            </a:pPr>
            <a:r>
              <a:rPr dirty="0" sz="1500" spc="-10" b="1">
                <a:solidFill>
                  <a:srgbClr val="1D293B"/>
                </a:solidFill>
                <a:latin typeface="Arial"/>
                <a:cs typeface="Arial"/>
              </a:rPr>
              <a:t>java.time</a:t>
            </a:r>
            <a:endParaRPr sz="1500">
              <a:latin typeface="Arial"/>
              <a:cs typeface="Arial"/>
            </a:endParaRPr>
          </a:p>
          <a:p>
            <a:pPr marL="964565">
              <a:lnSpc>
                <a:spcPct val="100000"/>
              </a:lnSpc>
              <a:spcBef>
                <a:spcPts val="775"/>
              </a:spcBef>
            </a:pP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Manipulation</a:t>
            </a:r>
            <a:r>
              <a:rPr dirty="0" sz="1400" spc="-6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465469"/>
                </a:solidFill>
                <a:latin typeface="Arial"/>
                <a:cs typeface="Arial"/>
              </a:rPr>
              <a:t>des</a:t>
            </a:r>
            <a:r>
              <a:rPr dirty="0" sz="140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dates</a:t>
            </a:r>
            <a:r>
              <a:rPr dirty="0" sz="140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465469"/>
                </a:solidFill>
                <a:latin typeface="Arial"/>
                <a:cs typeface="Arial"/>
              </a:rPr>
              <a:t>précise,</a:t>
            </a:r>
            <a:r>
              <a:rPr dirty="0" sz="140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claire</a:t>
            </a:r>
            <a:r>
              <a:rPr dirty="0" sz="140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dirty="0" sz="140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65469"/>
                </a:solidFill>
                <a:latin typeface="Arial"/>
                <a:cs typeface="Arial"/>
              </a:rPr>
              <a:t>sans</a:t>
            </a:r>
            <a:r>
              <a:rPr dirty="0" sz="140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dirty="0" sz="140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465469"/>
                </a:solidFill>
                <a:latin typeface="Arial"/>
                <a:cs typeface="Arial"/>
              </a:rPr>
              <a:t>pièges</a:t>
            </a:r>
            <a:r>
              <a:rPr dirty="0" sz="1400" spc="-6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465469"/>
                </a:solidFill>
                <a:latin typeface="Arial"/>
                <a:cs typeface="Arial"/>
              </a:rPr>
              <a:t>de </a:t>
            </a:r>
            <a:r>
              <a:rPr dirty="0" sz="1350" spc="-10">
                <a:solidFill>
                  <a:srgbClr val="465469"/>
                </a:solidFill>
                <a:latin typeface="Monaco"/>
                <a:cs typeface="Monaco"/>
              </a:rPr>
              <a:t>Calendar</a:t>
            </a:r>
            <a:r>
              <a:rPr dirty="0" sz="1400" spc="-1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859790">
              <a:lnSpc>
                <a:spcPct val="100000"/>
              </a:lnSpc>
            </a:pPr>
            <a:r>
              <a:rPr dirty="0" sz="1950" spc="95">
                <a:solidFill>
                  <a:srgbClr val="91400D"/>
                </a:solidFill>
                <a:latin typeface="Apple Color Emoji"/>
                <a:cs typeface="Apple Color Emoji"/>
              </a:rPr>
              <a:t>🚀</a:t>
            </a:r>
            <a:r>
              <a:rPr dirty="0" sz="1950" spc="-1535">
                <a:solidFill>
                  <a:srgbClr val="91400D"/>
                </a:solidFill>
                <a:latin typeface="Apple Color Emoji"/>
                <a:cs typeface="Apple Color Emoji"/>
              </a:rPr>
              <a:t> </a:t>
            </a:r>
            <a:r>
              <a:rPr dirty="0" sz="1650" spc="-60" b="1">
                <a:solidFill>
                  <a:srgbClr val="91400D"/>
                </a:solidFill>
                <a:latin typeface="Arial"/>
                <a:cs typeface="Arial"/>
              </a:rPr>
              <a:t>Prochaine</a:t>
            </a:r>
            <a:r>
              <a:rPr dirty="0" sz="1650" spc="-45" b="1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dirty="0" sz="1650" spc="-30" b="1">
                <a:solidFill>
                  <a:srgbClr val="91400D"/>
                </a:solidFill>
                <a:latin typeface="Arial"/>
                <a:cs typeface="Arial"/>
              </a:rPr>
              <a:t>étape</a:t>
            </a:r>
            <a:r>
              <a:rPr dirty="0" sz="1650" spc="-45" b="1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dirty="0" sz="1650" spc="-90" b="1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dirty="0" sz="1650" spc="-45" b="1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91400D"/>
                </a:solidFill>
                <a:latin typeface="Arial"/>
                <a:cs typeface="Arial"/>
              </a:rPr>
              <a:t>Interface</a:t>
            </a:r>
            <a:r>
              <a:rPr dirty="0" sz="1650" spc="-45" b="1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dirty="0" sz="1650" spc="-114" b="1">
                <a:solidFill>
                  <a:srgbClr val="91400D"/>
                </a:solidFill>
                <a:latin typeface="Arial"/>
                <a:cs typeface="Arial"/>
              </a:rPr>
              <a:t>&amp;</a:t>
            </a:r>
            <a:r>
              <a:rPr dirty="0" sz="1650" spc="-45" b="1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dirty="0" sz="1650" spc="-75" b="1">
                <a:solidFill>
                  <a:srgbClr val="91400D"/>
                </a:solidFill>
                <a:latin typeface="Arial"/>
                <a:cs typeface="Arial"/>
              </a:rPr>
              <a:t>Base</a:t>
            </a:r>
            <a:r>
              <a:rPr dirty="0" sz="1650" spc="-45" b="1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91400D"/>
                </a:solidFill>
                <a:latin typeface="Arial"/>
                <a:cs typeface="Arial"/>
              </a:rPr>
              <a:t>de</a:t>
            </a:r>
            <a:r>
              <a:rPr dirty="0" sz="1650" spc="-45" b="1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91400D"/>
                </a:solidFill>
                <a:latin typeface="Arial"/>
                <a:cs typeface="Arial"/>
              </a:rPr>
              <a:t>données</a:t>
            </a:r>
            <a:endParaRPr sz="1650">
              <a:latin typeface="Arial"/>
              <a:cs typeface="Arial"/>
            </a:endParaRPr>
          </a:p>
          <a:p>
            <a:pPr marL="859790">
              <a:lnSpc>
                <a:spcPct val="100000"/>
              </a:lnSpc>
              <a:spcBef>
                <a:spcPts val="960"/>
              </a:spcBef>
            </a:pP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Bientôt</a:t>
            </a:r>
            <a:r>
              <a:rPr dirty="0" sz="1500" spc="-3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:</a:t>
            </a:r>
            <a:r>
              <a:rPr dirty="0" sz="1500" spc="-3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 spc="-70" b="1">
                <a:solidFill>
                  <a:srgbClr val="B45309"/>
                </a:solidFill>
                <a:latin typeface="Arial"/>
                <a:cs typeface="Arial"/>
              </a:rPr>
              <a:t>Swing</a:t>
            </a:r>
            <a:r>
              <a:rPr dirty="0" sz="1500" spc="-35" b="1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pour</a:t>
            </a:r>
            <a:r>
              <a:rPr dirty="0" sz="1500" spc="-3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B45309"/>
                </a:solidFill>
                <a:latin typeface="Arial"/>
                <a:cs typeface="Arial"/>
              </a:rPr>
              <a:t>l'UI</a:t>
            </a:r>
            <a:r>
              <a:rPr dirty="0" sz="1500" spc="-3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et</a:t>
            </a:r>
            <a:r>
              <a:rPr dirty="0" sz="1500" spc="-3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B45309"/>
                </a:solidFill>
                <a:latin typeface="Arial"/>
                <a:cs typeface="Arial"/>
              </a:rPr>
              <a:t>Hibernate/JPA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pour</a:t>
            </a:r>
            <a:r>
              <a:rPr dirty="0" sz="1500" spc="-3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la</a:t>
            </a:r>
            <a:r>
              <a:rPr dirty="0" sz="1500" spc="-3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B45309"/>
                </a:solidFill>
                <a:latin typeface="Arial"/>
                <a:cs typeface="Arial"/>
              </a:rPr>
              <a:t>persistance.</a:t>
            </a:r>
            <a:endParaRPr sz="1500">
              <a:latin typeface="Arial"/>
              <a:cs typeface="Arial"/>
            </a:endParaRPr>
          </a:p>
          <a:p>
            <a:pPr marL="859790">
              <a:lnSpc>
                <a:spcPct val="100000"/>
              </a:lnSpc>
              <a:spcBef>
                <a:spcPts val="300"/>
              </a:spcBef>
            </a:pP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Vos</a:t>
            </a:r>
            <a:r>
              <a:rPr dirty="0" sz="1500" spc="-4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records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et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enums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seront</a:t>
            </a:r>
            <a:r>
              <a:rPr dirty="0" sz="1500" spc="-4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directement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mappés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en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base</a:t>
            </a:r>
            <a:r>
              <a:rPr dirty="0" sz="1500" spc="-45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de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B45309"/>
                </a:solidFill>
                <a:latin typeface="Arial"/>
                <a:cs typeface="Arial"/>
              </a:rPr>
              <a:t>données</a:t>
            </a:r>
            <a:r>
              <a:rPr dirty="0" sz="1500" spc="-40">
                <a:solidFill>
                  <a:srgbClr val="B45309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B45309"/>
                </a:solidFill>
                <a:latin typeface="Arial"/>
                <a:cs typeface="Arial"/>
              </a:rPr>
              <a:t>!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31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35.</a:t>
            </a:r>
            <a:r>
              <a:rPr dirty="0" spc="-60"/>
              <a:t> </a:t>
            </a:r>
            <a:r>
              <a:rPr dirty="0" spc="-130"/>
              <a:t>Annexe</a:t>
            </a:r>
            <a:r>
              <a:rPr dirty="0" spc="-60"/>
              <a:t> </a:t>
            </a:r>
            <a:r>
              <a:rPr dirty="0" spc="-650"/>
              <a:t>—</a:t>
            </a:r>
            <a:r>
              <a:rPr dirty="0" spc="-60"/>
              <a:t> </a:t>
            </a:r>
            <a:r>
              <a:rPr dirty="0"/>
              <a:t>Mini-</a:t>
            </a:r>
            <a:r>
              <a:rPr dirty="0" spc="-95"/>
              <a:t>guide</a:t>
            </a:r>
            <a:r>
              <a:rPr dirty="0" spc="-55"/>
              <a:t> </a:t>
            </a:r>
            <a:r>
              <a:rPr dirty="0" spc="-45"/>
              <a:t>formats</a:t>
            </a:r>
            <a:r>
              <a:rPr dirty="0" spc="-60"/>
              <a:t> </a:t>
            </a:r>
            <a:r>
              <a:rPr dirty="0" spc="-75"/>
              <a:t>de</a:t>
            </a:r>
            <a:r>
              <a:rPr dirty="0" spc="-60"/>
              <a:t> </a:t>
            </a:r>
            <a:r>
              <a:rPr dirty="0" spc="-20"/>
              <a:t>date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3550" y="806450"/>
            <a:ext cx="8340090" cy="991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Patterns</a:t>
            </a:r>
            <a:r>
              <a:rPr dirty="0" sz="1350" spc="-1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essentiels</a:t>
            </a:r>
            <a:r>
              <a:rPr dirty="0" sz="1350" spc="-15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38B"/>
                </a:solidFill>
                <a:latin typeface="Arial"/>
                <a:cs typeface="Arial"/>
              </a:rPr>
              <a:t>pour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38B"/>
                </a:solidFill>
                <a:latin typeface="Monaco"/>
                <a:cs typeface="Monaco"/>
              </a:rPr>
              <a:t>DateTimeFormatter</a:t>
            </a:r>
            <a:r>
              <a:rPr dirty="0" sz="1350" spc="-10">
                <a:solidFill>
                  <a:srgbClr val="64738B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</a:pP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lettres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sont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sensibles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à</a:t>
            </a: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la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casse.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Voici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4</a:t>
            </a: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patterns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les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plus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utiles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pour</a:t>
            </a:r>
            <a:r>
              <a:rPr dirty="0" sz="1650" spc="-2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vos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34054"/>
                </a:solidFill>
                <a:latin typeface="Arial"/>
                <a:cs typeface="Arial"/>
              </a:rPr>
              <a:t>projets</a:t>
            </a:r>
            <a:r>
              <a:rPr dirty="0" sz="1650" spc="-15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334054"/>
                </a:solidFill>
                <a:latin typeface="Arial"/>
                <a:cs typeface="Arial"/>
              </a:rPr>
              <a:t>: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18160" y="1984248"/>
            <a:ext cx="5538470" cy="1481455"/>
            <a:chOff x="518160" y="1984248"/>
            <a:chExt cx="5538470" cy="1481455"/>
          </a:xfrm>
        </p:grpSpPr>
        <p:sp>
          <p:nvSpPr>
            <p:cNvPr id="5" name="object 5" descr=""/>
            <p:cNvSpPr/>
            <p:nvPr/>
          </p:nvSpPr>
          <p:spPr>
            <a:xfrm>
              <a:off x="518160" y="1984248"/>
              <a:ext cx="5538470" cy="1481455"/>
            </a:xfrm>
            <a:custGeom>
              <a:avLst/>
              <a:gdLst/>
              <a:ahLst/>
              <a:cxnLst/>
              <a:rect l="l" t="t" r="r" b="b"/>
              <a:pathLst>
                <a:path w="5538470" h="1481454">
                  <a:moveTo>
                    <a:pt x="5538216" y="1481328"/>
                  </a:moveTo>
                  <a:lnTo>
                    <a:pt x="0" y="1481328"/>
                  </a:lnTo>
                  <a:lnTo>
                    <a:pt x="0" y="0"/>
                  </a:lnTo>
                  <a:lnTo>
                    <a:pt x="5538216" y="0"/>
                  </a:lnTo>
                  <a:lnTo>
                    <a:pt x="5538216" y="44576"/>
                  </a:lnTo>
                  <a:lnTo>
                    <a:pt x="62864" y="44576"/>
                  </a:lnTo>
                  <a:lnTo>
                    <a:pt x="62864" y="1397126"/>
                  </a:lnTo>
                  <a:lnTo>
                    <a:pt x="5538216" y="1397126"/>
                  </a:lnTo>
                  <a:lnTo>
                    <a:pt x="5538216" y="1481328"/>
                  </a:lnTo>
                  <a:close/>
                </a:path>
                <a:path w="5538470" h="1481454">
                  <a:moveTo>
                    <a:pt x="5538216" y="1397126"/>
                  </a:moveTo>
                  <a:lnTo>
                    <a:pt x="5406389" y="1397126"/>
                  </a:lnTo>
                  <a:lnTo>
                    <a:pt x="5412957" y="1396809"/>
                  </a:lnTo>
                  <a:lnTo>
                    <a:pt x="5419399" y="1395857"/>
                  </a:lnTo>
                  <a:lnTo>
                    <a:pt x="5453535" y="1377597"/>
                  </a:lnTo>
                  <a:lnTo>
                    <a:pt x="5471795" y="1343461"/>
                  </a:lnTo>
                  <a:lnTo>
                    <a:pt x="5473064" y="1330451"/>
                  </a:lnTo>
                  <a:lnTo>
                    <a:pt x="5473064" y="111251"/>
                  </a:lnTo>
                  <a:lnTo>
                    <a:pt x="5461837" y="74201"/>
                  </a:lnTo>
                  <a:lnTo>
                    <a:pt x="5431904" y="49651"/>
                  </a:lnTo>
                  <a:lnTo>
                    <a:pt x="5406389" y="44576"/>
                  </a:lnTo>
                  <a:lnTo>
                    <a:pt x="5538216" y="44576"/>
                  </a:lnTo>
                  <a:lnTo>
                    <a:pt x="5538216" y="13971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95312" y="2019299"/>
              <a:ext cx="5405755" cy="1371600"/>
            </a:xfrm>
            <a:custGeom>
              <a:avLst/>
              <a:gdLst/>
              <a:ahLst/>
              <a:cxnLst/>
              <a:rect l="l" t="t" r="r" b="b"/>
              <a:pathLst>
                <a:path w="5405755" h="1371600">
                  <a:moveTo>
                    <a:pt x="5334240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5334240" y="0"/>
                  </a:lnTo>
                  <a:lnTo>
                    <a:pt x="5339195" y="488"/>
                  </a:lnTo>
                  <a:lnTo>
                    <a:pt x="5375730" y="15621"/>
                  </a:lnTo>
                  <a:lnTo>
                    <a:pt x="5401551" y="51661"/>
                  </a:lnTo>
                  <a:lnTo>
                    <a:pt x="5405437" y="71196"/>
                  </a:lnTo>
                  <a:lnTo>
                    <a:pt x="5405437" y="1300403"/>
                  </a:lnTo>
                  <a:lnTo>
                    <a:pt x="5389814" y="1341893"/>
                  </a:lnTo>
                  <a:lnTo>
                    <a:pt x="5353774" y="1367713"/>
                  </a:lnTo>
                  <a:lnTo>
                    <a:pt x="5334240" y="13715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500" y="2019299"/>
              <a:ext cx="47625" cy="1371600"/>
            </a:xfrm>
            <a:custGeom>
              <a:avLst/>
              <a:gdLst/>
              <a:ahLst/>
              <a:cxnLst/>
              <a:rect l="l" t="t" r="r" b="b"/>
              <a:pathLst>
                <a:path w="47625" h="1371600">
                  <a:moveTo>
                    <a:pt x="0" y="137159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371599"/>
                  </a:lnTo>
                  <a:lnTo>
                    <a:pt x="0" y="13715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5" y="2238374"/>
              <a:ext cx="171450" cy="17462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076324" y="2162174"/>
              <a:ext cx="1181100" cy="333375"/>
            </a:xfrm>
            <a:custGeom>
              <a:avLst/>
              <a:gdLst/>
              <a:ahLst/>
              <a:cxnLst/>
              <a:rect l="l" t="t" r="r" b="b"/>
              <a:pathLst>
                <a:path w="1181100" h="333375">
                  <a:moveTo>
                    <a:pt x="1148052" y="333374"/>
                  </a:moveTo>
                  <a:lnTo>
                    <a:pt x="33047" y="333374"/>
                  </a:lnTo>
                  <a:lnTo>
                    <a:pt x="28187" y="332407"/>
                  </a:lnTo>
                  <a:lnTo>
                    <a:pt x="966" y="305187"/>
                  </a:lnTo>
                  <a:lnTo>
                    <a:pt x="0" y="300327"/>
                  </a:lnTo>
                  <a:lnTo>
                    <a:pt x="0" y="2952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48052" y="0"/>
                  </a:lnTo>
                  <a:lnTo>
                    <a:pt x="1180132" y="28187"/>
                  </a:lnTo>
                  <a:lnTo>
                    <a:pt x="1181099" y="33047"/>
                  </a:lnTo>
                  <a:lnTo>
                    <a:pt x="1181099" y="300327"/>
                  </a:lnTo>
                  <a:lnTo>
                    <a:pt x="1152912" y="332407"/>
                  </a:lnTo>
                  <a:lnTo>
                    <a:pt x="1148052" y="33337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139825" y="2203946"/>
            <a:ext cx="105473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75">
                <a:solidFill>
                  <a:srgbClr val="0E1729"/>
                </a:solidFill>
                <a:latin typeface="Times New Roman"/>
                <a:cs typeface="Times New Roman"/>
              </a:rPr>
              <a:t>yyyy-</a:t>
            </a:r>
            <a:r>
              <a:rPr dirty="0" sz="1350" spc="-150">
                <a:solidFill>
                  <a:srgbClr val="0E1729"/>
                </a:solidFill>
                <a:latin typeface="Times New Roman"/>
                <a:cs typeface="Times New Roman"/>
              </a:rPr>
              <a:t>MM-</a:t>
            </a:r>
            <a:r>
              <a:rPr dirty="0" sz="1350" spc="110">
                <a:solidFill>
                  <a:srgbClr val="0E1729"/>
                </a:solidFill>
                <a:latin typeface="Times New Roman"/>
                <a:cs typeface="Times New Roman"/>
              </a:rPr>
              <a:t>dd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96924" y="2554713"/>
            <a:ext cx="4833620" cy="67183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250" spc="-70" b="1">
                <a:solidFill>
                  <a:srgbClr val="465469"/>
                </a:solidFill>
                <a:latin typeface="Arial"/>
                <a:cs typeface="Arial"/>
              </a:rPr>
              <a:t>Format</a:t>
            </a:r>
            <a:r>
              <a:rPr dirty="0" sz="1250" spc="-45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55" b="1">
                <a:solidFill>
                  <a:srgbClr val="465469"/>
                </a:solidFill>
                <a:latin typeface="Arial"/>
                <a:cs typeface="Arial"/>
              </a:rPr>
              <a:t>ISO-</a:t>
            </a:r>
            <a:r>
              <a:rPr dirty="0" sz="1250" b="1">
                <a:solidFill>
                  <a:srgbClr val="465469"/>
                </a:solidFill>
                <a:latin typeface="Arial"/>
                <a:cs typeface="Arial"/>
              </a:rPr>
              <a:t>8601</a:t>
            </a:r>
            <a:r>
              <a:rPr dirty="0" sz="1250" spc="-4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465469"/>
                </a:solidFill>
                <a:latin typeface="Arial"/>
                <a:cs typeface="Arial"/>
              </a:rPr>
              <a:t>(Standard)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250" spc="-65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465469"/>
                </a:solidFill>
                <a:latin typeface="Arial"/>
                <a:cs typeface="Arial"/>
              </a:rPr>
              <a:t>standard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 international. Utilisé </a:t>
            </a:r>
            <a:r>
              <a:rPr dirty="0" sz="1250" spc="-35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défaut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465469"/>
                </a:solidFill>
                <a:latin typeface="Arial"/>
                <a:cs typeface="Arial"/>
              </a:rPr>
              <a:t>par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65469"/>
                </a:solidFill>
                <a:latin typeface="Monaco"/>
                <a:cs typeface="Monaco"/>
              </a:rPr>
              <a:t>LocalDate.parse()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 spc="-30">
                <a:solidFill>
                  <a:srgbClr val="465469"/>
                </a:solidFill>
                <a:latin typeface="Arial"/>
                <a:cs typeface="Arial"/>
              </a:rPr>
              <a:t>Idéal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APIs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465469"/>
                </a:solidFill>
                <a:latin typeface="Arial"/>
                <a:cs typeface="Arial"/>
              </a:rPr>
              <a:t>et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465469"/>
                </a:solidFill>
                <a:latin typeface="Arial"/>
                <a:cs typeface="Arial"/>
              </a:rPr>
              <a:t>bases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de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données.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135624" y="1984248"/>
            <a:ext cx="5538470" cy="1481455"/>
            <a:chOff x="6135624" y="1984248"/>
            <a:chExt cx="5538470" cy="1481455"/>
          </a:xfrm>
        </p:grpSpPr>
        <p:sp>
          <p:nvSpPr>
            <p:cNvPr id="13" name="object 13" descr=""/>
            <p:cNvSpPr/>
            <p:nvPr/>
          </p:nvSpPr>
          <p:spPr>
            <a:xfrm>
              <a:off x="6135624" y="1984248"/>
              <a:ext cx="5538470" cy="1481455"/>
            </a:xfrm>
            <a:custGeom>
              <a:avLst/>
              <a:gdLst/>
              <a:ahLst/>
              <a:cxnLst/>
              <a:rect l="l" t="t" r="r" b="b"/>
              <a:pathLst>
                <a:path w="5538470" h="1481454">
                  <a:moveTo>
                    <a:pt x="5538216" y="1481328"/>
                  </a:moveTo>
                  <a:lnTo>
                    <a:pt x="0" y="1481328"/>
                  </a:lnTo>
                  <a:lnTo>
                    <a:pt x="0" y="0"/>
                  </a:lnTo>
                  <a:lnTo>
                    <a:pt x="5538216" y="0"/>
                  </a:lnTo>
                  <a:lnTo>
                    <a:pt x="5538216" y="44576"/>
                  </a:lnTo>
                  <a:lnTo>
                    <a:pt x="65150" y="44576"/>
                  </a:lnTo>
                  <a:lnTo>
                    <a:pt x="65150" y="1397126"/>
                  </a:lnTo>
                  <a:lnTo>
                    <a:pt x="5538216" y="1397126"/>
                  </a:lnTo>
                  <a:lnTo>
                    <a:pt x="5538216" y="1481328"/>
                  </a:lnTo>
                  <a:close/>
                </a:path>
                <a:path w="5538470" h="1481454">
                  <a:moveTo>
                    <a:pt x="5538216" y="1397126"/>
                  </a:moveTo>
                  <a:lnTo>
                    <a:pt x="5408675" y="1397126"/>
                  </a:lnTo>
                  <a:lnTo>
                    <a:pt x="5415242" y="1396809"/>
                  </a:lnTo>
                  <a:lnTo>
                    <a:pt x="5421684" y="1395857"/>
                  </a:lnTo>
                  <a:lnTo>
                    <a:pt x="5455821" y="1377597"/>
                  </a:lnTo>
                  <a:lnTo>
                    <a:pt x="5474080" y="1343461"/>
                  </a:lnTo>
                  <a:lnTo>
                    <a:pt x="5475350" y="1330451"/>
                  </a:lnTo>
                  <a:lnTo>
                    <a:pt x="5475350" y="111251"/>
                  </a:lnTo>
                  <a:lnTo>
                    <a:pt x="5464122" y="74201"/>
                  </a:lnTo>
                  <a:lnTo>
                    <a:pt x="5434189" y="49651"/>
                  </a:lnTo>
                  <a:lnTo>
                    <a:pt x="5408675" y="44576"/>
                  </a:lnTo>
                  <a:lnTo>
                    <a:pt x="5538216" y="44576"/>
                  </a:lnTo>
                  <a:lnTo>
                    <a:pt x="5538216" y="139712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215062" y="2019299"/>
              <a:ext cx="5405755" cy="1371600"/>
            </a:xfrm>
            <a:custGeom>
              <a:avLst/>
              <a:gdLst/>
              <a:ahLst/>
              <a:cxnLst/>
              <a:rect l="l" t="t" r="r" b="b"/>
              <a:pathLst>
                <a:path w="5405755" h="1371600">
                  <a:moveTo>
                    <a:pt x="5334240" y="1371599"/>
                  </a:moveTo>
                  <a:lnTo>
                    <a:pt x="0" y="1371599"/>
                  </a:lnTo>
                  <a:lnTo>
                    <a:pt x="0" y="0"/>
                  </a:lnTo>
                  <a:lnTo>
                    <a:pt x="5334240" y="0"/>
                  </a:lnTo>
                  <a:lnTo>
                    <a:pt x="5339194" y="488"/>
                  </a:lnTo>
                  <a:lnTo>
                    <a:pt x="5375731" y="15621"/>
                  </a:lnTo>
                  <a:lnTo>
                    <a:pt x="5401550" y="51661"/>
                  </a:lnTo>
                  <a:lnTo>
                    <a:pt x="5405437" y="71196"/>
                  </a:lnTo>
                  <a:lnTo>
                    <a:pt x="5405437" y="1300403"/>
                  </a:lnTo>
                  <a:lnTo>
                    <a:pt x="5389815" y="1341893"/>
                  </a:lnTo>
                  <a:lnTo>
                    <a:pt x="5353773" y="1367713"/>
                  </a:lnTo>
                  <a:lnTo>
                    <a:pt x="5334240" y="13715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91249" y="2019299"/>
              <a:ext cx="47625" cy="1371600"/>
            </a:xfrm>
            <a:custGeom>
              <a:avLst/>
              <a:gdLst/>
              <a:ahLst/>
              <a:cxnLst/>
              <a:rect l="l" t="t" r="r" b="b"/>
              <a:pathLst>
                <a:path w="47625" h="1371600">
                  <a:moveTo>
                    <a:pt x="0" y="137159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371599"/>
                  </a:lnTo>
                  <a:lnTo>
                    <a:pt x="0" y="137159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9374" y="2238374"/>
              <a:ext cx="152400" cy="17462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677024" y="2162174"/>
              <a:ext cx="1181100" cy="333375"/>
            </a:xfrm>
            <a:custGeom>
              <a:avLst/>
              <a:gdLst/>
              <a:ahLst/>
              <a:cxnLst/>
              <a:rect l="l" t="t" r="r" b="b"/>
              <a:pathLst>
                <a:path w="1181100" h="333375">
                  <a:moveTo>
                    <a:pt x="1148051" y="333374"/>
                  </a:moveTo>
                  <a:lnTo>
                    <a:pt x="33047" y="333374"/>
                  </a:lnTo>
                  <a:lnTo>
                    <a:pt x="28187" y="332407"/>
                  </a:lnTo>
                  <a:lnTo>
                    <a:pt x="966" y="305187"/>
                  </a:lnTo>
                  <a:lnTo>
                    <a:pt x="0" y="300327"/>
                  </a:lnTo>
                  <a:lnTo>
                    <a:pt x="0" y="2952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48051" y="0"/>
                  </a:lnTo>
                  <a:lnTo>
                    <a:pt x="1180131" y="28187"/>
                  </a:lnTo>
                  <a:lnTo>
                    <a:pt x="1181099" y="33047"/>
                  </a:lnTo>
                  <a:lnTo>
                    <a:pt x="1181099" y="300327"/>
                  </a:lnTo>
                  <a:lnTo>
                    <a:pt x="1152911" y="332407"/>
                  </a:lnTo>
                  <a:lnTo>
                    <a:pt x="1148051" y="33337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738143" y="2203946"/>
            <a:ext cx="105473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75">
                <a:solidFill>
                  <a:srgbClr val="0E1729"/>
                </a:solidFill>
                <a:latin typeface="Times New Roman"/>
                <a:cs typeface="Times New Roman"/>
              </a:rPr>
              <a:t>dd/MM/yyyy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416674" y="2554713"/>
            <a:ext cx="2940685" cy="67183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250" spc="-70" b="1">
                <a:solidFill>
                  <a:srgbClr val="465469"/>
                </a:solidFill>
                <a:latin typeface="Arial"/>
                <a:cs typeface="Arial"/>
              </a:rPr>
              <a:t>Format</a:t>
            </a:r>
            <a:r>
              <a:rPr dirty="0" sz="1250" spc="-4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465469"/>
                </a:solidFill>
                <a:latin typeface="Arial"/>
                <a:cs typeface="Arial"/>
              </a:rPr>
              <a:t>Français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200" spc="-175">
                <a:solidFill>
                  <a:srgbClr val="EF4444"/>
                </a:solidFill>
                <a:latin typeface="Hiragino Maru Gothic ProN"/>
                <a:cs typeface="Hiragino Maru Gothic ProN"/>
              </a:rPr>
              <a:t>⚠</a:t>
            </a:r>
            <a:r>
              <a:rPr dirty="0" sz="1200" spc="-30">
                <a:solidFill>
                  <a:srgbClr val="EF4444"/>
                </a:solidFill>
                <a:latin typeface="Hiragino Maru Gothic ProN"/>
                <a:cs typeface="Hiragino Maru Gothic ProN"/>
              </a:rPr>
              <a:t> </a:t>
            </a:r>
            <a:r>
              <a:rPr dirty="0" sz="1150">
                <a:solidFill>
                  <a:srgbClr val="EF4444"/>
                </a:solidFill>
                <a:latin typeface="Arial"/>
                <a:cs typeface="Arial"/>
              </a:rPr>
              <a:t>Attention</a:t>
            </a:r>
            <a:r>
              <a:rPr dirty="0" sz="1150" spc="55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EF4444"/>
                </a:solidFill>
                <a:latin typeface="Arial"/>
                <a:cs typeface="Arial"/>
              </a:rPr>
              <a:t>:</a:t>
            </a:r>
            <a:r>
              <a:rPr dirty="0" sz="1150" spc="5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65469"/>
                </a:solidFill>
                <a:latin typeface="Monaco"/>
                <a:cs typeface="Monaco"/>
              </a:rPr>
              <a:t>MM</a:t>
            </a:r>
            <a:r>
              <a:rPr dirty="0" sz="1200" spc="-345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250">
                <a:solidFill>
                  <a:srgbClr val="465469"/>
                </a:solidFill>
                <a:latin typeface="Arial"/>
                <a:cs typeface="Arial"/>
              </a:rPr>
              <a:t>(mois)</a:t>
            </a:r>
            <a:r>
              <a:rPr dirty="0" sz="1250" spc="3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majuscule.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solidFill>
                  <a:srgbClr val="465469"/>
                </a:solidFill>
                <a:latin typeface="Monaco"/>
                <a:cs typeface="Monaco"/>
              </a:rPr>
              <a:t>mm</a:t>
            </a:r>
            <a:r>
              <a:rPr dirty="0" sz="1200" spc="-425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250" spc="-80">
                <a:solidFill>
                  <a:srgbClr val="465469"/>
                </a:solidFill>
                <a:latin typeface="Arial"/>
                <a:cs typeface="Arial"/>
              </a:rPr>
              <a:t>=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minutes.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65469"/>
                </a:solidFill>
                <a:latin typeface="Monaco"/>
                <a:cs typeface="Monaco"/>
              </a:rPr>
              <a:t>DD</a:t>
            </a:r>
            <a:r>
              <a:rPr dirty="0" sz="1200" spc="-420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250" spc="-80">
                <a:solidFill>
                  <a:srgbClr val="465469"/>
                </a:solidFill>
                <a:latin typeface="Arial"/>
                <a:cs typeface="Arial"/>
              </a:rPr>
              <a:t>=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jour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de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l'année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465469"/>
                </a:solidFill>
                <a:latin typeface="Arial"/>
                <a:cs typeface="Arial"/>
              </a:rPr>
              <a:t>(piège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465469"/>
                </a:solidFill>
                <a:latin typeface="Arial"/>
                <a:cs typeface="Arial"/>
              </a:rPr>
              <a:t>!).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18160" y="3544823"/>
            <a:ext cx="5538470" cy="1691639"/>
            <a:chOff x="518160" y="3544823"/>
            <a:chExt cx="5538470" cy="1691639"/>
          </a:xfrm>
        </p:grpSpPr>
        <p:sp>
          <p:nvSpPr>
            <p:cNvPr id="21" name="object 21" descr=""/>
            <p:cNvSpPr/>
            <p:nvPr/>
          </p:nvSpPr>
          <p:spPr>
            <a:xfrm>
              <a:off x="518160" y="3544823"/>
              <a:ext cx="5538470" cy="1691639"/>
            </a:xfrm>
            <a:custGeom>
              <a:avLst/>
              <a:gdLst/>
              <a:ahLst/>
              <a:cxnLst/>
              <a:rect l="l" t="t" r="r" b="b"/>
              <a:pathLst>
                <a:path w="5538470" h="1691639">
                  <a:moveTo>
                    <a:pt x="5538216" y="1691640"/>
                  </a:moveTo>
                  <a:lnTo>
                    <a:pt x="0" y="1691640"/>
                  </a:lnTo>
                  <a:lnTo>
                    <a:pt x="0" y="0"/>
                  </a:lnTo>
                  <a:lnTo>
                    <a:pt x="5538216" y="0"/>
                  </a:lnTo>
                  <a:lnTo>
                    <a:pt x="5538216" y="46100"/>
                  </a:lnTo>
                  <a:lnTo>
                    <a:pt x="62864" y="46100"/>
                  </a:lnTo>
                  <a:lnTo>
                    <a:pt x="62864" y="1608200"/>
                  </a:lnTo>
                  <a:lnTo>
                    <a:pt x="5538216" y="1608200"/>
                  </a:lnTo>
                  <a:lnTo>
                    <a:pt x="5538216" y="1691640"/>
                  </a:lnTo>
                  <a:close/>
                </a:path>
                <a:path w="5538470" h="1691639">
                  <a:moveTo>
                    <a:pt x="5538216" y="1608200"/>
                  </a:moveTo>
                  <a:lnTo>
                    <a:pt x="5406389" y="1608200"/>
                  </a:lnTo>
                  <a:lnTo>
                    <a:pt x="5412957" y="1607883"/>
                  </a:lnTo>
                  <a:lnTo>
                    <a:pt x="5419399" y="1606931"/>
                  </a:lnTo>
                  <a:lnTo>
                    <a:pt x="5453535" y="1588671"/>
                  </a:lnTo>
                  <a:lnTo>
                    <a:pt x="5471795" y="1554535"/>
                  </a:lnTo>
                  <a:lnTo>
                    <a:pt x="5473064" y="1541525"/>
                  </a:lnTo>
                  <a:lnTo>
                    <a:pt x="5473064" y="112775"/>
                  </a:lnTo>
                  <a:lnTo>
                    <a:pt x="5461837" y="75725"/>
                  </a:lnTo>
                  <a:lnTo>
                    <a:pt x="5431904" y="51175"/>
                  </a:lnTo>
                  <a:lnTo>
                    <a:pt x="5406389" y="46100"/>
                  </a:lnTo>
                  <a:lnTo>
                    <a:pt x="5538216" y="46100"/>
                  </a:lnTo>
                  <a:lnTo>
                    <a:pt x="5538216" y="16082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95312" y="3581399"/>
              <a:ext cx="5405755" cy="1581150"/>
            </a:xfrm>
            <a:custGeom>
              <a:avLst/>
              <a:gdLst/>
              <a:ahLst/>
              <a:cxnLst/>
              <a:rect l="l" t="t" r="r" b="b"/>
              <a:pathLst>
                <a:path w="5405755" h="1581150">
                  <a:moveTo>
                    <a:pt x="5334240" y="1581149"/>
                  </a:moveTo>
                  <a:lnTo>
                    <a:pt x="0" y="1581149"/>
                  </a:lnTo>
                  <a:lnTo>
                    <a:pt x="0" y="0"/>
                  </a:lnTo>
                  <a:lnTo>
                    <a:pt x="5334240" y="0"/>
                  </a:lnTo>
                  <a:lnTo>
                    <a:pt x="5339195" y="488"/>
                  </a:lnTo>
                  <a:lnTo>
                    <a:pt x="5375730" y="15621"/>
                  </a:lnTo>
                  <a:lnTo>
                    <a:pt x="5401551" y="51661"/>
                  </a:lnTo>
                  <a:lnTo>
                    <a:pt x="5405437" y="71196"/>
                  </a:lnTo>
                  <a:lnTo>
                    <a:pt x="5405437" y="1509953"/>
                  </a:lnTo>
                  <a:lnTo>
                    <a:pt x="5389814" y="1551443"/>
                  </a:lnTo>
                  <a:lnTo>
                    <a:pt x="5353774" y="1577263"/>
                  </a:lnTo>
                  <a:lnTo>
                    <a:pt x="5334240" y="1581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71500" y="3581399"/>
              <a:ext cx="47625" cy="1581150"/>
            </a:xfrm>
            <a:custGeom>
              <a:avLst/>
              <a:gdLst/>
              <a:ahLst/>
              <a:cxnLst/>
              <a:rect l="l" t="t" r="r" b="b"/>
              <a:pathLst>
                <a:path w="47625" h="1581150">
                  <a:moveTo>
                    <a:pt x="0" y="15811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581149"/>
                  </a:lnTo>
                  <a:lnTo>
                    <a:pt x="0" y="1581149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625" y="3800474"/>
              <a:ext cx="171450" cy="17462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076324" y="3724274"/>
              <a:ext cx="971550" cy="333375"/>
            </a:xfrm>
            <a:custGeom>
              <a:avLst/>
              <a:gdLst/>
              <a:ahLst/>
              <a:cxnLst/>
              <a:rect l="l" t="t" r="r" b="b"/>
              <a:pathLst>
                <a:path w="971550" h="333375">
                  <a:moveTo>
                    <a:pt x="938502" y="333374"/>
                  </a:moveTo>
                  <a:lnTo>
                    <a:pt x="33047" y="333374"/>
                  </a:lnTo>
                  <a:lnTo>
                    <a:pt x="28187" y="332407"/>
                  </a:lnTo>
                  <a:lnTo>
                    <a:pt x="966" y="305187"/>
                  </a:lnTo>
                  <a:lnTo>
                    <a:pt x="0" y="300327"/>
                  </a:lnTo>
                  <a:lnTo>
                    <a:pt x="0" y="2952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38502" y="0"/>
                  </a:lnTo>
                  <a:lnTo>
                    <a:pt x="970583" y="28187"/>
                  </a:lnTo>
                  <a:lnTo>
                    <a:pt x="971549" y="33047"/>
                  </a:lnTo>
                  <a:lnTo>
                    <a:pt x="971549" y="300327"/>
                  </a:lnTo>
                  <a:lnTo>
                    <a:pt x="943362" y="332407"/>
                  </a:lnTo>
                  <a:lnTo>
                    <a:pt x="938502" y="33337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139825" y="3766046"/>
            <a:ext cx="848994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65">
                <a:solidFill>
                  <a:srgbClr val="0E1729"/>
                </a:solidFill>
                <a:latin typeface="Times New Roman"/>
                <a:cs typeface="Times New Roman"/>
              </a:rPr>
              <a:t>HH:mm:ss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96924" y="4116813"/>
            <a:ext cx="3071495" cy="67183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250" spc="-65" b="1">
                <a:solidFill>
                  <a:srgbClr val="465469"/>
                </a:solidFill>
                <a:latin typeface="Arial"/>
                <a:cs typeface="Arial"/>
              </a:rPr>
              <a:t>Heure</a:t>
            </a:r>
            <a:r>
              <a:rPr dirty="0" sz="1250" spc="-45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465469"/>
                </a:solidFill>
                <a:latin typeface="Arial"/>
                <a:cs typeface="Arial"/>
              </a:rPr>
              <a:t>(24h)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200">
                <a:solidFill>
                  <a:srgbClr val="465469"/>
                </a:solidFill>
                <a:latin typeface="Monaco"/>
                <a:cs typeface="Monaco"/>
              </a:rPr>
              <a:t>HH</a:t>
            </a:r>
            <a:r>
              <a:rPr dirty="0" sz="1200" spc="-415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majuscule</a:t>
            </a:r>
            <a:r>
              <a:rPr dirty="0" sz="12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dirty="0" sz="12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dirty="0" sz="12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465469"/>
                </a:solidFill>
                <a:latin typeface="Arial"/>
                <a:cs typeface="Arial"/>
              </a:rPr>
              <a:t>format</a:t>
            </a:r>
            <a:r>
              <a:rPr dirty="0" sz="125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465469"/>
                </a:solidFill>
                <a:latin typeface="Arial"/>
                <a:cs typeface="Arial"/>
              </a:rPr>
              <a:t>0-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23h.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solidFill>
                  <a:srgbClr val="465469"/>
                </a:solidFill>
                <a:latin typeface="Monaco"/>
                <a:cs typeface="Monaco"/>
              </a:rPr>
              <a:t>hh</a:t>
            </a:r>
            <a:r>
              <a:rPr dirty="0" sz="1200" spc="-415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minuscule</a:t>
            </a:r>
            <a:r>
              <a:rPr dirty="0" sz="125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dirty="0" sz="12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dirty="0" sz="125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465469"/>
                </a:solidFill>
                <a:latin typeface="Arial"/>
                <a:cs typeface="Arial"/>
              </a:rPr>
              <a:t>format</a:t>
            </a:r>
            <a:r>
              <a:rPr dirty="0" sz="1250" spc="-3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465469"/>
                </a:solidFill>
                <a:latin typeface="Arial"/>
                <a:cs typeface="Arial"/>
              </a:rPr>
              <a:t>1-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12h</a:t>
            </a:r>
            <a:r>
              <a:rPr dirty="0" sz="1250" spc="-4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(AM/PM).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135624" y="3544823"/>
            <a:ext cx="5538470" cy="1691639"/>
            <a:chOff x="6135624" y="3544823"/>
            <a:chExt cx="5538470" cy="1691639"/>
          </a:xfrm>
        </p:grpSpPr>
        <p:sp>
          <p:nvSpPr>
            <p:cNvPr id="29" name="object 29" descr=""/>
            <p:cNvSpPr/>
            <p:nvPr/>
          </p:nvSpPr>
          <p:spPr>
            <a:xfrm>
              <a:off x="6135624" y="3544823"/>
              <a:ext cx="5538470" cy="1691639"/>
            </a:xfrm>
            <a:custGeom>
              <a:avLst/>
              <a:gdLst/>
              <a:ahLst/>
              <a:cxnLst/>
              <a:rect l="l" t="t" r="r" b="b"/>
              <a:pathLst>
                <a:path w="5538470" h="1691639">
                  <a:moveTo>
                    <a:pt x="5538216" y="1691640"/>
                  </a:moveTo>
                  <a:lnTo>
                    <a:pt x="0" y="1691640"/>
                  </a:lnTo>
                  <a:lnTo>
                    <a:pt x="0" y="0"/>
                  </a:lnTo>
                  <a:lnTo>
                    <a:pt x="5538216" y="0"/>
                  </a:lnTo>
                  <a:lnTo>
                    <a:pt x="5538216" y="46100"/>
                  </a:lnTo>
                  <a:lnTo>
                    <a:pt x="65150" y="46100"/>
                  </a:lnTo>
                  <a:lnTo>
                    <a:pt x="65150" y="1608200"/>
                  </a:lnTo>
                  <a:lnTo>
                    <a:pt x="5538216" y="1608200"/>
                  </a:lnTo>
                  <a:lnTo>
                    <a:pt x="5538216" y="1691640"/>
                  </a:lnTo>
                  <a:close/>
                </a:path>
                <a:path w="5538470" h="1691639">
                  <a:moveTo>
                    <a:pt x="5538216" y="1608200"/>
                  </a:moveTo>
                  <a:lnTo>
                    <a:pt x="5408675" y="1608200"/>
                  </a:lnTo>
                  <a:lnTo>
                    <a:pt x="5415242" y="1607883"/>
                  </a:lnTo>
                  <a:lnTo>
                    <a:pt x="5421684" y="1606931"/>
                  </a:lnTo>
                  <a:lnTo>
                    <a:pt x="5455821" y="1588671"/>
                  </a:lnTo>
                  <a:lnTo>
                    <a:pt x="5474080" y="1554535"/>
                  </a:lnTo>
                  <a:lnTo>
                    <a:pt x="5475350" y="1541525"/>
                  </a:lnTo>
                  <a:lnTo>
                    <a:pt x="5475350" y="112775"/>
                  </a:lnTo>
                  <a:lnTo>
                    <a:pt x="5464122" y="75725"/>
                  </a:lnTo>
                  <a:lnTo>
                    <a:pt x="5434189" y="51175"/>
                  </a:lnTo>
                  <a:lnTo>
                    <a:pt x="5408675" y="46100"/>
                  </a:lnTo>
                  <a:lnTo>
                    <a:pt x="5538216" y="46100"/>
                  </a:lnTo>
                  <a:lnTo>
                    <a:pt x="5538216" y="1608200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215062" y="3581399"/>
              <a:ext cx="5405755" cy="1581150"/>
            </a:xfrm>
            <a:custGeom>
              <a:avLst/>
              <a:gdLst/>
              <a:ahLst/>
              <a:cxnLst/>
              <a:rect l="l" t="t" r="r" b="b"/>
              <a:pathLst>
                <a:path w="5405755" h="1581150">
                  <a:moveTo>
                    <a:pt x="5334240" y="1581149"/>
                  </a:moveTo>
                  <a:lnTo>
                    <a:pt x="0" y="1581149"/>
                  </a:lnTo>
                  <a:lnTo>
                    <a:pt x="0" y="0"/>
                  </a:lnTo>
                  <a:lnTo>
                    <a:pt x="5334240" y="0"/>
                  </a:lnTo>
                  <a:lnTo>
                    <a:pt x="5339194" y="488"/>
                  </a:lnTo>
                  <a:lnTo>
                    <a:pt x="5375731" y="15621"/>
                  </a:lnTo>
                  <a:lnTo>
                    <a:pt x="5401550" y="51661"/>
                  </a:lnTo>
                  <a:lnTo>
                    <a:pt x="5405437" y="71196"/>
                  </a:lnTo>
                  <a:lnTo>
                    <a:pt x="5405437" y="1509953"/>
                  </a:lnTo>
                  <a:lnTo>
                    <a:pt x="5389815" y="1551443"/>
                  </a:lnTo>
                  <a:lnTo>
                    <a:pt x="5353773" y="1577263"/>
                  </a:lnTo>
                  <a:lnTo>
                    <a:pt x="5334240" y="1581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191249" y="3581399"/>
              <a:ext cx="47625" cy="1581150"/>
            </a:xfrm>
            <a:custGeom>
              <a:avLst/>
              <a:gdLst/>
              <a:ahLst/>
              <a:cxnLst/>
              <a:rect l="l" t="t" r="r" b="b"/>
              <a:pathLst>
                <a:path w="47625" h="1581150">
                  <a:moveTo>
                    <a:pt x="0" y="1581149"/>
                  </a:moveTo>
                  <a:lnTo>
                    <a:pt x="0" y="0"/>
                  </a:lnTo>
                  <a:lnTo>
                    <a:pt x="47624" y="0"/>
                  </a:lnTo>
                  <a:lnTo>
                    <a:pt x="47624" y="1581149"/>
                  </a:lnTo>
                  <a:lnTo>
                    <a:pt x="0" y="158114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9374" y="3800474"/>
              <a:ext cx="152400" cy="17462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677024" y="3724274"/>
              <a:ext cx="1381125" cy="333375"/>
            </a:xfrm>
            <a:custGeom>
              <a:avLst/>
              <a:gdLst/>
              <a:ahLst/>
              <a:cxnLst/>
              <a:rect l="l" t="t" r="r" b="b"/>
              <a:pathLst>
                <a:path w="1381125" h="333375">
                  <a:moveTo>
                    <a:pt x="1348076" y="333374"/>
                  </a:moveTo>
                  <a:lnTo>
                    <a:pt x="33047" y="333374"/>
                  </a:lnTo>
                  <a:lnTo>
                    <a:pt x="28187" y="332407"/>
                  </a:lnTo>
                  <a:lnTo>
                    <a:pt x="966" y="305187"/>
                  </a:lnTo>
                  <a:lnTo>
                    <a:pt x="0" y="300327"/>
                  </a:lnTo>
                  <a:lnTo>
                    <a:pt x="0" y="2952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48076" y="0"/>
                  </a:lnTo>
                  <a:lnTo>
                    <a:pt x="1380157" y="28187"/>
                  </a:lnTo>
                  <a:lnTo>
                    <a:pt x="1381124" y="33047"/>
                  </a:lnTo>
                  <a:lnTo>
                    <a:pt x="1381124" y="300327"/>
                  </a:lnTo>
                  <a:lnTo>
                    <a:pt x="1352936" y="332407"/>
                  </a:lnTo>
                  <a:lnTo>
                    <a:pt x="1348076" y="33337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738143" y="3766046"/>
            <a:ext cx="126047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0E1729"/>
                </a:solidFill>
                <a:latin typeface="Times New Roman"/>
                <a:cs typeface="Times New Roman"/>
              </a:rPr>
              <a:t>E</a:t>
            </a:r>
            <a:r>
              <a:rPr dirty="0" sz="1350" spc="465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dirty="0" sz="1350" spc="135">
                <a:solidFill>
                  <a:srgbClr val="0E1729"/>
                </a:solidFill>
                <a:latin typeface="Times New Roman"/>
                <a:cs typeface="Times New Roman"/>
              </a:rPr>
              <a:t>d</a:t>
            </a:r>
            <a:r>
              <a:rPr dirty="0" sz="1350" spc="47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dirty="0" sz="1350" spc="-400">
                <a:solidFill>
                  <a:srgbClr val="0E1729"/>
                </a:solidFill>
                <a:latin typeface="Times New Roman"/>
                <a:cs typeface="Times New Roman"/>
              </a:rPr>
              <a:t>MMM</a:t>
            </a:r>
            <a:r>
              <a:rPr dirty="0" sz="1350" spc="470">
                <a:solidFill>
                  <a:srgbClr val="0E1729"/>
                </a:solidFill>
                <a:latin typeface="Times New Roman"/>
                <a:cs typeface="Times New Roman"/>
              </a:rPr>
              <a:t> </a:t>
            </a:r>
            <a:r>
              <a:rPr dirty="0" sz="1350" spc="114">
                <a:solidFill>
                  <a:srgbClr val="0E1729"/>
                </a:solidFill>
                <a:latin typeface="Times New Roman"/>
                <a:cs typeface="Times New Roman"/>
              </a:rPr>
              <a:t>yyyy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416674" y="4116813"/>
            <a:ext cx="4556760" cy="88138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250" spc="-70" b="1">
                <a:solidFill>
                  <a:srgbClr val="465469"/>
                </a:solidFill>
                <a:latin typeface="Arial"/>
                <a:cs typeface="Arial"/>
              </a:rPr>
              <a:t>Format</a:t>
            </a:r>
            <a:r>
              <a:rPr dirty="0" sz="1250" spc="-40" b="1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465469"/>
                </a:solidFill>
                <a:latin typeface="Arial"/>
                <a:cs typeface="Arial"/>
              </a:rPr>
              <a:t>Lisible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250" spc="-90">
                <a:solidFill>
                  <a:srgbClr val="465469"/>
                </a:solidFill>
                <a:latin typeface="Arial"/>
                <a:cs typeface="Arial"/>
              </a:rPr>
              <a:t>Ex: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55">
                <a:solidFill>
                  <a:srgbClr val="465469"/>
                </a:solidFill>
                <a:latin typeface="Arial"/>
                <a:cs typeface="Arial"/>
              </a:rPr>
              <a:t>"mar.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13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mars</a:t>
            </a:r>
            <a:r>
              <a:rPr dirty="0" sz="1250" spc="-4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2026".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</a:pP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Utilisez</a:t>
            </a:r>
            <a:r>
              <a:rPr dirty="0" sz="12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65469"/>
                </a:solidFill>
                <a:latin typeface="Monaco"/>
                <a:cs typeface="Monaco"/>
              </a:rPr>
              <a:t>Locale.FRANCE</a:t>
            </a:r>
            <a:r>
              <a:rPr dirty="0" sz="1200" spc="-425">
                <a:solidFill>
                  <a:srgbClr val="465469"/>
                </a:solidFill>
                <a:latin typeface="Monaco"/>
                <a:cs typeface="Monaco"/>
              </a:rPr>
              <a:t> </a:t>
            </a:r>
            <a:r>
              <a:rPr dirty="0" sz="1250" spc="-25">
                <a:solidFill>
                  <a:srgbClr val="465469"/>
                </a:solidFill>
                <a:latin typeface="Arial"/>
                <a:cs typeface="Arial"/>
              </a:rPr>
              <a:t>dans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le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formateur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465469"/>
                </a:solidFill>
                <a:latin typeface="Arial"/>
                <a:cs typeface="Arial"/>
              </a:rPr>
              <a:t>pour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465469"/>
                </a:solidFill>
                <a:latin typeface="Arial"/>
                <a:cs typeface="Arial"/>
              </a:rPr>
              <a:t>avoir</a:t>
            </a:r>
            <a:r>
              <a:rPr dirty="0" sz="1250" spc="-55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les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noms</a:t>
            </a:r>
            <a:r>
              <a:rPr dirty="0" sz="1250" spc="-5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465469"/>
                </a:solidFill>
                <a:latin typeface="Arial"/>
                <a:cs typeface="Arial"/>
              </a:rPr>
              <a:t>en </a:t>
            </a:r>
            <a:r>
              <a:rPr dirty="0" sz="1250" spc="-10">
                <a:solidFill>
                  <a:srgbClr val="465469"/>
                </a:solidFill>
                <a:latin typeface="Arial"/>
                <a:cs typeface="Arial"/>
              </a:rPr>
              <a:t>français.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499872" y="5318760"/>
            <a:ext cx="11192510" cy="1148715"/>
            <a:chOff x="499872" y="5318760"/>
            <a:chExt cx="11192510" cy="1148715"/>
          </a:xfrm>
        </p:grpSpPr>
        <p:sp>
          <p:nvSpPr>
            <p:cNvPr id="37" name="object 37" descr=""/>
            <p:cNvSpPr/>
            <p:nvPr/>
          </p:nvSpPr>
          <p:spPr>
            <a:xfrm>
              <a:off x="499872" y="5318760"/>
              <a:ext cx="11192510" cy="1139190"/>
            </a:xfrm>
            <a:custGeom>
              <a:avLst/>
              <a:gdLst/>
              <a:ahLst/>
              <a:cxnLst/>
              <a:rect l="l" t="t" r="r" b="b"/>
              <a:pathLst>
                <a:path w="11192510" h="1139189">
                  <a:moveTo>
                    <a:pt x="92602" y="1139189"/>
                  </a:moveTo>
                  <a:lnTo>
                    <a:pt x="0" y="1139189"/>
                  </a:lnTo>
                  <a:lnTo>
                    <a:pt x="0" y="0"/>
                  </a:lnTo>
                  <a:lnTo>
                    <a:pt x="11192256" y="0"/>
                  </a:lnTo>
                  <a:lnTo>
                    <a:pt x="11192256" y="43814"/>
                  </a:lnTo>
                  <a:lnTo>
                    <a:pt x="185927" y="43814"/>
                  </a:lnTo>
                  <a:lnTo>
                    <a:pt x="175606" y="44313"/>
                  </a:lnTo>
                  <a:lnTo>
                    <a:pt x="136487" y="56199"/>
                  </a:lnTo>
                  <a:lnTo>
                    <a:pt x="104894" y="82152"/>
                  </a:lnTo>
                  <a:lnTo>
                    <a:pt x="85639" y="118219"/>
                  </a:lnTo>
                  <a:lnTo>
                    <a:pt x="81152" y="148589"/>
                  </a:lnTo>
                  <a:lnTo>
                    <a:pt x="81152" y="1091564"/>
                  </a:lnTo>
                  <a:lnTo>
                    <a:pt x="81868" y="1103986"/>
                  </a:lnTo>
                  <a:lnTo>
                    <a:pt x="84015" y="1116064"/>
                  </a:lnTo>
                  <a:lnTo>
                    <a:pt x="87593" y="1127799"/>
                  </a:lnTo>
                  <a:lnTo>
                    <a:pt x="92602" y="1139189"/>
                  </a:lnTo>
                  <a:close/>
                </a:path>
                <a:path w="11192510" h="1139189">
                  <a:moveTo>
                    <a:pt x="11192256" y="1139189"/>
                  </a:moveTo>
                  <a:lnTo>
                    <a:pt x="11099653" y="1139189"/>
                  </a:lnTo>
                  <a:lnTo>
                    <a:pt x="11104662" y="1127799"/>
                  </a:lnTo>
                  <a:lnTo>
                    <a:pt x="11108240" y="1116064"/>
                  </a:lnTo>
                  <a:lnTo>
                    <a:pt x="11110387" y="1103986"/>
                  </a:lnTo>
                  <a:lnTo>
                    <a:pt x="11111102" y="1091564"/>
                  </a:lnTo>
                  <a:lnTo>
                    <a:pt x="11111102" y="148589"/>
                  </a:lnTo>
                  <a:lnTo>
                    <a:pt x="11103125" y="108493"/>
                  </a:lnTo>
                  <a:lnTo>
                    <a:pt x="11080413" y="74501"/>
                  </a:lnTo>
                  <a:lnTo>
                    <a:pt x="11046421" y="51789"/>
                  </a:lnTo>
                  <a:lnTo>
                    <a:pt x="11006327" y="43814"/>
                  </a:lnTo>
                  <a:lnTo>
                    <a:pt x="11192256" y="43814"/>
                  </a:lnTo>
                  <a:lnTo>
                    <a:pt x="11192256" y="113918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81024" y="5362574"/>
              <a:ext cx="11029950" cy="1095375"/>
            </a:xfrm>
            <a:custGeom>
              <a:avLst/>
              <a:gdLst/>
              <a:ahLst/>
              <a:cxnLst/>
              <a:rect l="l" t="t" r="r" b="b"/>
              <a:pathLst>
                <a:path w="11029950" h="1095375">
                  <a:moveTo>
                    <a:pt x="11018712" y="1095375"/>
                  </a:moveTo>
                  <a:lnTo>
                    <a:pt x="11235" y="1095375"/>
                  </a:lnTo>
                  <a:lnTo>
                    <a:pt x="10608" y="1094201"/>
                  </a:lnTo>
                  <a:lnTo>
                    <a:pt x="5342" y="1081489"/>
                  </a:lnTo>
                  <a:lnTo>
                    <a:pt x="3355" y="1074937"/>
                  </a:lnTo>
                  <a:lnTo>
                    <a:pt x="671" y="1061442"/>
                  </a:lnTo>
                  <a:lnTo>
                    <a:pt x="0" y="1054629"/>
                  </a:lnTo>
                  <a:lnTo>
                    <a:pt x="0" y="97895"/>
                  </a:lnTo>
                  <a:lnTo>
                    <a:pt x="10608" y="58322"/>
                  </a:lnTo>
                  <a:lnTo>
                    <a:pt x="35552" y="25822"/>
                  </a:lnTo>
                  <a:lnTo>
                    <a:pt x="71035" y="5341"/>
                  </a:lnTo>
                  <a:lnTo>
                    <a:pt x="97895" y="0"/>
                  </a:lnTo>
                  <a:lnTo>
                    <a:pt x="10932054" y="0"/>
                  </a:lnTo>
                  <a:lnTo>
                    <a:pt x="10971625" y="10607"/>
                  </a:lnTo>
                  <a:lnTo>
                    <a:pt x="11004125" y="35551"/>
                  </a:lnTo>
                  <a:lnTo>
                    <a:pt x="11024604" y="71034"/>
                  </a:lnTo>
                  <a:lnTo>
                    <a:pt x="11029948" y="97895"/>
                  </a:lnTo>
                  <a:lnTo>
                    <a:pt x="11029948" y="1054629"/>
                  </a:lnTo>
                  <a:lnTo>
                    <a:pt x="11019339" y="1094201"/>
                  </a:lnTo>
                  <a:lnTo>
                    <a:pt x="11018712" y="1095375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81024" y="5362574"/>
              <a:ext cx="11029950" cy="1095375"/>
            </a:xfrm>
            <a:custGeom>
              <a:avLst/>
              <a:gdLst/>
              <a:ahLst/>
              <a:cxnLst/>
              <a:rect l="l" t="t" r="r" b="b"/>
              <a:pathLst>
                <a:path w="11029950" h="1095375">
                  <a:moveTo>
                    <a:pt x="0" y="1047749"/>
                  </a:moveTo>
                  <a:lnTo>
                    <a:pt x="0" y="104774"/>
                  </a:lnTo>
                  <a:lnTo>
                    <a:pt x="0" y="97895"/>
                  </a:lnTo>
                  <a:lnTo>
                    <a:pt x="671" y="91081"/>
                  </a:lnTo>
                  <a:lnTo>
                    <a:pt x="13835" y="52284"/>
                  </a:lnTo>
                  <a:lnTo>
                    <a:pt x="30687" y="30687"/>
                  </a:lnTo>
                  <a:lnTo>
                    <a:pt x="35552" y="25822"/>
                  </a:lnTo>
                  <a:lnTo>
                    <a:pt x="40844" y="21478"/>
                  </a:lnTo>
                  <a:lnTo>
                    <a:pt x="46565" y="17657"/>
                  </a:lnTo>
                  <a:lnTo>
                    <a:pt x="52285" y="13834"/>
                  </a:lnTo>
                  <a:lnTo>
                    <a:pt x="58323" y="10607"/>
                  </a:lnTo>
                  <a:lnTo>
                    <a:pt x="64679" y="7974"/>
                  </a:lnTo>
                  <a:lnTo>
                    <a:pt x="71035" y="5341"/>
                  </a:lnTo>
                  <a:lnTo>
                    <a:pt x="77586" y="3354"/>
                  </a:lnTo>
                  <a:lnTo>
                    <a:pt x="84334" y="2012"/>
                  </a:lnTo>
                  <a:lnTo>
                    <a:pt x="91081" y="670"/>
                  </a:lnTo>
                  <a:lnTo>
                    <a:pt x="97895" y="0"/>
                  </a:lnTo>
                  <a:lnTo>
                    <a:pt x="104775" y="0"/>
                  </a:lnTo>
                  <a:lnTo>
                    <a:pt x="10925174" y="0"/>
                  </a:lnTo>
                  <a:lnTo>
                    <a:pt x="10932053" y="0"/>
                  </a:lnTo>
                  <a:lnTo>
                    <a:pt x="10938866" y="670"/>
                  </a:lnTo>
                  <a:lnTo>
                    <a:pt x="10945613" y="2012"/>
                  </a:lnTo>
                  <a:lnTo>
                    <a:pt x="10952360" y="3354"/>
                  </a:lnTo>
                  <a:lnTo>
                    <a:pt x="10958911" y="5341"/>
                  </a:lnTo>
                  <a:lnTo>
                    <a:pt x="10965268" y="7974"/>
                  </a:lnTo>
                  <a:lnTo>
                    <a:pt x="10971624" y="10607"/>
                  </a:lnTo>
                  <a:lnTo>
                    <a:pt x="10977663" y="13834"/>
                  </a:lnTo>
                  <a:lnTo>
                    <a:pt x="10983383" y="17657"/>
                  </a:lnTo>
                  <a:lnTo>
                    <a:pt x="10989102" y="21478"/>
                  </a:lnTo>
                  <a:lnTo>
                    <a:pt x="11016111" y="52284"/>
                  </a:lnTo>
                  <a:lnTo>
                    <a:pt x="11029277" y="91081"/>
                  </a:lnTo>
                  <a:lnTo>
                    <a:pt x="11029949" y="104774"/>
                  </a:lnTo>
                  <a:lnTo>
                    <a:pt x="11029949" y="1047749"/>
                  </a:lnTo>
                  <a:lnTo>
                    <a:pt x="11029948" y="1054629"/>
                  </a:lnTo>
                  <a:lnTo>
                    <a:pt x="11029277" y="1061442"/>
                  </a:lnTo>
                  <a:lnTo>
                    <a:pt x="11027934" y="1068189"/>
                  </a:lnTo>
                  <a:lnTo>
                    <a:pt x="11026591" y="1074937"/>
                  </a:lnTo>
                  <a:lnTo>
                    <a:pt x="11024604" y="1081489"/>
                  </a:lnTo>
                  <a:lnTo>
                    <a:pt x="11021971" y="1087845"/>
                  </a:lnTo>
                  <a:lnTo>
                    <a:pt x="11019339" y="1094201"/>
                  </a:lnTo>
                  <a:lnTo>
                    <a:pt x="11018711" y="1095374"/>
                  </a:lnTo>
                </a:path>
                <a:path w="11029950" h="1095375">
                  <a:moveTo>
                    <a:pt x="11235" y="1095374"/>
                  </a:moveTo>
                  <a:lnTo>
                    <a:pt x="2013" y="1068189"/>
                  </a:lnTo>
                  <a:lnTo>
                    <a:pt x="671" y="1061442"/>
                  </a:lnTo>
                  <a:lnTo>
                    <a:pt x="0" y="1054629"/>
                  </a:lnTo>
                  <a:lnTo>
                    <a:pt x="0" y="1047749"/>
                  </a:lnTo>
                </a:path>
              </a:pathLst>
            </a:custGeom>
            <a:ln w="19049">
              <a:solidFill>
                <a:srgbClr val="33D3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199" y="5772149"/>
              <a:ext cx="209550" cy="304800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1235074" y="5388794"/>
            <a:ext cx="10094595" cy="94678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750" spc="105">
                <a:solidFill>
                  <a:srgbClr val="055E45"/>
                </a:solidFill>
                <a:latin typeface="Apple Color Emoji"/>
                <a:cs typeface="Apple Color Emoji"/>
              </a:rPr>
              <a:t>💡</a:t>
            </a:r>
            <a:r>
              <a:rPr dirty="0" sz="1750" spc="-1365">
                <a:solidFill>
                  <a:srgbClr val="055E45"/>
                </a:solidFill>
                <a:latin typeface="Apple Color Emoji"/>
                <a:cs typeface="Apple Color Emoji"/>
              </a:rPr>
              <a:t> </a:t>
            </a:r>
            <a:r>
              <a:rPr dirty="0" sz="1500" spc="-50" b="1">
                <a:solidFill>
                  <a:srgbClr val="055E45"/>
                </a:solidFill>
                <a:latin typeface="Arial"/>
                <a:cs typeface="Arial"/>
              </a:rPr>
              <a:t>Astuce</a:t>
            </a:r>
            <a:r>
              <a:rPr dirty="0" sz="1500" spc="-25" b="1">
                <a:solidFill>
                  <a:srgbClr val="055E45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055E45"/>
                </a:solidFill>
                <a:latin typeface="Arial"/>
                <a:cs typeface="Arial"/>
              </a:rPr>
              <a:t>Performance</a:t>
            </a:r>
            <a:r>
              <a:rPr dirty="0" sz="1500" spc="-25" b="1">
                <a:solidFill>
                  <a:srgbClr val="055E45"/>
                </a:solidFill>
                <a:latin typeface="Arial"/>
                <a:cs typeface="Arial"/>
              </a:rPr>
              <a:t> </a:t>
            </a:r>
            <a:r>
              <a:rPr dirty="0" sz="1500" spc="-105" b="1">
                <a:solidFill>
                  <a:srgbClr val="055E45"/>
                </a:solidFill>
                <a:latin typeface="Arial"/>
                <a:cs typeface="Arial"/>
              </a:rPr>
              <a:t>&amp;</a:t>
            </a:r>
            <a:r>
              <a:rPr dirty="0" sz="1500" spc="-65" b="1">
                <a:solidFill>
                  <a:srgbClr val="055E45"/>
                </a:solidFill>
                <a:latin typeface="Arial"/>
                <a:cs typeface="Arial"/>
              </a:rPr>
              <a:t> </a:t>
            </a:r>
            <a:r>
              <a:rPr dirty="0" sz="1500" spc="-30" b="1">
                <a:solidFill>
                  <a:srgbClr val="055E45"/>
                </a:solidFill>
                <a:latin typeface="Arial"/>
                <a:cs typeface="Arial"/>
              </a:rPr>
              <a:t>Thread-</a:t>
            </a:r>
            <a:r>
              <a:rPr dirty="0" sz="1500" spc="-10" b="1">
                <a:solidFill>
                  <a:srgbClr val="055E45"/>
                </a:solidFill>
                <a:latin typeface="Arial"/>
                <a:cs typeface="Arial"/>
              </a:rPr>
              <a:t>Safety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0500"/>
              </a:lnSpc>
              <a:spcBef>
                <a:spcPts val="309"/>
              </a:spcBef>
            </a:pPr>
            <a:r>
              <a:rPr dirty="0" sz="1400" spc="-30">
                <a:solidFill>
                  <a:srgbClr val="047857"/>
                </a:solidFill>
                <a:latin typeface="Arial"/>
                <a:cs typeface="Arial"/>
              </a:rPr>
              <a:t>Contrairement</a:t>
            </a:r>
            <a:r>
              <a:rPr dirty="0" sz="1400" spc="-35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047857"/>
                </a:solidFill>
                <a:latin typeface="Arial"/>
                <a:cs typeface="Arial"/>
              </a:rPr>
              <a:t>à</a:t>
            </a:r>
            <a:r>
              <a:rPr dirty="0" sz="1400" spc="-30">
                <a:solidFill>
                  <a:srgbClr val="047857"/>
                </a:solidFill>
                <a:latin typeface="Arial"/>
                <a:cs typeface="Arial"/>
              </a:rPr>
              <a:t> l'ancien </a:t>
            </a:r>
            <a:r>
              <a:rPr dirty="0" sz="1350">
                <a:solidFill>
                  <a:srgbClr val="047857"/>
                </a:solidFill>
                <a:latin typeface="Monaco"/>
                <a:cs typeface="Monaco"/>
              </a:rPr>
              <a:t>SimpleDateFormat</a:t>
            </a:r>
            <a:r>
              <a:rPr dirty="0" sz="1350" spc="-459">
                <a:solidFill>
                  <a:srgbClr val="047857"/>
                </a:solidFill>
                <a:latin typeface="Monaco"/>
                <a:cs typeface="Monaco"/>
              </a:rPr>
              <a:t> </a:t>
            </a:r>
            <a:r>
              <a:rPr dirty="0" sz="1400" spc="-45">
                <a:solidFill>
                  <a:srgbClr val="047857"/>
                </a:solidFill>
                <a:latin typeface="Arial"/>
                <a:cs typeface="Arial"/>
              </a:rPr>
              <a:t>(dangereux),</a:t>
            </a:r>
            <a:r>
              <a:rPr dirty="0" sz="1400" spc="-3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47857"/>
                </a:solidFill>
                <a:latin typeface="Arial"/>
                <a:cs typeface="Arial"/>
              </a:rPr>
              <a:t>DateTimeFormatter</a:t>
            </a:r>
            <a:r>
              <a:rPr dirty="0" sz="1300" spc="-5" b="1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47857"/>
                </a:solidFill>
                <a:latin typeface="Arial"/>
                <a:cs typeface="Arial"/>
              </a:rPr>
              <a:t>est</a:t>
            </a:r>
            <a:r>
              <a:rPr dirty="0" sz="1400" spc="-3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047857"/>
                </a:solidFill>
                <a:latin typeface="Arial"/>
                <a:cs typeface="Arial"/>
              </a:rPr>
              <a:t>immuable</a:t>
            </a:r>
            <a:r>
              <a:rPr dirty="0" sz="1400" spc="-35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47857"/>
                </a:solidFill>
                <a:latin typeface="Arial"/>
                <a:cs typeface="Arial"/>
              </a:rPr>
              <a:t>et</a:t>
            </a:r>
            <a:r>
              <a:rPr dirty="0" sz="1400" spc="-3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047857"/>
                </a:solidFill>
                <a:latin typeface="Arial"/>
                <a:cs typeface="Arial"/>
              </a:rPr>
              <a:t>thread-</a:t>
            </a:r>
            <a:r>
              <a:rPr dirty="0" sz="1400" spc="-20">
                <a:solidFill>
                  <a:srgbClr val="047857"/>
                </a:solidFill>
                <a:latin typeface="Arial"/>
                <a:cs typeface="Arial"/>
              </a:rPr>
              <a:t>safe.</a:t>
            </a:r>
            <a:r>
              <a:rPr dirty="0" sz="1400" spc="-3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047857"/>
                </a:solidFill>
                <a:latin typeface="Arial"/>
                <a:cs typeface="Arial"/>
              </a:rPr>
              <a:t>Déclarez-</a:t>
            </a:r>
            <a:r>
              <a:rPr dirty="0" sz="1400" spc="-20">
                <a:solidFill>
                  <a:srgbClr val="047857"/>
                </a:solidFill>
                <a:latin typeface="Arial"/>
                <a:cs typeface="Arial"/>
              </a:rPr>
              <a:t>le</a:t>
            </a:r>
            <a:r>
              <a:rPr dirty="0" sz="1400" spc="-3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047857"/>
                </a:solidFill>
                <a:latin typeface="Arial"/>
                <a:cs typeface="Arial"/>
              </a:rPr>
              <a:t>en</a:t>
            </a:r>
            <a:r>
              <a:rPr dirty="0" sz="1400" spc="-35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047857"/>
                </a:solidFill>
                <a:latin typeface="Monaco"/>
                <a:cs typeface="Monaco"/>
              </a:rPr>
              <a:t>static </a:t>
            </a:r>
            <a:r>
              <a:rPr dirty="0" sz="1350">
                <a:solidFill>
                  <a:srgbClr val="047857"/>
                </a:solidFill>
                <a:latin typeface="Monaco"/>
                <a:cs typeface="Monaco"/>
              </a:rPr>
              <a:t>final</a:t>
            </a:r>
            <a:r>
              <a:rPr dirty="0" sz="1350" spc="-475">
                <a:solidFill>
                  <a:srgbClr val="047857"/>
                </a:solidFill>
                <a:latin typeface="Monaco"/>
                <a:cs typeface="Monaco"/>
              </a:rPr>
              <a:t> </a:t>
            </a:r>
            <a:r>
              <a:rPr dirty="0" sz="1400" spc="-20">
                <a:solidFill>
                  <a:srgbClr val="047857"/>
                </a:solidFill>
                <a:latin typeface="Arial"/>
                <a:cs typeface="Arial"/>
              </a:rPr>
              <a:t>pour</a:t>
            </a:r>
            <a:r>
              <a:rPr dirty="0" sz="1400" spc="-8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047857"/>
                </a:solidFill>
                <a:latin typeface="Arial"/>
                <a:cs typeface="Arial"/>
              </a:rPr>
              <a:t>le</a:t>
            </a:r>
            <a:r>
              <a:rPr dirty="0" sz="1400" spc="-7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47857"/>
                </a:solidFill>
                <a:latin typeface="Arial"/>
                <a:cs typeface="Arial"/>
              </a:rPr>
              <a:t>réutiliser</a:t>
            </a:r>
            <a:r>
              <a:rPr dirty="0" sz="1400" spc="-65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47857"/>
                </a:solidFill>
                <a:latin typeface="Arial"/>
                <a:cs typeface="Arial"/>
              </a:rPr>
              <a:t>partout</a:t>
            </a:r>
            <a:r>
              <a:rPr dirty="0" sz="1400" spc="-7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047857"/>
                </a:solidFill>
                <a:latin typeface="Arial"/>
                <a:cs typeface="Arial"/>
              </a:rPr>
              <a:t>sans</a:t>
            </a:r>
            <a:r>
              <a:rPr dirty="0" sz="1400" spc="-65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047857"/>
                </a:solidFill>
                <a:latin typeface="Arial"/>
                <a:cs typeface="Arial"/>
              </a:rPr>
              <a:t>risque</a:t>
            </a:r>
            <a:r>
              <a:rPr dirty="0" sz="1400" spc="-70">
                <a:solidFill>
                  <a:srgbClr val="047857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047857"/>
                </a:solidFill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0" y="64579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0"/>
              </a:lnSpc>
            </a:pPr>
            <a:r>
              <a:rPr dirty="0" spc="-10"/>
              <a:t>Université</a:t>
            </a:r>
            <a:r>
              <a:rPr dirty="0" spc="-30"/>
              <a:t> </a:t>
            </a:r>
            <a:r>
              <a:rPr dirty="0" spc="-70"/>
              <a:t>-</a:t>
            </a:r>
            <a:r>
              <a:rPr dirty="0" spc="-30"/>
              <a:t> </a:t>
            </a:r>
            <a:r>
              <a:rPr dirty="0"/>
              <a:t>L2</a:t>
            </a:r>
            <a:r>
              <a:rPr dirty="0" spc="-25"/>
              <a:t> </a:t>
            </a:r>
            <a:r>
              <a:rPr dirty="0" spc="-10"/>
              <a:t>Informatique</a:t>
            </a:r>
          </a:p>
        </p:txBody>
      </p:sp>
      <p:sp>
        <p:nvSpPr>
          <p:cNvPr id="44" name="object 4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19"/>
              </a:lnSpc>
            </a:pPr>
            <a:fld id="{81D60167-4931-47E6-BA6A-407CBD079E47}" type="slidenum">
              <a:rPr dirty="0"/>
              <a:t>31</a:t>
            </a:fld>
            <a:r>
              <a:rPr dirty="0" spc="25"/>
              <a:t> </a:t>
            </a:r>
            <a:r>
              <a:rPr dirty="0" spc="110"/>
              <a:t>/</a:t>
            </a:r>
            <a:r>
              <a:rPr dirty="0" spc="25"/>
              <a:t> </a:t>
            </a:r>
            <a:r>
              <a:rPr dirty="0" spc="-25"/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2026-03-24T09:06:53Z</dcterms:created>
  <dcterms:modified xsi:type="dcterms:W3CDTF">2026-03-24T09:06:53Z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pypdf</vt:lpwstr>
  </property>
</Properties>
</file>