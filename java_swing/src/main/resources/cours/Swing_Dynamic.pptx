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40"/>
    <p:restoredTop sz="94690"/>
  </p:normalViewPr>
  <p:slideViewPr>
    <p:cSldViewPr snapToGrid="0" snapToObjects="1">
      <p:cViewPr>
        <p:scale>
          <a:sx n="225" d="100"/>
          <a:sy n="225" d="100"/>
        </p:scale>
        <p:origin x="-1184" y="-23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6B2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solidFill>
            <a:srgbClr val="8B7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-914400"/>
            <a:ext cx="3200400" cy="3200400"/>
          </a:xfrm>
          <a:prstGeom prst="ellipse">
            <a:avLst/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E85D75"/>
                </a:solidFill>
                <a:latin typeface="Calibri"/>
              </a:rPr>
              <a:t>COURS JAVA · LICENCE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164592" cy="182880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600" b="1" i="0">
                <a:solidFill>
                  <a:srgbClr val="FAFAFF"/>
                </a:solidFill>
                <a:latin typeface="Calibri"/>
              </a:rPr>
              <a:t>Java Swing 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9990B8"/>
                </a:solidFill>
                <a:latin typeface="Calibri"/>
              </a:rPr>
              <a:t>Événements &amp; chargement de données en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9D8DF1"/>
                </a:solidFill>
                <a:latin typeface="Calibri"/>
              </a:rPr>
              <a:t>PARTIE LOGIQUE · ÉCOUTE &amp; RÉACTIVITÉ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931920"/>
            <a:ext cx="73152" cy="118872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09651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AF33E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8056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AFAFF"/>
                </a:solidFill>
                <a:latin typeface="Calibri"/>
              </a:rPr>
              <a:t>Événements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7316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990B8"/>
                </a:solidFill>
                <a:latin typeface="Calibri"/>
              </a:rPr>
              <a:t>Listeners, lambdas, EDT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93192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43400" y="3931920"/>
            <a:ext cx="73152" cy="118872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17720" y="409651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AF33E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48056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AFAFF"/>
                </a:solidFill>
                <a:latin typeface="Calibri"/>
              </a:rPr>
              <a:t>Tâches longues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77316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990B8"/>
                </a:solidFill>
                <a:latin typeface="Calibri"/>
              </a:rPr>
              <a:t>SwingWorker, threads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93192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46720" y="3931920"/>
            <a:ext cx="73152" cy="118872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21040" y="409651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AF33E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48056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AFAFF"/>
                </a:solidFill>
                <a:latin typeface="Calibri"/>
              </a:rPr>
              <a:t>Données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77316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990B8"/>
                </a:solidFill>
                <a:latin typeface="Calibri"/>
              </a:rPr>
              <a:t>BDD, API, mises à jour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9990B8"/>
                </a:solidFill>
                <a:latin typeface="Calibri"/>
              </a:rPr>
              <a:t>30 diapositives · faisant suite au cours sur les composants Swing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02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INTRODUCTION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Plan du cours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De l'écoute d'un clic au chargement asynchrone d'une base de données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1064240" cy="713232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73152" cy="713232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77240" y="1837944"/>
            <a:ext cx="502920" cy="420624"/>
          </a:xfrm>
          <a:prstGeom prst="roundRect">
            <a:avLst>
              <a:gd name="adj" fmla="val 25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1837944"/>
            <a:ext cx="5029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33E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76479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21C35"/>
                </a:solidFill>
                <a:latin typeface="Calibri"/>
              </a:rPr>
              <a:t>Modèle événementiel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07568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ActionListener, ItemListener, KeyListener, MouseListener, FocusListener…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459736"/>
            <a:ext cx="11064240" cy="713232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2459736"/>
            <a:ext cx="73152" cy="713232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77240" y="2606040"/>
            <a:ext cx="502920" cy="420624"/>
          </a:xfrm>
          <a:prstGeom prst="roundRect">
            <a:avLst>
              <a:gd name="adj" fmla="val 25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2606040"/>
            <a:ext cx="5029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33E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53288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21C35"/>
                </a:solidFill>
                <a:latin typeface="Calibri"/>
              </a:rPr>
              <a:t>Lambdas &amp; adapters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843784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Syntaxe concise (Java 8+), MouseAdapter, KeyAdapter, WindowAdapter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227832"/>
            <a:ext cx="11064240" cy="713232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3227832"/>
            <a:ext cx="73152" cy="713232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77240" y="3374136"/>
            <a:ext cx="502920" cy="420624"/>
          </a:xfrm>
          <a:prstGeom prst="roundRect">
            <a:avLst>
              <a:gd name="adj" fmla="val 25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3374136"/>
            <a:ext cx="5029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33E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3300984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21C35"/>
                </a:solidFill>
                <a:latin typeface="Calibri"/>
              </a:rPr>
              <a:t>Event Dispatch Thread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61188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EDT, invokeLater, règle d'or de Swing, debug avec EventQueue.isDispatchThread()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995928"/>
            <a:ext cx="11064240" cy="713232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3995928"/>
            <a:ext cx="73152" cy="713232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77240" y="4142232"/>
            <a:ext cx="502920" cy="420624"/>
          </a:xfrm>
          <a:prstGeom prst="roundRect">
            <a:avLst>
              <a:gd name="adj" fmla="val 25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4142232"/>
            <a:ext cx="5029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33E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0690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21C35"/>
                </a:solidFill>
                <a:latin typeface="Calibri"/>
              </a:rPr>
              <a:t>Tâches longues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379976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SwingWorker : doInBackground, publish/process, done, cancel, JProgressBar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764024"/>
            <a:ext cx="11064240" cy="713232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4764024"/>
            <a:ext cx="73152" cy="713232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77240" y="4910328"/>
            <a:ext cx="502920" cy="420624"/>
          </a:xfrm>
          <a:prstGeom prst="roundRect">
            <a:avLst>
              <a:gd name="adj" fmla="val 25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4910328"/>
            <a:ext cx="5029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33E"/>
                </a:solidFill>
                <a:latin typeface="Calibr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4837176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21C35"/>
                </a:solidFill>
                <a:latin typeface="Calibri"/>
              </a:rPr>
              <a:t>Charger des données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514807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Depuis une BDD (JDBC), depuis une API REST, mise à jour de JTable / JList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532120"/>
            <a:ext cx="11064240" cy="713232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48640" y="5532120"/>
            <a:ext cx="73152" cy="713232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77240" y="5678424"/>
            <a:ext cx="502920" cy="420624"/>
          </a:xfrm>
          <a:prstGeom prst="roundRect">
            <a:avLst>
              <a:gd name="adj" fmla="val 25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7240" y="5678424"/>
            <a:ext cx="5029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33E"/>
                </a:solidFill>
                <a:latin typeface="Calibri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3040" y="560527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21C35"/>
                </a:solidFill>
                <a:latin typeface="Calibri"/>
              </a:rPr>
              <a:t>MVC &amp; bonnes pratiques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63040" y="591616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Séparer modèle/vue/contrôleur, observer pattern, pièges classiques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6263640"/>
            <a:ext cx="11064240" cy="384048"/>
          </a:xfrm>
          <a:prstGeom prst="roundRect">
            <a:avLst>
              <a:gd name="adj" fmla="val 15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7240" y="6263640"/>
            <a:ext cx="365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AF33E"/>
                </a:solidFill>
                <a:latin typeface="Calibri"/>
              </a:rPr>
              <a:t>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6263640"/>
            <a:ext cx="10515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FAFAFF"/>
                </a:solidFill>
                <a:latin typeface="Calibri"/>
              </a:rPr>
              <a:t>Pré-requis : avoir suivi le cours « Java Swing — UI &amp; composants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03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1. MODÈLE ÉVÉNEMENTIEL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Comment Swing gère les événements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Le modèle Publisher / Subscriber : une source produit, des écouteurs réagissent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32407" y="2103120"/>
            <a:ext cx="2743200" cy="1097280"/>
          </a:xfrm>
          <a:prstGeom prst="roundRect">
            <a:avLst>
              <a:gd name="adj" fmla="val 8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432407" y="2103120"/>
            <a:ext cx="2743200" cy="73152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32407" y="226771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00">
                <a:solidFill>
                  <a:srgbClr val="9D8DF1"/>
                </a:solidFill>
                <a:latin typeface="Calibri"/>
              </a:rPr>
              <a:t>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5287" y="260604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FAFAFF"/>
                </a:solidFill>
                <a:latin typeface="Calibri"/>
              </a:rPr>
              <a:t>JButton, JTextField,
JSlider…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21327" y="2606040"/>
            <a:ext cx="457200" cy="164592"/>
          </a:xfrm>
          <a:prstGeom prst="rightArrow">
            <a:avLst/>
          </a:prstGeom>
          <a:solidFill>
            <a:srgbClr val="6B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724247" y="2103120"/>
            <a:ext cx="2743200" cy="1097280"/>
          </a:xfrm>
          <a:prstGeom prst="roundRect">
            <a:avLst>
              <a:gd name="adj" fmla="val 8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24247" y="2103120"/>
            <a:ext cx="2743200" cy="73152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24247" y="226771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00">
                <a:solidFill>
                  <a:srgbClr val="FAF33E"/>
                </a:solidFill>
                <a:latin typeface="Calibri"/>
              </a:rPr>
              <a:t>ÉVÉNEMENT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07127" y="260604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FAFAFF"/>
                </a:solidFill>
                <a:latin typeface="Calibri"/>
              </a:rPr>
              <a:t>ActionEvent,
KeyEvent, MouseEvent…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13167" y="2606040"/>
            <a:ext cx="457200" cy="164592"/>
          </a:xfrm>
          <a:prstGeom prst="rightArrow">
            <a:avLst/>
          </a:prstGeom>
          <a:solidFill>
            <a:srgbClr val="6B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16087" y="2103120"/>
            <a:ext cx="2743200" cy="1097280"/>
          </a:xfrm>
          <a:prstGeom prst="roundRect">
            <a:avLst>
              <a:gd name="adj" fmla="val 8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16087" y="2103120"/>
            <a:ext cx="2743200" cy="73152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16087" y="226771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00">
                <a:solidFill>
                  <a:srgbClr val="E85D75"/>
                </a:solidFill>
                <a:latin typeface="Calibri"/>
              </a:rPr>
              <a:t>LISTENER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8967" y="260604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FAFAFF"/>
                </a:solidFill>
                <a:latin typeface="Calibri"/>
              </a:rPr>
              <a:t>Votre code
réagit à l'événement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6118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21C35"/>
                </a:solidFill>
                <a:latin typeface="Calibri"/>
              </a:rPr>
              <a:t>Vous attachez un listener à un composant. Quand l'utilisateur agit, Swing crée un événement et appelle votre méthode.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160520"/>
            <a:ext cx="10972800" cy="210312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425196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AF33E"/>
                </a:solidFill>
                <a:latin typeface="Consolas"/>
              </a:rPr>
              <a:t>// Exemple : écouter un clic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6070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>
                <a:solidFill>
                  <a:srgbClr val="9D8DF1"/>
                </a:solidFill>
                <a:latin typeface="Consolas"/>
              </a:rPr>
              <a:t>JButton</a:t>
            </a:r>
            <a:r>
              <a:rPr sz="1200">
                <a:solidFill>
                  <a:srgbClr val="E8E2FF"/>
                </a:solidFill>
                <a:latin typeface="Consolas"/>
              </a:rPr>
              <a:t> bouton = </a:t>
            </a:r>
            <a:r>
              <a:rPr sz="1200">
                <a:solidFill>
                  <a:srgbClr val="FAF33E"/>
                </a:solidFill>
                <a:latin typeface="Consolas"/>
              </a:rPr>
              <a:t>new</a:t>
            </a:r>
            <a:r>
              <a:rPr sz="1200">
                <a:solidFill>
                  <a:srgbClr val="E8E2FF"/>
                </a:solidFill>
                <a:latin typeface="Consolas"/>
              </a:rPr>
              <a:t> </a:t>
            </a:r>
            <a:r>
              <a:rPr sz="1200">
                <a:solidFill>
                  <a:srgbClr val="9D8DF1"/>
                </a:solidFill>
                <a:latin typeface="Consolas"/>
              </a:rPr>
              <a:t>JButton</a:t>
            </a:r>
            <a:r>
              <a:rPr sz="1200">
                <a:solidFill>
                  <a:srgbClr val="E8E2FF"/>
                </a:solidFill>
                <a:latin typeface="Consolas"/>
              </a:rPr>
              <a:t>(</a:t>
            </a:r>
            <a:r>
              <a:rPr sz="1200">
                <a:solidFill>
                  <a:srgbClr val="FFB3C1"/>
                </a:solidFill>
                <a:latin typeface="Consolas"/>
              </a:rPr>
              <a:t>"Cliquez"</a:t>
            </a:r>
            <a:r>
              <a:rPr sz="120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endParaRPr sz="12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200">
                <a:solidFill>
                  <a:srgbClr val="E8E2FF"/>
                </a:solidFill>
                <a:latin typeface="Consolas"/>
              </a:rPr>
              <a:t>bouton.addActionListener(</a:t>
            </a:r>
            <a:r>
              <a:rPr sz="1200">
                <a:solidFill>
                  <a:srgbClr val="FAF33E"/>
                </a:solidFill>
                <a:latin typeface="Consolas"/>
              </a:rPr>
              <a:t>new</a:t>
            </a:r>
            <a:r>
              <a:rPr sz="1200">
                <a:solidFill>
                  <a:srgbClr val="E8E2FF"/>
                </a:solidFill>
                <a:latin typeface="Consolas"/>
              </a:rPr>
              <a:t> </a:t>
            </a:r>
            <a:r>
              <a:rPr sz="1200">
                <a:solidFill>
                  <a:srgbClr val="9D8DF1"/>
                </a:solidFill>
                <a:latin typeface="Consolas"/>
              </a:rPr>
              <a:t>ActionListener</a:t>
            </a:r>
            <a:r>
              <a:rPr sz="1200">
                <a:solidFill>
                  <a:srgbClr val="E8E2FF"/>
                </a:solidFill>
                <a:latin typeface="Consolas"/>
              </a:rPr>
              <a:t>() {</a:t>
            </a:r>
          </a:p>
          <a:p>
            <a:pPr>
              <a:lnSpc>
                <a:spcPct val="108000"/>
              </a:lnSpc>
            </a:pPr>
            <a:r>
              <a:rPr sz="120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1200">
                <a:solidFill>
                  <a:srgbClr val="E8E2FF"/>
                </a:solidFill>
                <a:latin typeface="Consolas"/>
              </a:rPr>
              <a:t>    </a:t>
            </a:r>
            <a:r>
              <a:rPr sz="1200">
                <a:solidFill>
                  <a:srgbClr val="FAF33E"/>
                </a:solidFill>
                <a:latin typeface="Consolas"/>
              </a:rPr>
              <a:t>public</a:t>
            </a:r>
            <a:r>
              <a:rPr sz="1200">
                <a:solidFill>
                  <a:srgbClr val="E8E2FF"/>
                </a:solidFill>
                <a:latin typeface="Consolas"/>
              </a:rPr>
              <a:t> </a:t>
            </a:r>
            <a:r>
              <a:rPr sz="1200">
                <a:solidFill>
                  <a:srgbClr val="FAF33E"/>
                </a:solidFill>
                <a:latin typeface="Consolas"/>
              </a:rPr>
              <a:t>void</a:t>
            </a:r>
            <a:r>
              <a:rPr sz="1200">
                <a:solidFill>
                  <a:srgbClr val="E8E2FF"/>
                </a:solidFill>
                <a:latin typeface="Consolas"/>
              </a:rPr>
              <a:t> actionPerformed(</a:t>
            </a:r>
            <a:r>
              <a:rPr sz="1200">
                <a:solidFill>
                  <a:srgbClr val="9D8DF1"/>
                </a:solidFill>
                <a:latin typeface="Consolas"/>
              </a:rPr>
              <a:t>ActionEvent</a:t>
            </a:r>
            <a:r>
              <a:rPr sz="1200">
                <a:solidFill>
                  <a:srgbClr val="E8E2FF"/>
                </a:solidFill>
                <a:latin typeface="Consolas"/>
              </a:rPr>
              <a:t> e) {</a:t>
            </a:r>
          </a:p>
          <a:p>
            <a:pPr>
              <a:lnSpc>
                <a:spcPct val="108000"/>
              </a:lnSpc>
            </a:pPr>
            <a:r>
              <a:rPr sz="1200">
                <a:solidFill>
                  <a:srgbClr val="E8E2FF"/>
                </a:solidFill>
                <a:latin typeface="Consolas"/>
              </a:rPr>
              <a:t>        System.out.println(</a:t>
            </a:r>
            <a:r>
              <a:rPr sz="1200">
                <a:solidFill>
                  <a:srgbClr val="FFB3C1"/>
                </a:solidFill>
                <a:latin typeface="Consolas"/>
              </a:rPr>
              <a:t>"Bouton cliqué !"</a:t>
            </a:r>
            <a:r>
              <a:rPr sz="120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120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20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04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1. MODÈLE ÉVÉNEMENTIEL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ActionListener — l'événement le plus courant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Réagir à un clic de bouton, à un Enter dans un champ, à un menu sélectionné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6858000" cy="457200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6492240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50">
                <a:solidFill>
                  <a:srgbClr val="9D8DF1"/>
                </a:solidFill>
                <a:latin typeface="Consolas"/>
              </a:rPr>
              <a:t>JButton</a:t>
            </a:r>
            <a:r>
              <a:rPr sz="1150">
                <a:solidFill>
                  <a:srgbClr val="E8E2FF"/>
                </a:solidFill>
                <a:latin typeface="Consolas"/>
              </a:rPr>
              <a:t> valider = </a:t>
            </a:r>
            <a:r>
              <a:rPr sz="1150">
                <a:solidFill>
                  <a:srgbClr val="FAF33E"/>
                </a:solidFill>
                <a:latin typeface="Consolas"/>
              </a:rPr>
              <a:t>new</a:t>
            </a:r>
            <a:r>
              <a:rPr sz="1150">
                <a:solidFill>
                  <a:srgbClr val="E8E2FF"/>
                </a:solidFill>
                <a:latin typeface="Consolas"/>
              </a:rPr>
              <a:t> </a:t>
            </a:r>
            <a:r>
              <a:rPr sz="1150">
                <a:solidFill>
                  <a:srgbClr val="9D8DF1"/>
                </a:solidFill>
                <a:latin typeface="Consolas"/>
              </a:rPr>
              <a:t>JButton</a:t>
            </a:r>
            <a:r>
              <a:rPr sz="1150">
                <a:solidFill>
                  <a:srgbClr val="E8E2FF"/>
                </a:solidFill>
                <a:latin typeface="Consolas"/>
              </a:rPr>
              <a:t>(</a:t>
            </a:r>
            <a:r>
              <a:rPr sz="1150">
                <a:solidFill>
                  <a:srgbClr val="FFB3C1"/>
                </a:solidFill>
                <a:latin typeface="Consolas"/>
              </a:rPr>
              <a:t>"Valider"</a:t>
            </a:r>
            <a:r>
              <a:rPr sz="115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endParaRPr sz="11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50">
                <a:solidFill>
                  <a:srgbClr val="9990B8"/>
                </a:solidFill>
                <a:latin typeface="Consolas"/>
              </a:rPr>
              <a:t>// Classe anonyme (verbose mais explicite)</a:t>
            </a:r>
          </a:p>
          <a:p>
            <a:pPr>
              <a:lnSpc>
                <a:spcPct val="108000"/>
              </a:lnSpc>
            </a:pPr>
            <a:r>
              <a:rPr sz="1150">
                <a:solidFill>
                  <a:srgbClr val="E8E2FF"/>
                </a:solidFill>
                <a:latin typeface="Consolas"/>
              </a:rPr>
              <a:t>valider.addActionListener(</a:t>
            </a:r>
            <a:r>
              <a:rPr sz="1150">
                <a:solidFill>
                  <a:srgbClr val="FAF33E"/>
                </a:solidFill>
                <a:latin typeface="Consolas"/>
              </a:rPr>
              <a:t>new</a:t>
            </a:r>
            <a:r>
              <a:rPr sz="1150">
                <a:solidFill>
                  <a:srgbClr val="E8E2FF"/>
                </a:solidFill>
                <a:latin typeface="Consolas"/>
              </a:rPr>
              <a:t> </a:t>
            </a:r>
            <a:r>
              <a:rPr sz="1150">
                <a:solidFill>
                  <a:srgbClr val="9D8DF1"/>
                </a:solidFill>
                <a:latin typeface="Consolas"/>
              </a:rPr>
              <a:t>ActionListener</a:t>
            </a:r>
            <a:r>
              <a:rPr sz="1150">
                <a:solidFill>
                  <a:srgbClr val="E8E2FF"/>
                </a:solidFill>
                <a:latin typeface="Consolas"/>
              </a:rPr>
              <a:t>() {</a:t>
            </a:r>
          </a:p>
          <a:p>
            <a:pPr>
              <a:lnSpc>
                <a:spcPct val="108000"/>
              </a:lnSpc>
            </a:pPr>
            <a:r>
              <a:rPr sz="11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1150">
                <a:solidFill>
                  <a:srgbClr val="E8E2FF"/>
                </a:solidFill>
                <a:latin typeface="Consolas"/>
              </a:rPr>
              <a:t>    </a:t>
            </a:r>
            <a:r>
              <a:rPr sz="1150">
                <a:solidFill>
                  <a:srgbClr val="FAF33E"/>
                </a:solidFill>
                <a:latin typeface="Consolas"/>
              </a:rPr>
              <a:t>public</a:t>
            </a:r>
            <a:r>
              <a:rPr sz="1150">
                <a:solidFill>
                  <a:srgbClr val="E8E2FF"/>
                </a:solidFill>
                <a:latin typeface="Consolas"/>
              </a:rPr>
              <a:t> </a:t>
            </a:r>
            <a:r>
              <a:rPr sz="1150">
                <a:solidFill>
                  <a:srgbClr val="FAF33E"/>
                </a:solidFill>
                <a:latin typeface="Consolas"/>
              </a:rPr>
              <a:t>void</a:t>
            </a:r>
            <a:r>
              <a:rPr sz="1150">
                <a:solidFill>
                  <a:srgbClr val="E8E2FF"/>
                </a:solidFill>
                <a:latin typeface="Consolas"/>
              </a:rPr>
              <a:t> actionPerformed(</a:t>
            </a:r>
            <a:r>
              <a:rPr sz="1150">
                <a:solidFill>
                  <a:srgbClr val="9D8DF1"/>
                </a:solidFill>
                <a:latin typeface="Consolas"/>
              </a:rPr>
              <a:t>ActionEvent</a:t>
            </a:r>
            <a:r>
              <a:rPr sz="1150">
                <a:solidFill>
                  <a:srgbClr val="E8E2FF"/>
                </a:solidFill>
                <a:latin typeface="Consolas"/>
              </a:rPr>
              <a:t> e) {</a:t>
            </a:r>
          </a:p>
          <a:p>
            <a:pPr>
              <a:lnSpc>
                <a:spcPct val="108000"/>
              </a:lnSpc>
            </a:pPr>
            <a:r>
              <a:rPr sz="1150">
                <a:solidFill>
                  <a:srgbClr val="E8E2FF"/>
                </a:solidFill>
                <a:latin typeface="Consolas"/>
              </a:rPr>
              <a:t>        </a:t>
            </a:r>
            <a:r>
              <a:rPr sz="1150">
                <a:solidFill>
                  <a:srgbClr val="9D8DF1"/>
                </a:solidFill>
                <a:latin typeface="Consolas"/>
              </a:rPr>
              <a:t>String</a:t>
            </a:r>
            <a:r>
              <a:rPr sz="1150">
                <a:solidFill>
                  <a:srgbClr val="E8E2FF"/>
                </a:solidFill>
                <a:latin typeface="Consolas"/>
              </a:rPr>
              <a:t> src = ((</a:t>
            </a:r>
            <a:r>
              <a:rPr sz="1150">
                <a:solidFill>
                  <a:srgbClr val="9D8DF1"/>
                </a:solidFill>
                <a:latin typeface="Consolas"/>
              </a:rPr>
              <a:t>JButton</a:t>
            </a:r>
            <a:r>
              <a:rPr sz="1150">
                <a:solidFill>
                  <a:srgbClr val="E8E2FF"/>
                </a:solidFill>
                <a:latin typeface="Consolas"/>
              </a:rPr>
              <a:t>) e.getSource()).getText();</a:t>
            </a:r>
          </a:p>
          <a:p>
            <a:pPr>
              <a:lnSpc>
                <a:spcPct val="108000"/>
              </a:lnSpc>
            </a:pPr>
            <a:r>
              <a:rPr sz="1150">
                <a:solidFill>
                  <a:srgbClr val="E8E2FF"/>
                </a:solidFill>
                <a:latin typeface="Consolas"/>
              </a:rPr>
              <a:t>        System.out.println(</a:t>
            </a:r>
            <a:r>
              <a:rPr sz="1150">
                <a:solidFill>
                  <a:srgbClr val="FFB3C1"/>
                </a:solidFill>
                <a:latin typeface="Consolas"/>
              </a:rPr>
              <a:t>"Action sur : "</a:t>
            </a:r>
            <a:r>
              <a:rPr sz="1150">
                <a:solidFill>
                  <a:srgbClr val="E8E2FF"/>
                </a:solidFill>
                <a:latin typeface="Consolas"/>
              </a:rPr>
              <a:t> + src);</a:t>
            </a:r>
          </a:p>
          <a:p>
            <a:pPr>
              <a:lnSpc>
                <a:spcPct val="108000"/>
              </a:lnSpc>
            </a:pPr>
            <a:r>
              <a:rPr sz="11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150">
                <a:solidFill>
                  <a:srgbClr val="E8E2FF"/>
                </a:solidFill>
                <a:latin typeface="Consolas"/>
              </a:rPr>
              <a:t>});</a:t>
            </a:r>
          </a:p>
          <a:p>
            <a:pPr>
              <a:lnSpc>
                <a:spcPct val="108000"/>
              </a:lnSpc>
            </a:pPr>
            <a:endParaRPr sz="11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50">
                <a:solidFill>
                  <a:srgbClr val="9990B8"/>
                </a:solidFill>
                <a:latin typeface="Consolas"/>
              </a:rPr>
              <a:t>// Aussi disponible sur JMenuItem, JTextField (Enter), JComboBox…</a:t>
            </a:r>
          </a:p>
          <a:p>
            <a:pPr>
              <a:lnSpc>
                <a:spcPct val="108000"/>
              </a:lnSpc>
            </a:pPr>
            <a:r>
              <a:rPr sz="1150">
                <a:solidFill>
                  <a:srgbClr val="E8E2FF"/>
                </a:solidFill>
                <a:latin typeface="Consolas"/>
              </a:rPr>
              <a:t>champ.addActionListener(e -&gt; traiter(champ.getText()));</a:t>
            </a:r>
          </a:p>
          <a:p>
            <a:pPr>
              <a:lnSpc>
                <a:spcPct val="108000"/>
              </a:lnSpc>
            </a:pPr>
            <a:r>
              <a:rPr sz="1150">
                <a:solidFill>
                  <a:srgbClr val="E8E2FF"/>
                </a:solidFill>
                <a:latin typeface="Consolas"/>
              </a:rPr>
              <a:t>menuQuitter.addActionListener(e -&gt; System.exit(0));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91640"/>
            <a:ext cx="3840480" cy="457200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0" y="1691640"/>
            <a:ext cx="73152" cy="457200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8288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21C35"/>
                </a:solidFill>
                <a:latin typeface="Calibri"/>
              </a:rPr>
              <a:t>Méthodes utiles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194560"/>
            <a:ext cx="365760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e.getSource()</a:t>
            </a:r>
          </a:p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e.getActionCommand()</a:t>
            </a:r>
          </a:p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e.getModifiers()</a:t>
            </a:r>
          </a:p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e.getWhen()</a:t>
            </a:r>
          </a:p>
          <a:p>
            <a:pPr>
              <a:lnSpc>
                <a:spcPct val="125000"/>
              </a:lnSpc>
            </a:pPr>
            <a:endParaRPr sz="1150" b="0" i="0">
              <a:solidFill>
                <a:srgbClr val="221C35"/>
              </a:solidFill>
              <a:latin typeface="Calibri"/>
            </a:endParaRPr>
          </a:p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Composants compatibles :</a:t>
            </a:r>
          </a:p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• JButton</a:t>
            </a:r>
          </a:p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• JMenuItem</a:t>
            </a:r>
          </a:p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• JTextField (Enter)</a:t>
            </a:r>
          </a:p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• JComboBox</a:t>
            </a:r>
          </a:p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• JRadioButton</a:t>
            </a:r>
          </a:p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• JCheckBox</a:t>
            </a:r>
          </a:p>
          <a:p>
            <a:pPr>
              <a:lnSpc>
                <a:spcPct val="12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• Timer (déclenchement)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05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1. MODÈLE ÉVÉNEMENTIEL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ItemListener — cases &amp; listes déroulantes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Détecter quand un élément est sélectionné ou désélectionné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5486400" cy="219456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512064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9990B8"/>
                </a:solidFill>
                <a:latin typeface="Consolas"/>
              </a:rPr>
              <a:t>// JCheckBox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9D8DF1"/>
                </a:solidFill>
                <a:latin typeface="Consolas"/>
              </a:rPr>
              <a:t>JCheckBox</a:t>
            </a:r>
            <a:r>
              <a:rPr sz="1100">
                <a:solidFill>
                  <a:srgbClr val="E8E2FF"/>
                </a:solidFill>
                <a:latin typeface="Consolas"/>
              </a:rPr>
              <a:t> accepter = 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JCheckBox</a:t>
            </a:r>
            <a:r>
              <a:rPr sz="1100">
                <a:solidFill>
                  <a:srgbClr val="E8E2FF"/>
                </a:solidFill>
                <a:latin typeface="Consolas"/>
              </a:rPr>
              <a:t>(</a:t>
            </a:r>
            <a:r>
              <a:rPr sz="1100">
                <a:solidFill>
                  <a:srgbClr val="FFB3C1"/>
                </a:solidFill>
                <a:latin typeface="Consolas"/>
              </a:rPr>
              <a:t>"J'accepte"</a:t>
            </a:r>
            <a:r>
              <a:rPr sz="110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accepter.addItemListener(e -&gt;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FAF33E"/>
                </a:solidFill>
                <a:latin typeface="Consolas"/>
              </a:rPr>
              <a:t>if</a:t>
            </a:r>
            <a:r>
              <a:rPr sz="1100">
                <a:solidFill>
                  <a:srgbClr val="E8E2FF"/>
                </a:solidFill>
                <a:latin typeface="Consolas"/>
              </a:rPr>
              <a:t> (e.getStateChange() == </a:t>
            </a:r>
            <a:r>
              <a:rPr sz="1100">
                <a:solidFill>
                  <a:srgbClr val="9D8DF1"/>
                </a:solidFill>
                <a:latin typeface="Consolas"/>
              </a:rPr>
              <a:t>ItemEvent</a:t>
            </a:r>
            <a:r>
              <a:rPr sz="1100">
                <a:solidFill>
                  <a:srgbClr val="E8E2FF"/>
                </a:solidFill>
                <a:latin typeface="Consolas"/>
              </a:rPr>
              <a:t>.SELECTED)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bouton.setEnabled(</a:t>
            </a:r>
            <a:r>
              <a:rPr sz="1100">
                <a:solidFill>
                  <a:srgbClr val="FAF33E"/>
                </a:solidFill>
                <a:latin typeface="Consolas"/>
              </a:rPr>
              <a:t>true</a:t>
            </a:r>
            <a:r>
              <a:rPr sz="110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} </a:t>
            </a:r>
            <a:r>
              <a:rPr sz="1100">
                <a:solidFill>
                  <a:srgbClr val="FAF33E"/>
                </a:solidFill>
                <a:latin typeface="Consolas"/>
              </a:rPr>
              <a:t>else</a:t>
            </a:r>
            <a:r>
              <a:rPr sz="1100">
                <a:solidFill>
                  <a:srgbClr val="E8E2FF"/>
                </a:solidFill>
                <a:latin typeface="Consolas"/>
              </a:rPr>
              <a:t>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bouton.setEnabled(</a:t>
            </a:r>
            <a:r>
              <a:rPr sz="1100">
                <a:solidFill>
                  <a:srgbClr val="FAF33E"/>
                </a:solidFill>
                <a:latin typeface="Consolas"/>
              </a:rPr>
              <a:t>false</a:t>
            </a:r>
            <a:r>
              <a:rPr sz="110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91640"/>
            <a:ext cx="5212080" cy="219456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1968" y="1856232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9990B8"/>
                </a:solidFill>
                <a:latin typeface="Consolas"/>
              </a:rPr>
              <a:t>// JComboBox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9D8DF1"/>
                </a:solidFill>
                <a:latin typeface="Consolas"/>
              </a:rPr>
              <a:t>JComboBox</a:t>
            </a:r>
            <a:r>
              <a:rPr sz="1100">
                <a:solidFill>
                  <a:srgbClr val="E8E2FF"/>
                </a:solidFill>
                <a:latin typeface="Consolas"/>
              </a:rPr>
              <a:t>&lt;</a:t>
            </a:r>
            <a:r>
              <a:rPr sz="1100">
                <a:solidFill>
                  <a:srgbClr val="9D8DF1"/>
                </a:solidFill>
                <a:latin typeface="Consolas"/>
              </a:rPr>
              <a:t>String</a:t>
            </a:r>
            <a:r>
              <a:rPr sz="1100">
                <a:solidFill>
                  <a:srgbClr val="E8E2FF"/>
                </a:solidFill>
                <a:latin typeface="Consolas"/>
              </a:rPr>
              <a:t>&gt; pays = 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JComboBox</a:t>
            </a:r>
            <a:r>
              <a:rPr sz="1100">
                <a:solidFill>
                  <a:srgbClr val="E8E2FF"/>
                </a:solidFill>
                <a:latin typeface="Consolas"/>
              </a:rPr>
              <a:t>&lt;&gt;(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String</a:t>
            </a:r>
            <a:r>
              <a:rPr sz="1100">
                <a:solidFill>
                  <a:srgbClr val="E8E2FF"/>
                </a:solidFill>
                <a:latin typeface="Consolas"/>
              </a:rPr>
              <a:t>[]{</a:t>
            </a:r>
            <a:r>
              <a:rPr sz="1100">
                <a:solidFill>
                  <a:srgbClr val="FFB3C1"/>
                </a:solidFill>
                <a:latin typeface="Consolas"/>
              </a:rPr>
              <a:t>"Sénégal"</a:t>
            </a:r>
            <a:r>
              <a:rPr sz="1100">
                <a:solidFill>
                  <a:srgbClr val="E8E2FF"/>
                </a:solidFill>
                <a:latin typeface="Consolas"/>
              </a:rPr>
              <a:t>, </a:t>
            </a:r>
            <a:r>
              <a:rPr sz="1100">
                <a:solidFill>
                  <a:srgbClr val="FFB3C1"/>
                </a:solidFill>
                <a:latin typeface="Consolas"/>
              </a:rPr>
              <a:t>"Mali"</a:t>
            </a:r>
            <a:r>
              <a:rPr sz="1100">
                <a:solidFill>
                  <a:srgbClr val="E8E2FF"/>
                </a:solidFill>
                <a:latin typeface="Consolas"/>
              </a:rPr>
              <a:t>, </a:t>
            </a:r>
            <a:r>
              <a:rPr sz="1100">
                <a:solidFill>
                  <a:srgbClr val="FFB3C1"/>
                </a:solidFill>
                <a:latin typeface="Consolas"/>
              </a:rPr>
              <a:t>"Côte d'Ivoire"</a:t>
            </a:r>
            <a:r>
              <a:rPr sz="1100">
                <a:solidFill>
                  <a:srgbClr val="E8E2FF"/>
                </a:solidFill>
                <a:latin typeface="Consolas"/>
              </a:rPr>
              <a:t>});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pays.addItemListener(e -&gt;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FAF33E"/>
                </a:solidFill>
                <a:latin typeface="Consolas"/>
              </a:rPr>
              <a:t>if</a:t>
            </a:r>
            <a:r>
              <a:rPr sz="1100">
                <a:solidFill>
                  <a:srgbClr val="E8E2FF"/>
                </a:solidFill>
                <a:latin typeface="Consolas"/>
              </a:rPr>
              <a:t> (e.getStateChange() == </a:t>
            </a:r>
            <a:r>
              <a:rPr sz="1100">
                <a:solidFill>
                  <a:srgbClr val="9D8DF1"/>
                </a:solidFill>
                <a:latin typeface="Consolas"/>
              </a:rPr>
              <a:t>ItemEvent</a:t>
            </a:r>
            <a:r>
              <a:rPr sz="1100">
                <a:solidFill>
                  <a:srgbClr val="E8E2FF"/>
                </a:solidFill>
                <a:latin typeface="Consolas"/>
              </a:rPr>
              <a:t>.SELECTED)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>
                <a:solidFill>
                  <a:srgbClr val="9D8DF1"/>
                </a:solidFill>
                <a:latin typeface="Consolas"/>
              </a:rPr>
              <a:t>String</a:t>
            </a:r>
            <a:r>
              <a:rPr sz="1100">
                <a:solidFill>
                  <a:srgbClr val="E8E2FF"/>
                </a:solidFill>
                <a:latin typeface="Consolas"/>
              </a:rPr>
              <a:t> choix = (</a:t>
            </a:r>
            <a:r>
              <a:rPr sz="1100">
                <a:solidFill>
                  <a:srgbClr val="9D8DF1"/>
                </a:solidFill>
                <a:latin typeface="Consolas"/>
              </a:rPr>
              <a:t>String</a:t>
            </a:r>
            <a:r>
              <a:rPr sz="1100">
                <a:solidFill>
                  <a:srgbClr val="E8E2FF"/>
                </a:solidFill>
                <a:latin typeface="Consolas"/>
              </a:rPr>
              <a:t>) e.getItem();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chargerVilles(choix);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14800"/>
            <a:ext cx="10972800" cy="210312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73152" cy="210312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42519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21C35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617720"/>
            <a:ext cx="105156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 b="0" i="0">
                <a:solidFill>
                  <a:srgbClr val="221C35"/>
                </a:solidFill>
                <a:latin typeface="Calibri"/>
              </a:rPr>
              <a:t>• ItemEvent.SELECTED   → l'élément vient d'être coché / sélectionné</a:t>
            </a:r>
          </a:p>
          <a:p>
            <a:pPr>
              <a:lnSpc>
                <a:spcPct val="140000"/>
              </a:lnSpc>
            </a:pPr>
            <a:r>
              <a:rPr sz="1200" b="0" i="0">
                <a:solidFill>
                  <a:srgbClr val="221C35"/>
                </a:solidFill>
                <a:latin typeface="Calibri"/>
              </a:rPr>
              <a:t>• ItemEvent.DESELECTED → l'élément vient d'être décoché / désélectionné</a:t>
            </a:r>
          </a:p>
          <a:p>
            <a:pPr>
              <a:lnSpc>
                <a:spcPct val="140000"/>
              </a:lnSpc>
            </a:pPr>
            <a:r>
              <a:rPr sz="1200" b="0" i="0">
                <a:solidFill>
                  <a:srgbClr val="221C35"/>
                </a:solidFill>
                <a:latin typeface="Calibri"/>
              </a:rPr>
              <a:t>• Pour JCheckBox et JRadioButton, ActionListener marche aussi (déclenché aux 2 états)</a:t>
            </a:r>
          </a:p>
          <a:p>
            <a:pPr>
              <a:lnSpc>
                <a:spcPct val="140000"/>
              </a:lnSpc>
            </a:pPr>
            <a:r>
              <a:rPr sz="1200" b="0" i="0">
                <a:solidFill>
                  <a:srgbClr val="221C35"/>
                </a:solidFill>
                <a:latin typeface="Calibri"/>
              </a:rPr>
              <a:t>• Pour JComboBox, ItemListener est déclenché 2× lors d'un changement (DESELECTED puis SELECTED)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06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1. MODÈLE ÉVÉNEMENTIEL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KeyListener — écouter le clavier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Trois moments : touche pressée, touche relâchée, caractère tapé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7040880" cy="457200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6675120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9D8DF1"/>
                </a:solidFill>
                <a:latin typeface="Consolas"/>
              </a:rPr>
              <a:t>JTextField</a:t>
            </a:r>
            <a:r>
              <a:rPr sz="1100">
                <a:solidFill>
                  <a:srgbClr val="E8E2FF"/>
                </a:solidFill>
                <a:latin typeface="Consolas"/>
              </a:rPr>
              <a:t> champ = 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JTextField</a:t>
            </a:r>
            <a:r>
              <a:rPr sz="1100">
                <a:solidFill>
                  <a:srgbClr val="E8E2FF"/>
                </a:solidFill>
                <a:latin typeface="Consolas"/>
              </a:rPr>
              <a:t>(20);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champ.addKeyListener(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KeyListener</a:t>
            </a:r>
            <a:r>
              <a:rPr sz="1100">
                <a:solidFill>
                  <a:srgbClr val="E8E2FF"/>
                </a:solidFill>
                <a:latin typeface="Consolas"/>
              </a:rPr>
              <a:t>()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FAF33E"/>
                </a:solidFill>
                <a:latin typeface="Consolas"/>
              </a:rPr>
              <a:t>public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void</a:t>
            </a:r>
            <a:r>
              <a:rPr sz="1100">
                <a:solidFill>
                  <a:srgbClr val="E8E2FF"/>
                </a:solidFill>
                <a:latin typeface="Consolas"/>
              </a:rPr>
              <a:t> keyPressed(</a:t>
            </a:r>
            <a:r>
              <a:rPr sz="1100">
                <a:solidFill>
                  <a:srgbClr val="9D8DF1"/>
                </a:solidFill>
                <a:latin typeface="Consolas"/>
              </a:rPr>
              <a:t>KeyEvent</a:t>
            </a:r>
            <a:r>
              <a:rPr sz="1100">
                <a:solidFill>
                  <a:srgbClr val="E8E2FF"/>
                </a:solidFill>
                <a:latin typeface="Consolas"/>
              </a:rPr>
              <a:t> e)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>
                <a:solidFill>
                  <a:srgbClr val="FAF33E"/>
                </a:solidFill>
                <a:latin typeface="Consolas"/>
              </a:rPr>
              <a:t>if</a:t>
            </a:r>
            <a:r>
              <a:rPr sz="1100">
                <a:solidFill>
                  <a:srgbClr val="E8E2FF"/>
                </a:solidFill>
                <a:latin typeface="Consolas"/>
              </a:rPr>
              <a:t> (e.getKeyCode() == </a:t>
            </a:r>
            <a:r>
              <a:rPr sz="1100">
                <a:solidFill>
                  <a:srgbClr val="9D8DF1"/>
                </a:solidFill>
                <a:latin typeface="Consolas"/>
              </a:rPr>
              <a:t>KeyEvent</a:t>
            </a:r>
            <a:r>
              <a:rPr sz="1100">
                <a:solidFill>
                  <a:srgbClr val="E8E2FF"/>
                </a:solidFill>
                <a:latin typeface="Consolas"/>
              </a:rPr>
              <a:t>.VK_ENTER)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    valider();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>
                <a:solidFill>
                  <a:srgbClr val="FAF33E"/>
                </a:solidFill>
                <a:latin typeface="Consolas"/>
              </a:rPr>
              <a:t>if</a:t>
            </a:r>
            <a:r>
              <a:rPr sz="1100">
                <a:solidFill>
                  <a:srgbClr val="E8E2FF"/>
                </a:solidFill>
                <a:latin typeface="Consolas"/>
              </a:rPr>
              <a:t> (e.isControlDown() &amp;&amp; e.getKeyCode() == </a:t>
            </a:r>
            <a:r>
              <a:rPr sz="1100">
                <a:solidFill>
                  <a:srgbClr val="9D8DF1"/>
                </a:solidFill>
                <a:latin typeface="Consolas"/>
              </a:rPr>
              <a:t>KeyEvent</a:t>
            </a:r>
            <a:r>
              <a:rPr sz="1100">
                <a:solidFill>
                  <a:srgbClr val="E8E2FF"/>
                </a:solidFill>
                <a:latin typeface="Consolas"/>
              </a:rPr>
              <a:t>.VK_S)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    sauvegarder();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FAF33E"/>
                </a:solidFill>
                <a:latin typeface="Consolas"/>
              </a:rPr>
              <a:t>public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void</a:t>
            </a:r>
            <a:r>
              <a:rPr sz="1100">
                <a:solidFill>
                  <a:srgbClr val="E8E2FF"/>
                </a:solidFill>
                <a:latin typeface="Consolas"/>
              </a:rPr>
              <a:t> keyReleased(</a:t>
            </a:r>
            <a:r>
              <a:rPr sz="1100">
                <a:solidFill>
                  <a:srgbClr val="9D8DF1"/>
                </a:solidFill>
                <a:latin typeface="Consolas"/>
              </a:rPr>
              <a:t>KeyEvent</a:t>
            </a:r>
            <a:r>
              <a:rPr sz="1100">
                <a:solidFill>
                  <a:srgbClr val="E8E2FF"/>
                </a:solidFill>
                <a:latin typeface="Consolas"/>
              </a:rPr>
              <a:t> e) { }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FAF33E"/>
                </a:solidFill>
                <a:latin typeface="Consolas"/>
              </a:rPr>
              <a:t>public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void</a:t>
            </a:r>
            <a:r>
              <a:rPr sz="1100">
                <a:solidFill>
                  <a:srgbClr val="E8E2FF"/>
                </a:solidFill>
                <a:latin typeface="Consolas"/>
              </a:rPr>
              <a:t> keyTyped(</a:t>
            </a:r>
            <a:r>
              <a:rPr sz="1100">
                <a:solidFill>
                  <a:srgbClr val="9D8DF1"/>
                </a:solidFill>
                <a:latin typeface="Consolas"/>
              </a:rPr>
              <a:t>KeyEvent</a:t>
            </a:r>
            <a:r>
              <a:rPr sz="1100">
                <a:solidFill>
                  <a:srgbClr val="E8E2FF"/>
                </a:solidFill>
                <a:latin typeface="Consolas"/>
              </a:rPr>
              <a:t> e)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>
                <a:solidFill>
                  <a:srgbClr val="9990B8"/>
                </a:solidFill>
                <a:latin typeface="Consolas"/>
              </a:rPr>
              <a:t>// Filtrer : n'autoriser que les chiffres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>
                <a:solidFill>
                  <a:srgbClr val="9D8DF1"/>
                </a:solidFill>
                <a:latin typeface="Consolas"/>
              </a:rPr>
              <a:t>char</a:t>
            </a:r>
            <a:r>
              <a:rPr sz="1100">
                <a:solidFill>
                  <a:srgbClr val="E8E2FF"/>
                </a:solidFill>
                <a:latin typeface="Consolas"/>
              </a:rPr>
              <a:t> c = e.getKeyChar();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>
                <a:solidFill>
                  <a:srgbClr val="FAF33E"/>
                </a:solidFill>
                <a:latin typeface="Consolas"/>
              </a:rPr>
              <a:t>if</a:t>
            </a:r>
            <a:r>
              <a:rPr sz="1100">
                <a:solidFill>
                  <a:srgbClr val="E8E2FF"/>
                </a:solidFill>
                <a:latin typeface="Consolas"/>
              </a:rPr>
              <a:t> (!Character.isDigit(c)) e.consume();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69164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79" y="1691640"/>
            <a:ext cx="73152" cy="457200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83879" y="18288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AF33E"/>
                </a:solidFill>
                <a:latin typeface="Calibri"/>
              </a:rPr>
              <a:t>Codes de touches utiles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240280"/>
            <a:ext cx="338328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VK_ENTER     ↵ Entrée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VK_ESCAPE    Échap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VK_TAB       ↹ Tab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VK_SPACE     Espace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VK_DELETE    Suppr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VK_BACK_SPACE  ⌫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VK_UP / DOWN     ↑ ↓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VK_LEFT / RIGHT  ← →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VK_F1 … VK_F12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VK_A … VK_Z</a:t>
            </a:r>
          </a:p>
          <a:p>
            <a:pPr>
              <a:lnSpc>
                <a:spcPct val="130000"/>
              </a:lnSpc>
            </a:pPr>
            <a:endParaRPr sz="1050" b="0" i="0">
              <a:solidFill>
                <a:srgbClr val="FAFAFF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Modificateurs :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isShiftDown()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isControlDown()</a:t>
            </a:r>
          </a:p>
          <a:p>
            <a:pPr>
              <a:lnSpc>
                <a:spcPct val="130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isAltDown()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07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1. MODÈLE ÉVÉNEMENTIEL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MouseListener — événements de la souris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Cinq méthodes : pressed, released, clicked, entered, exited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7315200" cy="457200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6949440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>
                <a:solidFill>
                  <a:srgbClr val="9D8DF1"/>
                </a:solidFill>
                <a:latin typeface="Consolas"/>
              </a:rPr>
              <a:t>JLabel</a:t>
            </a:r>
            <a:r>
              <a:rPr sz="1050">
                <a:solidFill>
                  <a:srgbClr val="E8E2FF"/>
                </a:solidFill>
                <a:latin typeface="Consolas"/>
              </a:rPr>
              <a:t> label = </a:t>
            </a:r>
            <a:r>
              <a:rPr sz="1050">
                <a:solidFill>
                  <a:srgbClr val="FAF33E"/>
                </a:solidFill>
                <a:latin typeface="Consolas"/>
              </a:rPr>
              <a:t>new</a:t>
            </a:r>
            <a:r>
              <a:rPr sz="1050">
                <a:solidFill>
                  <a:srgbClr val="E8E2FF"/>
                </a:solidFill>
                <a:latin typeface="Consolas"/>
              </a:rPr>
              <a:t> </a:t>
            </a:r>
            <a:r>
              <a:rPr sz="1050">
                <a:solidFill>
                  <a:srgbClr val="9D8DF1"/>
                </a:solidFill>
                <a:latin typeface="Consolas"/>
              </a:rPr>
              <a:t>JLabel</a:t>
            </a:r>
            <a:r>
              <a:rPr sz="1050">
                <a:solidFill>
                  <a:srgbClr val="E8E2FF"/>
                </a:solidFill>
                <a:latin typeface="Consolas"/>
              </a:rPr>
              <a:t>(</a:t>
            </a:r>
            <a:r>
              <a:rPr sz="1050">
                <a:solidFill>
                  <a:srgbClr val="FFB3C1"/>
                </a:solidFill>
                <a:latin typeface="Consolas"/>
              </a:rPr>
              <a:t>"Survolez-moi"</a:t>
            </a:r>
            <a:r>
              <a:rPr sz="105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endParaRPr sz="10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label.addMouseListener(</a:t>
            </a:r>
            <a:r>
              <a:rPr sz="1050">
                <a:solidFill>
                  <a:srgbClr val="FAF33E"/>
                </a:solidFill>
                <a:latin typeface="Consolas"/>
              </a:rPr>
              <a:t>new</a:t>
            </a:r>
            <a:r>
              <a:rPr sz="1050">
                <a:solidFill>
                  <a:srgbClr val="E8E2FF"/>
                </a:solidFill>
                <a:latin typeface="Consolas"/>
              </a:rPr>
              <a:t> </a:t>
            </a:r>
            <a:r>
              <a:rPr sz="1050">
                <a:solidFill>
                  <a:srgbClr val="9D8DF1"/>
                </a:solidFill>
                <a:latin typeface="Consolas"/>
              </a:rPr>
              <a:t>MouseListener</a:t>
            </a:r>
            <a:r>
              <a:rPr sz="1050">
                <a:solidFill>
                  <a:srgbClr val="E8E2FF"/>
                </a:solidFill>
                <a:latin typeface="Consolas"/>
              </a:rPr>
              <a:t>() {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050">
                <a:solidFill>
                  <a:srgbClr val="FAF33E"/>
                </a:solidFill>
                <a:latin typeface="Consolas"/>
              </a:rPr>
              <a:t>public</a:t>
            </a:r>
            <a:r>
              <a:rPr sz="1050">
                <a:solidFill>
                  <a:srgbClr val="E8E2FF"/>
                </a:solidFill>
                <a:latin typeface="Consolas"/>
              </a:rPr>
              <a:t> </a:t>
            </a:r>
            <a:r>
              <a:rPr sz="1050">
                <a:solidFill>
                  <a:srgbClr val="FAF33E"/>
                </a:solidFill>
                <a:latin typeface="Consolas"/>
              </a:rPr>
              <a:t>void</a:t>
            </a:r>
            <a:r>
              <a:rPr sz="1050">
                <a:solidFill>
                  <a:srgbClr val="E8E2FF"/>
                </a:solidFill>
                <a:latin typeface="Consolas"/>
              </a:rPr>
              <a:t> mouseClicked(</a:t>
            </a:r>
            <a:r>
              <a:rPr sz="1050">
                <a:solidFill>
                  <a:srgbClr val="9D8DF1"/>
                </a:solidFill>
                <a:latin typeface="Consolas"/>
              </a:rPr>
              <a:t>MouseEvent</a:t>
            </a:r>
            <a:r>
              <a:rPr sz="1050">
                <a:solidFill>
                  <a:srgbClr val="E8E2FF"/>
                </a:solidFill>
                <a:latin typeface="Consolas"/>
              </a:rPr>
              <a:t> e) {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    </a:t>
            </a:r>
            <a:r>
              <a:rPr sz="1050">
                <a:solidFill>
                  <a:srgbClr val="FAF33E"/>
                </a:solidFill>
                <a:latin typeface="Consolas"/>
              </a:rPr>
              <a:t>if</a:t>
            </a:r>
            <a:r>
              <a:rPr sz="1050">
                <a:solidFill>
                  <a:srgbClr val="E8E2FF"/>
                </a:solidFill>
                <a:latin typeface="Consolas"/>
              </a:rPr>
              <a:t> (e.getClickCount() == 2) {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        ouvrirDetail();        </a:t>
            </a:r>
            <a:r>
              <a:rPr sz="1050">
                <a:solidFill>
                  <a:srgbClr val="9990B8"/>
                </a:solidFill>
                <a:latin typeface="Consolas"/>
              </a:rPr>
              <a:t>// double-clic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    </a:t>
            </a:r>
            <a:r>
              <a:rPr sz="1050">
                <a:solidFill>
                  <a:srgbClr val="FAF33E"/>
                </a:solidFill>
                <a:latin typeface="Consolas"/>
              </a:rPr>
              <a:t>if</a:t>
            </a:r>
            <a:r>
              <a:rPr sz="1050">
                <a:solidFill>
                  <a:srgbClr val="E8E2FF"/>
                </a:solidFill>
                <a:latin typeface="Consolas"/>
              </a:rPr>
              <a:t> (</a:t>
            </a:r>
            <a:r>
              <a:rPr sz="1050">
                <a:solidFill>
                  <a:srgbClr val="9D8DF1"/>
                </a:solidFill>
                <a:latin typeface="Consolas"/>
              </a:rPr>
              <a:t>SwingUtilities</a:t>
            </a:r>
            <a:r>
              <a:rPr sz="1050">
                <a:solidFill>
                  <a:srgbClr val="E8E2FF"/>
                </a:solidFill>
                <a:latin typeface="Consolas"/>
              </a:rPr>
              <a:t>.isRightMouseButton(e)) {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        menuContextuel.show(e.getComponent(), e.getX(), e.getY());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050">
                <a:solidFill>
                  <a:srgbClr val="FAF33E"/>
                </a:solidFill>
                <a:latin typeface="Consolas"/>
              </a:rPr>
              <a:t>public</a:t>
            </a:r>
            <a:r>
              <a:rPr sz="1050">
                <a:solidFill>
                  <a:srgbClr val="E8E2FF"/>
                </a:solidFill>
                <a:latin typeface="Consolas"/>
              </a:rPr>
              <a:t> </a:t>
            </a:r>
            <a:r>
              <a:rPr sz="1050">
                <a:solidFill>
                  <a:srgbClr val="FAF33E"/>
                </a:solidFill>
                <a:latin typeface="Consolas"/>
              </a:rPr>
              <a:t>void</a:t>
            </a:r>
            <a:r>
              <a:rPr sz="1050">
                <a:solidFill>
                  <a:srgbClr val="E8E2FF"/>
                </a:solidFill>
                <a:latin typeface="Consolas"/>
              </a:rPr>
              <a:t> mouseEntered(</a:t>
            </a:r>
            <a:r>
              <a:rPr sz="1050">
                <a:solidFill>
                  <a:srgbClr val="9D8DF1"/>
                </a:solidFill>
                <a:latin typeface="Consolas"/>
              </a:rPr>
              <a:t>MouseEvent</a:t>
            </a:r>
            <a:r>
              <a:rPr sz="1050">
                <a:solidFill>
                  <a:srgbClr val="E8E2FF"/>
                </a:solidFill>
                <a:latin typeface="Consolas"/>
              </a:rPr>
              <a:t> e) {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    label.setForeground(</a:t>
            </a:r>
            <a:r>
              <a:rPr sz="1050">
                <a:solidFill>
                  <a:srgbClr val="9D8DF1"/>
                </a:solidFill>
                <a:latin typeface="Consolas"/>
              </a:rPr>
              <a:t>Color</a:t>
            </a:r>
            <a:r>
              <a:rPr sz="1050">
                <a:solidFill>
                  <a:srgbClr val="E8E2FF"/>
                </a:solidFill>
                <a:latin typeface="Consolas"/>
              </a:rPr>
              <a:t>.BLUE);   </a:t>
            </a:r>
            <a:r>
              <a:rPr sz="1050">
                <a:solidFill>
                  <a:srgbClr val="9990B8"/>
                </a:solidFill>
                <a:latin typeface="Consolas"/>
              </a:rPr>
              <a:t>// hover effect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050">
                <a:solidFill>
                  <a:srgbClr val="FAF33E"/>
                </a:solidFill>
                <a:latin typeface="Consolas"/>
              </a:rPr>
              <a:t>public</a:t>
            </a:r>
            <a:r>
              <a:rPr sz="1050">
                <a:solidFill>
                  <a:srgbClr val="E8E2FF"/>
                </a:solidFill>
                <a:latin typeface="Consolas"/>
              </a:rPr>
              <a:t> </a:t>
            </a:r>
            <a:r>
              <a:rPr sz="1050">
                <a:solidFill>
                  <a:srgbClr val="FAF33E"/>
                </a:solidFill>
                <a:latin typeface="Consolas"/>
              </a:rPr>
              <a:t>void</a:t>
            </a:r>
            <a:r>
              <a:rPr sz="1050">
                <a:solidFill>
                  <a:srgbClr val="E8E2FF"/>
                </a:solidFill>
                <a:latin typeface="Consolas"/>
              </a:rPr>
              <a:t> mouseExited(</a:t>
            </a:r>
            <a:r>
              <a:rPr sz="1050">
                <a:solidFill>
                  <a:srgbClr val="9D8DF1"/>
                </a:solidFill>
                <a:latin typeface="Consolas"/>
              </a:rPr>
              <a:t>MouseEvent</a:t>
            </a:r>
            <a:r>
              <a:rPr sz="1050">
                <a:solidFill>
                  <a:srgbClr val="E8E2FF"/>
                </a:solidFill>
                <a:latin typeface="Consolas"/>
              </a:rPr>
              <a:t> e) {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    label.setForeground(</a:t>
            </a:r>
            <a:r>
              <a:rPr sz="1050">
                <a:solidFill>
                  <a:srgbClr val="9D8DF1"/>
                </a:solidFill>
                <a:latin typeface="Consolas"/>
              </a:rPr>
              <a:t>Color</a:t>
            </a:r>
            <a:r>
              <a:rPr sz="1050">
                <a:solidFill>
                  <a:srgbClr val="E8E2FF"/>
                </a:solidFill>
                <a:latin typeface="Consolas"/>
              </a:rPr>
              <a:t>.BLACK);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050">
                <a:solidFill>
                  <a:srgbClr val="FAF33E"/>
                </a:solidFill>
                <a:latin typeface="Consolas"/>
              </a:rPr>
              <a:t>public</a:t>
            </a:r>
            <a:r>
              <a:rPr sz="1050">
                <a:solidFill>
                  <a:srgbClr val="E8E2FF"/>
                </a:solidFill>
                <a:latin typeface="Consolas"/>
              </a:rPr>
              <a:t> </a:t>
            </a:r>
            <a:r>
              <a:rPr sz="1050">
                <a:solidFill>
                  <a:srgbClr val="FAF33E"/>
                </a:solidFill>
                <a:latin typeface="Consolas"/>
              </a:rPr>
              <a:t>void</a:t>
            </a:r>
            <a:r>
              <a:rPr sz="1050">
                <a:solidFill>
                  <a:srgbClr val="E8E2FF"/>
                </a:solidFill>
                <a:latin typeface="Consolas"/>
              </a:rPr>
              <a:t> mousePressed(</a:t>
            </a:r>
            <a:r>
              <a:rPr sz="1050">
                <a:solidFill>
                  <a:srgbClr val="9D8DF1"/>
                </a:solidFill>
                <a:latin typeface="Consolas"/>
              </a:rPr>
              <a:t>MouseEvent</a:t>
            </a:r>
            <a:r>
              <a:rPr sz="1050">
                <a:solidFill>
                  <a:srgbClr val="E8E2FF"/>
                </a:solidFill>
                <a:latin typeface="Consolas"/>
              </a:rPr>
              <a:t> e)  { }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050">
                <a:solidFill>
                  <a:srgbClr val="FAF33E"/>
                </a:solidFill>
                <a:latin typeface="Consolas"/>
              </a:rPr>
              <a:t>public</a:t>
            </a:r>
            <a:r>
              <a:rPr sz="1050">
                <a:solidFill>
                  <a:srgbClr val="E8E2FF"/>
                </a:solidFill>
                <a:latin typeface="Consolas"/>
              </a:rPr>
              <a:t> </a:t>
            </a:r>
            <a:r>
              <a:rPr sz="1050">
                <a:solidFill>
                  <a:srgbClr val="FAF33E"/>
                </a:solidFill>
                <a:latin typeface="Consolas"/>
              </a:rPr>
              <a:t>void</a:t>
            </a:r>
            <a:r>
              <a:rPr sz="1050">
                <a:solidFill>
                  <a:srgbClr val="E8E2FF"/>
                </a:solidFill>
                <a:latin typeface="Consolas"/>
              </a:rPr>
              <a:t> mouseReleased(</a:t>
            </a:r>
            <a:r>
              <a:rPr sz="1050">
                <a:solidFill>
                  <a:srgbClr val="9D8DF1"/>
                </a:solidFill>
                <a:latin typeface="Consolas"/>
              </a:rPr>
              <a:t>MouseEvent</a:t>
            </a:r>
            <a:r>
              <a:rPr sz="1050">
                <a:solidFill>
                  <a:srgbClr val="E8E2FF"/>
                </a:solidFill>
                <a:latin typeface="Consolas"/>
              </a:rPr>
              <a:t> e) { }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691640"/>
            <a:ext cx="3383280" cy="457200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0" y="1691640"/>
            <a:ext cx="73152" cy="4572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18288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21C35"/>
                </a:solidFill>
                <a:latin typeface="Calibri"/>
              </a:rPr>
              <a:t>Méthodes de MouseEvent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194560"/>
            <a:ext cx="310896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getX(), getY()  → position</a:t>
            </a:r>
          </a:p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getButton()  → 1, 2, 3</a:t>
            </a:r>
          </a:p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getClickCount()</a:t>
            </a:r>
          </a:p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isPopupTrigger()</a:t>
            </a:r>
          </a:p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getComponent()</a:t>
            </a:r>
          </a:p>
          <a:p>
            <a:pPr>
              <a:lnSpc>
                <a:spcPct val="135000"/>
              </a:lnSpc>
            </a:pPr>
            <a:endParaRPr sz="1050" b="0" i="0">
              <a:solidFill>
                <a:srgbClr val="221C35"/>
              </a:solidFill>
              <a:latin typeface="Calibri"/>
            </a:endParaRPr>
          </a:p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Voisin :</a:t>
            </a:r>
          </a:p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MouseMotionListener</a:t>
            </a:r>
          </a:p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→ mouseDragged</a:t>
            </a:r>
          </a:p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→ mouseMoved</a:t>
            </a:r>
          </a:p>
          <a:p>
            <a:pPr>
              <a:lnSpc>
                <a:spcPct val="135000"/>
              </a:lnSpc>
            </a:pPr>
            <a:endParaRPr sz="1050" b="0" i="0">
              <a:solidFill>
                <a:srgbClr val="221C35"/>
              </a:solidFill>
              <a:latin typeface="Calibri"/>
            </a:endParaRPr>
          </a:p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Voisin :</a:t>
            </a:r>
          </a:p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MouseWheelListener</a:t>
            </a:r>
          </a:p>
          <a:p>
            <a:pPr>
              <a:lnSpc>
                <a:spcPct val="13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→ mouseWheelMoved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08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1. MODÈLE ÉVÉNEMENTIEL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WindowListener &amp; FocusListener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Réagir à l'ouverture/fermeture d'une fenêtre, à la perte de focus d'un champ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5486400" cy="246888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78308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AF33E"/>
                </a:solidFill>
                <a:latin typeface="Consolas"/>
              </a:rPr>
              <a:t>//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10312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950">
                <a:solidFill>
                  <a:srgbClr val="9990B8"/>
                </a:solidFill>
                <a:latin typeface="Consolas"/>
              </a:rPr>
              <a:t>// WindowListener — confirmer avant fermeture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frame.addWindowListener(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WindowAdapter</a:t>
            </a:r>
            <a:r>
              <a:rPr sz="950">
                <a:solidFill>
                  <a:srgbClr val="E8E2FF"/>
                </a:solidFill>
                <a:latin typeface="Consolas"/>
              </a:rPr>
              <a:t>()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public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void</a:t>
            </a:r>
            <a:r>
              <a:rPr sz="950">
                <a:solidFill>
                  <a:srgbClr val="E8E2FF"/>
                </a:solidFill>
                <a:latin typeface="Consolas"/>
              </a:rPr>
              <a:t> windowClosing(</a:t>
            </a:r>
            <a:r>
              <a:rPr sz="950">
                <a:solidFill>
                  <a:srgbClr val="9D8DF1"/>
                </a:solidFill>
                <a:latin typeface="Consolas"/>
              </a:rPr>
              <a:t>WindowEvent</a:t>
            </a:r>
            <a:r>
              <a:rPr sz="950">
                <a:solidFill>
                  <a:srgbClr val="E8E2FF"/>
                </a:solidFill>
                <a:latin typeface="Consolas"/>
              </a:rPr>
              <a:t> e)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9D8DF1"/>
                </a:solidFill>
                <a:latin typeface="Consolas"/>
              </a:rPr>
              <a:t>int</a:t>
            </a:r>
            <a:r>
              <a:rPr sz="950">
                <a:solidFill>
                  <a:srgbClr val="E8E2FF"/>
                </a:solidFill>
                <a:latin typeface="Consolas"/>
              </a:rPr>
              <a:t> rep = </a:t>
            </a:r>
            <a:r>
              <a:rPr sz="950">
                <a:solidFill>
                  <a:srgbClr val="9D8DF1"/>
                </a:solidFill>
                <a:latin typeface="Consolas"/>
              </a:rPr>
              <a:t>JOptionPane</a:t>
            </a:r>
            <a:r>
              <a:rPr sz="950">
                <a:solidFill>
                  <a:srgbClr val="E8E2FF"/>
                </a:solidFill>
                <a:latin typeface="Consolas"/>
              </a:rPr>
              <a:t>.showConfirmDialog(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frame, </a:t>
            </a:r>
            <a:r>
              <a:rPr sz="950">
                <a:solidFill>
                  <a:srgbClr val="FFB3C1"/>
                </a:solidFill>
                <a:latin typeface="Consolas"/>
              </a:rPr>
              <a:t>"Quitter l'application ?"</a:t>
            </a:r>
            <a:r>
              <a:rPr sz="950">
                <a:solidFill>
                  <a:srgbClr val="E8E2FF"/>
                </a:solidFill>
                <a:latin typeface="Consolas"/>
              </a:rPr>
              <a:t>, </a:t>
            </a:r>
            <a:r>
              <a:rPr sz="950">
                <a:solidFill>
                  <a:srgbClr val="FFB3C1"/>
                </a:solidFill>
                <a:latin typeface="Consolas"/>
              </a:rPr>
              <a:t>"Confirmation"</a:t>
            </a:r>
            <a:r>
              <a:rPr sz="950">
                <a:solidFill>
                  <a:srgbClr val="E8E2FF"/>
                </a:solidFill>
                <a:latin typeface="Consolas"/>
              </a:rPr>
              <a:t>,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</a:t>
            </a:r>
            <a:r>
              <a:rPr sz="950">
                <a:solidFill>
                  <a:srgbClr val="9D8DF1"/>
                </a:solidFill>
                <a:latin typeface="Consolas"/>
              </a:rPr>
              <a:t>JOptionPane</a:t>
            </a:r>
            <a:r>
              <a:rPr sz="950">
                <a:solidFill>
                  <a:srgbClr val="E8E2FF"/>
                </a:solidFill>
                <a:latin typeface="Consolas"/>
              </a:rPr>
              <a:t>.YES_NO_OPTION);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if</a:t>
            </a:r>
            <a:r>
              <a:rPr sz="950">
                <a:solidFill>
                  <a:srgbClr val="E8E2FF"/>
                </a:solidFill>
                <a:latin typeface="Consolas"/>
              </a:rPr>
              <a:t> (rep == </a:t>
            </a:r>
            <a:r>
              <a:rPr sz="950">
                <a:solidFill>
                  <a:srgbClr val="9D8DF1"/>
                </a:solidFill>
                <a:latin typeface="Consolas"/>
              </a:rPr>
              <a:t>JOptionPane</a:t>
            </a:r>
            <a:r>
              <a:rPr sz="950">
                <a:solidFill>
                  <a:srgbClr val="E8E2FF"/>
                </a:solidFill>
                <a:latin typeface="Consolas"/>
              </a:rPr>
              <a:t>.YES_OPTION)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frame.dispose();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91640"/>
            <a:ext cx="5212080" cy="246888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178308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AF33E"/>
                </a:solidFill>
                <a:latin typeface="Consolas"/>
              </a:rPr>
              <a:t>// 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2103120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950">
                <a:solidFill>
                  <a:srgbClr val="9990B8"/>
                </a:solidFill>
                <a:latin typeface="Consolas"/>
              </a:rPr>
              <a:t>// FocusListener — valider à la sortie du champ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email.addFocusListener(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FocusAdapter</a:t>
            </a:r>
            <a:r>
              <a:rPr sz="950">
                <a:solidFill>
                  <a:srgbClr val="E8E2FF"/>
                </a:solidFill>
                <a:latin typeface="Consolas"/>
              </a:rPr>
              <a:t>()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public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void</a:t>
            </a:r>
            <a:r>
              <a:rPr sz="950">
                <a:solidFill>
                  <a:srgbClr val="E8E2FF"/>
                </a:solidFill>
                <a:latin typeface="Consolas"/>
              </a:rPr>
              <a:t> focusLost(FocusEvent e)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9D8DF1"/>
                </a:solidFill>
                <a:latin typeface="Consolas"/>
              </a:rPr>
              <a:t>String</a:t>
            </a:r>
            <a:r>
              <a:rPr sz="950">
                <a:solidFill>
                  <a:srgbClr val="E8E2FF"/>
                </a:solidFill>
                <a:latin typeface="Consolas"/>
              </a:rPr>
              <a:t> v = email.getText();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if</a:t>
            </a:r>
            <a:r>
              <a:rPr sz="950">
                <a:solidFill>
                  <a:srgbClr val="E8E2FF"/>
                </a:solidFill>
                <a:latin typeface="Consolas"/>
              </a:rPr>
              <a:t> (!v.matches(</a:t>
            </a:r>
            <a:r>
              <a:rPr sz="950">
                <a:solidFill>
                  <a:srgbClr val="FFB3C1"/>
                </a:solidFill>
                <a:latin typeface="Consolas"/>
              </a:rPr>
              <a:t>".+@.+\\..+"</a:t>
            </a:r>
            <a:r>
              <a:rPr sz="950">
                <a:solidFill>
                  <a:srgbClr val="E8E2FF"/>
                </a:solidFill>
                <a:latin typeface="Consolas"/>
              </a:rPr>
              <a:t>))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email.setBackground(</a:t>
            </a:r>
            <a:r>
              <a:rPr sz="950">
                <a:solidFill>
                  <a:srgbClr val="9D8DF1"/>
                </a:solidFill>
                <a:latin typeface="Consolas"/>
              </a:rPr>
              <a:t>Color</a:t>
            </a:r>
            <a:r>
              <a:rPr sz="950">
                <a:solidFill>
                  <a:srgbClr val="E8E2FF"/>
                </a:solidFill>
                <a:latin typeface="Consolas"/>
              </a:rPr>
              <a:t>.PINK);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erreur.setText(</a:t>
            </a:r>
            <a:r>
              <a:rPr sz="950">
                <a:solidFill>
                  <a:srgbClr val="FFB3C1"/>
                </a:solidFill>
                <a:latin typeface="Consolas"/>
              </a:rPr>
              <a:t>"Email invalide"</a:t>
            </a:r>
            <a:r>
              <a:rPr sz="95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 </a:t>
            </a:r>
            <a:r>
              <a:rPr sz="950">
                <a:solidFill>
                  <a:srgbClr val="FAF33E"/>
                </a:solidFill>
                <a:latin typeface="Consolas"/>
              </a:rPr>
              <a:t>else</a:t>
            </a:r>
            <a:r>
              <a:rPr sz="950">
                <a:solidFill>
                  <a:srgbClr val="E8E2FF"/>
                </a:solidFill>
                <a:latin typeface="Consolas"/>
              </a:rPr>
              <a:t>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email.setBackground(</a:t>
            </a:r>
            <a:r>
              <a:rPr sz="950">
                <a:solidFill>
                  <a:srgbClr val="9D8DF1"/>
                </a:solidFill>
                <a:latin typeface="Consolas"/>
              </a:rPr>
              <a:t>Color</a:t>
            </a:r>
            <a:r>
              <a:rPr sz="950">
                <a:solidFill>
                  <a:srgbClr val="E8E2FF"/>
                </a:solidFill>
                <a:latin typeface="Consolas"/>
              </a:rPr>
              <a:t>.WHITE);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4343400"/>
            <a:ext cx="73152" cy="196596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50799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21C35"/>
                </a:solidFill>
                <a:latin typeface="Calibri"/>
              </a:rPr>
              <a:t>WindowListener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92040"/>
            <a:ext cx="507492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windowOpened, windowClosing, windowClosed,
windowIconified, windowDeiconified,
windowActivated, windowDeactivated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343400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4343400"/>
            <a:ext cx="73152" cy="196596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450799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21C35"/>
                </a:solidFill>
                <a:latin typeface="Calibri"/>
              </a:rPr>
              <a:t>FocusListener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892040"/>
            <a:ext cx="507492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focusGained — le composant prend le focus
focusLost     — le composant perd le focus
Idéal pour valider un champ à la sortie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09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1. MODÈLE ÉVÉNEMENTIEL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ChangeListener — valeur qui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Pour JSlider, JSpinner, JTabbedPane, JProgressBar : un seul événement « state changed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7772400" cy="457200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7406640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9990B8"/>
                </a:solidFill>
                <a:latin typeface="Consolas"/>
              </a:rPr>
              <a:t>// JSlider — afficher la valeur en direct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9D8DF1"/>
                </a:solidFill>
                <a:latin typeface="Consolas"/>
              </a:rPr>
              <a:t>JSlider</a:t>
            </a:r>
            <a:r>
              <a:rPr sz="1100">
                <a:solidFill>
                  <a:srgbClr val="E8E2FF"/>
                </a:solidFill>
                <a:latin typeface="Consolas"/>
              </a:rPr>
              <a:t> volume = 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JSlider</a:t>
            </a:r>
            <a:r>
              <a:rPr sz="1100">
                <a:solidFill>
                  <a:srgbClr val="E8E2FF"/>
                </a:solidFill>
                <a:latin typeface="Consolas"/>
              </a:rPr>
              <a:t>(0, 100, 50);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9D8DF1"/>
                </a:solidFill>
                <a:latin typeface="Consolas"/>
              </a:rPr>
              <a:t>JLabel</a:t>
            </a:r>
            <a:r>
              <a:rPr sz="1100">
                <a:solidFill>
                  <a:srgbClr val="E8E2FF"/>
                </a:solidFill>
                <a:latin typeface="Consolas"/>
              </a:rPr>
              <a:t> echo = 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JLabel</a:t>
            </a:r>
            <a:r>
              <a:rPr sz="1100">
                <a:solidFill>
                  <a:srgbClr val="E8E2FF"/>
                </a:solidFill>
                <a:latin typeface="Consolas"/>
              </a:rPr>
              <a:t>(</a:t>
            </a:r>
            <a:r>
              <a:rPr sz="1100">
                <a:solidFill>
                  <a:srgbClr val="FFB3C1"/>
                </a:solidFill>
                <a:latin typeface="Consolas"/>
              </a:rPr>
              <a:t>"Volume : 50"</a:t>
            </a:r>
            <a:r>
              <a:rPr sz="110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volume.addChangeListener(e -&gt;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9D8DF1"/>
                </a:solidFill>
                <a:latin typeface="Consolas"/>
              </a:rPr>
              <a:t>int</a:t>
            </a:r>
            <a:r>
              <a:rPr sz="1100">
                <a:solidFill>
                  <a:srgbClr val="E8E2FF"/>
                </a:solidFill>
                <a:latin typeface="Consolas"/>
              </a:rPr>
              <a:t> v = volume.getValue();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echo.setText(</a:t>
            </a:r>
            <a:r>
              <a:rPr sz="1100">
                <a:solidFill>
                  <a:srgbClr val="FFB3C1"/>
                </a:solidFill>
                <a:latin typeface="Consolas"/>
              </a:rPr>
              <a:t>"Volume : "</a:t>
            </a:r>
            <a:r>
              <a:rPr sz="1100">
                <a:solidFill>
                  <a:srgbClr val="E8E2FF"/>
                </a:solidFill>
                <a:latin typeface="Consolas"/>
              </a:rPr>
              <a:t> + v);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FAF33E"/>
                </a:solidFill>
                <a:latin typeface="Consolas"/>
              </a:rPr>
              <a:t>if</a:t>
            </a:r>
            <a:r>
              <a:rPr sz="1100">
                <a:solidFill>
                  <a:srgbClr val="E8E2FF"/>
                </a:solidFill>
                <a:latin typeface="Consolas"/>
              </a:rPr>
              <a:t> (!volume.getValueIsAdjusting())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>
                <a:solidFill>
                  <a:srgbClr val="9990B8"/>
                </a:solidFill>
                <a:latin typeface="Consolas"/>
              </a:rPr>
              <a:t>// Appelé seulement quand l'utilisateur lâche le slider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sauvegarderPreference(v);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});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9990B8"/>
                </a:solidFill>
                <a:latin typeface="Consolas"/>
              </a:rPr>
              <a:t>// JSpinner — même principe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9D8DF1"/>
                </a:solidFill>
                <a:latin typeface="Consolas"/>
              </a:rPr>
              <a:t>JSpinner</a:t>
            </a:r>
            <a:r>
              <a:rPr sz="1100">
                <a:solidFill>
                  <a:srgbClr val="E8E2FF"/>
                </a:solidFill>
                <a:latin typeface="Consolas"/>
              </a:rPr>
              <a:t> age = 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JSpinner</a:t>
            </a:r>
            <a:r>
              <a:rPr sz="1100">
                <a:solidFill>
                  <a:srgbClr val="E8E2FF"/>
                </a:solidFill>
                <a:latin typeface="Consolas"/>
              </a:rPr>
              <a:t>(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SpinnerNumberModel(18, 0, 120, 1));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age.addChangeListener(e -&gt; System.out.println(age.getValue()));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9990B8"/>
                </a:solidFill>
                <a:latin typeface="Consolas"/>
              </a:rPr>
              <a:t>// JTabbedPane — détecter changement d'onglet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onglets.addChangeListener(e -&gt;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9D8DF1"/>
                </a:solidFill>
                <a:latin typeface="Consolas"/>
              </a:rPr>
              <a:t>int</a:t>
            </a:r>
            <a:r>
              <a:rPr sz="1100">
                <a:solidFill>
                  <a:srgbClr val="E8E2FF"/>
                </a:solidFill>
                <a:latin typeface="Consolas"/>
              </a:rPr>
              <a:t> i = onglets.getSelectedIndex();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chargerContenuOnglet(i);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691640"/>
            <a:ext cx="2926080" cy="457200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686800" y="1691640"/>
            <a:ext cx="73152" cy="457200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0" y="18288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AF33E"/>
                </a:solidFill>
                <a:latin typeface="Calibri"/>
              </a:rPr>
              <a:t>Composants concernés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240280"/>
            <a:ext cx="274320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JSlider</a:t>
            </a:r>
          </a:p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JSpinner</a:t>
            </a:r>
          </a:p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JTabbedPane</a:t>
            </a:r>
          </a:p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JProgressBar</a:t>
            </a:r>
          </a:p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ButtonModel</a:t>
            </a:r>
          </a:p>
          <a:p>
            <a:pPr>
              <a:lnSpc>
                <a:spcPct val="130000"/>
              </a:lnSpc>
            </a:pPr>
            <a:endParaRPr sz="1100" b="0" i="0">
              <a:solidFill>
                <a:srgbClr val="FAFAFF"/>
              </a:solidFill>
              <a:latin typeface="Calibri"/>
            </a:endParaRPr>
          </a:p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Astuce :</a:t>
            </a:r>
          </a:p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getValueIsAdjusting()</a:t>
            </a:r>
          </a:p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= true tant que</a:t>
            </a:r>
          </a:p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l'utilisateur déplace</a:t>
            </a:r>
          </a:p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le curseur. Très utile</a:t>
            </a:r>
          </a:p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pour ne sauvegarder</a:t>
            </a:r>
          </a:p>
          <a:p>
            <a:pPr>
              <a:lnSpc>
                <a:spcPct val="130000"/>
              </a:lnSpc>
            </a:pPr>
            <a:r>
              <a:rPr sz="1100" b="0" i="0">
                <a:solidFill>
                  <a:srgbClr val="FAFAFF"/>
                </a:solidFill>
                <a:latin typeface="Calibri"/>
              </a:rPr>
              <a:t>qu'à la fin.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10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1. MODÈLE ÉVÉNEMENTIEL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ListSelectionListener — JList &amp; JTable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Réagir à un changement de sélection dans une liste ou un tableau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10972800" cy="457200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10607040" cy="434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dirty="0">
                <a:solidFill>
                  <a:srgbClr val="9990B8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9990B8"/>
                </a:solidFill>
                <a:latin typeface="Consolas"/>
              </a:rPr>
              <a:t>JTable</a:t>
            </a:r>
            <a:r>
              <a:rPr sz="1100" dirty="0">
                <a:solidFill>
                  <a:srgbClr val="9990B8"/>
                </a:solidFill>
                <a:latin typeface="Consolas"/>
              </a:rPr>
              <a:t> — </a:t>
            </a:r>
            <a:r>
              <a:rPr sz="1100" dirty="0" err="1">
                <a:solidFill>
                  <a:srgbClr val="9990B8"/>
                </a:solidFill>
                <a:latin typeface="Consolas"/>
              </a:rPr>
              <a:t>afficher</a:t>
            </a:r>
            <a:r>
              <a:rPr sz="1100" dirty="0">
                <a:solidFill>
                  <a:srgbClr val="9990B8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9990B8"/>
                </a:solidFill>
                <a:latin typeface="Consolas"/>
              </a:rPr>
              <a:t>l'élément</a:t>
            </a:r>
            <a:r>
              <a:rPr sz="1100" dirty="0">
                <a:solidFill>
                  <a:srgbClr val="9990B8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9990B8"/>
                </a:solidFill>
                <a:latin typeface="Consolas"/>
              </a:rPr>
              <a:t>sélectionné</a:t>
            </a:r>
            <a:r>
              <a:rPr sz="1100" dirty="0">
                <a:solidFill>
                  <a:srgbClr val="9990B8"/>
                </a:solidFill>
                <a:latin typeface="Consolas"/>
              </a:rPr>
              <a:t> dans un </a:t>
            </a:r>
            <a:r>
              <a:rPr sz="1100" dirty="0" err="1">
                <a:solidFill>
                  <a:srgbClr val="9990B8"/>
                </a:solidFill>
                <a:latin typeface="Consolas"/>
              </a:rPr>
              <a:t>formulaire</a:t>
            </a:r>
            <a:endParaRPr sz="1100" dirty="0">
              <a:solidFill>
                <a:srgbClr val="9990B8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 dirty="0" err="1">
                <a:solidFill>
                  <a:srgbClr val="E8E2FF"/>
                </a:solidFill>
                <a:latin typeface="Consolas"/>
              </a:rPr>
              <a:t>table.getSelectionModel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().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addListSelectionListener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(e -&gt; {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if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(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e.getValueIsAdjusting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())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return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;     </a:t>
            </a:r>
            <a:r>
              <a:rPr sz="1100" dirty="0">
                <a:solidFill>
                  <a:srgbClr val="9990B8"/>
                </a:solidFill>
                <a:latin typeface="Consolas"/>
              </a:rPr>
              <a:t>// ignorer les états </a:t>
            </a:r>
            <a:r>
              <a:rPr sz="1100" dirty="0" err="1">
                <a:solidFill>
                  <a:srgbClr val="9990B8"/>
                </a:solidFill>
                <a:latin typeface="Consolas"/>
              </a:rPr>
              <a:t>transitoires</a:t>
            </a:r>
            <a:endParaRPr sz="1100" dirty="0">
              <a:solidFill>
                <a:srgbClr val="9990B8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endParaRPr sz="1100" dirty="0">
              <a:solidFill>
                <a:srgbClr val="9990B8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</a:t>
            </a:r>
            <a:r>
              <a:rPr sz="1100" dirty="0">
                <a:solidFill>
                  <a:srgbClr val="9D8DF1"/>
                </a:solidFill>
                <a:latin typeface="Consolas"/>
              </a:rPr>
              <a:t>int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row =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table.getSelectedRow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();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if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(row &lt; 0)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return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;                     </a:t>
            </a:r>
            <a:r>
              <a:rPr sz="1100" dirty="0">
                <a:solidFill>
                  <a:srgbClr val="9990B8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9990B8"/>
                </a:solidFill>
                <a:latin typeface="Consolas"/>
              </a:rPr>
              <a:t>aucune</a:t>
            </a:r>
            <a:r>
              <a:rPr sz="1100" dirty="0">
                <a:solidFill>
                  <a:srgbClr val="9990B8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9990B8"/>
                </a:solidFill>
                <a:latin typeface="Consolas"/>
              </a:rPr>
              <a:t>ligne</a:t>
            </a:r>
            <a:r>
              <a:rPr sz="1100" dirty="0">
                <a:solidFill>
                  <a:srgbClr val="9990B8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9990B8"/>
                </a:solidFill>
                <a:latin typeface="Consolas"/>
              </a:rPr>
              <a:t>sélectionnée</a:t>
            </a:r>
            <a:endParaRPr sz="1100" dirty="0">
              <a:solidFill>
                <a:srgbClr val="9990B8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endParaRPr sz="1100" dirty="0">
              <a:solidFill>
                <a:srgbClr val="9990B8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</a:t>
            </a:r>
            <a:r>
              <a:rPr sz="1100" dirty="0">
                <a:solidFill>
                  <a:srgbClr val="9D8DF1"/>
                </a:solidFill>
                <a:latin typeface="Consolas"/>
              </a:rPr>
              <a:t>String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nom    = (</a:t>
            </a:r>
            <a:r>
              <a:rPr sz="1100" dirty="0">
                <a:solidFill>
                  <a:srgbClr val="9D8DF1"/>
                </a:solidFill>
                <a:latin typeface="Consolas"/>
              </a:rPr>
              <a:t>String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)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table.getValueAt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(row, 0);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</a:t>
            </a:r>
            <a:r>
              <a:rPr sz="1100" dirty="0">
                <a:solidFill>
                  <a:srgbClr val="9D8DF1"/>
                </a:solidFill>
                <a:latin typeface="Consolas"/>
              </a:rPr>
              <a:t>String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prenom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= (</a:t>
            </a:r>
            <a:r>
              <a:rPr sz="1100" dirty="0">
                <a:solidFill>
                  <a:srgbClr val="9D8DF1"/>
                </a:solidFill>
                <a:latin typeface="Consolas"/>
              </a:rPr>
              <a:t>String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)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table.getValueAt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(row, 1);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</a:t>
            </a:r>
            <a:r>
              <a:rPr sz="1100" dirty="0">
                <a:solidFill>
                  <a:srgbClr val="9D8DF1"/>
                </a:solidFill>
                <a:latin typeface="Consolas"/>
              </a:rPr>
              <a:t>Integer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note  = (</a:t>
            </a:r>
            <a:r>
              <a:rPr sz="1100" dirty="0">
                <a:solidFill>
                  <a:srgbClr val="9D8DF1"/>
                </a:solidFill>
                <a:latin typeface="Consolas"/>
              </a:rPr>
              <a:t>Integer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)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table.getValueAt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(row, 2);</a:t>
            </a:r>
          </a:p>
          <a:p>
            <a:pPr>
              <a:lnSpc>
                <a:spcPct val="108000"/>
              </a:lnSpc>
            </a:pPr>
            <a:endParaRPr sz="1100" dirty="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formNom.setText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(nom);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formPrenom.setText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prenom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formNote.setValue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(note);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});</a:t>
            </a:r>
          </a:p>
          <a:p>
            <a:pPr>
              <a:lnSpc>
                <a:spcPct val="108000"/>
              </a:lnSpc>
            </a:pPr>
            <a:endParaRPr sz="1100" dirty="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9990B8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9990B8"/>
                </a:solidFill>
                <a:latin typeface="Consolas"/>
              </a:rPr>
              <a:t>JList</a:t>
            </a:r>
            <a:r>
              <a:rPr sz="1100" dirty="0">
                <a:solidFill>
                  <a:srgbClr val="9990B8"/>
                </a:solidFill>
                <a:latin typeface="Consolas"/>
              </a:rPr>
              <a:t> — </a:t>
            </a:r>
            <a:r>
              <a:rPr sz="1100" dirty="0" err="1">
                <a:solidFill>
                  <a:srgbClr val="9990B8"/>
                </a:solidFill>
                <a:latin typeface="Consolas"/>
              </a:rPr>
              <a:t>pareil</a:t>
            </a:r>
            <a:endParaRPr sz="1100" dirty="0">
              <a:solidFill>
                <a:srgbClr val="9990B8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 dirty="0" err="1">
                <a:solidFill>
                  <a:srgbClr val="E8E2FF"/>
                </a:solidFill>
                <a:latin typeface="Consolas"/>
              </a:rPr>
              <a:t>liste.addListSelectionListener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(e -&gt; {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if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(!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e.getValueIsAdjusting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()) {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afficher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liste.getSelectedValue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());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11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1. MODÈLE ÉVÉNEMENTIEL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DocumentListener — texte en temps réel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Réagir à CHAQUE caractère tapé : recherche live, validation, compteur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10607040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dirty="0" err="1">
                <a:solidFill>
                  <a:srgbClr val="9D8DF1"/>
                </a:solidFill>
                <a:latin typeface="Consolas"/>
              </a:rPr>
              <a:t>JTextField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recherche =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new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9D8DF1"/>
                </a:solidFill>
                <a:latin typeface="Consolas"/>
              </a:rPr>
              <a:t>JTextField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(30);</a:t>
            </a:r>
          </a:p>
          <a:p>
            <a:pPr>
              <a:lnSpc>
                <a:spcPct val="108000"/>
              </a:lnSpc>
            </a:pPr>
            <a:endParaRPr sz="1100" dirty="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 dirty="0" err="1">
                <a:solidFill>
                  <a:srgbClr val="E8E2FF"/>
                </a:solidFill>
                <a:latin typeface="Consolas"/>
              </a:rPr>
              <a:t>recherche.getDocument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().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addDocumentListener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new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9D8DF1"/>
                </a:solidFill>
                <a:latin typeface="Consolas"/>
              </a:rPr>
              <a:t>DocumentListener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 {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public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void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insertUpdate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</a:t>
            </a:r>
            <a:r>
              <a:rPr sz="1100" dirty="0" err="1">
                <a:solidFill>
                  <a:srgbClr val="9D8DF1"/>
                </a:solidFill>
                <a:latin typeface="Consolas"/>
              </a:rPr>
              <a:t>DocumentEvent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e)  {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filtrer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(); }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public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void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removeUpdate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</a:t>
            </a:r>
            <a:r>
              <a:rPr sz="1100" dirty="0" err="1">
                <a:solidFill>
                  <a:srgbClr val="9D8DF1"/>
                </a:solidFill>
                <a:latin typeface="Consolas"/>
              </a:rPr>
              <a:t>DocumentEvent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e)  {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filtrer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(); }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public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void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changedUpdate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</a:t>
            </a:r>
            <a:r>
              <a:rPr sz="1100" dirty="0" err="1">
                <a:solidFill>
                  <a:srgbClr val="9D8DF1"/>
                </a:solidFill>
                <a:latin typeface="Consolas"/>
              </a:rPr>
              <a:t>DocumentEvent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e) { /*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texte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non-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stylé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: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ignoré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*/ }</a:t>
            </a:r>
          </a:p>
          <a:p>
            <a:pPr>
              <a:lnSpc>
                <a:spcPct val="108000"/>
              </a:lnSpc>
            </a:pPr>
            <a:endParaRPr sz="1100" dirty="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private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</a:t>
            </a:r>
            <a:r>
              <a:rPr sz="1100" dirty="0">
                <a:solidFill>
                  <a:srgbClr val="FAF33E"/>
                </a:solidFill>
                <a:latin typeface="Consolas"/>
              </a:rPr>
              <a:t>void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filtrer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 {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 dirty="0">
                <a:solidFill>
                  <a:srgbClr val="9D8DF1"/>
                </a:solidFill>
                <a:latin typeface="Consolas"/>
              </a:rPr>
              <a:t>String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motif =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recherche.getText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().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toLowerCase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();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sorter.setRowFilter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RowFilter.regexFilter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</a:t>
            </a:r>
            <a:r>
              <a:rPr sz="1100" dirty="0">
                <a:solidFill>
                  <a:srgbClr val="FFB3C1"/>
                </a:solidFill>
                <a:latin typeface="Consolas"/>
              </a:rPr>
              <a:t>"(?</a:t>
            </a:r>
            <a:r>
              <a:rPr sz="1100" dirty="0" err="1">
                <a:solidFill>
                  <a:srgbClr val="FFB3C1"/>
                </a:solidFill>
                <a:latin typeface="Consolas"/>
              </a:rPr>
              <a:t>i</a:t>
            </a:r>
            <a:r>
              <a:rPr sz="1100" dirty="0">
                <a:solidFill>
                  <a:srgbClr val="FFB3C1"/>
                </a:solidFill>
                <a:latin typeface="Consolas"/>
              </a:rPr>
              <a:t>)"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 + </a:t>
            </a:r>
            <a:r>
              <a:rPr sz="1100" dirty="0" err="1">
                <a:solidFill>
                  <a:srgbClr val="E8E2FF"/>
                </a:solidFill>
                <a:latin typeface="Consolas"/>
              </a:rPr>
              <a:t>Pattern.quote</a:t>
            </a:r>
            <a:r>
              <a:rPr sz="1100" dirty="0">
                <a:solidFill>
                  <a:srgbClr val="E8E2FF"/>
                </a:solidFill>
                <a:latin typeface="Consolas"/>
              </a:rPr>
              <a:t>(motif)));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100" dirty="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617720"/>
            <a:ext cx="10972800" cy="169164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73152" cy="169164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754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21C35"/>
                </a:solidFill>
                <a:latin typeface="Calibri"/>
              </a:rPr>
              <a:t>Pourquoi DocumentListener et pas KeyListener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7492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• KeyListener ne capture pas les modifications par programmation (setText, copier-coller souris…)</a:t>
            </a:r>
          </a:p>
          <a:p>
            <a:pPr>
              <a:lnSpc>
                <a:spcPct val="140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• DocumentListener est déclenché QUEL QUE SOIT le moyen — frappe, collage, code, undo/redo</a:t>
            </a:r>
          </a:p>
          <a:p>
            <a:pPr>
              <a:lnSpc>
                <a:spcPct val="140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• Toujours le préférer pour : recherche live, compteur de caractères, validation en temps réel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12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2. LAMBDAS &amp; ADAPTERS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Les lambdas — code concis (Java 8+)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Une interface fonctionnelle = une seule méthode abstraite = une lambda possible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85D75"/>
                </a:solidFill>
                <a:latin typeface="Calibri"/>
              </a:rPr>
              <a:t>AVANT — classe anonyme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011680"/>
            <a:ext cx="5486400" cy="237744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2176272"/>
            <a:ext cx="51206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bouton.addActionListener(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ActionListener</a:t>
            </a:r>
            <a:r>
              <a:rPr sz="1100">
                <a:solidFill>
                  <a:srgbClr val="E8E2FF"/>
                </a:solidFill>
                <a:latin typeface="Consolas"/>
              </a:rPr>
              <a:t>()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@Override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>
                <a:solidFill>
                  <a:srgbClr val="FAF33E"/>
                </a:solidFill>
                <a:latin typeface="Consolas"/>
              </a:rPr>
              <a:t>public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void</a:t>
            </a:r>
            <a:r>
              <a:rPr sz="1100">
                <a:solidFill>
                  <a:srgbClr val="E8E2FF"/>
                </a:solidFill>
                <a:latin typeface="Consolas"/>
              </a:rPr>
              <a:t> actionPerformed(</a:t>
            </a:r>
            <a:r>
              <a:rPr sz="1100">
                <a:solidFill>
                  <a:srgbClr val="9D8DF1"/>
                </a:solidFill>
                <a:latin typeface="Consolas"/>
              </a:rPr>
              <a:t>ActionEvent</a:t>
            </a:r>
            <a:r>
              <a:rPr sz="1100">
                <a:solidFill>
                  <a:srgbClr val="E8E2FF"/>
                </a:solidFill>
                <a:latin typeface="Consolas"/>
              </a:rPr>
              <a:t> e)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    System.out.println(</a:t>
            </a:r>
            <a:r>
              <a:rPr sz="1100">
                <a:solidFill>
                  <a:srgbClr val="FFB3C1"/>
                </a:solidFill>
                <a:latin typeface="Consolas"/>
              </a:rPr>
              <a:t>"Cliqué"</a:t>
            </a:r>
            <a:r>
              <a:rPr sz="110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9D8DF1"/>
                </a:solidFill>
                <a:latin typeface="Calibri"/>
              </a:rPr>
              <a:t>APRÈS — lambda Java 8+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011680"/>
            <a:ext cx="5212080" cy="237744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01968" y="2176272"/>
            <a:ext cx="484632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bouton.addActionListener(e -&gt;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System.out.println(</a:t>
            </a:r>
            <a:r>
              <a:rPr sz="1100">
                <a:solidFill>
                  <a:srgbClr val="FFB3C1"/>
                </a:solidFill>
                <a:latin typeface="Consolas"/>
              </a:rPr>
              <a:t>"Cliqué"</a:t>
            </a:r>
            <a:r>
              <a:rPr sz="1100">
                <a:solidFill>
                  <a:srgbClr val="E8E2FF"/>
                </a:solidFill>
                <a:latin typeface="Consolas"/>
              </a:rPr>
              <a:t>)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9990B8"/>
                </a:solidFill>
                <a:latin typeface="Consolas"/>
              </a:rPr>
              <a:t>// Avec plusieurs lignes :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bouton.addActionListener(e -&gt;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9D8DF1"/>
                </a:solidFill>
                <a:latin typeface="Consolas"/>
              </a:rPr>
              <a:t>int</a:t>
            </a:r>
            <a:r>
              <a:rPr sz="1100">
                <a:solidFill>
                  <a:srgbClr val="E8E2FF"/>
                </a:solidFill>
                <a:latin typeface="Consolas"/>
              </a:rPr>
              <a:t> n = compteur.incrementer();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label.setText(</a:t>
            </a:r>
            <a:r>
              <a:rPr sz="1100">
                <a:solidFill>
                  <a:srgbClr val="FFB3C1"/>
                </a:solidFill>
                <a:latin typeface="Consolas"/>
              </a:rPr>
              <a:t>"Clics : "</a:t>
            </a:r>
            <a:r>
              <a:rPr sz="1100">
                <a:solidFill>
                  <a:srgbClr val="E8E2FF"/>
                </a:solidFill>
                <a:latin typeface="Consolas"/>
              </a:rPr>
              <a:t> + n);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72000"/>
            <a:ext cx="10972800" cy="169164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4572000"/>
            <a:ext cx="73152" cy="169164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709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21C35"/>
                </a:solidFill>
                <a:latin typeface="Calibri"/>
              </a:rPr>
              <a:t>Quand puis-je utiliser une lambda 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7492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✓ ActionListener, ItemListener, ChangeListener, ListSelectionListener, DocumentListener…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    → toutes les interfaces avec UNE SEULE méthode (interfaces fonctionnelles)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✗ MouseListener, KeyListener, WindowListener, FocusListener…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221C35"/>
                </a:solidFill>
                <a:latin typeface="Calibri"/>
              </a:rPr>
              <a:t>    → 5+ méthodes : impossible en lambda directe → utiliser un Adapter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13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2. LAMBDAS &amp; ADAPTERS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Les Adapters — n'implémenter qu'une méthode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Classes abstraites avec implémentations vides : on n'override que ce qu'on veut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10972800" cy="329184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10607040" cy="3063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9990B8"/>
                </a:solidFill>
                <a:latin typeface="Consolas"/>
              </a:rPr>
              <a:t>// SANS Adapter : 5 méthodes obligatoires (4 inutiles)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panel.addMouseListener(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MouseListener</a:t>
            </a:r>
            <a:r>
              <a:rPr sz="1100">
                <a:solidFill>
                  <a:srgbClr val="E8E2FF"/>
                </a:solidFill>
                <a:latin typeface="Consolas"/>
              </a:rPr>
              <a:t>()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100">
                <a:solidFill>
                  <a:srgbClr val="FAF33E"/>
                </a:solidFill>
                <a:latin typeface="Consolas"/>
              </a:rPr>
              <a:t>public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void</a:t>
            </a:r>
            <a:r>
              <a:rPr sz="1100">
                <a:solidFill>
                  <a:srgbClr val="E8E2FF"/>
                </a:solidFill>
                <a:latin typeface="Consolas"/>
              </a:rPr>
              <a:t> mouseClicked(</a:t>
            </a:r>
            <a:r>
              <a:rPr sz="1100">
                <a:solidFill>
                  <a:srgbClr val="9D8DF1"/>
                </a:solidFill>
                <a:latin typeface="Consolas"/>
              </a:rPr>
              <a:t>MouseEvent</a:t>
            </a:r>
            <a:r>
              <a:rPr sz="1100">
                <a:solidFill>
                  <a:srgbClr val="E8E2FF"/>
                </a:solidFill>
                <a:latin typeface="Consolas"/>
              </a:rPr>
              <a:t> e)  { ouvrir(); }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100">
                <a:solidFill>
                  <a:srgbClr val="FAF33E"/>
                </a:solidFill>
                <a:latin typeface="Consolas"/>
              </a:rPr>
              <a:t>public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void</a:t>
            </a:r>
            <a:r>
              <a:rPr sz="1100">
                <a:solidFill>
                  <a:srgbClr val="E8E2FF"/>
                </a:solidFill>
                <a:latin typeface="Consolas"/>
              </a:rPr>
              <a:t> mousePressed(</a:t>
            </a:r>
            <a:r>
              <a:rPr sz="1100">
                <a:solidFill>
                  <a:srgbClr val="9D8DF1"/>
                </a:solidFill>
                <a:latin typeface="Consolas"/>
              </a:rPr>
              <a:t>MouseEvent</a:t>
            </a:r>
            <a:r>
              <a:rPr sz="1100">
                <a:solidFill>
                  <a:srgbClr val="E8E2FF"/>
                </a:solidFill>
                <a:latin typeface="Consolas"/>
              </a:rPr>
              <a:t> e)  { }   </a:t>
            </a:r>
            <a:r>
              <a:rPr sz="1100">
                <a:solidFill>
                  <a:srgbClr val="9990B8"/>
                </a:solidFill>
                <a:latin typeface="Consolas"/>
              </a:rPr>
              <a:t>// vide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100">
                <a:solidFill>
                  <a:srgbClr val="FAF33E"/>
                </a:solidFill>
                <a:latin typeface="Consolas"/>
              </a:rPr>
              <a:t>public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void</a:t>
            </a:r>
            <a:r>
              <a:rPr sz="1100">
                <a:solidFill>
                  <a:srgbClr val="E8E2FF"/>
                </a:solidFill>
                <a:latin typeface="Consolas"/>
              </a:rPr>
              <a:t> mouseReleased(</a:t>
            </a:r>
            <a:r>
              <a:rPr sz="1100">
                <a:solidFill>
                  <a:srgbClr val="9D8DF1"/>
                </a:solidFill>
                <a:latin typeface="Consolas"/>
              </a:rPr>
              <a:t>MouseEvent</a:t>
            </a:r>
            <a:r>
              <a:rPr sz="1100">
                <a:solidFill>
                  <a:srgbClr val="E8E2FF"/>
                </a:solidFill>
                <a:latin typeface="Consolas"/>
              </a:rPr>
              <a:t> e) { }   </a:t>
            </a:r>
            <a:r>
              <a:rPr sz="1100">
                <a:solidFill>
                  <a:srgbClr val="9990B8"/>
                </a:solidFill>
                <a:latin typeface="Consolas"/>
              </a:rPr>
              <a:t>// vide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100">
                <a:solidFill>
                  <a:srgbClr val="FAF33E"/>
                </a:solidFill>
                <a:latin typeface="Consolas"/>
              </a:rPr>
              <a:t>public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void</a:t>
            </a:r>
            <a:r>
              <a:rPr sz="1100">
                <a:solidFill>
                  <a:srgbClr val="E8E2FF"/>
                </a:solidFill>
                <a:latin typeface="Consolas"/>
              </a:rPr>
              <a:t> mouseEntered(</a:t>
            </a:r>
            <a:r>
              <a:rPr sz="1100">
                <a:solidFill>
                  <a:srgbClr val="9D8DF1"/>
                </a:solidFill>
                <a:latin typeface="Consolas"/>
              </a:rPr>
              <a:t>MouseEvent</a:t>
            </a:r>
            <a:r>
              <a:rPr sz="1100">
                <a:solidFill>
                  <a:srgbClr val="E8E2FF"/>
                </a:solidFill>
                <a:latin typeface="Consolas"/>
              </a:rPr>
              <a:t> e)  { }   </a:t>
            </a:r>
            <a:r>
              <a:rPr sz="1100">
                <a:solidFill>
                  <a:srgbClr val="9990B8"/>
                </a:solidFill>
                <a:latin typeface="Consolas"/>
              </a:rPr>
              <a:t>// vide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100">
                <a:solidFill>
                  <a:srgbClr val="FAF33E"/>
                </a:solidFill>
                <a:latin typeface="Consolas"/>
              </a:rPr>
              <a:t>public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void</a:t>
            </a:r>
            <a:r>
              <a:rPr sz="1100">
                <a:solidFill>
                  <a:srgbClr val="E8E2FF"/>
                </a:solidFill>
                <a:latin typeface="Consolas"/>
              </a:rPr>
              <a:t> mouseExited(</a:t>
            </a:r>
            <a:r>
              <a:rPr sz="1100">
                <a:solidFill>
                  <a:srgbClr val="9D8DF1"/>
                </a:solidFill>
                <a:latin typeface="Consolas"/>
              </a:rPr>
              <a:t>MouseEvent</a:t>
            </a:r>
            <a:r>
              <a:rPr sz="1100">
                <a:solidFill>
                  <a:srgbClr val="E8E2FF"/>
                </a:solidFill>
                <a:latin typeface="Consolas"/>
              </a:rPr>
              <a:t> e)   { }   </a:t>
            </a:r>
            <a:r>
              <a:rPr sz="1100">
                <a:solidFill>
                  <a:srgbClr val="9990B8"/>
                </a:solidFill>
                <a:latin typeface="Consolas"/>
              </a:rPr>
              <a:t>// vide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});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9990B8"/>
                </a:solidFill>
                <a:latin typeface="Consolas"/>
              </a:rPr>
              <a:t>// AVEC MouseAdapter : on n'override que mouseClicked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panel.addMouseListener(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MouseAdapter</a:t>
            </a:r>
            <a:r>
              <a:rPr sz="1100">
                <a:solidFill>
                  <a:srgbClr val="E8E2FF"/>
                </a:solidFill>
                <a:latin typeface="Consolas"/>
              </a:rPr>
              <a:t>()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@Override </a:t>
            </a:r>
            <a:r>
              <a:rPr sz="1100">
                <a:solidFill>
                  <a:srgbClr val="FAF33E"/>
                </a:solidFill>
                <a:latin typeface="Consolas"/>
              </a:rPr>
              <a:t>public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void</a:t>
            </a:r>
            <a:r>
              <a:rPr sz="1100">
                <a:solidFill>
                  <a:srgbClr val="E8E2FF"/>
                </a:solidFill>
                <a:latin typeface="Consolas"/>
              </a:rPr>
              <a:t> mouseClicked(</a:t>
            </a:r>
            <a:r>
              <a:rPr sz="1100">
                <a:solidFill>
                  <a:srgbClr val="9D8DF1"/>
                </a:solidFill>
                <a:latin typeface="Consolas"/>
              </a:rPr>
              <a:t>MouseEvent</a:t>
            </a:r>
            <a:r>
              <a:rPr sz="1100">
                <a:solidFill>
                  <a:srgbClr val="E8E2FF"/>
                </a:solidFill>
                <a:latin typeface="Consolas"/>
              </a:rPr>
              <a:t> e) { ouvrir(); }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66360"/>
            <a:ext cx="10972800" cy="1280160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5166360"/>
            <a:ext cx="73152" cy="128016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528523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21C35"/>
                </a:solidFill>
                <a:latin typeface="Calibri"/>
              </a:rPr>
              <a:t>Adapters disponibles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221C35"/>
                </a:solidFill>
                <a:latin typeface="Consolas"/>
              </a:rPr>
              <a:t>MouseAdapter  ·  KeyAdapter  ·  WindowAdapter  ·  FocusAdapter  ·  ComponentAdapter  ·  ContainerAdapter  ·  MouseMotionAdapter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6B2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3840480"/>
            <a:ext cx="3657600" cy="3657600"/>
          </a:xfrm>
          <a:prstGeom prst="ellipse">
            <a:avLst/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875520" y="4114800"/>
            <a:ext cx="3657600" cy="3657600"/>
          </a:xfrm>
          <a:prstGeom prst="ellipse">
            <a:avLst/>
          </a:prstGeom>
          <a:solidFill>
            <a:srgbClr val="8B7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2286000"/>
            <a:ext cx="164592" cy="228600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E85D75"/>
                </a:solidFill>
                <a:latin typeface="Calibri"/>
              </a:rPr>
              <a:t>PARTIE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AFAFF"/>
                </a:solidFill>
                <a:latin typeface="Calibri"/>
              </a:rPr>
              <a:t>L'Event Dispatch Thread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9990B8"/>
                </a:solidFill>
                <a:latin typeface="Calibri"/>
              </a:rPr>
              <a:t>Le thread unique qui gère toute l'UI Swing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15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3. EVENT DISPATCH THREAD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L'EDT — la règle d'or de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TOUTES les modifications de l'UI doivent se faire sur l'Event Dispatch Thread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10972800" cy="1417320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783080"/>
            <a:ext cx="73152" cy="141732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1A1529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1168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21C35"/>
                </a:solidFill>
                <a:latin typeface="Calibri"/>
              </a:rPr>
              <a:t>Toujours créer &amp; modifier l'UI sur l'EDT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377440"/>
            <a:ext cx="9692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Utiliser SwingUtilities.invokeLater() depuis le main
Tous les listeners s'exécutent déjà sur l'EDT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10128"/>
            <a:ext cx="10972800" cy="1417320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3310128"/>
            <a:ext cx="73152" cy="141732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8680" y="3675888"/>
            <a:ext cx="640080" cy="64008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675888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1A1529"/>
                </a:solidFill>
                <a:latin typeface="Calibri"/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53872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21C35"/>
                </a:solidFill>
                <a:latin typeface="Calibri"/>
              </a:rPr>
              <a:t>Jamais de tâche longue sur l'EDT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904488"/>
            <a:ext cx="9692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Pas de requête réseau, BDD, fichier, gros calcul
Sinon → l'UI fige (le fameux freeze)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37176"/>
            <a:ext cx="10972800" cy="1417320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4837176"/>
            <a:ext cx="73152" cy="141732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68680" y="5202936"/>
            <a:ext cx="640080" cy="640080"/>
          </a:xfrm>
          <a:prstGeom prst="ellipse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5202936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1A1529"/>
                </a:solidFill>
                <a:latin typeface="Calibri"/>
              </a:rPr>
              <a:t>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21C35"/>
                </a:solidFill>
                <a:latin typeface="Calibri"/>
              </a:rPr>
              <a:t>Pour les tâches longues : SwingWorker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431536"/>
            <a:ext cx="9692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Calcul en arrière-plan + retour sur EDT pour l'UI
Couvert dans la partie suivante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16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3. EVENT DISPATCH THREAD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SwingUtilities.invokeLater &amp; invokeAndWait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Programmer une action à exécuter sur l'EDT depuis n'importe quel thread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6858000" cy="338328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78308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AF33E"/>
                </a:solidFill>
                <a:latin typeface="Consolas"/>
              </a:rPr>
              <a:t>// invokeLater — asynchrone, ne bloque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103120"/>
            <a:ext cx="64922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9990B8"/>
                </a:solidFill>
                <a:latin typeface="Consolas"/>
              </a:rPr>
              <a:t>// Le main démarre sur le thread principal — pas l'EDT !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FAF33E"/>
                </a:solidFill>
                <a:latin typeface="Consolas"/>
              </a:rPr>
              <a:t>public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static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FAF33E"/>
                </a:solidFill>
                <a:latin typeface="Consolas"/>
              </a:rPr>
              <a:t>void</a:t>
            </a:r>
            <a:r>
              <a:rPr sz="1100">
                <a:solidFill>
                  <a:srgbClr val="E8E2FF"/>
                </a:solidFill>
                <a:latin typeface="Consolas"/>
              </a:rPr>
              <a:t> main(</a:t>
            </a:r>
            <a:r>
              <a:rPr sz="1100">
                <a:solidFill>
                  <a:srgbClr val="9D8DF1"/>
                </a:solidFill>
                <a:latin typeface="Consolas"/>
              </a:rPr>
              <a:t>String</a:t>
            </a:r>
            <a:r>
              <a:rPr sz="1100">
                <a:solidFill>
                  <a:srgbClr val="E8E2FF"/>
                </a:solidFill>
                <a:latin typeface="Consolas"/>
              </a:rPr>
              <a:t>[] args) {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9D8DF1"/>
                </a:solidFill>
                <a:latin typeface="Consolas"/>
              </a:rPr>
              <a:t>SwingUtilities</a:t>
            </a:r>
            <a:r>
              <a:rPr sz="1100">
                <a:solidFill>
                  <a:srgbClr val="E8E2FF"/>
                </a:solidFill>
                <a:latin typeface="Consolas"/>
              </a:rPr>
              <a:t>.invokeLater(() -&gt;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</a:t>
            </a:r>
            <a:r>
              <a:rPr sz="1100">
                <a:solidFill>
                  <a:srgbClr val="9D8DF1"/>
                </a:solidFill>
                <a:latin typeface="Consolas"/>
              </a:rPr>
              <a:t>JFrame</a:t>
            </a:r>
            <a:r>
              <a:rPr sz="1100">
                <a:solidFill>
                  <a:srgbClr val="E8E2FF"/>
                </a:solidFill>
                <a:latin typeface="Consolas"/>
              </a:rPr>
              <a:t> f = </a:t>
            </a:r>
            <a:r>
              <a:rPr sz="1100">
                <a:solidFill>
                  <a:srgbClr val="FAF33E"/>
                </a:solidFill>
                <a:latin typeface="Consolas"/>
              </a:rPr>
              <a:t>new</a:t>
            </a:r>
            <a:r>
              <a:rPr sz="1100">
                <a:solidFill>
                  <a:srgbClr val="E8E2FF"/>
                </a:solidFill>
                <a:latin typeface="Consolas"/>
              </a:rPr>
              <a:t> </a:t>
            </a:r>
            <a:r>
              <a:rPr sz="1100">
                <a:solidFill>
                  <a:srgbClr val="9D8DF1"/>
                </a:solidFill>
                <a:latin typeface="Consolas"/>
              </a:rPr>
              <a:t>JFrame</a:t>
            </a:r>
            <a:r>
              <a:rPr sz="1100">
                <a:solidFill>
                  <a:srgbClr val="E8E2FF"/>
                </a:solidFill>
                <a:latin typeface="Consolas"/>
              </a:rPr>
              <a:t>(</a:t>
            </a:r>
            <a:r>
              <a:rPr sz="1100">
                <a:solidFill>
                  <a:srgbClr val="FFB3C1"/>
                </a:solidFill>
                <a:latin typeface="Consolas"/>
              </a:rPr>
              <a:t>"Mon app"</a:t>
            </a:r>
            <a:r>
              <a:rPr sz="110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f.setSize(800, 600);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    f.setVisible(</a:t>
            </a:r>
            <a:r>
              <a:rPr sz="1100">
                <a:solidFill>
                  <a:srgbClr val="FAF33E"/>
                </a:solidFill>
                <a:latin typeface="Consolas"/>
              </a:rPr>
              <a:t>true</a:t>
            </a:r>
            <a:r>
              <a:rPr sz="110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});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}</a:t>
            </a:r>
          </a:p>
          <a:p>
            <a:pPr>
              <a:lnSpc>
                <a:spcPct val="108000"/>
              </a:lnSpc>
            </a:pPr>
            <a:endParaRPr sz="110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9990B8"/>
                </a:solidFill>
                <a:latin typeface="Consolas"/>
              </a:rPr>
              <a:t>// Equivalent (dépréciée mais identique) :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9D8DF1"/>
                </a:solidFill>
                <a:latin typeface="Consolas"/>
              </a:rPr>
              <a:t>EventQueue</a:t>
            </a:r>
            <a:r>
              <a:rPr sz="1100">
                <a:solidFill>
                  <a:srgbClr val="E8E2FF"/>
                </a:solidFill>
                <a:latin typeface="Consolas"/>
              </a:rPr>
              <a:t>.invokeLater(() -&gt; { /* … */ });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691640"/>
            <a:ext cx="3931920" cy="338328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AF33E"/>
                </a:solidFill>
                <a:latin typeface="Consolas"/>
              </a:rPr>
              <a:t>// Defensive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2103120"/>
            <a:ext cx="35661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>
                <a:solidFill>
                  <a:srgbClr val="9990B8"/>
                </a:solidFill>
                <a:latin typeface="Consolas"/>
              </a:rPr>
              <a:t>// Vérifier qu'on est sur l'EDT (debug)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FAF33E"/>
                </a:solidFill>
                <a:latin typeface="Consolas"/>
              </a:rPr>
              <a:t>if</a:t>
            </a:r>
            <a:r>
              <a:rPr sz="1050">
                <a:solidFill>
                  <a:srgbClr val="E8E2FF"/>
                </a:solidFill>
                <a:latin typeface="Consolas"/>
              </a:rPr>
              <a:t> (</a:t>
            </a:r>
            <a:r>
              <a:rPr sz="1050">
                <a:solidFill>
                  <a:srgbClr val="9D8DF1"/>
                </a:solidFill>
                <a:latin typeface="Consolas"/>
              </a:rPr>
              <a:t>SwingUtilities</a:t>
            </a:r>
            <a:r>
              <a:rPr sz="1050">
                <a:solidFill>
                  <a:srgbClr val="E8E2FF"/>
                </a:solidFill>
                <a:latin typeface="Consolas"/>
              </a:rPr>
              <a:t>.isEventDispatchThread()) {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</a:t>
            </a:r>
            <a:r>
              <a:rPr sz="1050">
                <a:solidFill>
                  <a:srgbClr val="9990B8"/>
                </a:solidFill>
                <a:latin typeface="Consolas"/>
              </a:rPr>
              <a:t>// OK pour modifier l'UI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label.setText(</a:t>
            </a:r>
            <a:r>
              <a:rPr sz="1050">
                <a:solidFill>
                  <a:srgbClr val="FFB3C1"/>
                </a:solidFill>
                <a:latin typeface="Consolas"/>
              </a:rPr>
              <a:t>"ok"</a:t>
            </a:r>
            <a:r>
              <a:rPr sz="105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} </a:t>
            </a:r>
            <a:r>
              <a:rPr sz="1050">
                <a:solidFill>
                  <a:srgbClr val="FAF33E"/>
                </a:solidFill>
                <a:latin typeface="Consolas"/>
              </a:rPr>
              <a:t>else</a:t>
            </a:r>
            <a:r>
              <a:rPr sz="1050">
                <a:solidFill>
                  <a:srgbClr val="E8E2FF"/>
                </a:solidFill>
                <a:latin typeface="Consolas"/>
              </a:rPr>
              <a:t> {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</a:t>
            </a:r>
            <a:r>
              <a:rPr sz="1050">
                <a:solidFill>
                  <a:srgbClr val="9D8DF1"/>
                </a:solidFill>
                <a:latin typeface="Consolas"/>
              </a:rPr>
              <a:t>SwingUtilities</a:t>
            </a:r>
            <a:r>
              <a:rPr sz="1050">
                <a:solidFill>
                  <a:srgbClr val="E8E2FF"/>
                </a:solidFill>
                <a:latin typeface="Consolas"/>
              </a:rPr>
              <a:t>.invokeLater(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        () -&gt; label.setText(</a:t>
            </a:r>
            <a:r>
              <a:rPr sz="1050">
                <a:solidFill>
                  <a:srgbClr val="FFB3C1"/>
                </a:solidFill>
                <a:latin typeface="Consolas"/>
              </a:rPr>
              <a:t>"ok"</a:t>
            </a:r>
            <a:r>
              <a:rPr sz="1050">
                <a:solidFill>
                  <a:srgbClr val="E8E2FF"/>
                </a:solidFill>
                <a:latin typeface="Consolas"/>
              </a:rPr>
              <a:t>));</a:t>
            </a:r>
          </a:p>
          <a:p>
            <a:pPr>
              <a:lnSpc>
                <a:spcPct val="108000"/>
              </a:lnSpc>
            </a:pPr>
            <a:r>
              <a:rPr sz="1050">
                <a:solidFill>
                  <a:srgbClr val="E8E2FF"/>
                </a:solidFill>
                <a:latin typeface="Consolas"/>
              </a:rP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257800"/>
            <a:ext cx="10972800" cy="118872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5257800"/>
            <a:ext cx="73152" cy="118872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21C35"/>
                </a:solidFill>
                <a:latin typeface="Calibri"/>
              </a:rPr>
              <a:t>invokeLater vs invokeAndWait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7150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21C35"/>
                </a:solidFill>
                <a:latin typeface="Calibri"/>
              </a:rPr>
              <a:t>invokeLater(r)  → planifie r sur l'EDT et rend la main immédiatement (recommandé).
invokeAndWait(r) → planifie r et BLOQUE jusqu'à exécution. Ne JAMAIS appeler depuis l'EDT.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6B2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3840480"/>
            <a:ext cx="3657600" cy="3657600"/>
          </a:xfrm>
          <a:prstGeom prst="ellipse">
            <a:avLst/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875520" y="4114800"/>
            <a:ext cx="3657600" cy="3657600"/>
          </a:xfrm>
          <a:prstGeom prst="ellipse">
            <a:avLst/>
          </a:prstGeom>
          <a:solidFill>
            <a:srgbClr val="8B7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2286000"/>
            <a:ext cx="164592" cy="228600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E85D75"/>
                </a:solidFill>
                <a:latin typeface="Calibri"/>
              </a:rPr>
              <a:t>PARTIE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AFAFF"/>
                </a:solidFill>
                <a:latin typeface="Calibri"/>
              </a:rPr>
              <a:t>Tâches longues &amp; SwingWorker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9990B8"/>
                </a:solidFill>
                <a:latin typeface="Calibri"/>
              </a:rPr>
              <a:t>Charger, calculer, télécharger — sans figer l'UI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18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4. TÂCHES LONGUES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Le problème du freeze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Que se passe-t-il quand on bloque l'EDT ? L'UI ne répond plus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10972800" cy="237744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106070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9990B8"/>
                </a:solidFill>
                <a:latin typeface="Consolas"/>
              </a:rPr>
              <a:t>// ❌ MAUVAIS — exécution sur l'EDT (listener)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bouton.addActionListener(e -&gt; {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9D8DF1"/>
                </a:solidFill>
                <a:latin typeface="Consolas"/>
              </a:rPr>
              <a:t>String</a:t>
            </a:r>
            <a:r>
              <a:rPr sz="1100">
                <a:solidFill>
                  <a:srgbClr val="E8E2FF"/>
                </a:solidFill>
                <a:latin typeface="Consolas"/>
              </a:rPr>
              <a:t> json = telechargerDepuisAPI(</a:t>
            </a:r>
            <a:r>
              <a:rPr sz="1100">
                <a:solidFill>
                  <a:srgbClr val="FFB3C1"/>
                </a:solidFill>
                <a:latin typeface="Consolas"/>
              </a:rPr>
              <a:t>"https://..."</a:t>
            </a:r>
            <a:r>
              <a:rPr sz="1100">
                <a:solidFill>
                  <a:srgbClr val="E8E2FF"/>
                </a:solidFill>
                <a:latin typeface="Consolas"/>
              </a:rPr>
              <a:t>);   </a:t>
            </a:r>
            <a:r>
              <a:rPr sz="1100">
                <a:solidFill>
                  <a:srgbClr val="9990B8"/>
                </a:solidFill>
                <a:latin typeface="Consolas"/>
              </a:rPr>
              <a:t>// 3 secondes !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9990B8"/>
                </a:solidFill>
                <a:latin typeface="Consolas"/>
              </a:rPr>
              <a:t>// Pendant ces 3 secondes, l'UI est complètement gelée :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9990B8"/>
                </a:solidFill>
                <a:latin typeface="Consolas"/>
              </a:rPr>
              <a:t>//  - les boutons ne réagissent plus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9990B8"/>
                </a:solidFill>
                <a:latin typeface="Consolas"/>
              </a:rPr>
              <a:t>//  - la fenêtre ne se redessine plus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</a:t>
            </a:r>
            <a:r>
              <a:rPr sz="1100">
                <a:solidFill>
                  <a:srgbClr val="9990B8"/>
                </a:solidFill>
                <a:latin typeface="Consolas"/>
              </a:rPr>
              <a:t>//  - Windows / macOS affiche « Application ne répond pas »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    label.setText(json);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E8E2FF"/>
                </a:solidFill>
                <a:latin typeface="Consolas"/>
              </a:rPr>
              <a:t>});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9768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4297680"/>
            <a:ext cx="73152" cy="182880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>
                <a:solidFill>
                  <a:srgbClr val="221C35"/>
                </a:solidFill>
                <a:latin typeface="Calibri"/>
              </a:rPr>
              <a:t>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21C35"/>
                </a:solidFill>
                <a:latin typeface="Calibri"/>
              </a:rPr>
              <a:t>L'UI gèle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235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5F8C"/>
                </a:solidFill>
                <a:latin typeface="Calibri"/>
              </a:rPr>
              <a:t>Aucun clic, aucun redraw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29768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120" y="4297680"/>
            <a:ext cx="73152" cy="182880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63440" y="457200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>
                <a:solidFill>
                  <a:srgbClr val="221C35"/>
                </a:solidFill>
                <a:latin typeface="Calibri"/>
              </a:rPr>
              <a:t>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2578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21C35"/>
                </a:solidFill>
                <a:latin typeface="Calibri"/>
              </a:rPr>
              <a:t>Curseur d'attente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56235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5F8C"/>
                </a:solidFill>
                <a:latin typeface="Calibri"/>
              </a:rPr>
              <a:t>L'OS affiche une roue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429768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4297680"/>
            <a:ext cx="73152" cy="182880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0" y="457200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>
                <a:solidFill>
                  <a:srgbClr val="221C35"/>
                </a:solidFill>
                <a:latin typeface="Calibri"/>
              </a:rPr>
              <a:t>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52578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21C35"/>
                </a:solidFill>
                <a:latin typeface="Calibri"/>
              </a:rPr>
              <a:t>« Ne répond pas 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6235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5F8C"/>
                </a:solidFill>
                <a:latin typeface="Calibri"/>
              </a:rPr>
              <a:t>L'OS propose de tuer l'app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19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4. TÂCHES LONGUES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SwingWorker — la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Calcul en tâche de fond + retour automatique sur l'EDT pour mettre à jour l'UI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7315200" cy="493776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6949440" cy="4709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950">
                <a:solidFill>
                  <a:srgbClr val="9D8DF1"/>
                </a:solidFill>
                <a:latin typeface="Consolas"/>
              </a:rPr>
              <a:t>SwingWorker</a:t>
            </a:r>
            <a:r>
              <a:rPr sz="950">
                <a:solidFill>
                  <a:srgbClr val="E8E2FF"/>
                </a:solidFill>
                <a:latin typeface="Consolas"/>
              </a:rPr>
              <a:t>&lt;</a:t>
            </a:r>
            <a:r>
              <a:rPr sz="950">
                <a:solidFill>
                  <a:srgbClr val="9D8DF1"/>
                </a:solidFill>
                <a:latin typeface="Consolas"/>
              </a:rPr>
              <a:t>String</a:t>
            </a:r>
            <a:r>
              <a:rPr sz="950">
                <a:solidFill>
                  <a:srgbClr val="E8E2FF"/>
                </a:solidFill>
                <a:latin typeface="Consolas"/>
              </a:rPr>
              <a:t>, Void&gt; worker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SwingWorker</a:t>
            </a:r>
            <a:r>
              <a:rPr sz="950">
                <a:solidFill>
                  <a:srgbClr val="E8E2FF"/>
                </a:solidFill>
                <a:latin typeface="Consolas"/>
              </a:rPr>
              <a:t>&lt;&gt;() {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String</a:t>
            </a:r>
            <a:r>
              <a:rPr sz="950">
                <a:solidFill>
                  <a:srgbClr val="E8E2FF"/>
                </a:solidFill>
                <a:latin typeface="Consolas"/>
              </a:rPr>
              <a:t> doInBackground() </a:t>
            </a:r>
            <a:r>
              <a:rPr sz="950">
                <a:solidFill>
                  <a:srgbClr val="FAF33E"/>
                </a:solidFill>
                <a:latin typeface="Consolas"/>
              </a:rPr>
              <a:t>throws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Exception</a:t>
            </a:r>
            <a:r>
              <a:rPr sz="950">
                <a:solidFill>
                  <a:srgbClr val="E8E2FF"/>
                </a:solidFill>
                <a:latin typeface="Consolas"/>
              </a:rPr>
              <a:t>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9990B8"/>
                </a:solidFill>
                <a:latin typeface="Consolas"/>
              </a:rPr>
              <a:t>// ⚠️ Hors EDT : pas d'accès direct aux composants !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return</a:t>
            </a:r>
            <a:r>
              <a:rPr sz="950">
                <a:solidFill>
                  <a:srgbClr val="E8E2FF"/>
                </a:solidFill>
                <a:latin typeface="Consolas"/>
              </a:rPr>
              <a:t> telechargerDepuisAPI(</a:t>
            </a:r>
            <a:r>
              <a:rPr sz="950">
                <a:solidFill>
                  <a:srgbClr val="FFB3C1"/>
                </a:solidFill>
                <a:latin typeface="Consolas"/>
              </a:rPr>
              <a:t>"https://api.exemple.com/data"</a:t>
            </a:r>
            <a:r>
              <a:rPr sz="95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void</a:t>
            </a:r>
            <a:r>
              <a:rPr sz="950">
                <a:solidFill>
                  <a:srgbClr val="E8E2FF"/>
                </a:solidFill>
                <a:latin typeface="Consolas"/>
              </a:rPr>
              <a:t> done()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9990B8"/>
                </a:solidFill>
                <a:latin typeface="Consolas"/>
              </a:rPr>
              <a:t>// ✅ Retour sur l'EDT : on peut toucher à l'UI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try</a:t>
            </a:r>
            <a:r>
              <a:rPr sz="950">
                <a:solidFill>
                  <a:srgbClr val="E8E2FF"/>
                </a:solidFill>
                <a:latin typeface="Consolas"/>
              </a:rPr>
              <a:t>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label.setText(get());            </a:t>
            </a:r>
            <a:r>
              <a:rPr sz="950">
                <a:solidFill>
                  <a:srgbClr val="9990B8"/>
                </a:solidFill>
                <a:latin typeface="Consolas"/>
              </a:rPr>
              <a:t>// get() lit le résultat de doInBackground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 </a:t>
            </a:r>
            <a:r>
              <a:rPr sz="950">
                <a:solidFill>
                  <a:srgbClr val="FAF33E"/>
                </a:solidFill>
                <a:latin typeface="Consolas"/>
              </a:rPr>
              <a:t>catch</a:t>
            </a:r>
            <a:r>
              <a:rPr sz="950">
                <a:solidFill>
                  <a:srgbClr val="E8E2FF"/>
                </a:solidFill>
                <a:latin typeface="Consolas"/>
              </a:rPr>
              <a:t> (</a:t>
            </a:r>
            <a:r>
              <a:rPr sz="950">
                <a:solidFill>
                  <a:srgbClr val="9D8DF1"/>
                </a:solidFill>
                <a:latin typeface="Consolas"/>
              </a:rPr>
              <a:t>Exception</a:t>
            </a:r>
            <a:r>
              <a:rPr sz="950">
                <a:solidFill>
                  <a:srgbClr val="E8E2FF"/>
                </a:solidFill>
                <a:latin typeface="Consolas"/>
              </a:rPr>
              <a:t> ex)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label.setText(</a:t>
            </a:r>
            <a:r>
              <a:rPr sz="950">
                <a:solidFill>
                  <a:srgbClr val="FFB3C1"/>
                </a:solidFill>
                <a:latin typeface="Consolas"/>
              </a:rPr>
              <a:t>"Erreur : "</a:t>
            </a:r>
            <a:r>
              <a:rPr sz="950">
                <a:solidFill>
                  <a:srgbClr val="E8E2FF"/>
                </a:solidFill>
                <a:latin typeface="Consolas"/>
              </a:rPr>
              <a:t> + ex.getMessage());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};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worker.execute();   </a:t>
            </a:r>
            <a:r>
              <a:rPr sz="950">
                <a:solidFill>
                  <a:srgbClr val="9990B8"/>
                </a:solidFill>
                <a:latin typeface="Consolas"/>
              </a:rPr>
              <a:t>// démarre la tâche en arrière-plan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91640"/>
            <a:ext cx="3474720" cy="493776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38160" y="1691640"/>
            <a:ext cx="73152" cy="493776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AF33E"/>
                </a:solidFill>
                <a:latin typeface="Calibri"/>
              </a:rPr>
              <a:t>Cycle de vie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240280"/>
            <a:ext cx="320040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1.  execute()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    démarre</a:t>
            </a:r>
          </a:p>
          <a:p>
            <a:pPr>
              <a:lnSpc>
                <a:spcPct val="125000"/>
              </a:lnSpc>
            </a:pPr>
            <a:endParaRPr sz="1050" b="0" i="0">
              <a:solidFill>
                <a:srgbClr val="FAFAFF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2.  doInBackground()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    s'exécute hors EDT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    → calcul, BDD, API…</a:t>
            </a:r>
          </a:p>
          <a:p>
            <a:pPr>
              <a:lnSpc>
                <a:spcPct val="125000"/>
              </a:lnSpc>
            </a:pPr>
            <a:endParaRPr sz="1050" b="0" i="0">
              <a:solidFill>
                <a:srgbClr val="FAFAFF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3.  done()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    s'exécute sur EDT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    → met à jour l'UI</a:t>
            </a:r>
          </a:p>
          <a:p>
            <a:pPr>
              <a:lnSpc>
                <a:spcPct val="125000"/>
              </a:lnSpc>
            </a:pPr>
            <a:endParaRPr sz="1050" b="0" i="0">
              <a:solidFill>
                <a:srgbClr val="FAFAFF"/>
              </a:solidFill>
              <a:latin typeface="Consolas"/>
            </a:endParaRP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Generic &lt;T, V&gt; :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T = type retourné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FAFAFF"/>
                </a:solidFill>
                <a:latin typeface="Consolas"/>
              </a:rPr>
              <a:t>V = type des updates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20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4. TÂCHES LONGUES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publish() / process() — résultats intermédiaires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Envoyer des morceaux du calcul vers l'UI au fur et à mesure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10972800" cy="493776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10607040" cy="4709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950">
                <a:solidFill>
                  <a:srgbClr val="9D8DF1"/>
                </a:solidFill>
                <a:latin typeface="Consolas"/>
              </a:rPr>
              <a:t>SwingWorker</a:t>
            </a:r>
            <a:r>
              <a:rPr sz="950">
                <a:solidFill>
                  <a:srgbClr val="E8E2FF"/>
                </a:solidFill>
                <a:latin typeface="Consolas"/>
              </a:rPr>
              <a:t>&lt;</a:t>
            </a:r>
            <a:r>
              <a:rPr sz="950">
                <a:solidFill>
                  <a:srgbClr val="9D8DF1"/>
                </a:solidFill>
                <a:latin typeface="Consolas"/>
              </a:rPr>
              <a:t>List</a:t>
            </a:r>
            <a:r>
              <a:rPr sz="950">
                <a:solidFill>
                  <a:srgbClr val="E8E2FF"/>
                </a:solidFill>
                <a:latin typeface="Consolas"/>
              </a:rPr>
              <a:t>&lt;Etudiant&gt;, Etudiant&gt; w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SwingWorker</a:t>
            </a:r>
            <a:r>
              <a:rPr sz="950">
                <a:solidFill>
                  <a:srgbClr val="E8E2FF"/>
                </a:solidFill>
                <a:latin typeface="Consolas"/>
              </a:rPr>
              <a:t>&lt;&gt;() {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List</a:t>
            </a:r>
            <a:r>
              <a:rPr sz="950">
                <a:solidFill>
                  <a:srgbClr val="E8E2FF"/>
                </a:solidFill>
                <a:latin typeface="Consolas"/>
              </a:rPr>
              <a:t>&lt;Etudiant&gt; doInBackground()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9D8DF1"/>
                </a:solidFill>
                <a:latin typeface="Consolas"/>
              </a:rPr>
              <a:t>List</a:t>
            </a:r>
            <a:r>
              <a:rPr sz="950">
                <a:solidFill>
                  <a:srgbClr val="E8E2FF"/>
                </a:solidFill>
                <a:latin typeface="Consolas"/>
              </a:rPr>
              <a:t>&lt;Etudiant&gt; tous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ArrayList</a:t>
            </a:r>
            <a:r>
              <a:rPr sz="950">
                <a:solidFill>
                  <a:srgbClr val="E8E2FF"/>
                </a:solidFill>
                <a:latin typeface="Consolas"/>
              </a:rPr>
              <a:t>&lt;&gt;();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for</a:t>
            </a:r>
            <a:r>
              <a:rPr sz="950">
                <a:solidFill>
                  <a:srgbClr val="E8E2FF"/>
                </a:solidFill>
                <a:latin typeface="Consolas"/>
              </a:rPr>
              <a:t> (</a:t>
            </a:r>
            <a:r>
              <a:rPr sz="950">
                <a:solidFill>
                  <a:srgbClr val="9D8DF1"/>
                </a:solidFill>
                <a:latin typeface="Consolas"/>
              </a:rPr>
              <a:t>int</a:t>
            </a:r>
            <a:r>
              <a:rPr sz="950">
                <a:solidFill>
                  <a:srgbClr val="E8E2FF"/>
                </a:solidFill>
                <a:latin typeface="Consolas"/>
              </a:rPr>
              <a:t> i = 0; i &lt; 1000; i++)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Etudiant e = chargerDepuisBDD(i);   </a:t>
            </a:r>
            <a:r>
              <a:rPr sz="950">
                <a:solidFill>
                  <a:srgbClr val="9990B8"/>
                </a:solidFill>
                <a:latin typeface="Consolas"/>
              </a:rPr>
              <a:t>// hors EDT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tous.add(e);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publish(e);                          </a:t>
            </a:r>
            <a:r>
              <a:rPr sz="950">
                <a:solidFill>
                  <a:srgbClr val="9990B8"/>
                </a:solidFill>
                <a:latin typeface="Consolas"/>
              </a:rPr>
              <a:t>// envoyer à l'UI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setProgress((i + 1) * 100 / 1000);   </a:t>
            </a:r>
            <a:r>
              <a:rPr sz="950">
                <a:solidFill>
                  <a:srgbClr val="9990B8"/>
                </a:solidFill>
                <a:latin typeface="Consolas"/>
              </a:rPr>
              <a:t>// 0..100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return</a:t>
            </a:r>
            <a:r>
              <a:rPr sz="950">
                <a:solidFill>
                  <a:srgbClr val="E8E2FF"/>
                </a:solidFill>
                <a:latin typeface="Consolas"/>
              </a:rPr>
              <a:t> tous;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void</a:t>
            </a:r>
            <a:r>
              <a:rPr sz="950">
                <a:solidFill>
                  <a:srgbClr val="E8E2FF"/>
                </a:solidFill>
                <a:latin typeface="Consolas"/>
              </a:rPr>
              <a:t> process(</a:t>
            </a:r>
            <a:r>
              <a:rPr sz="950">
                <a:solidFill>
                  <a:srgbClr val="9D8DF1"/>
                </a:solidFill>
                <a:latin typeface="Consolas"/>
              </a:rPr>
              <a:t>List</a:t>
            </a:r>
            <a:r>
              <a:rPr sz="950">
                <a:solidFill>
                  <a:srgbClr val="E8E2FF"/>
                </a:solidFill>
                <a:latin typeface="Consolas"/>
              </a:rPr>
              <a:t>&lt;Etudiant&gt; chunks)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9990B8"/>
                </a:solidFill>
                <a:latin typeface="Consolas"/>
              </a:rPr>
              <a:t>// Sur l'EDT : ajouter au fur et à mesure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for</a:t>
            </a:r>
            <a:r>
              <a:rPr sz="950">
                <a:solidFill>
                  <a:srgbClr val="E8E2FF"/>
                </a:solidFill>
                <a:latin typeface="Consolas"/>
              </a:rPr>
              <a:t> (Etudiant e : chunks) modele.addRow(e.toRow());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void</a:t>
            </a:r>
            <a:r>
              <a:rPr sz="950">
                <a:solidFill>
                  <a:srgbClr val="E8E2FF"/>
                </a:solidFill>
                <a:latin typeface="Consolas"/>
              </a:rPr>
              <a:t> done() { progressBar.setValue(100);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};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w.addPropertyChangeListener(evt -&gt;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if</a:t>
            </a:r>
            <a:r>
              <a:rPr sz="950">
                <a:solidFill>
                  <a:srgbClr val="E8E2FF"/>
                </a:solidFill>
                <a:latin typeface="Consolas"/>
              </a:rPr>
              <a:t> (</a:t>
            </a:r>
            <a:r>
              <a:rPr sz="950">
                <a:solidFill>
                  <a:srgbClr val="FFB3C1"/>
                </a:solidFill>
                <a:latin typeface="Consolas"/>
              </a:rPr>
              <a:t>"progress"</a:t>
            </a:r>
            <a:r>
              <a:rPr sz="950">
                <a:solidFill>
                  <a:srgbClr val="E8E2FF"/>
                </a:solidFill>
                <a:latin typeface="Consolas"/>
              </a:rPr>
              <a:t>.equals(evt.getPropertyName()))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progressBar.setValue((</a:t>
            </a:r>
            <a:r>
              <a:rPr sz="950">
                <a:solidFill>
                  <a:srgbClr val="9D8DF1"/>
                </a:solidFill>
                <a:latin typeface="Consolas"/>
              </a:rPr>
              <a:t>Integer</a:t>
            </a:r>
            <a:r>
              <a:rPr sz="950">
                <a:solidFill>
                  <a:srgbClr val="E8E2FF"/>
                </a:solidFill>
                <a:latin typeface="Consolas"/>
              </a:rPr>
              <a:t>) evt.getNewValue());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});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w.execute();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21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5. CHARGER DES DONNÉES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Charger depuis une base de données (JDBC)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Pattern complet : SwingWorker + JDBC + mise à jour de la JTable sur l'EDT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10972800" cy="493776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10607040" cy="4709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SwingWorker</a:t>
            </a:r>
            <a:r>
              <a:rPr sz="950">
                <a:solidFill>
                  <a:srgbClr val="E8E2FF"/>
                </a:solidFill>
                <a:latin typeface="Consolas"/>
              </a:rPr>
              <a:t>&lt;</a:t>
            </a:r>
            <a:r>
              <a:rPr sz="950">
                <a:solidFill>
                  <a:srgbClr val="9D8DF1"/>
                </a:solidFill>
                <a:latin typeface="Consolas"/>
              </a:rPr>
              <a:t>List</a:t>
            </a:r>
            <a:r>
              <a:rPr sz="950">
                <a:solidFill>
                  <a:srgbClr val="E8E2FF"/>
                </a:solidFill>
                <a:latin typeface="Consolas"/>
              </a:rPr>
              <a:t>&lt;Etudiant&gt;, Void&gt;() {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List</a:t>
            </a:r>
            <a:r>
              <a:rPr sz="950">
                <a:solidFill>
                  <a:srgbClr val="E8E2FF"/>
                </a:solidFill>
                <a:latin typeface="Consolas"/>
              </a:rPr>
              <a:t>&lt;Etudiant&gt; doInBackground() </a:t>
            </a:r>
            <a:r>
              <a:rPr sz="950">
                <a:solidFill>
                  <a:srgbClr val="FAF33E"/>
                </a:solidFill>
                <a:latin typeface="Consolas"/>
              </a:rPr>
              <a:t>throws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Exception</a:t>
            </a:r>
            <a:r>
              <a:rPr sz="950">
                <a:solidFill>
                  <a:srgbClr val="E8E2FF"/>
                </a:solidFill>
                <a:latin typeface="Consolas"/>
              </a:rPr>
              <a:t>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9D8DF1"/>
                </a:solidFill>
                <a:latin typeface="Consolas"/>
              </a:rPr>
              <a:t>List</a:t>
            </a:r>
            <a:r>
              <a:rPr sz="950">
                <a:solidFill>
                  <a:srgbClr val="E8E2FF"/>
                </a:solidFill>
                <a:latin typeface="Consolas"/>
              </a:rPr>
              <a:t>&lt;Etudiant&gt; liste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ArrayList</a:t>
            </a:r>
            <a:r>
              <a:rPr sz="950">
                <a:solidFill>
                  <a:srgbClr val="E8E2FF"/>
                </a:solidFill>
                <a:latin typeface="Consolas"/>
              </a:rPr>
              <a:t>&lt;&gt;();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9D8DF1"/>
                </a:solidFill>
                <a:latin typeface="Consolas"/>
              </a:rPr>
              <a:t>String</a:t>
            </a:r>
            <a:r>
              <a:rPr sz="950">
                <a:solidFill>
                  <a:srgbClr val="E8E2FF"/>
                </a:solidFill>
                <a:latin typeface="Consolas"/>
              </a:rPr>
              <a:t> sql = </a:t>
            </a:r>
            <a:r>
              <a:rPr sz="950">
                <a:solidFill>
                  <a:srgbClr val="FFB3C1"/>
                </a:solidFill>
                <a:latin typeface="Consolas"/>
              </a:rPr>
              <a:t>"SELECT id, nom, prenom, note FROM etudiant"</a:t>
            </a:r>
            <a:r>
              <a:rPr sz="950">
                <a:solidFill>
                  <a:srgbClr val="E8E2FF"/>
                </a:solidFill>
                <a:latin typeface="Consolas"/>
              </a:rPr>
              <a:t>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try</a:t>
            </a:r>
            <a:r>
              <a:rPr sz="950">
                <a:solidFill>
                  <a:srgbClr val="E8E2FF"/>
                </a:solidFill>
                <a:latin typeface="Consolas"/>
              </a:rPr>
              <a:t> (</a:t>
            </a:r>
            <a:r>
              <a:rPr sz="950">
                <a:solidFill>
                  <a:srgbClr val="9D8DF1"/>
                </a:solidFill>
                <a:latin typeface="Consolas"/>
              </a:rPr>
              <a:t>Connection</a:t>
            </a:r>
            <a:r>
              <a:rPr sz="950">
                <a:solidFill>
                  <a:srgbClr val="E8E2FF"/>
                </a:solidFill>
                <a:latin typeface="Consolas"/>
              </a:rPr>
              <a:t> c = </a:t>
            </a:r>
            <a:r>
              <a:rPr sz="950">
                <a:solidFill>
                  <a:srgbClr val="9D8DF1"/>
                </a:solidFill>
                <a:latin typeface="Consolas"/>
              </a:rPr>
              <a:t>DriverManager</a:t>
            </a:r>
            <a:r>
              <a:rPr sz="950">
                <a:solidFill>
                  <a:srgbClr val="E8E2FF"/>
                </a:solidFill>
                <a:latin typeface="Consolas"/>
              </a:rPr>
              <a:t>.getConnection(</a:t>
            </a:r>
            <a:r>
              <a:rPr sz="950">
                <a:solidFill>
                  <a:srgbClr val="9D8DF1"/>
                </a:solidFill>
                <a:latin typeface="Consolas"/>
              </a:rPr>
              <a:t>URL</a:t>
            </a:r>
            <a:r>
              <a:rPr sz="950">
                <a:solidFill>
                  <a:srgbClr val="E8E2FF"/>
                </a:solidFill>
                <a:latin typeface="Consolas"/>
              </a:rPr>
              <a:t>, USER, PWD);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 </a:t>
            </a:r>
            <a:r>
              <a:rPr sz="950">
                <a:solidFill>
                  <a:srgbClr val="9D8DF1"/>
                </a:solidFill>
                <a:latin typeface="Consolas"/>
              </a:rPr>
              <a:t>PreparedStatement</a:t>
            </a:r>
            <a:r>
              <a:rPr sz="950">
                <a:solidFill>
                  <a:srgbClr val="E8E2FF"/>
                </a:solidFill>
                <a:latin typeface="Consolas"/>
              </a:rPr>
              <a:t> ps = c.prepareStatement(sql);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 </a:t>
            </a:r>
            <a:r>
              <a:rPr sz="950">
                <a:solidFill>
                  <a:srgbClr val="9D8DF1"/>
                </a:solidFill>
                <a:latin typeface="Consolas"/>
              </a:rPr>
              <a:t>ResultSet</a:t>
            </a:r>
            <a:r>
              <a:rPr sz="950">
                <a:solidFill>
                  <a:srgbClr val="E8E2FF"/>
                </a:solidFill>
                <a:latin typeface="Consolas"/>
              </a:rPr>
              <a:t> rs = ps.executeQuery())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</a:t>
            </a:r>
            <a:r>
              <a:rPr sz="950">
                <a:solidFill>
                  <a:srgbClr val="FAF33E"/>
                </a:solidFill>
                <a:latin typeface="Consolas"/>
              </a:rPr>
              <a:t>while</a:t>
            </a:r>
            <a:r>
              <a:rPr sz="950">
                <a:solidFill>
                  <a:srgbClr val="E8E2FF"/>
                </a:solidFill>
                <a:latin typeface="Consolas"/>
              </a:rPr>
              <a:t> (rs.next())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    liste.add(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Etudiant(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        rs.getInt(</a:t>
            </a:r>
            <a:r>
              <a:rPr sz="950">
                <a:solidFill>
                  <a:srgbClr val="FFB3C1"/>
                </a:solidFill>
                <a:latin typeface="Consolas"/>
              </a:rPr>
              <a:t>"id"</a:t>
            </a:r>
            <a:r>
              <a:rPr sz="950">
                <a:solidFill>
                  <a:srgbClr val="E8E2FF"/>
                </a:solidFill>
                <a:latin typeface="Consolas"/>
              </a:rPr>
              <a:t>),    rs.getString(</a:t>
            </a:r>
            <a:r>
              <a:rPr sz="950">
                <a:solidFill>
                  <a:srgbClr val="FFB3C1"/>
                </a:solidFill>
                <a:latin typeface="Consolas"/>
              </a:rPr>
              <a:t>"nom"</a:t>
            </a:r>
            <a:r>
              <a:rPr sz="950">
                <a:solidFill>
                  <a:srgbClr val="E8E2FF"/>
                </a:solidFill>
                <a:latin typeface="Consolas"/>
              </a:rPr>
              <a:t>),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        rs.getString(</a:t>
            </a:r>
            <a:r>
              <a:rPr sz="950">
                <a:solidFill>
                  <a:srgbClr val="FFB3C1"/>
                </a:solidFill>
                <a:latin typeface="Consolas"/>
              </a:rPr>
              <a:t>"prenom"</a:t>
            </a:r>
            <a:r>
              <a:rPr sz="950">
                <a:solidFill>
                  <a:srgbClr val="E8E2FF"/>
                </a:solidFill>
                <a:latin typeface="Consolas"/>
              </a:rPr>
              <a:t>), rs.getDouble(</a:t>
            </a:r>
            <a:r>
              <a:rPr sz="950">
                <a:solidFill>
                  <a:srgbClr val="FFB3C1"/>
                </a:solidFill>
                <a:latin typeface="Consolas"/>
              </a:rPr>
              <a:t>"note"</a:t>
            </a:r>
            <a:r>
              <a:rPr sz="950">
                <a:solidFill>
                  <a:srgbClr val="E8E2FF"/>
                </a:solidFill>
                <a:latin typeface="Consolas"/>
              </a:rPr>
              <a:t>)));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return</a:t>
            </a:r>
            <a:r>
              <a:rPr sz="950">
                <a:solidFill>
                  <a:srgbClr val="E8E2FF"/>
                </a:solidFill>
                <a:latin typeface="Consolas"/>
              </a:rPr>
              <a:t> liste;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void</a:t>
            </a:r>
            <a:r>
              <a:rPr sz="950">
                <a:solidFill>
                  <a:srgbClr val="E8E2FF"/>
                </a:solidFill>
                <a:latin typeface="Consolas"/>
              </a:rPr>
              <a:t> done()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try</a:t>
            </a:r>
            <a:r>
              <a:rPr sz="950">
                <a:solidFill>
                  <a:srgbClr val="E8E2FF"/>
                </a:solidFill>
                <a:latin typeface="Consolas"/>
              </a:rPr>
              <a:t>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modele.setRowCount(0);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</a:t>
            </a:r>
            <a:r>
              <a:rPr sz="950">
                <a:solidFill>
                  <a:srgbClr val="FAF33E"/>
                </a:solidFill>
                <a:latin typeface="Consolas"/>
              </a:rPr>
              <a:t>for</a:t>
            </a:r>
            <a:r>
              <a:rPr sz="950">
                <a:solidFill>
                  <a:srgbClr val="E8E2FF"/>
                </a:solidFill>
                <a:latin typeface="Consolas"/>
              </a:rPr>
              <a:t> (Etudiant e : get()) modele.addRow(e.toRow());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 </a:t>
            </a:r>
            <a:r>
              <a:rPr sz="950">
                <a:solidFill>
                  <a:srgbClr val="FAF33E"/>
                </a:solidFill>
                <a:latin typeface="Consolas"/>
              </a:rPr>
              <a:t>catch</a:t>
            </a:r>
            <a:r>
              <a:rPr sz="950">
                <a:solidFill>
                  <a:srgbClr val="E8E2FF"/>
                </a:solidFill>
                <a:latin typeface="Consolas"/>
              </a:rPr>
              <a:t> (</a:t>
            </a:r>
            <a:r>
              <a:rPr sz="950">
                <a:solidFill>
                  <a:srgbClr val="9D8DF1"/>
                </a:solidFill>
                <a:latin typeface="Consolas"/>
              </a:rPr>
              <a:t>Exception</a:t>
            </a:r>
            <a:r>
              <a:rPr sz="950">
                <a:solidFill>
                  <a:srgbClr val="E8E2FF"/>
                </a:solidFill>
                <a:latin typeface="Consolas"/>
              </a:rPr>
              <a:t> ex)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</a:t>
            </a:r>
            <a:r>
              <a:rPr sz="950">
                <a:solidFill>
                  <a:srgbClr val="9D8DF1"/>
                </a:solidFill>
                <a:latin typeface="Consolas"/>
              </a:rPr>
              <a:t>JOptionPane</a:t>
            </a:r>
            <a:r>
              <a:rPr sz="950">
                <a:solidFill>
                  <a:srgbClr val="E8E2FF"/>
                </a:solidFill>
                <a:latin typeface="Consolas"/>
              </a:rPr>
              <a:t>.showMessageDialog(frame, </a:t>
            </a:r>
            <a:r>
              <a:rPr sz="950">
                <a:solidFill>
                  <a:srgbClr val="FFB3C1"/>
                </a:solidFill>
                <a:latin typeface="Consolas"/>
              </a:rPr>
              <a:t>"Erreur BDD : "</a:t>
            </a:r>
            <a:r>
              <a:rPr sz="950">
                <a:solidFill>
                  <a:srgbClr val="E8E2FF"/>
                </a:solidFill>
                <a:latin typeface="Consolas"/>
              </a:rPr>
              <a:t> + ex.getMessage());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}.execute();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22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5. CHARGER DES DONNÉES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Charger depuis une API 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HttpURLConnection (ou HttpClient depuis Java 11) + parsing 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10972800" cy="493776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10607040" cy="4709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SwingWorker</a:t>
            </a:r>
            <a:r>
              <a:rPr sz="950">
                <a:solidFill>
                  <a:srgbClr val="E8E2FF"/>
                </a:solidFill>
                <a:latin typeface="Consolas"/>
              </a:rPr>
              <a:t>&lt;</a:t>
            </a:r>
            <a:r>
              <a:rPr sz="950">
                <a:solidFill>
                  <a:srgbClr val="9D8DF1"/>
                </a:solidFill>
                <a:latin typeface="Consolas"/>
              </a:rPr>
              <a:t>String</a:t>
            </a:r>
            <a:r>
              <a:rPr sz="950">
                <a:solidFill>
                  <a:srgbClr val="E8E2FF"/>
                </a:solidFill>
                <a:latin typeface="Consolas"/>
              </a:rPr>
              <a:t>, Void&gt;()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String</a:t>
            </a:r>
            <a:r>
              <a:rPr sz="950">
                <a:solidFill>
                  <a:srgbClr val="E8E2FF"/>
                </a:solidFill>
                <a:latin typeface="Consolas"/>
              </a:rPr>
              <a:t> doInBackground() </a:t>
            </a:r>
            <a:r>
              <a:rPr sz="950">
                <a:solidFill>
                  <a:srgbClr val="FAF33E"/>
                </a:solidFill>
                <a:latin typeface="Consolas"/>
              </a:rPr>
              <a:t>throws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Exception</a:t>
            </a:r>
            <a:r>
              <a:rPr sz="950">
                <a:solidFill>
                  <a:srgbClr val="E8E2FF"/>
                </a:solidFill>
                <a:latin typeface="Consolas"/>
              </a:rPr>
              <a:t>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9D8DF1"/>
                </a:solidFill>
                <a:latin typeface="Consolas"/>
              </a:rPr>
              <a:t>URL</a:t>
            </a:r>
            <a:r>
              <a:rPr sz="950">
                <a:solidFill>
                  <a:srgbClr val="E8E2FF"/>
                </a:solidFill>
                <a:latin typeface="Consolas"/>
              </a:rPr>
              <a:t> url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URL</a:t>
            </a:r>
            <a:r>
              <a:rPr sz="950">
                <a:solidFill>
                  <a:srgbClr val="E8E2FF"/>
                </a:solidFill>
                <a:latin typeface="Consolas"/>
              </a:rPr>
              <a:t>(</a:t>
            </a:r>
            <a:r>
              <a:rPr sz="950">
                <a:solidFill>
                  <a:srgbClr val="FFB3C1"/>
                </a:solidFill>
                <a:latin typeface="Consolas"/>
              </a:rPr>
              <a:t>"https://api.exemple.com/etudiants"</a:t>
            </a:r>
            <a:r>
              <a:rPr sz="95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9D8DF1"/>
                </a:solidFill>
                <a:latin typeface="Consolas"/>
              </a:rPr>
              <a:t>HttpURLConnection</a:t>
            </a:r>
            <a:r>
              <a:rPr sz="950">
                <a:solidFill>
                  <a:srgbClr val="E8E2FF"/>
                </a:solidFill>
                <a:latin typeface="Consolas"/>
              </a:rPr>
              <a:t> con = (</a:t>
            </a:r>
            <a:r>
              <a:rPr sz="950">
                <a:solidFill>
                  <a:srgbClr val="9D8DF1"/>
                </a:solidFill>
                <a:latin typeface="Consolas"/>
              </a:rPr>
              <a:t>HttpURLConnection</a:t>
            </a:r>
            <a:r>
              <a:rPr sz="950">
                <a:solidFill>
                  <a:srgbClr val="E8E2FF"/>
                </a:solidFill>
                <a:latin typeface="Consolas"/>
              </a:rPr>
              <a:t>) url.openConnection();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con.setRequestMethod(</a:t>
            </a:r>
            <a:r>
              <a:rPr sz="950">
                <a:solidFill>
                  <a:srgbClr val="FFB3C1"/>
                </a:solidFill>
                <a:latin typeface="Consolas"/>
              </a:rPr>
              <a:t>"GET"</a:t>
            </a:r>
            <a:r>
              <a:rPr sz="95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con.setRequestProperty(</a:t>
            </a:r>
            <a:r>
              <a:rPr sz="950">
                <a:solidFill>
                  <a:srgbClr val="FFB3C1"/>
                </a:solidFill>
                <a:latin typeface="Consolas"/>
              </a:rPr>
              <a:t>"Accept"</a:t>
            </a:r>
            <a:r>
              <a:rPr sz="950">
                <a:solidFill>
                  <a:srgbClr val="E8E2FF"/>
                </a:solidFill>
                <a:latin typeface="Consolas"/>
              </a:rPr>
              <a:t>, </a:t>
            </a:r>
            <a:r>
              <a:rPr sz="950">
                <a:solidFill>
                  <a:srgbClr val="FFB3C1"/>
                </a:solidFill>
                <a:latin typeface="Consolas"/>
              </a:rPr>
              <a:t>"application/json"</a:t>
            </a:r>
            <a:r>
              <a:rPr sz="95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con.setConnectTimeout(5000);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con.setReadTimeout(10000);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try</a:t>
            </a:r>
            <a:r>
              <a:rPr sz="950">
                <a:solidFill>
                  <a:srgbClr val="E8E2FF"/>
                </a:solidFill>
                <a:latin typeface="Consolas"/>
              </a:rPr>
              <a:t> (</a:t>
            </a:r>
            <a:r>
              <a:rPr sz="950">
                <a:solidFill>
                  <a:srgbClr val="9D8DF1"/>
                </a:solidFill>
                <a:latin typeface="Consolas"/>
              </a:rPr>
              <a:t>BufferedReader</a:t>
            </a:r>
            <a:r>
              <a:rPr sz="950">
                <a:solidFill>
                  <a:srgbClr val="E8E2FF"/>
                </a:solidFill>
                <a:latin typeface="Consolas"/>
              </a:rPr>
              <a:t> r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BufferedReader</a:t>
            </a:r>
            <a:r>
              <a:rPr sz="950">
                <a:solidFill>
                  <a:srgbClr val="E8E2FF"/>
                </a:solidFill>
                <a:latin typeface="Consolas"/>
              </a:rPr>
              <a:t>(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    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InputStreamReader</a:t>
            </a:r>
            <a:r>
              <a:rPr sz="950">
                <a:solidFill>
                  <a:srgbClr val="E8E2FF"/>
                </a:solidFill>
                <a:latin typeface="Consolas"/>
              </a:rPr>
              <a:t>(con.getInputStream())))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StringBuilder sb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StringBuilder();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</a:t>
            </a:r>
            <a:r>
              <a:rPr sz="950">
                <a:solidFill>
                  <a:srgbClr val="9D8DF1"/>
                </a:solidFill>
                <a:latin typeface="Consolas"/>
              </a:rPr>
              <a:t>String</a:t>
            </a:r>
            <a:r>
              <a:rPr sz="950">
                <a:solidFill>
                  <a:srgbClr val="E8E2FF"/>
                </a:solidFill>
                <a:latin typeface="Consolas"/>
              </a:rPr>
              <a:t> ligne;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</a:t>
            </a:r>
            <a:r>
              <a:rPr sz="950">
                <a:solidFill>
                  <a:srgbClr val="FAF33E"/>
                </a:solidFill>
                <a:latin typeface="Consolas"/>
              </a:rPr>
              <a:t>while</a:t>
            </a:r>
            <a:r>
              <a:rPr sz="950">
                <a:solidFill>
                  <a:srgbClr val="E8E2FF"/>
                </a:solidFill>
                <a:latin typeface="Consolas"/>
              </a:rPr>
              <a:t> ((ligne = r.readLine()) != </a:t>
            </a:r>
            <a:r>
              <a:rPr sz="950">
                <a:solidFill>
                  <a:srgbClr val="FAF33E"/>
                </a:solidFill>
                <a:latin typeface="Consolas"/>
              </a:rPr>
              <a:t>null</a:t>
            </a:r>
            <a:r>
              <a:rPr sz="950">
                <a:solidFill>
                  <a:srgbClr val="E8E2FF"/>
                </a:solidFill>
                <a:latin typeface="Consolas"/>
              </a:rPr>
              <a:t>) sb.append(ligne);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</a:t>
            </a:r>
            <a:r>
              <a:rPr sz="950">
                <a:solidFill>
                  <a:srgbClr val="FAF33E"/>
                </a:solidFill>
                <a:latin typeface="Consolas"/>
              </a:rPr>
              <a:t>return</a:t>
            </a:r>
            <a:r>
              <a:rPr sz="950">
                <a:solidFill>
                  <a:srgbClr val="E8E2FF"/>
                </a:solidFill>
                <a:latin typeface="Consolas"/>
              </a:rPr>
              <a:t> sb.toString();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void</a:t>
            </a:r>
            <a:r>
              <a:rPr sz="950">
                <a:solidFill>
                  <a:srgbClr val="E8E2FF"/>
                </a:solidFill>
                <a:latin typeface="Consolas"/>
              </a:rPr>
              <a:t> done()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try</a:t>
            </a:r>
            <a:r>
              <a:rPr sz="950">
                <a:solidFill>
                  <a:srgbClr val="E8E2FF"/>
                </a:solidFill>
                <a:latin typeface="Consolas"/>
              </a:rPr>
              <a:t>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</a:t>
            </a:r>
            <a:r>
              <a:rPr sz="950">
                <a:solidFill>
                  <a:srgbClr val="9D8DF1"/>
                </a:solidFill>
                <a:latin typeface="Consolas"/>
              </a:rPr>
              <a:t>List</a:t>
            </a:r>
            <a:r>
              <a:rPr sz="950">
                <a:solidFill>
                  <a:srgbClr val="E8E2FF"/>
                </a:solidFill>
                <a:latin typeface="Consolas"/>
              </a:rPr>
              <a:t>&lt;Etudiant&gt; liste = parserJson(get());   </a:t>
            </a:r>
            <a:r>
              <a:rPr sz="950">
                <a:solidFill>
                  <a:srgbClr val="9990B8"/>
                </a:solidFill>
                <a:latin typeface="Consolas"/>
              </a:rPr>
              <a:t>// ex : Gson, Jackson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afficherDansTable(liste);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 </a:t>
            </a:r>
            <a:r>
              <a:rPr sz="950">
                <a:solidFill>
                  <a:srgbClr val="FAF33E"/>
                </a:solidFill>
                <a:latin typeface="Consolas"/>
              </a:rPr>
              <a:t>catch</a:t>
            </a:r>
            <a:r>
              <a:rPr sz="950">
                <a:solidFill>
                  <a:srgbClr val="E8E2FF"/>
                </a:solidFill>
                <a:latin typeface="Consolas"/>
              </a:rPr>
              <a:t> (</a:t>
            </a:r>
            <a:r>
              <a:rPr sz="950">
                <a:solidFill>
                  <a:srgbClr val="9D8DF1"/>
                </a:solidFill>
                <a:latin typeface="Consolas"/>
              </a:rPr>
              <a:t>Exception</a:t>
            </a:r>
            <a:r>
              <a:rPr sz="950">
                <a:solidFill>
                  <a:srgbClr val="E8E2FF"/>
                </a:solidFill>
                <a:latin typeface="Consolas"/>
              </a:rPr>
              <a:t> ex)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erreur.setText(</a:t>
            </a:r>
            <a:r>
              <a:rPr sz="950">
                <a:solidFill>
                  <a:srgbClr val="FFB3C1"/>
                </a:solidFill>
                <a:latin typeface="Consolas"/>
              </a:rPr>
              <a:t>"API indisponible : "</a:t>
            </a:r>
            <a:r>
              <a:rPr sz="950">
                <a:solidFill>
                  <a:srgbClr val="E8E2FF"/>
                </a:solidFill>
                <a:latin typeface="Consolas"/>
              </a:rPr>
              <a:t> + ex.getMessage());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}.execute();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23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5. CHARGER DES DONNÉES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Mettre à jour une JTable dynamiquement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Toujours passer par le DefaultTableModel — jamais modifier la JTable directement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7315200" cy="493776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6949440" cy="4709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950">
                <a:solidFill>
                  <a:srgbClr val="9990B8"/>
                </a:solidFill>
                <a:latin typeface="Consolas"/>
              </a:rPr>
              <a:t>// Création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D8DF1"/>
                </a:solidFill>
                <a:latin typeface="Consolas"/>
              </a:rPr>
              <a:t>String</a:t>
            </a:r>
            <a:r>
              <a:rPr sz="950">
                <a:solidFill>
                  <a:srgbClr val="E8E2FF"/>
                </a:solidFill>
                <a:latin typeface="Consolas"/>
              </a:rPr>
              <a:t>[] cols = {</a:t>
            </a:r>
            <a:r>
              <a:rPr sz="950">
                <a:solidFill>
                  <a:srgbClr val="FFB3C1"/>
                </a:solidFill>
                <a:latin typeface="Consolas"/>
              </a:rPr>
              <a:t>"ID"</a:t>
            </a:r>
            <a:r>
              <a:rPr sz="950">
                <a:solidFill>
                  <a:srgbClr val="E8E2FF"/>
                </a:solidFill>
                <a:latin typeface="Consolas"/>
              </a:rPr>
              <a:t>, </a:t>
            </a:r>
            <a:r>
              <a:rPr sz="950">
                <a:solidFill>
                  <a:srgbClr val="FFB3C1"/>
                </a:solidFill>
                <a:latin typeface="Consolas"/>
              </a:rPr>
              <a:t>"Nom"</a:t>
            </a:r>
            <a:r>
              <a:rPr sz="950">
                <a:solidFill>
                  <a:srgbClr val="E8E2FF"/>
                </a:solidFill>
                <a:latin typeface="Consolas"/>
              </a:rPr>
              <a:t>, </a:t>
            </a:r>
            <a:r>
              <a:rPr sz="950">
                <a:solidFill>
                  <a:srgbClr val="FFB3C1"/>
                </a:solidFill>
                <a:latin typeface="Consolas"/>
              </a:rPr>
              <a:t>"Prénom"</a:t>
            </a:r>
            <a:r>
              <a:rPr sz="950">
                <a:solidFill>
                  <a:srgbClr val="E8E2FF"/>
                </a:solidFill>
                <a:latin typeface="Consolas"/>
              </a:rPr>
              <a:t>, </a:t>
            </a:r>
            <a:r>
              <a:rPr sz="950">
                <a:solidFill>
                  <a:srgbClr val="FFB3C1"/>
                </a:solidFill>
                <a:latin typeface="Consolas"/>
              </a:rPr>
              <a:t>"Note"</a:t>
            </a:r>
            <a:r>
              <a:rPr sz="950">
                <a:solidFill>
                  <a:srgbClr val="E8E2FF"/>
                </a:solidFill>
                <a:latin typeface="Consolas"/>
              </a:rPr>
              <a:t>};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D8DF1"/>
                </a:solidFill>
                <a:latin typeface="Consolas"/>
              </a:rPr>
              <a:t>DefaultTableModel</a:t>
            </a:r>
            <a:r>
              <a:rPr sz="950">
                <a:solidFill>
                  <a:srgbClr val="E8E2FF"/>
                </a:solidFill>
                <a:latin typeface="Consolas"/>
              </a:rPr>
              <a:t> modele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DefaultTableModel</a:t>
            </a:r>
            <a:r>
              <a:rPr sz="950">
                <a:solidFill>
                  <a:srgbClr val="E8E2FF"/>
                </a:solidFill>
                <a:latin typeface="Consolas"/>
              </a:rPr>
              <a:t>(cols, 0);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D8DF1"/>
                </a:solidFill>
                <a:latin typeface="Consolas"/>
              </a:rPr>
              <a:t>JTable</a:t>
            </a:r>
            <a:r>
              <a:rPr sz="950">
                <a:solidFill>
                  <a:srgbClr val="E8E2FF"/>
                </a:solidFill>
                <a:latin typeface="Consolas"/>
              </a:rPr>
              <a:t> table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JTable</a:t>
            </a:r>
            <a:r>
              <a:rPr sz="950">
                <a:solidFill>
                  <a:srgbClr val="E8E2FF"/>
                </a:solidFill>
                <a:latin typeface="Consolas"/>
              </a:rPr>
              <a:t>(modele);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990B8"/>
                </a:solidFill>
                <a:latin typeface="Consolas"/>
              </a:rPr>
              <a:t>// Ajouter une ligne (sur l'EDT)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modele.addRow(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Object</a:t>
            </a:r>
            <a:r>
              <a:rPr sz="950">
                <a:solidFill>
                  <a:srgbClr val="E8E2FF"/>
                </a:solidFill>
                <a:latin typeface="Consolas"/>
              </a:rPr>
              <a:t>[]{1, </a:t>
            </a:r>
            <a:r>
              <a:rPr sz="950">
                <a:solidFill>
                  <a:srgbClr val="FFB3C1"/>
                </a:solidFill>
                <a:latin typeface="Consolas"/>
              </a:rPr>
              <a:t>"Ndiaye"</a:t>
            </a:r>
            <a:r>
              <a:rPr sz="950">
                <a:solidFill>
                  <a:srgbClr val="E8E2FF"/>
                </a:solidFill>
                <a:latin typeface="Consolas"/>
              </a:rPr>
              <a:t>, </a:t>
            </a:r>
            <a:r>
              <a:rPr sz="950">
                <a:solidFill>
                  <a:srgbClr val="FFB3C1"/>
                </a:solidFill>
                <a:latin typeface="Consolas"/>
              </a:rPr>
              <a:t>"Awa"</a:t>
            </a:r>
            <a:r>
              <a:rPr sz="950">
                <a:solidFill>
                  <a:srgbClr val="E8E2FF"/>
                </a:solidFill>
                <a:latin typeface="Consolas"/>
              </a:rPr>
              <a:t>, 15.5});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990B8"/>
                </a:solidFill>
                <a:latin typeface="Consolas"/>
              </a:rPr>
              <a:t>// Vider tout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modele.setRowCount(0);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990B8"/>
                </a:solidFill>
                <a:latin typeface="Consolas"/>
              </a:rPr>
              <a:t>// Supprimer la ligne sélectionnée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D8DF1"/>
                </a:solidFill>
                <a:latin typeface="Consolas"/>
              </a:rPr>
              <a:t>int</a:t>
            </a:r>
            <a:r>
              <a:rPr sz="950">
                <a:solidFill>
                  <a:srgbClr val="E8E2FF"/>
                </a:solidFill>
                <a:latin typeface="Consolas"/>
              </a:rPr>
              <a:t> row = table.getSelectedRow();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FAF33E"/>
                </a:solidFill>
                <a:latin typeface="Consolas"/>
              </a:rPr>
              <a:t>if</a:t>
            </a:r>
            <a:r>
              <a:rPr sz="950">
                <a:solidFill>
                  <a:srgbClr val="E8E2FF"/>
                </a:solidFill>
                <a:latin typeface="Consolas"/>
              </a:rPr>
              <a:t> (row &gt;= 0) modele.removeRow(table.convertRowIndexToModel(row));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990B8"/>
                </a:solidFill>
                <a:latin typeface="Consolas"/>
              </a:rPr>
              <a:t>// Modifier une cellule (valeur, ligne, colonne)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modele.setValueAt(18.0, row, 3);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990B8"/>
                </a:solidFill>
                <a:latin typeface="Consolas"/>
              </a:rPr>
              <a:t>// Recharger toutes les données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modele.setRowCount(0);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FAF33E"/>
                </a:solidFill>
                <a:latin typeface="Consolas"/>
              </a:rPr>
              <a:t>for</a:t>
            </a:r>
            <a:r>
              <a:rPr sz="950">
                <a:solidFill>
                  <a:srgbClr val="E8E2FF"/>
                </a:solidFill>
                <a:latin typeface="Consolas"/>
              </a:rPr>
              <a:t> (Etudiant e : nouvelleListe)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modele.addRow(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Object</a:t>
            </a:r>
            <a:r>
              <a:rPr sz="950">
                <a:solidFill>
                  <a:srgbClr val="E8E2FF"/>
                </a:solidFill>
                <a:latin typeface="Consolas"/>
              </a:rPr>
              <a:t>[]{e.id, e.nom, e.prenom, e.note});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91640"/>
            <a:ext cx="3474720" cy="493776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38160" y="1691640"/>
            <a:ext cx="73152" cy="493776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21C35"/>
                </a:solidFill>
                <a:latin typeface="Calibri"/>
              </a:rPr>
              <a:t>Règles d'or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94560"/>
            <a:ext cx="3200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✓ Toujours utiliser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  DefaultTableModel</a:t>
            </a:r>
          </a:p>
          <a:p>
            <a:pPr>
              <a:lnSpc>
                <a:spcPct val="125000"/>
              </a:lnSpc>
            </a:pPr>
            <a:endParaRPr sz="1050" b="0" i="0">
              <a:solidFill>
                <a:srgbClr val="221C35"/>
              </a:solidFill>
              <a:latin typeface="Calibri"/>
            </a:endParaRP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✓ Modifier le modèle,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  pas la JTable</a:t>
            </a:r>
          </a:p>
          <a:p>
            <a:pPr>
              <a:lnSpc>
                <a:spcPct val="125000"/>
              </a:lnSpc>
            </a:pPr>
            <a:endParaRPr sz="1050" b="0" i="0">
              <a:solidFill>
                <a:srgbClr val="221C35"/>
              </a:solidFill>
              <a:latin typeface="Calibri"/>
            </a:endParaRP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✓ Toutes les modifs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  sur l'EDT</a:t>
            </a:r>
          </a:p>
          <a:p>
            <a:pPr>
              <a:lnSpc>
                <a:spcPct val="125000"/>
              </a:lnSpc>
            </a:pPr>
            <a:endParaRPr sz="1050" b="0" i="0">
              <a:solidFill>
                <a:srgbClr val="221C35"/>
              </a:solidFill>
              <a:latin typeface="Calibri"/>
            </a:endParaRP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✓ Pour 1000+ lignes,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  batcher les ajouts</a:t>
            </a:r>
          </a:p>
          <a:p>
            <a:pPr>
              <a:lnSpc>
                <a:spcPct val="125000"/>
              </a:lnSpc>
            </a:pPr>
            <a:endParaRPr sz="1050" b="0" i="0">
              <a:solidFill>
                <a:srgbClr val="221C35"/>
              </a:solidFill>
              <a:latin typeface="Calibri"/>
            </a:endParaRP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✗ Ne pas modifier</a:t>
            </a:r>
          </a:p>
          <a:p>
            <a:pPr>
              <a:lnSpc>
                <a:spcPct val="125000"/>
              </a:lnSpc>
            </a:pPr>
            <a:r>
              <a:rPr sz="1050" b="0" i="0">
                <a:solidFill>
                  <a:srgbClr val="221C35"/>
                </a:solidFill>
                <a:latin typeface="Calibri"/>
              </a:rPr>
              <a:t>  pendant un tri actif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24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5. CHARGER DES DONNÉES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JProgressBar — afficher la progression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Lier la barre de progression au SwingWorker via PropertyChangeListener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10972800" cy="493776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10607040" cy="4709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950">
                <a:solidFill>
                  <a:srgbClr val="9D8DF1"/>
                </a:solidFill>
                <a:latin typeface="Consolas"/>
              </a:rPr>
              <a:t>JProgressBar</a:t>
            </a:r>
            <a:r>
              <a:rPr sz="950">
                <a:solidFill>
                  <a:srgbClr val="E8E2FF"/>
                </a:solidFill>
                <a:latin typeface="Consolas"/>
              </a:rPr>
              <a:t> barre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JProgressBar</a:t>
            </a:r>
            <a:r>
              <a:rPr sz="950">
                <a:solidFill>
                  <a:srgbClr val="E8E2FF"/>
                </a:solidFill>
                <a:latin typeface="Consolas"/>
              </a:rPr>
              <a:t>(0, 100);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barre.setStringPainted(</a:t>
            </a:r>
            <a:r>
              <a:rPr sz="950">
                <a:solidFill>
                  <a:srgbClr val="FAF33E"/>
                </a:solidFill>
                <a:latin typeface="Consolas"/>
              </a:rPr>
              <a:t>true</a:t>
            </a:r>
            <a:r>
              <a:rPr sz="950">
                <a:solidFill>
                  <a:srgbClr val="E8E2FF"/>
                </a:solidFill>
                <a:latin typeface="Consolas"/>
              </a:rPr>
              <a:t>);              </a:t>
            </a:r>
            <a:r>
              <a:rPr sz="950">
                <a:solidFill>
                  <a:srgbClr val="9990B8"/>
                </a:solidFill>
                <a:latin typeface="Consolas"/>
              </a:rPr>
              <a:t>// afficher "42%"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9990B8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D8DF1"/>
                </a:solidFill>
                <a:latin typeface="Consolas"/>
              </a:rPr>
              <a:t>SwingWorker</a:t>
            </a:r>
            <a:r>
              <a:rPr sz="950">
                <a:solidFill>
                  <a:srgbClr val="E8E2FF"/>
                </a:solidFill>
                <a:latin typeface="Consolas"/>
              </a:rPr>
              <a:t>&lt;Void, Void&gt; worker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SwingWorker</a:t>
            </a:r>
            <a:r>
              <a:rPr sz="950">
                <a:solidFill>
                  <a:srgbClr val="E8E2FF"/>
                </a:solidFill>
                <a:latin typeface="Consolas"/>
              </a:rPr>
              <a:t>&lt;&gt;()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Void doInBackground()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for</a:t>
            </a:r>
            <a:r>
              <a:rPr sz="950">
                <a:solidFill>
                  <a:srgbClr val="E8E2FF"/>
                </a:solidFill>
                <a:latin typeface="Consolas"/>
              </a:rPr>
              <a:t> (</a:t>
            </a:r>
            <a:r>
              <a:rPr sz="950">
                <a:solidFill>
                  <a:srgbClr val="9D8DF1"/>
                </a:solidFill>
                <a:latin typeface="Consolas"/>
              </a:rPr>
              <a:t>int</a:t>
            </a:r>
            <a:r>
              <a:rPr sz="950">
                <a:solidFill>
                  <a:srgbClr val="E8E2FF"/>
                </a:solidFill>
                <a:latin typeface="Consolas"/>
              </a:rPr>
              <a:t> i = 0; i &lt;= 100; i++)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</a:t>
            </a:r>
            <a:r>
              <a:rPr sz="950">
                <a:solidFill>
                  <a:srgbClr val="9D8DF1"/>
                </a:solidFill>
                <a:latin typeface="Consolas"/>
              </a:rPr>
              <a:t>Thread</a:t>
            </a:r>
            <a:r>
              <a:rPr sz="950">
                <a:solidFill>
                  <a:srgbClr val="E8E2FF"/>
                </a:solidFill>
                <a:latin typeface="Consolas"/>
              </a:rPr>
              <a:t>.sleep(30);              </a:t>
            </a:r>
            <a:r>
              <a:rPr sz="950">
                <a:solidFill>
                  <a:srgbClr val="9990B8"/>
                </a:solidFill>
                <a:latin typeface="Consolas"/>
              </a:rPr>
              <a:t>// simule du travail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setProgress(i);                </a:t>
            </a:r>
            <a:r>
              <a:rPr sz="950">
                <a:solidFill>
                  <a:srgbClr val="9990B8"/>
                </a:solidFill>
                <a:latin typeface="Consolas"/>
              </a:rPr>
              <a:t>// 0..100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return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null</a:t>
            </a:r>
            <a:r>
              <a:rPr sz="950">
                <a:solidFill>
                  <a:srgbClr val="E8E2FF"/>
                </a:solidFill>
                <a:latin typeface="Consolas"/>
              </a:rPr>
              <a:t>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};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990B8"/>
                </a:solidFill>
                <a:latin typeface="Consolas"/>
              </a:rPr>
              <a:t>// Connecter le worker à la barre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worker.addPropertyChangeListener(evt -&gt;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if</a:t>
            </a:r>
            <a:r>
              <a:rPr sz="950">
                <a:solidFill>
                  <a:srgbClr val="E8E2FF"/>
                </a:solidFill>
                <a:latin typeface="Consolas"/>
              </a:rPr>
              <a:t> (</a:t>
            </a:r>
            <a:r>
              <a:rPr sz="950">
                <a:solidFill>
                  <a:srgbClr val="FFB3C1"/>
                </a:solidFill>
                <a:latin typeface="Consolas"/>
              </a:rPr>
              <a:t>"progress"</a:t>
            </a:r>
            <a:r>
              <a:rPr sz="950">
                <a:solidFill>
                  <a:srgbClr val="E8E2FF"/>
                </a:solidFill>
                <a:latin typeface="Consolas"/>
              </a:rPr>
              <a:t>.equals(evt.getPropertyName()))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barre.setValue((</a:t>
            </a:r>
            <a:r>
              <a:rPr sz="950">
                <a:solidFill>
                  <a:srgbClr val="9D8DF1"/>
                </a:solidFill>
                <a:latin typeface="Consolas"/>
              </a:rPr>
              <a:t>Integer</a:t>
            </a:r>
            <a:r>
              <a:rPr sz="950">
                <a:solidFill>
                  <a:srgbClr val="E8E2FF"/>
                </a:solidFill>
                <a:latin typeface="Consolas"/>
              </a:rPr>
              <a:t>) evt.getNewValue());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});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worker.execute();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990B8"/>
                </a:solidFill>
                <a:latin typeface="Consolas"/>
              </a:rPr>
              <a:t>// Mode indéterminé (durée inconnue) :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barre.setIndeterminate(</a:t>
            </a:r>
            <a:r>
              <a:rPr sz="950">
                <a:solidFill>
                  <a:srgbClr val="FAF33E"/>
                </a:solidFill>
                <a:latin typeface="Consolas"/>
              </a:rPr>
              <a:t>true</a:t>
            </a:r>
            <a:r>
              <a:rPr sz="950">
                <a:solidFill>
                  <a:srgbClr val="E8E2FF"/>
                </a:solidFill>
                <a:latin typeface="Consolas"/>
              </a:rPr>
              <a:t>);   </a:t>
            </a:r>
            <a:r>
              <a:rPr sz="950">
                <a:solidFill>
                  <a:srgbClr val="9990B8"/>
                </a:solidFill>
                <a:latin typeface="Consolas"/>
              </a:rPr>
              <a:t>// animation va-et-vient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25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4. TÂCHES LONGUES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Annuler une tâche — cancel()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Permettre à l'utilisateur d'interrompre un téléchargement, un calcul, une recherche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10972800" cy="493776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856232"/>
            <a:ext cx="10607040" cy="4709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950">
                <a:solidFill>
                  <a:srgbClr val="9D8DF1"/>
                </a:solidFill>
                <a:latin typeface="Consolas"/>
              </a:rPr>
              <a:t>SwingWorker</a:t>
            </a:r>
            <a:r>
              <a:rPr sz="950">
                <a:solidFill>
                  <a:srgbClr val="E8E2FF"/>
                </a:solidFill>
                <a:latin typeface="Consolas"/>
              </a:rPr>
              <a:t>&lt;Void, Void&gt; worker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SwingWorker</a:t>
            </a:r>
            <a:r>
              <a:rPr sz="950">
                <a:solidFill>
                  <a:srgbClr val="E8E2FF"/>
                </a:solidFill>
                <a:latin typeface="Consolas"/>
              </a:rPr>
              <a:t>&lt;&gt;()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Void doInBackground() </a:t>
            </a:r>
            <a:r>
              <a:rPr sz="950">
                <a:solidFill>
                  <a:srgbClr val="FAF33E"/>
                </a:solidFill>
                <a:latin typeface="Consolas"/>
              </a:rPr>
              <a:t>throws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Exception</a:t>
            </a:r>
            <a:r>
              <a:rPr sz="950">
                <a:solidFill>
                  <a:srgbClr val="E8E2FF"/>
                </a:solidFill>
                <a:latin typeface="Consolas"/>
              </a:rPr>
              <a:t>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for</a:t>
            </a:r>
            <a:r>
              <a:rPr sz="950">
                <a:solidFill>
                  <a:srgbClr val="E8E2FF"/>
                </a:solidFill>
                <a:latin typeface="Consolas"/>
              </a:rPr>
              <a:t> (</a:t>
            </a:r>
            <a:r>
              <a:rPr sz="950">
                <a:solidFill>
                  <a:srgbClr val="9D8DF1"/>
                </a:solidFill>
                <a:latin typeface="Consolas"/>
              </a:rPr>
              <a:t>int</a:t>
            </a:r>
            <a:r>
              <a:rPr sz="950">
                <a:solidFill>
                  <a:srgbClr val="E8E2FF"/>
                </a:solidFill>
                <a:latin typeface="Consolas"/>
              </a:rPr>
              <a:t> i = 0; i &lt; 1000; i++)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</a:t>
            </a:r>
            <a:r>
              <a:rPr sz="950">
                <a:solidFill>
                  <a:srgbClr val="9990B8"/>
                </a:solidFill>
                <a:latin typeface="Consolas"/>
              </a:rPr>
              <a:t>// Vérifier l'annulation à chaque itération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</a:t>
            </a:r>
            <a:r>
              <a:rPr sz="950">
                <a:solidFill>
                  <a:srgbClr val="FAF33E"/>
                </a:solidFill>
                <a:latin typeface="Consolas"/>
              </a:rPr>
              <a:t>if</a:t>
            </a:r>
            <a:r>
              <a:rPr sz="950">
                <a:solidFill>
                  <a:srgbClr val="E8E2FF"/>
                </a:solidFill>
                <a:latin typeface="Consolas"/>
              </a:rPr>
              <a:t> (isCancelled())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    </a:t>
            </a:r>
            <a:r>
              <a:rPr sz="950">
                <a:solidFill>
                  <a:srgbClr val="FAF33E"/>
                </a:solidFill>
                <a:latin typeface="Consolas"/>
              </a:rPr>
              <a:t>return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null</a:t>
            </a:r>
            <a:r>
              <a:rPr sz="950">
                <a:solidFill>
                  <a:srgbClr val="E8E2FF"/>
                </a:solidFill>
                <a:latin typeface="Consolas"/>
              </a:rPr>
              <a:t>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traiterElement(i);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setProgress(i / 10);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return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null</a:t>
            </a:r>
            <a:r>
              <a:rPr sz="950">
                <a:solidFill>
                  <a:srgbClr val="E8E2FF"/>
                </a:solidFill>
                <a:latin typeface="Consolas"/>
              </a:rPr>
              <a:t>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@Override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protected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void</a:t>
            </a:r>
            <a:r>
              <a:rPr sz="950">
                <a:solidFill>
                  <a:srgbClr val="E8E2FF"/>
                </a:solidFill>
                <a:latin typeface="Consolas"/>
              </a:rPr>
              <a:t> done()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if</a:t>
            </a:r>
            <a:r>
              <a:rPr sz="950">
                <a:solidFill>
                  <a:srgbClr val="E8E2FF"/>
                </a:solidFill>
                <a:latin typeface="Consolas"/>
              </a:rPr>
              <a:t> (isCancelled())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statut.setText(</a:t>
            </a:r>
            <a:r>
              <a:rPr sz="950">
                <a:solidFill>
                  <a:srgbClr val="FFB3C1"/>
                </a:solidFill>
                <a:latin typeface="Consolas"/>
              </a:rPr>
              <a:t>"⛔ Annulé par l'utilisateur"</a:t>
            </a:r>
            <a:r>
              <a:rPr sz="95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 </a:t>
            </a:r>
            <a:r>
              <a:rPr sz="950">
                <a:solidFill>
                  <a:srgbClr val="FAF33E"/>
                </a:solidFill>
                <a:latin typeface="Consolas"/>
              </a:rPr>
              <a:t>else</a:t>
            </a:r>
            <a:r>
              <a:rPr sz="950">
                <a:solidFill>
                  <a:srgbClr val="E8E2FF"/>
                </a:solidFill>
                <a:latin typeface="Consolas"/>
              </a:rPr>
              <a:t>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    statut.setText(</a:t>
            </a:r>
            <a:r>
              <a:rPr sz="950">
                <a:solidFill>
                  <a:srgbClr val="FFB3C1"/>
                </a:solidFill>
                <a:latin typeface="Consolas"/>
              </a:rPr>
              <a:t>"✓ Terminé"</a:t>
            </a:r>
            <a:r>
              <a:rPr sz="95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};</a:t>
            </a:r>
          </a:p>
          <a:p>
            <a:pPr>
              <a:lnSpc>
                <a:spcPct val="108000"/>
              </a:lnSpc>
            </a:pPr>
            <a:endParaRPr sz="950">
              <a:solidFill>
                <a:srgbClr val="E8E2FF"/>
              </a:solidFill>
              <a:latin typeface="Consolas"/>
            </a:endParaRP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9D8DF1"/>
                </a:solidFill>
                <a:latin typeface="Consolas"/>
              </a:rPr>
              <a:t>JButton</a:t>
            </a:r>
            <a:r>
              <a:rPr sz="950">
                <a:solidFill>
                  <a:srgbClr val="E8E2FF"/>
                </a:solidFill>
                <a:latin typeface="Consolas"/>
              </a:rPr>
              <a:t> annuler = </a:t>
            </a:r>
            <a:r>
              <a:rPr sz="950">
                <a:solidFill>
                  <a:srgbClr val="FAF33E"/>
                </a:solidFill>
                <a:latin typeface="Consolas"/>
              </a:rPr>
              <a:t>new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9D8DF1"/>
                </a:solidFill>
                <a:latin typeface="Consolas"/>
              </a:rPr>
              <a:t>JButton</a:t>
            </a:r>
            <a:r>
              <a:rPr sz="950">
                <a:solidFill>
                  <a:srgbClr val="E8E2FF"/>
                </a:solidFill>
                <a:latin typeface="Consolas"/>
              </a:rPr>
              <a:t>(</a:t>
            </a:r>
            <a:r>
              <a:rPr sz="950">
                <a:solidFill>
                  <a:srgbClr val="FFB3C1"/>
                </a:solidFill>
                <a:latin typeface="Consolas"/>
              </a:rPr>
              <a:t>"Annuler"</a:t>
            </a:r>
            <a:r>
              <a:rPr sz="950">
                <a:solidFill>
                  <a:srgbClr val="E8E2FF"/>
                </a:solidFill>
                <a:latin typeface="Consolas"/>
              </a:rPr>
              <a:t>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annuler.addActionListener(e -&gt; worker.cancel(</a:t>
            </a:r>
            <a:r>
              <a:rPr sz="950">
                <a:solidFill>
                  <a:srgbClr val="FAF33E"/>
                </a:solidFill>
                <a:latin typeface="Consolas"/>
              </a:rPr>
              <a:t>true</a:t>
            </a:r>
            <a:r>
              <a:rPr sz="950">
                <a:solidFill>
                  <a:srgbClr val="E8E2FF"/>
                </a:solidFill>
                <a:latin typeface="Consolas"/>
              </a:rPr>
              <a:t>));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worker.execute();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6B2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3840480"/>
            <a:ext cx="3657600" cy="3657600"/>
          </a:xfrm>
          <a:prstGeom prst="ellipse">
            <a:avLst/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875520" y="4114800"/>
            <a:ext cx="3657600" cy="3657600"/>
          </a:xfrm>
          <a:prstGeom prst="ellipse">
            <a:avLst/>
          </a:prstGeom>
          <a:solidFill>
            <a:srgbClr val="8B7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2286000"/>
            <a:ext cx="164592" cy="228600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E85D75"/>
                </a:solidFill>
                <a:latin typeface="Calibri"/>
              </a:rPr>
              <a:t>PARTIE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AFAFF"/>
                </a:solidFill>
                <a:latin typeface="Calibri"/>
              </a:rPr>
              <a:t>Patterns &amp; bonnes pratiques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9990B8"/>
                </a:solidFill>
                <a:latin typeface="Calibri"/>
              </a:rPr>
              <a:t>Architecturer son application : MVC, Observer, séparation des responsabilités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27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6. PATTERNS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Le pattern MVC en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Modèle / Vue / Contrôleur : séparer les données, l'affichage et la logique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3611880" cy="2377440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73152" cy="237744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68680" y="2331720"/>
            <a:ext cx="502920" cy="502920"/>
          </a:xfrm>
          <a:prstGeom prst="ellipse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08760" y="235000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221C35"/>
                </a:solidFill>
                <a:latin typeface="Calibri"/>
              </a:rPr>
              <a:t>MODÈLE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3154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D8DF1"/>
                </a:solidFill>
                <a:latin typeface="Consolas"/>
              </a:rPr>
              <a:t>Etudiant.java
EtudiantDAO.java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57600"/>
            <a:ext cx="3154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Données pures + accès
Indépendant de l'UI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03120"/>
            <a:ext cx="3611880" cy="2377440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89120" y="2103120"/>
            <a:ext cx="73152" cy="237744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617720" y="2331720"/>
            <a:ext cx="502920" cy="502920"/>
          </a:xfrm>
          <a:prstGeom prst="ellipse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57800" y="235000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221C35"/>
                </a:solidFill>
                <a:latin typeface="Calibri"/>
              </a:rPr>
              <a:t>VUE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971800"/>
            <a:ext cx="3154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D8DF1"/>
                </a:solidFill>
                <a:latin typeface="Consolas"/>
              </a:rPr>
              <a:t>EtudiantPanel.java
EtudiantDialog.java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657600"/>
            <a:ext cx="3154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Composants Swing
Affichage uniquement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2103120"/>
            <a:ext cx="3611880" cy="2377440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2103120"/>
            <a:ext cx="73152" cy="237744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366760" y="2331720"/>
            <a:ext cx="502920" cy="50292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06840" y="235000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221C35"/>
                </a:solidFill>
                <a:latin typeface="Calibri"/>
              </a:rPr>
              <a:t>CONTRÔLEUR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971800"/>
            <a:ext cx="3154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9D8DF1"/>
                </a:solidFill>
                <a:latin typeface="Consolas"/>
              </a:rPr>
              <a:t>EtudiantController.java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657600"/>
            <a:ext cx="3154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5F8C"/>
                </a:solidFill>
                <a:latin typeface="Calibri"/>
              </a:rPr>
              <a:t>Reçoit événements
Met à jour modèle &amp; vue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663440"/>
            <a:ext cx="10972800" cy="1965960"/>
          </a:xfrm>
          <a:prstGeom prst="roundRect">
            <a:avLst>
              <a:gd name="adj" fmla="val 4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8" y="4828032"/>
            <a:ext cx="106070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950">
                <a:solidFill>
                  <a:srgbClr val="9990B8"/>
                </a:solidFill>
                <a:latin typeface="Consolas"/>
              </a:rPr>
              <a:t>// Le contrôleur écoute la vue, agit sur le modèle, rafraîchit la vue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FAF33E"/>
                </a:solidFill>
                <a:latin typeface="Consolas"/>
              </a:rPr>
              <a:t>public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class</a:t>
            </a:r>
            <a:r>
              <a:rPr sz="950">
                <a:solidFill>
                  <a:srgbClr val="E8E2FF"/>
                </a:solidFill>
                <a:latin typeface="Consolas"/>
              </a:rPr>
              <a:t> EtudiantController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private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final</a:t>
            </a:r>
            <a:r>
              <a:rPr sz="950">
                <a:solidFill>
                  <a:srgbClr val="E8E2FF"/>
                </a:solidFill>
                <a:latin typeface="Consolas"/>
              </a:rPr>
              <a:t> EtudiantDAO  modele;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private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final</a:t>
            </a:r>
            <a:r>
              <a:rPr sz="950">
                <a:solidFill>
                  <a:srgbClr val="E8E2FF"/>
                </a:solidFill>
                <a:latin typeface="Consolas"/>
              </a:rPr>
              <a:t> EtudiantPanel vue;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public</a:t>
            </a:r>
            <a:r>
              <a:rPr sz="950">
                <a:solidFill>
                  <a:srgbClr val="E8E2FF"/>
                </a:solidFill>
                <a:latin typeface="Consolas"/>
              </a:rPr>
              <a:t> EtudiantController(EtudiantDAO m, EtudiantPanel v) {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</a:t>
            </a:r>
            <a:r>
              <a:rPr sz="950">
                <a:solidFill>
                  <a:srgbClr val="FAF33E"/>
                </a:solidFill>
                <a:latin typeface="Consolas"/>
              </a:rPr>
              <a:t>this</a:t>
            </a:r>
            <a:r>
              <a:rPr sz="950">
                <a:solidFill>
                  <a:srgbClr val="E8E2FF"/>
                </a:solidFill>
                <a:latin typeface="Consolas"/>
              </a:rPr>
              <a:t>.modele = m;  </a:t>
            </a:r>
            <a:r>
              <a:rPr sz="950">
                <a:solidFill>
                  <a:srgbClr val="FAF33E"/>
                </a:solidFill>
                <a:latin typeface="Consolas"/>
              </a:rPr>
              <a:t>this</a:t>
            </a:r>
            <a:r>
              <a:rPr sz="950">
                <a:solidFill>
                  <a:srgbClr val="E8E2FF"/>
                </a:solidFill>
                <a:latin typeface="Consolas"/>
              </a:rPr>
              <a:t>.vue = v;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    vue.btnAjouter().addActionListener(e -&gt; ajouter());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    </a:t>
            </a:r>
            <a:r>
              <a:rPr sz="950">
                <a:solidFill>
                  <a:srgbClr val="FAF33E"/>
                </a:solidFill>
                <a:latin typeface="Consolas"/>
              </a:rPr>
              <a:t>private</a:t>
            </a:r>
            <a:r>
              <a:rPr sz="950">
                <a:solidFill>
                  <a:srgbClr val="E8E2FF"/>
                </a:solidFill>
                <a:latin typeface="Consolas"/>
              </a:rPr>
              <a:t> </a:t>
            </a:r>
            <a:r>
              <a:rPr sz="950">
                <a:solidFill>
                  <a:srgbClr val="FAF33E"/>
                </a:solidFill>
                <a:latin typeface="Consolas"/>
              </a:rPr>
              <a:t>void</a:t>
            </a:r>
            <a:r>
              <a:rPr sz="950">
                <a:solidFill>
                  <a:srgbClr val="E8E2FF"/>
                </a:solidFill>
                <a:latin typeface="Consolas"/>
              </a:rPr>
              <a:t> ajouter() { /* … */ }</a:t>
            </a:r>
          </a:p>
          <a:p>
            <a:pPr>
              <a:lnSpc>
                <a:spcPct val="108000"/>
              </a:lnSpc>
            </a:pPr>
            <a:r>
              <a:rPr sz="950">
                <a:solidFill>
                  <a:srgbClr val="E8E2F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28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6. PATTERNS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Bonnes pratiques — événements &amp; données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Les 8 règles à suivre pour un code Swing dynamique propre et performant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5440680" cy="4297680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85623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9D8DF1"/>
                </a:solidFill>
                <a:latin typeface="Calibri"/>
              </a:rPr>
              <a:t>À FAIRE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2331720"/>
            <a:ext cx="292608" cy="292608"/>
          </a:xfrm>
          <a:prstGeom prst="ellipse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3317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AFA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4663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221C35"/>
                </a:solidFill>
                <a:latin typeface="Calibri"/>
              </a:rPr>
              <a:t>Toujours wrapper le main avec invokeLater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200400"/>
            <a:ext cx="292608" cy="292608"/>
          </a:xfrm>
          <a:prstGeom prst="ellipse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20040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AFA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3268980"/>
            <a:ext cx="4663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221C35"/>
                </a:solidFill>
                <a:latin typeface="Calibri"/>
              </a:rPr>
              <a:t>Utiliser</a:t>
            </a:r>
            <a:r>
              <a:rPr sz="1200" b="0" i="0" dirty="0">
                <a:solidFill>
                  <a:srgbClr val="221C35"/>
                </a:solidFill>
                <a:latin typeface="Calibri"/>
              </a:rPr>
              <a:t> des lambdas pour les listeners simples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069080"/>
            <a:ext cx="292608" cy="292608"/>
          </a:xfrm>
          <a:prstGeom prst="ellipse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AFA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023360"/>
            <a:ext cx="4663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221C35"/>
                </a:solidFill>
                <a:latin typeface="Calibri"/>
              </a:rPr>
              <a:t>SwingWorker pour TOUT ce qui dure &gt; 100 ms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" y="4937760"/>
            <a:ext cx="292608" cy="292608"/>
          </a:xfrm>
          <a:prstGeom prst="ellipse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93776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AFA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892040"/>
            <a:ext cx="4663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221C35"/>
                </a:solidFill>
                <a:latin typeface="Calibri"/>
              </a:rPr>
              <a:t>Modifier l'UI uniquement sur l'EDT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691640"/>
            <a:ext cx="5440680" cy="4297680"/>
          </a:xfrm>
          <a:prstGeom prst="roundRect">
            <a:avLst>
              <a:gd name="adj" fmla="val 4000"/>
            </a:avLst>
          </a:prstGeom>
          <a:solidFill>
            <a:srgbClr val="F2E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17920" y="1691640"/>
            <a:ext cx="73152" cy="429768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1856232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E85D75"/>
                </a:solidFill>
                <a:latin typeface="Calibri"/>
              </a:rPr>
              <a:t>À ÉVITER</a:t>
            </a:r>
          </a:p>
        </p:txBody>
      </p:sp>
      <p:sp>
        <p:nvSpPr>
          <p:cNvPr id="28" name="Oval 27"/>
          <p:cNvSpPr/>
          <p:nvPr/>
        </p:nvSpPr>
        <p:spPr>
          <a:xfrm>
            <a:off x="6446520" y="2331720"/>
            <a:ext cx="292608" cy="292608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46520" y="23317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AFAFF"/>
                </a:solidFill>
                <a:latin typeface="Calibri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2286000"/>
            <a:ext cx="4663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221C35"/>
                </a:solidFill>
                <a:latin typeface="Calibri"/>
              </a:rPr>
              <a:t>Ne jamais bloquer l'EDT (Thread.sleep, IO, BDD)</a:t>
            </a:r>
          </a:p>
        </p:txBody>
      </p:sp>
      <p:sp>
        <p:nvSpPr>
          <p:cNvPr id="31" name="Oval 30"/>
          <p:cNvSpPr/>
          <p:nvPr/>
        </p:nvSpPr>
        <p:spPr>
          <a:xfrm>
            <a:off x="6446520" y="3200400"/>
            <a:ext cx="292608" cy="292608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20" y="320040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AFAFF"/>
                </a:solidFill>
                <a:latin typeface="Calibr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154680"/>
            <a:ext cx="4663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221C35"/>
                </a:solidFill>
                <a:latin typeface="Calibri"/>
              </a:rPr>
              <a:t>Ne jamais accéder aux composants depuis doInBackground()</a:t>
            </a:r>
          </a:p>
        </p:txBody>
      </p:sp>
      <p:sp>
        <p:nvSpPr>
          <p:cNvPr id="34" name="Oval 33"/>
          <p:cNvSpPr/>
          <p:nvPr/>
        </p:nvSpPr>
        <p:spPr>
          <a:xfrm>
            <a:off x="6446520" y="4069080"/>
            <a:ext cx="292608" cy="292608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46520" y="406908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AFAFF"/>
                </a:solidFill>
                <a:latin typeface="Calibr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023360"/>
            <a:ext cx="4663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221C35"/>
                </a:solidFill>
                <a:latin typeface="Calibri"/>
              </a:rPr>
              <a:t>Ne pas oublier try/catch dans done() avec get()</a:t>
            </a:r>
          </a:p>
        </p:txBody>
      </p:sp>
      <p:sp>
        <p:nvSpPr>
          <p:cNvPr id="37" name="Oval 36"/>
          <p:cNvSpPr/>
          <p:nvPr/>
        </p:nvSpPr>
        <p:spPr>
          <a:xfrm>
            <a:off x="6446520" y="4937760"/>
            <a:ext cx="292608" cy="292608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46520" y="493776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AFAFF"/>
                </a:solidFill>
                <a:latin typeface="Calibri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892040"/>
            <a:ext cx="4663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221C35"/>
                </a:solidFill>
                <a:latin typeface="Calibri"/>
              </a:rPr>
              <a:t>Ne pas créer un SwingWorker à chaque clic répété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6126480"/>
            <a:ext cx="10972800" cy="411480"/>
          </a:xfrm>
          <a:prstGeom prst="roundRect">
            <a:avLst>
              <a:gd name="adj" fmla="val 2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612648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1">
                <a:solidFill>
                  <a:srgbClr val="FAF33E"/>
                </a:solidFill>
                <a:latin typeface="Calibri"/>
              </a:rPr>
              <a:t>Règle d'or : si une opération peut prendre du temps, elle ne doit jamais être sur l'EDT.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D8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695" y="2286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048695" y="228600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AFAFF"/>
                </a:solidFill>
                <a:latin typeface="Calibri"/>
              </a:rPr>
              <a:t>29 / 30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329184"/>
            <a:ext cx="91440" cy="9144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25603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B5F8C"/>
                </a:solidFill>
                <a:latin typeface="Calibri"/>
              </a:rPr>
              <a:t>6. PATTERNS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13232"/>
            <a:ext cx="164592" cy="329184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640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221C35"/>
                </a:solidFill>
                <a:latin typeface="Calibri"/>
              </a:rPr>
              <a:t>Pièges classiques à connaître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6B5F8C"/>
                </a:solidFill>
                <a:latin typeface="Calibri"/>
              </a:rPr>
              <a:t>Quatre erreurs courantes — et comment les éviter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5440680" cy="214884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73152" cy="214884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68680" y="1965960"/>
            <a:ext cx="411480" cy="411480"/>
          </a:xfrm>
          <a:prstGeom prst="ellipse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19659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1A1529"/>
                </a:solidFill>
                <a:latin typeface="Calibr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947672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21C35"/>
                </a:solidFill>
                <a:latin typeface="Calibri"/>
              </a:rPr>
              <a:t>Modifier la JTable depuis doInBackground()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560320"/>
            <a:ext cx="44348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5F8C"/>
                </a:solidFill>
                <a:latin typeface="Calibri"/>
              </a:rPr>
              <a:t>→ comportement imprévisible, exceptions aléatoires.
Solution : passer par publish()/process() ou done().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5440680" cy="214884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1691640"/>
            <a:ext cx="73152" cy="214884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446520" y="1965960"/>
            <a:ext cx="411480" cy="411480"/>
          </a:xfrm>
          <a:prstGeom prst="ellipse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19659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1A1529"/>
                </a:solidFill>
                <a:latin typeface="Calibr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1947672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21C35"/>
                </a:solidFill>
                <a:latin typeface="Calibri"/>
              </a:rPr>
              <a:t>Oublier e.getValueIsAdjusting() sur JTable/JList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560320"/>
            <a:ext cx="44348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5F8C"/>
                </a:solidFill>
                <a:latin typeface="Calibri"/>
              </a:rPr>
              <a:t>→ le listener est appelé 2× pour chaque sélection.
Solution : if (e.getValueIsAdjusting()) return;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77640"/>
            <a:ext cx="5440680" cy="214884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977640"/>
            <a:ext cx="73152" cy="214884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68680" y="4251960"/>
            <a:ext cx="411480" cy="411480"/>
          </a:xfrm>
          <a:prstGeom prst="ellipse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2519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1A1529"/>
                </a:solidFill>
                <a:latin typeface="Calibri"/>
              </a:rPr>
              <a:t>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233672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21C35"/>
                </a:solidFill>
                <a:latin typeface="Calibri"/>
              </a:rPr>
              <a:t>KeyListener au lieu de DocumentListener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846320"/>
            <a:ext cx="44348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5F8C"/>
                </a:solidFill>
                <a:latin typeface="Calibri"/>
              </a:rPr>
              <a:t>→ rate les copier-coller, le setText(), l'undo.
Solution : DocumentListener pour le suivi du contenu.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977640"/>
            <a:ext cx="5440680" cy="2148840"/>
          </a:xfrm>
          <a:prstGeom prst="roundRect">
            <a:avLst>
              <a:gd name="adj" fmla="val 4000"/>
            </a:avLst>
          </a:prstGeom>
          <a:solidFill>
            <a:srgbClr val="EF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17920" y="3977640"/>
            <a:ext cx="73152" cy="2148840"/>
          </a:xfrm>
          <a:prstGeom prst="rect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446520" y="4251960"/>
            <a:ext cx="411480" cy="411480"/>
          </a:xfrm>
          <a:prstGeom prst="ellipse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46520" y="42519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1A1529"/>
                </a:solidFill>
                <a:latin typeface="Calibri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4233672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21C35"/>
                </a:solidFill>
                <a:latin typeface="Calibri"/>
              </a:rPr>
              <a:t>Ne pas catcher les exceptions de get()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4846320"/>
            <a:ext cx="44348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5F8C"/>
                </a:solidFill>
                <a:latin typeface="Calibri"/>
              </a:rPr>
              <a:t>→ ExecutionException silencieuse, données manquantes.
Solution : try/catch (Exception ex) dans done().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6B2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058400" y="4114800"/>
            <a:ext cx="4114800" cy="4114800"/>
          </a:xfrm>
          <a:prstGeom prst="ellipse">
            <a:avLst/>
          </a:prstGeom>
          <a:solidFill>
            <a:srgbClr val="8B7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E85D75"/>
                </a:solidFill>
                <a:latin typeface="Calibri"/>
              </a:rPr>
              <a:t>VOUS SAVEZ MAINTENANT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64592" cy="64008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AFAFF"/>
                </a:solidFill>
                <a:latin typeface="Calibri"/>
              </a:rPr>
              <a:t>Construire une UI Swing dynamique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3611880" cy="777240"/>
          </a:xfrm>
          <a:prstGeom prst="roundRect">
            <a:avLst>
              <a:gd name="adj" fmla="val 15000"/>
            </a:avLst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2450592"/>
            <a:ext cx="457200" cy="45720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4505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A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50592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AFAFF"/>
                </a:solidFill>
                <a:latin typeface="Calibri"/>
              </a:rPr>
              <a:t>Modèle événementiel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286000"/>
            <a:ext cx="3611880" cy="777240"/>
          </a:xfrm>
          <a:prstGeom prst="roundRect">
            <a:avLst>
              <a:gd name="adj" fmla="val 15000"/>
            </a:avLst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553712" y="2450592"/>
            <a:ext cx="457200" cy="45720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4505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A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450592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AFAFF"/>
                </a:solidFill>
                <a:latin typeface="Calibri"/>
              </a:rPr>
              <a:t>Lambdas &amp; adapters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286000"/>
            <a:ext cx="3611880" cy="777240"/>
          </a:xfrm>
          <a:prstGeom prst="roundRect">
            <a:avLst>
              <a:gd name="adj" fmla="val 15000"/>
            </a:avLst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02752" y="2450592"/>
            <a:ext cx="457200" cy="45720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02752" y="24505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A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450592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AFAFF"/>
                </a:solidFill>
                <a:latin typeface="Calibri"/>
              </a:rPr>
              <a:t>Event Dispatch Thread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46120"/>
            <a:ext cx="3611880" cy="777240"/>
          </a:xfrm>
          <a:prstGeom prst="roundRect">
            <a:avLst>
              <a:gd name="adj" fmla="val 15000"/>
            </a:avLst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04672" y="3410712"/>
            <a:ext cx="457200" cy="45720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341071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AFF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410712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AFAFF"/>
                </a:solidFill>
                <a:latin typeface="Calibri"/>
              </a:rPr>
              <a:t>SwingWorker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246120"/>
            <a:ext cx="3611880" cy="777240"/>
          </a:xfrm>
          <a:prstGeom prst="roundRect">
            <a:avLst>
              <a:gd name="adj" fmla="val 15000"/>
            </a:avLst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553712" y="3410712"/>
            <a:ext cx="457200" cy="45720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53712" y="341071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AFF"/>
                </a:solidFill>
                <a:latin typeface="Calibr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3410712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AFAFF"/>
                </a:solidFill>
                <a:latin typeface="Calibri"/>
              </a:rPr>
              <a:t>Charger BDD &amp;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3246120"/>
            <a:ext cx="3611880" cy="777240"/>
          </a:xfrm>
          <a:prstGeom prst="roundRect">
            <a:avLst>
              <a:gd name="adj" fmla="val 15000"/>
            </a:avLst>
          </a:prstGeom>
          <a:solidFill>
            <a:srgbClr val="3A2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302752" y="3410712"/>
            <a:ext cx="457200" cy="457200"/>
          </a:xfrm>
          <a:prstGeom prst="ellipse">
            <a:avLst/>
          </a:prstGeom>
          <a:solidFill>
            <a:srgbClr val="E8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02752" y="341071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AFAFF"/>
                </a:solidFill>
                <a:latin typeface="Calibr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3410712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AFAFF"/>
                </a:solidFill>
                <a:latin typeface="Calibri"/>
              </a:rPr>
              <a:t>MVC &amp; bonnes pratiques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0749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221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074920"/>
            <a:ext cx="164592" cy="1371600"/>
          </a:xfrm>
          <a:prstGeom prst="rect">
            <a:avLst/>
          </a:prstGeom>
          <a:solidFill>
            <a:srgbClr val="FAF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523951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E85D75"/>
                </a:solidFill>
                <a:latin typeface="Calibri"/>
              </a:rPr>
              <a:t>PROCHAIN COURS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53212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AFAFF"/>
                </a:solidFill>
                <a:latin typeface="Calibri"/>
              </a:rPr>
              <a:t>Les tests, le packaging &amp; le déploiement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9990B8"/>
                </a:solidFill>
                <a:latin typeface="Calibri"/>
              </a:rPr>
              <a:t>JUnit · Mockito · jpackage · création d'un installateur Windows / macOS / Linux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53796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1">
                <a:solidFill>
                  <a:srgbClr val="9990B8"/>
                </a:solidFill>
                <a:latin typeface="Calibri"/>
              </a:rPr>
              <a:t>Faye Core Consulting · Cours Java Licence 2 · Swing Dynamic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1823</TotalTime>
  <Words>4617</Words>
  <Application>Microsoft Macintosh PowerPoint</Application>
  <PresentationFormat>Widescreen</PresentationFormat>
  <Paragraphs>755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Youssoupha Faye the fiddler</cp:lastModifiedBy>
  <cp:revision>2</cp:revision>
  <dcterms:created xsi:type="dcterms:W3CDTF">2013-01-27T09:14:16Z</dcterms:created>
  <dcterms:modified xsi:type="dcterms:W3CDTF">2026-06-03T15:27:08Z</dcterms:modified>
  <cp:category/>
</cp:coreProperties>
</file>