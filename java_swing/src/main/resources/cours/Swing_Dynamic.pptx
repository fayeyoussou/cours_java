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5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6B2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3A2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114800"/>
            <a:ext cx="4114800" cy="4114800"/>
          </a:xfrm>
          <a:prstGeom prst="ellipse">
            <a:avLst/>
          </a:prstGeom>
          <a:solidFill>
            <a:srgbClr val="8B7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0" y="-914400"/>
            <a:ext cx="3200400" cy="3200400"/>
          </a:xfrm>
          <a:prstGeom prst="ellipse">
            <a:avLst/>
          </a:prstGeom>
          <a:solidFill>
            <a:srgbClr val="3A2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300">
                <a:solidFill>
                  <a:srgbClr val="E85D75"/>
                </a:solidFill>
                <a:latin typeface="Calibri"/>
              </a:rPr>
              <a:t>COURS JAVA · LICENCE 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164592" cy="1828800"/>
          </a:xfrm>
          <a:prstGeom prst="rect">
            <a:avLst/>
          </a:prstGeom>
          <a:solidFill>
            <a:srgbClr val="FAF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2588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600" b="1" i="0">
                <a:solidFill>
                  <a:srgbClr val="FAFAFF"/>
                </a:solidFill>
                <a:latin typeface="Calibri"/>
              </a:rPr>
              <a:t>Java Swing Dynamic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060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9990B8"/>
                </a:solidFill>
                <a:latin typeface="Calibri"/>
              </a:rPr>
              <a:t>Événements &amp; chargement de données en Java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632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9D8DF1"/>
                </a:solidFill>
                <a:latin typeface="Calibri"/>
              </a:rPr>
              <a:t>PARTIE LOGIQUE · ÉCOUTE &amp; RÉACTIVITÉ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3566160" cy="1188720"/>
          </a:xfrm>
          <a:prstGeom prst="roundRect">
            <a:avLst>
              <a:gd name="adj" fmla="val 8000"/>
            </a:avLst>
          </a:prstGeom>
          <a:solidFill>
            <a:srgbClr val="22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931920"/>
            <a:ext cx="73152" cy="1188720"/>
          </a:xfrm>
          <a:prstGeom prst="rect">
            <a:avLst/>
          </a:prstGeom>
          <a:solidFill>
            <a:srgbClr val="FAF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96512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AF33E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4805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AFAFF"/>
                </a:solidFill>
                <a:latin typeface="Calibri"/>
              </a:rPr>
              <a:t>Événements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77316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990B8"/>
                </a:solidFill>
                <a:latin typeface="Calibri"/>
              </a:rPr>
              <a:t>Listeners, lambdas, EDT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931920"/>
            <a:ext cx="3566160" cy="1188720"/>
          </a:xfrm>
          <a:prstGeom prst="roundRect">
            <a:avLst>
              <a:gd name="adj" fmla="val 8000"/>
            </a:avLst>
          </a:prstGeom>
          <a:solidFill>
            <a:srgbClr val="22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3931920"/>
            <a:ext cx="73152" cy="1188720"/>
          </a:xfrm>
          <a:prstGeom prst="rect">
            <a:avLst/>
          </a:prstGeom>
          <a:solidFill>
            <a:srgbClr val="E85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096512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AF33E"/>
                </a:solidFill>
                <a:latin typeface="Calibr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4805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AFAFF"/>
                </a:solidFill>
                <a:latin typeface="Calibri"/>
              </a:rPr>
              <a:t>Tâches longues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477316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990B8"/>
                </a:solidFill>
                <a:latin typeface="Calibri"/>
              </a:rPr>
              <a:t>SwingWorker, threads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3931920"/>
            <a:ext cx="3566160" cy="1188720"/>
          </a:xfrm>
          <a:prstGeom prst="roundRect">
            <a:avLst>
              <a:gd name="adj" fmla="val 8000"/>
            </a:avLst>
          </a:prstGeom>
          <a:solidFill>
            <a:srgbClr val="22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20" y="3931920"/>
            <a:ext cx="73152" cy="1188720"/>
          </a:xfrm>
          <a:prstGeom prst="rect">
            <a:avLst/>
          </a:prstGeom>
          <a:solidFill>
            <a:srgbClr val="9D8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4096512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AF33E"/>
                </a:solidFill>
                <a:latin typeface="Calibr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4805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AFAFF"/>
                </a:solidFill>
                <a:latin typeface="Calibri"/>
              </a:rPr>
              <a:t>Données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77316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990B8"/>
                </a:solidFill>
                <a:latin typeface="Calibri"/>
              </a:rPr>
              <a:t>BDD, API, mises à jour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9990B8"/>
                </a:solidFill>
                <a:latin typeface="Calibri"/>
              </a:rPr>
              <a:t>30 diapositives · faisant suite au cours sur les composants Swing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D8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048695" y="2286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2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48695" y="228600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AFAFF"/>
                </a:solidFill>
                <a:latin typeface="Calibri"/>
              </a:rPr>
              <a:t>02 / 30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329184"/>
            <a:ext cx="91440" cy="91440"/>
          </a:xfrm>
          <a:prstGeom prst="ellipse">
            <a:avLst/>
          </a:prstGeom>
          <a:solidFill>
            <a:srgbClr val="E85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25603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200">
                <a:solidFill>
                  <a:srgbClr val="6B5F8C"/>
                </a:solidFill>
                <a:latin typeface="Calibri"/>
              </a:rPr>
              <a:t>INTRODUCTION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713232"/>
            <a:ext cx="164592" cy="329184"/>
          </a:xfrm>
          <a:prstGeom prst="rect">
            <a:avLst/>
          </a:prstGeom>
          <a:solidFill>
            <a:srgbClr val="FAF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00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21C35"/>
                </a:solidFill>
                <a:latin typeface="Calibri"/>
              </a:rPr>
              <a:t>Plan du cours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07899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5F8C"/>
                </a:solidFill>
                <a:latin typeface="Calibri"/>
              </a:rPr>
              <a:t>De l'écoute d'un clic au chargement asynchrone d'une base de données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91640"/>
            <a:ext cx="11064240" cy="713232"/>
          </a:xfrm>
          <a:prstGeom prst="roundRect">
            <a:avLst>
              <a:gd name="adj" fmla="val 4000"/>
            </a:avLst>
          </a:prstGeom>
          <a:solidFill>
            <a:srgbClr val="F2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691640"/>
            <a:ext cx="73152" cy="713232"/>
          </a:xfrm>
          <a:prstGeom prst="rect">
            <a:avLst/>
          </a:prstGeom>
          <a:solidFill>
            <a:srgbClr val="E85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837944"/>
            <a:ext cx="502920" cy="420624"/>
          </a:xfrm>
          <a:prstGeom prst="roundRect">
            <a:avLst>
              <a:gd name="adj" fmla="val 25000"/>
            </a:avLst>
          </a:prstGeom>
          <a:solidFill>
            <a:srgbClr val="22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837944"/>
            <a:ext cx="5029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AF33E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176479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21C35"/>
                </a:solidFill>
                <a:latin typeface="Calibri"/>
              </a:rPr>
              <a:t>Modèle événementiel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075688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B5F8C"/>
                </a:solidFill>
                <a:latin typeface="Calibri"/>
              </a:rPr>
              <a:t>ActionListener, ItemListener, KeyListener, MouseListener, FocusListener…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459736"/>
            <a:ext cx="11064240" cy="713232"/>
          </a:xfrm>
          <a:prstGeom prst="roundRect">
            <a:avLst>
              <a:gd name="adj" fmla="val 4000"/>
            </a:avLst>
          </a:prstGeom>
          <a:solidFill>
            <a:srgbClr val="F2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459736"/>
            <a:ext cx="73152" cy="713232"/>
          </a:xfrm>
          <a:prstGeom prst="rect">
            <a:avLst/>
          </a:prstGeom>
          <a:solidFill>
            <a:srgbClr val="FAF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2606040"/>
            <a:ext cx="502920" cy="420624"/>
          </a:xfrm>
          <a:prstGeom prst="roundRect">
            <a:avLst>
              <a:gd name="adj" fmla="val 25000"/>
            </a:avLst>
          </a:prstGeom>
          <a:solidFill>
            <a:srgbClr val="22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606040"/>
            <a:ext cx="5029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AF33E"/>
                </a:solidFill>
                <a:latin typeface="Calibr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253288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21C35"/>
                </a:solidFill>
                <a:latin typeface="Calibri"/>
              </a:rPr>
              <a:t>Lambdas &amp; adapters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2843784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B5F8C"/>
                </a:solidFill>
                <a:latin typeface="Calibri"/>
              </a:rPr>
              <a:t>Syntaxe concise (Java 8+), MouseAdapter, KeyAdapter, WindowAdapter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227832"/>
            <a:ext cx="11064240" cy="713232"/>
          </a:xfrm>
          <a:prstGeom prst="roundRect">
            <a:avLst>
              <a:gd name="adj" fmla="val 4000"/>
            </a:avLst>
          </a:prstGeom>
          <a:solidFill>
            <a:srgbClr val="F2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227832"/>
            <a:ext cx="73152" cy="713232"/>
          </a:xfrm>
          <a:prstGeom prst="rect">
            <a:avLst/>
          </a:prstGeom>
          <a:solidFill>
            <a:srgbClr val="9D8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77240" y="3374136"/>
            <a:ext cx="502920" cy="420624"/>
          </a:xfrm>
          <a:prstGeom prst="roundRect">
            <a:avLst>
              <a:gd name="adj" fmla="val 25000"/>
            </a:avLst>
          </a:prstGeom>
          <a:solidFill>
            <a:srgbClr val="22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374136"/>
            <a:ext cx="5029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AF33E"/>
                </a:solidFill>
                <a:latin typeface="Calibr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3300984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21C35"/>
                </a:solidFill>
                <a:latin typeface="Calibri"/>
              </a:rPr>
              <a:t>Event Dispatch Thread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3611880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B5F8C"/>
                </a:solidFill>
                <a:latin typeface="Calibri"/>
              </a:rPr>
              <a:t>EDT, invokeLater, règle d'or de Swing, debug avec EventQueue.isDispatchThread()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995928"/>
            <a:ext cx="11064240" cy="713232"/>
          </a:xfrm>
          <a:prstGeom prst="roundRect">
            <a:avLst>
              <a:gd name="adj" fmla="val 4000"/>
            </a:avLst>
          </a:prstGeom>
          <a:solidFill>
            <a:srgbClr val="F2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3995928"/>
            <a:ext cx="73152" cy="713232"/>
          </a:xfrm>
          <a:prstGeom prst="rect">
            <a:avLst/>
          </a:prstGeom>
          <a:solidFill>
            <a:srgbClr val="E85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77240" y="4142232"/>
            <a:ext cx="502920" cy="420624"/>
          </a:xfrm>
          <a:prstGeom prst="roundRect">
            <a:avLst>
              <a:gd name="adj" fmla="val 25000"/>
            </a:avLst>
          </a:prstGeom>
          <a:solidFill>
            <a:srgbClr val="22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142232"/>
            <a:ext cx="5029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AF33E"/>
                </a:solidFill>
                <a:latin typeface="Calibri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4069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21C35"/>
                </a:solidFill>
                <a:latin typeface="Calibri"/>
              </a:rPr>
              <a:t>Tâches longues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4379976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B5F8C"/>
                </a:solidFill>
                <a:latin typeface="Calibri"/>
              </a:rPr>
              <a:t>SwingWorker : doInBackground, publish/process, done, cancel, JProgressBar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764024"/>
            <a:ext cx="11064240" cy="713232"/>
          </a:xfrm>
          <a:prstGeom prst="roundRect">
            <a:avLst>
              <a:gd name="adj" fmla="val 4000"/>
            </a:avLst>
          </a:prstGeom>
          <a:solidFill>
            <a:srgbClr val="F2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4764024"/>
            <a:ext cx="73152" cy="713232"/>
          </a:xfrm>
          <a:prstGeom prst="rect">
            <a:avLst/>
          </a:prstGeom>
          <a:solidFill>
            <a:srgbClr val="FAF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77240" y="4910328"/>
            <a:ext cx="502920" cy="420624"/>
          </a:xfrm>
          <a:prstGeom prst="roundRect">
            <a:avLst>
              <a:gd name="adj" fmla="val 25000"/>
            </a:avLst>
          </a:prstGeom>
          <a:solidFill>
            <a:srgbClr val="22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4910328"/>
            <a:ext cx="5029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AF33E"/>
                </a:solidFill>
                <a:latin typeface="Calibri"/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63040" y="4837176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21C35"/>
                </a:solidFill>
                <a:latin typeface="Calibri"/>
              </a:rPr>
              <a:t>Charger des données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63040" y="5148072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B5F8C"/>
                </a:solidFill>
                <a:latin typeface="Calibri"/>
              </a:rPr>
              <a:t>Depuis une BDD (JDBC), depuis une API REST, mise à jour de JTable / JList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532120"/>
            <a:ext cx="11064240" cy="713232"/>
          </a:xfrm>
          <a:prstGeom prst="roundRect">
            <a:avLst>
              <a:gd name="adj" fmla="val 4000"/>
            </a:avLst>
          </a:prstGeom>
          <a:solidFill>
            <a:srgbClr val="F2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8640" y="5532120"/>
            <a:ext cx="73152" cy="713232"/>
          </a:xfrm>
          <a:prstGeom prst="rect">
            <a:avLst/>
          </a:prstGeom>
          <a:solidFill>
            <a:srgbClr val="9D8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77240" y="5678424"/>
            <a:ext cx="502920" cy="420624"/>
          </a:xfrm>
          <a:prstGeom prst="roundRect">
            <a:avLst>
              <a:gd name="adj" fmla="val 25000"/>
            </a:avLst>
          </a:prstGeom>
          <a:solidFill>
            <a:srgbClr val="22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5678424"/>
            <a:ext cx="5029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AF33E"/>
                </a:solidFill>
                <a:latin typeface="Calibri"/>
              </a:rPr>
              <a:t>06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63040" y="560527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21C35"/>
                </a:solidFill>
                <a:latin typeface="Calibri"/>
              </a:rPr>
              <a:t>MVC &amp; bonnes pratiques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63040" y="5916168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B5F8C"/>
                </a:solidFill>
                <a:latin typeface="Calibri"/>
              </a:rPr>
              <a:t>Séparer modèle/vue/contrôleur, observer pattern, pièges classiques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6263640"/>
            <a:ext cx="11064240" cy="384048"/>
          </a:xfrm>
          <a:prstGeom prst="roundRect">
            <a:avLst>
              <a:gd name="adj" fmla="val 15000"/>
            </a:avLst>
          </a:prstGeom>
          <a:solidFill>
            <a:srgbClr val="22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" y="6263640"/>
            <a:ext cx="365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AF33E"/>
                </a:solidFill>
                <a:latin typeface="Calibri"/>
              </a:rPr>
              <a:t>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1560" y="6263640"/>
            <a:ext cx="10515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FAFAFF"/>
                </a:solidFill>
                <a:latin typeface="Calibri"/>
              </a:rPr>
              <a:t>Pré-requis : avoir suivi le cours « Java Swing — UI &amp; composants ».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D8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048695" y="2286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2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48695" y="228600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AFAFF"/>
                </a:solidFill>
                <a:latin typeface="Calibri"/>
              </a:rPr>
              <a:t>03 / 30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329184"/>
            <a:ext cx="91440" cy="91440"/>
          </a:xfrm>
          <a:prstGeom prst="ellipse">
            <a:avLst/>
          </a:prstGeom>
          <a:solidFill>
            <a:srgbClr val="E85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25603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200">
                <a:solidFill>
                  <a:srgbClr val="6B5F8C"/>
                </a:solidFill>
                <a:latin typeface="Calibri"/>
              </a:rPr>
              <a:t>1. MODÈLE ÉVÉNEMENTIEL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713232"/>
            <a:ext cx="164592" cy="329184"/>
          </a:xfrm>
          <a:prstGeom prst="rect">
            <a:avLst/>
          </a:prstGeom>
          <a:solidFill>
            <a:srgbClr val="FAF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00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21C35"/>
                </a:solidFill>
                <a:latin typeface="Calibri"/>
              </a:rPr>
              <a:t>Comment Swing gère les événements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07899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5F8C"/>
                </a:solidFill>
                <a:latin typeface="Calibri"/>
              </a:rPr>
              <a:t>Le modèle Publisher / Subscriber : une source produit, des écouteurs réagissent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32407" y="2103120"/>
            <a:ext cx="2743200" cy="1097280"/>
          </a:xfrm>
          <a:prstGeom prst="roundRect">
            <a:avLst>
              <a:gd name="adj" fmla="val 8000"/>
            </a:avLst>
          </a:prstGeom>
          <a:solidFill>
            <a:srgbClr val="22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432407" y="2103120"/>
            <a:ext cx="2743200" cy="73152"/>
          </a:xfrm>
          <a:prstGeom prst="rect">
            <a:avLst/>
          </a:prstGeom>
          <a:solidFill>
            <a:srgbClr val="9D8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32407" y="226771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 spc="200">
                <a:solidFill>
                  <a:srgbClr val="9D8DF1"/>
                </a:solidFill>
                <a:latin typeface="Calibri"/>
              </a:rPr>
              <a:t>SOURCE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15287" y="260604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FAFAFF"/>
                </a:solidFill>
                <a:latin typeface="Calibri"/>
              </a:rPr>
              <a:t>JButton, JTextField,
JSlider…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221327" y="2606040"/>
            <a:ext cx="457200" cy="164592"/>
          </a:xfrm>
          <a:prstGeom prst="rightArrow">
            <a:avLst/>
          </a:prstGeom>
          <a:solidFill>
            <a:srgbClr val="6B5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724247" y="2103120"/>
            <a:ext cx="2743200" cy="1097280"/>
          </a:xfrm>
          <a:prstGeom prst="roundRect">
            <a:avLst>
              <a:gd name="adj" fmla="val 8000"/>
            </a:avLst>
          </a:prstGeom>
          <a:solidFill>
            <a:srgbClr val="22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24247" y="2103120"/>
            <a:ext cx="2743200" cy="73152"/>
          </a:xfrm>
          <a:prstGeom prst="rect">
            <a:avLst/>
          </a:prstGeom>
          <a:solidFill>
            <a:srgbClr val="FAF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24247" y="226771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 spc="200">
                <a:solidFill>
                  <a:srgbClr val="FAF33E"/>
                </a:solidFill>
                <a:latin typeface="Calibri"/>
              </a:rPr>
              <a:t>ÉVÉNEMENT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07127" y="260604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FAFAFF"/>
                </a:solidFill>
                <a:latin typeface="Calibri"/>
              </a:rPr>
              <a:t>ActionEvent,
KeyEvent, MouseEvent…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513167" y="2606040"/>
            <a:ext cx="457200" cy="164592"/>
          </a:xfrm>
          <a:prstGeom prst="rightArrow">
            <a:avLst/>
          </a:prstGeom>
          <a:solidFill>
            <a:srgbClr val="6B5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16087" y="2103120"/>
            <a:ext cx="2743200" cy="1097280"/>
          </a:xfrm>
          <a:prstGeom prst="roundRect">
            <a:avLst>
              <a:gd name="adj" fmla="val 8000"/>
            </a:avLst>
          </a:prstGeom>
          <a:solidFill>
            <a:srgbClr val="22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6087" y="2103120"/>
            <a:ext cx="2743200" cy="73152"/>
          </a:xfrm>
          <a:prstGeom prst="rect">
            <a:avLst/>
          </a:prstGeom>
          <a:solidFill>
            <a:srgbClr val="E85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16087" y="226771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 spc="200">
                <a:solidFill>
                  <a:srgbClr val="E85D75"/>
                </a:solidFill>
                <a:latin typeface="Calibri"/>
              </a:rPr>
              <a:t>LISTENER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8967" y="260604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FAFAFF"/>
                </a:solidFill>
                <a:latin typeface="Calibri"/>
              </a:rPr>
              <a:t>Votre code
réagit à l'événement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611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1C35"/>
                </a:solidFill>
                <a:latin typeface="Calibri"/>
              </a:rPr>
              <a:t>Vous attachez un listener à un composant. Quand l'utilisateur agit, Swing crée un événement et appelle votre méthode.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160520"/>
            <a:ext cx="10972800" cy="2103120"/>
          </a:xfrm>
          <a:prstGeom prst="roundRect">
            <a:avLst>
              <a:gd name="adj" fmla="val 4000"/>
            </a:avLst>
          </a:prstGeom>
          <a:solidFill>
            <a:srgbClr val="22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2519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AF33E"/>
                </a:solidFill>
                <a:latin typeface="Consolas"/>
              </a:rPr>
              <a:t>// Exemple : écouter un clic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4572000"/>
            <a:ext cx="106070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00">
                <a:solidFill>
                  <a:srgbClr val="9D8DF1"/>
                </a:solidFill>
                <a:latin typeface="Consolas"/>
              </a:rPr>
              <a:t>JButton</a:t>
            </a:r>
            <a:r>
              <a:rPr sz="1200">
                <a:solidFill>
                  <a:srgbClr val="E8E2FF"/>
                </a:solidFill>
                <a:latin typeface="Consolas"/>
              </a:rPr>
              <a:t> </a:t>
            </a:r>
            <a:r>
              <a:rPr sz="1200">
                <a:solidFill>
                  <a:srgbClr val="E8E2FF"/>
                </a:solidFill>
                <a:latin typeface="Consolas"/>
              </a:rPr>
              <a:t>bouton</a:t>
            </a:r>
            <a:r>
              <a:rPr sz="1200">
                <a:solidFill>
                  <a:srgbClr val="E8E2FF"/>
                </a:solidFill>
                <a:latin typeface="Consolas"/>
              </a:rPr>
              <a:t> </a:t>
            </a:r>
            <a:r>
              <a:rPr sz="1200">
                <a:solidFill>
                  <a:srgbClr val="E8E2FF"/>
                </a:solidFill>
                <a:latin typeface="Consolas"/>
              </a:rPr>
              <a:t>=</a:t>
            </a:r>
            <a:r>
              <a:rPr sz="1200">
                <a:solidFill>
                  <a:srgbClr val="E8E2FF"/>
                </a:solidFill>
                <a:latin typeface="Consolas"/>
              </a:rPr>
              <a:t> </a:t>
            </a:r>
            <a:r>
              <a:rPr sz="1200">
                <a:solidFill>
                  <a:srgbClr val="FAF33E"/>
                </a:solidFill>
                <a:latin typeface="Consolas"/>
              </a:rPr>
              <a:t>new</a:t>
            </a:r>
            <a:r>
              <a:rPr sz="1200">
                <a:solidFill>
                  <a:srgbClr val="E8E2FF"/>
                </a:solidFill>
                <a:latin typeface="Consolas"/>
              </a:rPr>
              <a:t> </a:t>
            </a:r>
            <a:r>
              <a:rPr sz="1200">
                <a:solidFill>
                  <a:srgbClr val="9D8DF1"/>
                </a:solidFill>
                <a:latin typeface="Consolas"/>
              </a:rPr>
              <a:t>JButton</a:t>
            </a:r>
            <a:r>
              <a:rPr sz="1200">
                <a:solidFill>
                  <a:srgbClr val="E8E2FF"/>
                </a:solidFill>
                <a:latin typeface="Consolas"/>
              </a:rPr>
              <a:t>(</a:t>
            </a:r>
            <a:r>
              <a:rPr sz="1200">
                <a:solidFill>
                  <a:srgbClr val="FFB3C1"/>
                </a:solidFill>
                <a:latin typeface="Consolas"/>
              </a:rPr>
              <a:t>"Cliquez"</a:t>
            </a:r>
            <a:r>
              <a:rPr sz="1200">
                <a:solidFill>
                  <a:srgbClr val="E8E2FF"/>
                </a:solidFill>
                <a:latin typeface="Consolas"/>
              </a:rPr>
              <a:t>)</a:t>
            </a:r>
            <a:r>
              <a:rPr sz="120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</a:p>
          <a:p>
            <a:pPr>
              <a:lnSpc>
                <a:spcPct val="108000"/>
              </a:lnSpc>
            </a:pPr>
            <a:r>
              <a:rPr sz="1200">
                <a:solidFill>
                  <a:srgbClr val="E8E2FF"/>
                </a:solidFill>
                <a:latin typeface="Consolas"/>
              </a:rPr>
              <a:t>bouton</a:t>
            </a:r>
            <a:r>
              <a:rPr sz="1200">
                <a:solidFill>
                  <a:srgbClr val="E8E2FF"/>
                </a:solidFill>
                <a:latin typeface="Consolas"/>
              </a:rPr>
              <a:t>.</a:t>
            </a:r>
            <a:r>
              <a:rPr sz="1200">
                <a:solidFill>
                  <a:srgbClr val="E8E2FF"/>
                </a:solidFill>
                <a:latin typeface="Consolas"/>
              </a:rPr>
              <a:t>addActionListener</a:t>
            </a:r>
            <a:r>
              <a:rPr sz="1200">
                <a:solidFill>
                  <a:srgbClr val="E8E2FF"/>
                </a:solidFill>
                <a:latin typeface="Consolas"/>
              </a:rPr>
              <a:t>(</a:t>
            </a:r>
            <a:r>
              <a:rPr sz="1200">
                <a:solidFill>
                  <a:srgbClr val="FAF33E"/>
                </a:solidFill>
                <a:latin typeface="Consolas"/>
              </a:rPr>
              <a:t>new</a:t>
            </a:r>
            <a:r>
              <a:rPr sz="1200">
                <a:solidFill>
                  <a:srgbClr val="E8E2FF"/>
                </a:solidFill>
                <a:latin typeface="Consolas"/>
              </a:rPr>
              <a:t> </a:t>
            </a:r>
            <a:r>
              <a:rPr sz="1200">
                <a:solidFill>
                  <a:srgbClr val="9D8DF1"/>
                </a:solidFill>
                <a:latin typeface="Consolas"/>
              </a:rPr>
              <a:t>ActionListener</a:t>
            </a:r>
            <a:r>
              <a:rPr sz="1200">
                <a:solidFill>
                  <a:srgbClr val="E8E2FF"/>
                </a:solidFill>
                <a:latin typeface="Consolas"/>
              </a:rPr>
              <a:t>(</a:t>
            </a:r>
            <a:r>
              <a:rPr sz="1200">
                <a:solidFill>
                  <a:srgbClr val="E8E2FF"/>
                </a:solidFill>
                <a:latin typeface="Consolas"/>
              </a:rPr>
              <a:t>)</a:t>
            </a:r>
            <a:r>
              <a:rPr sz="1200">
                <a:solidFill>
                  <a:srgbClr val="E8E2FF"/>
                </a:solidFill>
                <a:latin typeface="Consolas"/>
              </a:rPr>
              <a:t> </a:t>
            </a:r>
            <a:r>
              <a:rPr sz="120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  <a:r>
              <a:rPr sz="1200">
                <a:solidFill>
                  <a:srgbClr val="E8E2FF"/>
                </a:solidFill>
                <a:latin typeface="Consolas"/>
              </a:rPr>
              <a:t>    </a:t>
            </a:r>
            <a:r>
              <a:rPr sz="1200">
                <a:solidFill>
                  <a:srgbClr val="E8E2FF"/>
                </a:solidFill>
                <a:latin typeface="Consolas"/>
              </a:rPr>
              <a:t>@</a:t>
            </a:r>
            <a:r>
              <a:rPr sz="1200">
                <a:solidFill>
                  <a:srgbClr val="E8E2FF"/>
                </a:solidFill>
                <a:latin typeface="Consolas"/>
              </a:rPr>
              <a:t>Override</a:t>
            </a:r>
          </a:p>
          <a:p>
            <a:pPr>
              <a:lnSpc>
                <a:spcPct val="108000"/>
              </a:lnSpc>
            </a:pPr>
            <a:r>
              <a:rPr sz="1200">
                <a:solidFill>
                  <a:srgbClr val="E8E2FF"/>
                </a:solidFill>
                <a:latin typeface="Consolas"/>
              </a:rPr>
              <a:t>    </a:t>
            </a:r>
            <a:r>
              <a:rPr sz="1200">
                <a:solidFill>
                  <a:srgbClr val="FAF33E"/>
                </a:solidFill>
                <a:latin typeface="Consolas"/>
              </a:rPr>
              <a:t>public</a:t>
            </a:r>
            <a:r>
              <a:rPr sz="1200">
                <a:solidFill>
                  <a:srgbClr val="E8E2FF"/>
                </a:solidFill>
                <a:latin typeface="Consolas"/>
              </a:rPr>
              <a:t> </a:t>
            </a:r>
            <a:r>
              <a:rPr sz="1200">
                <a:solidFill>
                  <a:srgbClr val="FAF33E"/>
                </a:solidFill>
                <a:latin typeface="Consolas"/>
              </a:rPr>
              <a:t>void</a:t>
            </a:r>
            <a:r>
              <a:rPr sz="1200">
                <a:solidFill>
                  <a:srgbClr val="E8E2FF"/>
                </a:solidFill>
                <a:latin typeface="Consolas"/>
              </a:rPr>
              <a:t> </a:t>
            </a:r>
            <a:r>
              <a:rPr sz="1200">
                <a:solidFill>
                  <a:srgbClr val="E8E2FF"/>
                </a:solidFill>
                <a:latin typeface="Consolas"/>
              </a:rPr>
              <a:t>actionPerformed</a:t>
            </a:r>
            <a:r>
              <a:rPr sz="1200">
                <a:solidFill>
                  <a:srgbClr val="E8E2FF"/>
                </a:solidFill>
                <a:latin typeface="Consolas"/>
              </a:rPr>
              <a:t>(</a:t>
            </a:r>
            <a:r>
              <a:rPr sz="1200">
                <a:solidFill>
                  <a:srgbClr val="9D8DF1"/>
                </a:solidFill>
                <a:latin typeface="Consolas"/>
              </a:rPr>
              <a:t>ActionEvent</a:t>
            </a:r>
            <a:r>
              <a:rPr sz="1200">
                <a:solidFill>
                  <a:srgbClr val="E8E2FF"/>
                </a:solidFill>
                <a:latin typeface="Consolas"/>
              </a:rPr>
              <a:t> </a:t>
            </a:r>
            <a:r>
              <a:rPr sz="1200">
                <a:solidFill>
                  <a:srgbClr val="E8E2FF"/>
                </a:solidFill>
                <a:latin typeface="Consolas"/>
              </a:rPr>
              <a:t>e</a:t>
            </a:r>
            <a:r>
              <a:rPr sz="1200">
                <a:solidFill>
                  <a:srgbClr val="E8E2FF"/>
                </a:solidFill>
                <a:latin typeface="Consolas"/>
              </a:rPr>
              <a:t>)</a:t>
            </a:r>
            <a:r>
              <a:rPr sz="1200">
                <a:solidFill>
                  <a:srgbClr val="E8E2FF"/>
                </a:solidFill>
                <a:latin typeface="Consolas"/>
              </a:rPr>
              <a:t> </a:t>
            </a:r>
            <a:r>
              <a:rPr sz="120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  <a:r>
              <a:rPr sz="1200">
                <a:solidFill>
                  <a:srgbClr val="E8E2FF"/>
                </a:solidFill>
                <a:latin typeface="Consolas"/>
              </a:rPr>
              <a:t>        </a:t>
            </a:r>
            <a:r>
              <a:rPr sz="1200">
                <a:solidFill>
                  <a:srgbClr val="E8E2FF"/>
                </a:solidFill>
                <a:latin typeface="Consolas"/>
              </a:rPr>
              <a:t>System</a:t>
            </a:r>
            <a:r>
              <a:rPr sz="1200">
                <a:solidFill>
                  <a:srgbClr val="E8E2FF"/>
                </a:solidFill>
                <a:latin typeface="Consolas"/>
              </a:rPr>
              <a:t>.</a:t>
            </a:r>
            <a:r>
              <a:rPr sz="1200">
                <a:solidFill>
                  <a:srgbClr val="E8E2FF"/>
                </a:solidFill>
                <a:latin typeface="Consolas"/>
              </a:rPr>
              <a:t>out</a:t>
            </a:r>
            <a:r>
              <a:rPr sz="1200">
                <a:solidFill>
                  <a:srgbClr val="E8E2FF"/>
                </a:solidFill>
                <a:latin typeface="Consolas"/>
              </a:rPr>
              <a:t>.</a:t>
            </a:r>
            <a:r>
              <a:rPr sz="1200">
                <a:solidFill>
                  <a:srgbClr val="E8E2FF"/>
                </a:solidFill>
                <a:latin typeface="Consolas"/>
              </a:rPr>
              <a:t>println</a:t>
            </a:r>
            <a:r>
              <a:rPr sz="1200">
                <a:solidFill>
                  <a:srgbClr val="E8E2FF"/>
                </a:solidFill>
                <a:latin typeface="Consolas"/>
              </a:rPr>
              <a:t>(</a:t>
            </a:r>
            <a:r>
              <a:rPr sz="1200">
                <a:solidFill>
                  <a:srgbClr val="FFB3C1"/>
                </a:solidFill>
                <a:latin typeface="Consolas"/>
              </a:rPr>
              <a:t>"Bouton cliqué !"</a:t>
            </a:r>
            <a:r>
              <a:rPr sz="1200">
                <a:solidFill>
                  <a:srgbClr val="E8E2FF"/>
                </a:solidFill>
                <a:latin typeface="Consolas"/>
              </a:rPr>
              <a:t>)</a:t>
            </a:r>
            <a:r>
              <a:rPr sz="120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1200">
                <a:solidFill>
                  <a:srgbClr val="E8E2FF"/>
                </a:solidFill>
                <a:latin typeface="Consolas"/>
              </a:rPr>
              <a:t>    </a:t>
            </a:r>
            <a:r>
              <a:rPr sz="1200">
                <a:solidFill>
                  <a:srgbClr val="E8E2FF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</a:pPr>
            <a:r>
              <a:rPr sz="1200">
                <a:solidFill>
                  <a:srgbClr val="E8E2FF"/>
                </a:solidFill>
                <a:latin typeface="Consolas"/>
              </a:rPr>
              <a:t>}</a:t>
            </a:r>
            <a:r>
              <a:rPr sz="1200">
                <a:solidFill>
                  <a:srgbClr val="E8E2FF"/>
                </a:solidFill>
                <a:latin typeface="Consolas"/>
              </a:rPr>
              <a:t>)</a:t>
            </a:r>
            <a:r>
              <a:rPr sz="1200">
                <a:solidFill>
                  <a:srgbClr val="E8E2FF"/>
                </a:solidFill>
                <a:latin typeface="Consolas"/>
              </a:rPr>
              <a:t>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D8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048695" y="2286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2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48695" y="228600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AFAFF"/>
                </a:solidFill>
                <a:latin typeface="Calibri"/>
              </a:rPr>
              <a:t>04 / 30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329184"/>
            <a:ext cx="91440" cy="91440"/>
          </a:xfrm>
          <a:prstGeom prst="ellipse">
            <a:avLst/>
          </a:prstGeom>
          <a:solidFill>
            <a:srgbClr val="E85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25603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200">
                <a:solidFill>
                  <a:srgbClr val="6B5F8C"/>
                </a:solidFill>
                <a:latin typeface="Calibri"/>
              </a:rPr>
              <a:t>1. MODÈLE ÉVÉNEMENTIEL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713232"/>
            <a:ext cx="164592" cy="329184"/>
          </a:xfrm>
          <a:prstGeom prst="rect">
            <a:avLst/>
          </a:prstGeom>
          <a:solidFill>
            <a:srgbClr val="FAF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00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21C35"/>
                </a:solidFill>
                <a:latin typeface="Calibri"/>
              </a:rPr>
              <a:t>ActionListener — l'événement le plus courant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07899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5F8C"/>
                </a:solidFill>
                <a:latin typeface="Calibri"/>
              </a:rPr>
              <a:t>Réagir à un clic de bouton, à un Enter dans un champ, à un menu sélectionné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858000" cy="4572000"/>
          </a:xfrm>
          <a:prstGeom prst="roundRect">
            <a:avLst>
              <a:gd name="adj" fmla="val 4000"/>
            </a:avLst>
          </a:prstGeom>
          <a:solidFill>
            <a:srgbClr val="22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1856232"/>
            <a:ext cx="6492240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150">
                <a:solidFill>
                  <a:srgbClr val="9D8DF1"/>
                </a:solidFill>
                <a:latin typeface="Consolas"/>
              </a:rPr>
              <a:t>JButton</a:t>
            </a:r>
            <a:r>
              <a:rPr sz="1150">
                <a:solidFill>
                  <a:srgbClr val="E8E2FF"/>
                </a:solidFill>
                <a:latin typeface="Consolas"/>
              </a:rPr>
              <a:t> </a:t>
            </a:r>
            <a:r>
              <a:rPr sz="1150">
                <a:solidFill>
                  <a:srgbClr val="E8E2FF"/>
                </a:solidFill>
                <a:latin typeface="Consolas"/>
              </a:rPr>
              <a:t>valider</a:t>
            </a:r>
            <a:r>
              <a:rPr sz="1150">
                <a:solidFill>
                  <a:srgbClr val="E8E2FF"/>
                </a:solidFill>
                <a:latin typeface="Consolas"/>
              </a:rPr>
              <a:t> </a:t>
            </a:r>
            <a:r>
              <a:rPr sz="1150">
                <a:solidFill>
                  <a:srgbClr val="E8E2FF"/>
                </a:solidFill>
                <a:latin typeface="Consolas"/>
              </a:rPr>
              <a:t>=</a:t>
            </a:r>
            <a:r>
              <a:rPr sz="1150">
                <a:solidFill>
                  <a:srgbClr val="E8E2FF"/>
                </a:solidFill>
                <a:latin typeface="Consolas"/>
              </a:rPr>
              <a:t> </a:t>
            </a:r>
            <a:r>
              <a:rPr sz="1150">
                <a:solidFill>
                  <a:srgbClr val="FAF33E"/>
                </a:solidFill>
                <a:latin typeface="Consolas"/>
              </a:rPr>
              <a:t>new</a:t>
            </a:r>
            <a:r>
              <a:rPr sz="1150">
                <a:solidFill>
                  <a:srgbClr val="E8E2FF"/>
                </a:solidFill>
                <a:latin typeface="Consolas"/>
              </a:rPr>
              <a:t> </a:t>
            </a:r>
            <a:r>
              <a:rPr sz="1150">
                <a:solidFill>
                  <a:srgbClr val="9D8DF1"/>
                </a:solidFill>
                <a:latin typeface="Consolas"/>
              </a:rPr>
              <a:t>JButton</a:t>
            </a:r>
            <a:r>
              <a:rPr sz="1150">
                <a:solidFill>
                  <a:srgbClr val="E8E2FF"/>
                </a:solidFill>
                <a:latin typeface="Consolas"/>
              </a:rPr>
              <a:t>(</a:t>
            </a:r>
            <a:r>
              <a:rPr sz="1150">
                <a:solidFill>
                  <a:srgbClr val="FFB3C1"/>
                </a:solidFill>
                <a:latin typeface="Consolas"/>
              </a:rPr>
              <a:t>"Valider"</a:t>
            </a:r>
            <a:r>
              <a:rPr sz="1150">
                <a:solidFill>
                  <a:srgbClr val="E8E2FF"/>
                </a:solidFill>
                <a:latin typeface="Consolas"/>
              </a:rPr>
              <a:t>)</a:t>
            </a:r>
            <a:r>
              <a:rPr sz="115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</a:p>
          <a:p>
            <a:pPr>
              <a:lnSpc>
                <a:spcPct val="108000"/>
              </a:lnSpc>
            </a:pPr>
            <a:r>
              <a:rPr sz="1150">
                <a:solidFill>
                  <a:srgbClr val="9990B8"/>
                </a:solidFill>
                <a:latin typeface="Consolas"/>
              </a:rPr>
              <a:t>// Classe anonyme (verbose mais explicite)</a:t>
            </a:r>
          </a:p>
          <a:p>
            <a:pPr>
              <a:lnSpc>
                <a:spcPct val="108000"/>
              </a:lnSpc>
            </a:pPr>
            <a:r>
              <a:rPr sz="1150">
                <a:solidFill>
                  <a:srgbClr val="E8E2FF"/>
                </a:solidFill>
                <a:latin typeface="Consolas"/>
              </a:rPr>
              <a:t>valider</a:t>
            </a:r>
            <a:r>
              <a:rPr sz="1150">
                <a:solidFill>
                  <a:srgbClr val="E8E2FF"/>
                </a:solidFill>
                <a:latin typeface="Consolas"/>
              </a:rPr>
              <a:t>.</a:t>
            </a:r>
            <a:r>
              <a:rPr sz="1150">
                <a:solidFill>
                  <a:srgbClr val="E8E2FF"/>
                </a:solidFill>
                <a:latin typeface="Consolas"/>
              </a:rPr>
              <a:t>addActionListener</a:t>
            </a:r>
            <a:r>
              <a:rPr sz="1150">
                <a:solidFill>
                  <a:srgbClr val="E8E2FF"/>
                </a:solidFill>
                <a:latin typeface="Consolas"/>
              </a:rPr>
              <a:t>(</a:t>
            </a:r>
            <a:r>
              <a:rPr sz="1150">
                <a:solidFill>
                  <a:srgbClr val="FAF33E"/>
                </a:solidFill>
                <a:latin typeface="Consolas"/>
              </a:rPr>
              <a:t>new</a:t>
            </a:r>
            <a:r>
              <a:rPr sz="1150">
                <a:solidFill>
                  <a:srgbClr val="E8E2FF"/>
                </a:solidFill>
                <a:latin typeface="Consolas"/>
              </a:rPr>
              <a:t> </a:t>
            </a:r>
            <a:r>
              <a:rPr sz="1150">
                <a:solidFill>
                  <a:srgbClr val="9D8DF1"/>
                </a:solidFill>
                <a:latin typeface="Consolas"/>
              </a:rPr>
              <a:t>ActionListener</a:t>
            </a:r>
            <a:r>
              <a:rPr sz="1150">
                <a:solidFill>
                  <a:srgbClr val="E8E2FF"/>
                </a:solidFill>
                <a:latin typeface="Consolas"/>
              </a:rPr>
              <a:t>(</a:t>
            </a:r>
            <a:r>
              <a:rPr sz="1150">
                <a:solidFill>
                  <a:srgbClr val="E8E2FF"/>
                </a:solidFill>
                <a:latin typeface="Consolas"/>
              </a:rPr>
              <a:t>)</a:t>
            </a:r>
            <a:r>
              <a:rPr sz="1150">
                <a:solidFill>
                  <a:srgbClr val="E8E2FF"/>
                </a:solidFill>
                <a:latin typeface="Consolas"/>
              </a:rPr>
              <a:t> </a:t>
            </a:r>
            <a:r>
              <a:rPr sz="115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  <a:r>
              <a:rPr sz="1150">
                <a:solidFill>
                  <a:srgbClr val="E8E2FF"/>
                </a:solidFill>
                <a:latin typeface="Consolas"/>
              </a:rPr>
              <a:t>    </a:t>
            </a:r>
            <a:r>
              <a:rPr sz="1150">
                <a:solidFill>
                  <a:srgbClr val="E8E2FF"/>
                </a:solidFill>
                <a:latin typeface="Consolas"/>
              </a:rPr>
              <a:t>@</a:t>
            </a:r>
            <a:r>
              <a:rPr sz="1150">
                <a:solidFill>
                  <a:srgbClr val="E8E2FF"/>
                </a:solidFill>
                <a:latin typeface="Consolas"/>
              </a:rPr>
              <a:t>Override</a:t>
            </a:r>
          </a:p>
          <a:p>
            <a:pPr>
              <a:lnSpc>
                <a:spcPct val="108000"/>
              </a:lnSpc>
            </a:pPr>
            <a:r>
              <a:rPr sz="1150">
                <a:solidFill>
                  <a:srgbClr val="E8E2FF"/>
                </a:solidFill>
                <a:latin typeface="Consolas"/>
              </a:rPr>
              <a:t>    </a:t>
            </a:r>
            <a:r>
              <a:rPr sz="1150">
                <a:solidFill>
                  <a:srgbClr val="FAF33E"/>
                </a:solidFill>
                <a:latin typeface="Consolas"/>
              </a:rPr>
              <a:t>public</a:t>
            </a:r>
            <a:r>
              <a:rPr sz="1150">
                <a:solidFill>
                  <a:srgbClr val="E8E2FF"/>
                </a:solidFill>
                <a:latin typeface="Consolas"/>
              </a:rPr>
              <a:t> </a:t>
            </a:r>
            <a:r>
              <a:rPr sz="1150">
                <a:solidFill>
                  <a:srgbClr val="FAF33E"/>
                </a:solidFill>
                <a:latin typeface="Consolas"/>
              </a:rPr>
              <a:t>void</a:t>
            </a:r>
            <a:r>
              <a:rPr sz="1150">
                <a:solidFill>
                  <a:srgbClr val="E8E2FF"/>
                </a:solidFill>
                <a:latin typeface="Consolas"/>
              </a:rPr>
              <a:t> </a:t>
            </a:r>
            <a:r>
              <a:rPr sz="1150">
                <a:solidFill>
                  <a:srgbClr val="E8E2FF"/>
                </a:solidFill>
                <a:latin typeface="Consolas"/>
              </a:rPr>
              <a:t>actionPerformed</a:t>
            </a:r>
            <a:r>
              <a:rPr sz="1150">
                <a:solidFill>
                  <a:srgbClr val="E8E2FF"/>
                </a:solidFill>
                <a:latin typeface="Consolas"/>
              </a:rPr>
              <a:t>(</a:t>
            </a:r>
            <a:r>
              <a:rPr sz="1150">
                <a:solidFill>
                  <a:srgbClr val="9D8DF1"/>
                </a:solidFill>
                <a:latin typeface="Consolas"/>
              </a:rPr>
              <a:t>ActionEvent</a:t>
            </a:r>
            <a:r>
              <a:rPr sz="1150">
                <a:solidFill>
                  <a:srgbClr val="E8E2FF"/>
                </a:solidFill>
                <a:latin typeface="Consolas"/>
              </a:rPr>
              <a:t> </a:t>
            </a:r>
            <a:r>
              <a:rPr sz="1150">
                <a:solidFill>
                  <a:srgbClr val="E8E2FF"/>
                </a:solidFill>
                <a:latin typeface="Consolas"/>
              </a:rPr>
              <a:t>e</a:t>
            </a:r>
            <a:r>
              <a:rPr sz="1150">
                <a:solidFill>
                  <a:srgbClr val="E8E2FF"/>
                </a:solidFill>
                <a:latin typeface="Consolas"/>
              </a:rPr>
              <a:t>)</a:t>
            </a:r>
            <a:r>
              <a:rPr sz="1150">
                <a:solidFill>
                  <a:srgbClr val="E8E2FF"/>
                </a:solidFill>
                <a:latin typeface="Consolas"/>
              </a:rPr>
              <a:t> </a:t>
            </a:r>
            <a:r>
              <a:rPr sz="115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  <a:r>
              <a:rPr sz="1150">
                <a:solidFill>
                  <a:srgbClr val="E8E2FF"/>
                </a:solidFill>
                <a:latin typeface="Consolas"/>
              </a:rPr>
              <a:t>        </a:t>
            </a:r>
            <a:r>
              <a:rPr sz="1150">
                <a:solidFill>
                  <a:srgbClr val="9D8DF1"/>
                </a:solidFill>
                <a:latin typeface="Consolas"/>
              </a:rPr>
              <a:t>String</a:t>
            </a:r>
            <a:r>
              <a:rPr sz="1150">
                <a:solidFill>
                  <a:srgbClr val="E8E2FF"/>
                </a:solidFill>
                <a:latin typeface="Consolas"/>
              </a:rPr>
              <a:t> </a:t>
            </a:r>
            <a:r>
              <a:rPr sz="1150">
                <a:solidFill>
                  <a:srgbClr val="E8E2FF"/>
                </a:solidFill>
                <a:latin typeface="Consolas"/>
              </a:rPr>
              <a:t>src</a:t>
            </a:r>
            <a:r>
              <a:rPr sz="1150">
                <a:solidFill>
                  <a:srgbClr val="E8E2FF"/>
                </a:solidFill>
                <a:latin typeface="Consolas"/>
              </a:rPr>
              <a:t> </a:t>
            </a:r>
            <a:r>
              <a:rPr sz="1150">
                <a:solidFill>
                  <a:srgbClr val="E8E2FF"/>
                </a:solidFill>
                <a:latin typeface="Consolas"/>
              </a:rPr>
              <a:t>=</a:t>
            </a:r>
            <a:r>
              <a:rPr sz="1150">
                <a:solidFill>
                  <a:srgbClr val="E8E2FF"/>
                </a:solidFill>
                <a:latin typeface="Consolas"/>
              </a:rPr>
              <a:t> </a:t>
            </a:r>
            <a:r>
              <a:rPr sz="1150">
                <a:solidFill>
                  <a:srgbClr val="E8E2FF"/>
                </a:solidFill>
                <a:latin typeface="Consolas"/>
              </a:rPr>
              <a:t>(</a:t>
            </a:r>
            <a:r>
              <a:rPr sz="1150">
                <a:solidFill>
                  <a:srgbClr val="E8E2FF"/>
                </a:solidFill>
                <a:latin typeface="Consolas"/>
              </a:rPr>
              <a:t>(</a:t>
            </a:r>
            <a:r>
              <a:rPr sz="1150">
                <a:solidFill>
                  <a:srgbClr val="9D8DF1"/>
                </a:solidFill>
                <a:latin typeface="Consolas"/>
              </a:rPr>
              <a:t>JButton</a:t>
            </a:r>
            <a:r>
              <a:rPr sz="1150">
                <a:solidFill>
                  <a:srgbClr val="E8E2FF"/>
                </a:solidFill>
                <a:latin typeface="Consolas"/>
              </a:rPr>
              <a:t>)</a:t>
            </a:r>
            <a:r>
              <a:rPr sz="1150">
                <a:solidFill>
                  <a:srgbClr val="E8E2FF"/>
                </a:solidFill>
                <a:latin typeface="Consolas"/>
              </a:rPr>
              <a:t> </a:t>
            </a:r>
            <a:r>
              <a:rPr sz="1150">
                <a:solidFill>
                  <a:srgbClr val="E8E2FF"/>
                </a:solidFill>
                <a:latin typeface="Consolas"/>
              </a:rPr>
              <a:t>e</a:t>
            </a:r>
            <a:r>
              <a:rPr sz="1150">
                <a:solidFill>
                  <a:srgbClr val="E8E2FF"/>
                </a:solidFill>
                <a:latin typeface="Consolas"/>
              </a:rPr>
              <a:t>.</a:t>
            </a:r>
            <a:r>
              <a:rPr sz="1150">
                <a:solidFill>
                  <a:srgbClr val="E8E2FF"/>
                </a:solidFill>
                <a:latin typeface="Consolas"/>
              </a:rPr>
              <a:t>getSource</a:t>
            </a:r>
            <a:r>
              <a:rPr sz="1150">
                <a:solidFill>
                  <a:srgbClr val="E8E2FF"/>
                </a:solidFill>
                <a:latin typeface="Consolas"/>
              </a:rPr>
              <a:t>(</a:t>
            </a:r>
            <a:r>
              <a:rPr sz="1150">
                <a:solidFill>
                  <a:srgbClr val="E8E2FF"/>
                </a:solidFill>
                <a:latin typeface="Consolas"/>
              </a:rPr>
              <a:t>)</a:t>
            </a:r>
            <a:r>
              <a:rPr sz="1150">
                <a:solidFill>
                  <a:srgbClr val="E8E2FF"/>
                </a:solidFill>
                <a:latin typeface="Consolas"/>
              </a:rPr>
              <a:t>)</a:t>
            </a:r>
            <a:r>
              <a:rPr sz="1150">
                <a:solidFill>
                  <a:srgbClr val="E8E2FF"/>
                </a:solidFill>
                <a:latin typeface="Consolas"/>
              </a:rPr>
              <a:t>.</a:t>
            </a:r>
            <a:r>
              <a:rPr sz="1150">
                <a:solidFill>
                  <a:srgbClr val="E8E2FF"/>
                </a:solidFill>
                <a:latin typeface="Consolas"/>
              </a:rPr>
              <a:t>getText</a:t>
            </a:r>
            <a:r>
              <a:rPr sz="1150">
                <a:solidFill>
                  <a:srgbClr val="E8E2FF"/>
                </a:solidFill>
                <a:latin typeface="Consolas"/>
              </a:rPr>
              <a:t>(</a:t>
            </a:r>
            <a:r>
              <a:rPr sz="1150">
                <a:solidFill>
                  <a:srgbClr val="E8E2FF"/>
                </a:solidFill>
                <a:latin typeface="Consolas"/>
              </a:rPr>
              <a:t>)</a:t>
            </a:r>
            <a:r>
              <a:rPr sz="115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1150">
                <a:solidFill>
                  <a:srgbClr val="E8E2FF"/>
                </a:solidFill>
                <a:latin typeface="Consolas"/>
              </a:rPr>
              <a:t>        </a:t>
            </a:r>
            <a:r>
              <a:rPr sz="1150">
                <a:solidFill>
                  <a:srgbClr val="E8E2FF"/>
                </a:solidFill>
                <a:latin typeface="Consolas"/>
              </a:rPr>
              <a:t>System</a:t>
            </a:r>
            <a:r>
              <a:rPr sz="1150">
                <a:solidFill>
                  <a:srgbClr val="E8E2FF"/>
                </a:solidFill>
                <a:latin typeface="Consolas"/>
              </a:rPr>
              <a:t>.</a:t>
            </a:r>
            <a:r>
              <a:rPr sz="1150">
                <a:solidFill>
                  <a:srgbClr val="E8E2FF"/>
                </a:solidFill>
                <a:latin typeface="Consolas"/>
              </a:rPr>
              <a:t>out</a:t>
            </a:r>
            <a:r>
              <a:rPr sz="1150">
                <a:solidFill>
                  <a:srgbClr val="E8E2FF"/>
                </a:solidFill>
                <a:latin typeface="Consolas"/>
              </a:rPr>
              <a:t>.</a:t>
            </a:r>
            <a:r>
              <a:rPr sz="1150">
                <a:solidFill>
                  <a:srgbClr val="E8E2FF"/>
                </a:solidFill>
                <a:latin typeface="Consolas"/>
              </a:rPr>
              <a:t>println</a:t>
            </a:r>
            <a:r>
              <a:rPr sz="1150">
                <a:solidFill>
                  <a:srgbClr val="E8E2FF"/>
                </a:solidFill>
                <a:latin typeface="Consolas"/>
              </a:rPr>
              <a:t>(</a:t>
            </a:r>
            <a:r>
              <a:rPr sz="1150">
                <a:solidFill>
                  <a:srgbClr val="FFB3C1"/>
                </a:solidFill>
                <a:latin typeface="Consolas"/>
              </a:rPr>
              <a:t>"Action sur : "</a:t>
            </a:r>
            <a:r>
              <a:rPr sz="1150">
                <a:solidFill>
                  <a:srgbClr val="E8E2FF"/>
                </a:solidFill>
                <a:latin typeface="Consolas"/>
              </a:rPr>
              <a:t> </a:t>
            </a:r>
            <a:r>
              <a:rPr sz="1150">
                <a:solidFill>
                  <a:srgbClr val="E8E2FF"/>
                </a:solidFill>
                <a:latin typeface="Consolas"/>
              </a:rPr>
              <a:t>+</a:t>
            </a:r>
            <a:r>
              <a:rPr sz="1150">
                <a:solidFill>
                  <a:srgbClr val="E8E2FF"/>
                </a:solidFill>
                <a:latin typeface="Consolas"/>
              </a:rPr>
              <a:t> </a:t>
            </a:r>
            <a:r>
              <a:rPr sz="1150">
                <a:solidFill>
                  <a:srgbClr val="E8E2FF"/>
                </a:solidFill>
                <a:latin typeface="Consolas"/>
              </a:rPr>
              <a:t>src</a:t>
            </a:r>
            <a:r>
              <a:rPr sz="1150">
                <a:solidFill>
                  <a:srgbClr val="E8E2FF"/>
                </a:solidFill>
                <a:latin typeface="Consolas"/>
              </a:rPr>
              <a:t>)</a:t>
            </a:r>
            <a:r>
              <a:rPr sz="115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1150">
                <a:solidFill>
                  <a:srgbClr val="E8E2FF"/>
                </a:solidFill>
                <a:latin typeface="Consolas"/>
              </a:rPr>
              <a:t>    </a:t>
            </a:r>
            <a:r>
              <a:rPr sz="1150">
                <a:solidFill>
                  <a:srgbClr val="E8E2FF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</a:pPr>
            <a:r>
              <a:rPr sz="1150">
                <a:solidFill>
                  <a:srgbClr val="E8E2FF"/>
                </a:solidFill>
                <a:latin typeface="Consolas"/>
              </a:rPr>
              <a:t>}</a:t>
            </a:r>
            <a:r>
              <a:rPr sz="1150">
                <a:solidFill>
                  <a:srgbClr val="E8E2FF"/>
                </a:solidFill>
                <a:latin typeface="Consolas"/>
              </a:rPr>
              <a:t>)</a:t>
            </a:r>
            <a:r>
              <a:rPr sz="115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</a:p>
          <a:p>
            <a:pPr>
              <a:lnSpc>
                <a:spcPct val="108000"/>
              </a:lnSpc>
            </a:pPr>
            <a:r>
              <a:rPr sz="1150">
                <a:solidFill>
                  <a:srgbClr val="9990B8"/>
                </a:solidFill>
                <a:latin typeface="Consolas"/>
              </a:rPr>
              <a:t>// Aussi disponible sur JMenuItem, JTextField (Enter), JComboBox…</a:t>
            </a:r>
          </a:p>
          <a:p>
            <a:pPr>
              <a:lnSpc>
                <a:spcPct val="108000"/>
              </a:lnSpc>
            </a:pPr>
            <a:r>
              <a:rPr sz="1150">
                <a:solidFill>
                  <a:srgbClr val="E8E2FF"/>
                </a:solidFill>
                <a:latin typeface="Consolas"/>
              </a:rPr>
              <a:t>champ</a:t>
            </a:r>
            <a:r>
              <a:rPr sz="1150">
                <a:solidFill>
                  <a:srgbClr val="E8E2FF"/>
                </a:solidFill>
                <a:latin typeface="Consolas"/>
              </a:rPr>
              <a:t>.</a:t>
            </a:r>
            <a:r>
              <a:rPr sz="1150">
                <a:solidFill>
                  <a:srgbClr val="E8E2FF"/>
                </a:solidFill>
                <a:latin typeface="Consolas"/>
              </a:rPr>
              <a:t>addActionListener</a:t>
            </a:r>
            <a:r>
              <a:rPr sz="1150">
                <a:solidFill>
                  <a:srgbClr val="E8E2FF"/>
                </a:solidFill>
                <a:latin typeface="Consolas"/>
              </a:rPr>
              <a:t>(</a:t>
            </a:r>
            <a:r>
              <a:rPr sz="1150">
                <a:solidFill>
                  <a:srgbClr val="E8E2FF"/>
                </a:solidFill>
                <a:latin typeface="Consolas"/>
              </a:rPr>
              <a:t>e</a:t>
            </a:r>
            <a:r>
              <a:rPr sz="1150">
                <a:solidFill>
                  <a:srgbClr val="E8E2FF"/>
                </a:solidFill>
                <a:latin typeface="Consolas"/>
              </a:rPr>
              <a:t> </a:t>
            </a:r>
            <a:r>
              <a:rPr sz="1150">
                <a:solidFill>
                  <a:srgbClr val="E8E2FF"/>
                </a:solidFill>
                <a:latin typeface="Consolas"/>
              </a:rPr>
              <a:t>-</a:t>
            </a:r>
            <a:r>
              <a:rPr sz="1150">
                <a:solidFill>
                  <a:srgbClr val="E8E2FF"/>
                </a:solidFill>
                <a:latin typeface="Consolas"/>
              </a:rPr>
              <a:t>&gt;</a:t>
            </a:r>
            <a:r>
              <a:rPr sz="1150">
                <a:solidFill>
                  <a:srgbClr val="E8E2FF"/>
                </a:solidFill>
                <a:latin typeface="Consolas"/>
              </a:rPr>
              <a:t> </a:t>
            </a:r>
            <a:r>
              <a:rPr sz="1150">
                <a:solidFill>
                  <a:srgbClr val="E8E2FF"/>
                </a:solidFill>
                <a:latin typeface="Consolas"/>
              </a:rPr>
              <a:t>traiter</a:t>
            </a:r>
            <a:r>
              <a:rPr sz="1150">
                <a:solidFill>
                  <a:srgbClr val="E8E2FF"/>
                </a:solidFill>
                <a:latin typeface="Consolas"/>
              </a:rPr>
              <a:t>(</a:t>
            </a:r>
            <a:r>
              <a:rPr sz="1150">
                <a:solidFill>
                  <a:srgbClr val="E8E2FF"/>
                </a:solidFill>
                <a:latin typeface="Consolas"/>
              </a:rPr>
              <a:t>champ</a:t>
            </a:r>
            <a:r>
              <a:rPr sz="1150">
                <a:solidFill>
                  <a:srgbClr val="E8E2FF"/>
                </a:solidFill>
                <a:latin typeface="Consolas"/>
              </a:rPr>
              <a:t>.</a:t>
            </a:r>
            <a:r>
              <a:rPr sz="1150">
                <a:solidFill>
                  <a:srgbClr val="E8E2FF"/>
                </a:solidFill>
                <a:latin typeface="Consolas"/>
              </a:rPr>
              <a:t>getText</a:t>
            </a:r>
            <a:r>
              <a:rPr sz="1150">
                <a:solidFill>
                  <a:srgbClr val="E8E2FF"/>
                </a:solidFill>
                <a:latin typeface="Consolas"/>
              </a:rPr>
              <a:t>(</a:t>
            </a:r>
            <a:r>
              <a:rPr sz="1150">
                <a:solidFill>
                  <a:srgbClr val="E8E2FF"/>
                </a:solidFill>
                <a:latin typeface="Consolas"/>
              </a:rPr>
              <a:t>)</a:t>
            </a:r>
            <a:r>
              <a:rPr sz="1150">
                <a:solidFill>
                  <a:srgbClr val="E8E2FF"/>
                </a:solidFill>
                <a:latin typeface="Consolas"/>
              </a:rPr>
              <a:t>)</a:t>
            </a:r>
            <a:r>
              <a:rPr sz="1150">
                <a:solidFill>
                  <a:srgbClr val="E8E2FF"/>
                </a:solidFill>
                <a:latin typeface="Consolas"/>
              </a:rPr>
              <a:t>)</a:t>
            </a:r>
            <a:r>
              <a:rPr sz="115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1150">
                <a:solidFill>
                  <a:srgbClr val="E8E2FF"/>
                </a:solidFill>
                <a:latin typeface="Consolas"/>
              </a:rPr>
              <a:t>menuQuitter</a:t>
            </a:r>
            <a:r>
              <a:rPr sz="1150">
                <a:solidFill>
                  <a:srgbClr val="E8E2FF"/>
                </a:solidFill>
                <a:latin typeface="Consolas"/>
              </a:rPr>
              <a:t>.</a:t>
            </a:r>
            <a:r>
              <a:rPr sz="1150">
                <a:solidFill>
                  <a:srgbClr val="E8E2FF"/>
                </a:solidFill>
                <a:latin typeface="Consolas"/>
              </a:rPr>
              <a:t>addActionListener</a:t>
            </a:r>
            <a:r>
              <a:rPr sz="1150">
                <a:solidFill>
                  <a:srgbClr val="E8E2FF"/>
                </a:solidFill>
                <a:latin typeface="Consolas"/>
              </a:rPr>
              <a:t>(</a:t>
            </a:r>
            <a:r>
              <a:rPr sz="1150">
                <a:solidFill>
                  <a:srgbClr val="E8E2FF"/>
                </a:solidFill>
                <a:latin typeface="Consolas"/>
              </a:rPr>
              <a:t>e</a:t>
            </a:r>
            <a:r>
              <a:rPr sz="1150">
                <a:solidFill>
                  <a:srgbClr val="E8E2FF"/>
                </a:solidFill>
                <a:latin typeface="Consolas"/>
              </a:rPr>
              <a:t> </a:t>
            </a:r>
            <a:r>
              <a:rPr sz="1150">
                <a:solidFill>
                  <a:srgbClr val="E8E2FF"/>
                </a:solidFill>
                <a:latin typeface="Consolas"/>
              </a:rPr>
              <a:t>-</a:t>
            </a:r>
            <a:r>
              <a:rPr sz="1150">
                <a:solidFill>
                  <a:srgbClr val="E8E2FF"/>
                </a:solidFill>
                <a:latin typeface="Consolas"/>
              </a:rPr>
              <a:t>&gt;</a:t>
            </a:r>
            <a:r>
              <a:rPr sz="1150">
                <a:solidFill>
                  <a:srgbClr val="E8E2FF"/>
                </a:solidFill>
                <a:latin typeface="Consolas"/>
              </a:rPr>
              <a:t> </a:t>
            </a:r>
            <a:r>
              <a:rPr sz="1150">
                <a:solidFill>
                  <a:srgbClr val="E8E2FF"/>
                </a:solidFill>
                <a:latin typeface="Consolas"/>
              </a:rPr>
              <a:t>System</a:t>
            </a:r>
            <a:r>
              <a:rPr sz="1150">
                <a:solidFill>
                  <a:srgbClr val="E8E2FF"/>
                </a:solidFill>
                <a:latin typeface="Consolas"/>
              </a:rPr>
              <a:t>.</a:t>
            </a:r>
            <a:r>
              <a:rPr sz="1150">
                <a:solidFill>
                  <a:srgbClr val="E8E2FF"/>
                </a:solidFill>
                <a:latin typeface="Consolas"/>
              </a:rPr>
              <a:t>exit</a:t>
            </a:r>
            <a:r>
              <a:rPr sz="1150">
                <a:solidFill>
                  <a:srgbClr val="E8E2FF"/>
                </a:solidFill>
                <a:latin typeface="Consolas"/>
              </a:rPr>
              <a:t>(</a:t>
            </a:r>
            <a:r>
              <a:rPr sz="1150">
                <a:solidFill>
                  <a:srgbClr val="E8E2FF"/>
                </a:solidFill>
                <a:latin typeface="Consolas"/>
              </a:rPr>
              <a:t>0</a:t>
            </a:r>
            <a:r>
              <a:rPr sz="1150">
                <a:solidFill>
                  <a:srgbClr val="E8E2FF"/>
                </a:solidFill>
                <a:latin typeface="Consolas"/>
              </a:rPr>
              <a:t>)</a:t>
            </a:r>
            <a:r>
              <a:rPr sz="1150">
                <a:solidFill>
                  <a:srgbClr val="E8E2FF"/>
                </a:solidFill>
                <a:latin typeface="Consolas"/>
              </a:rPr>
              <a:t>)</a:t>
            </a:r>
            <a:r>
              <a:rPr sz="1150">
                <a:solidFill>
                  <a:srgbClr val="E8E2FF"/>
                </a:solidFill>
                <a:latin typeface="Consolas"/>
              </a:rPr>
              <a:t>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691640"/>
            <a:ext cx="3840480" cy="4572000"/>
          </a:xfrm>
          <a:prstGeom prst="roundRect">
            <a:avLst>
              <a:gd name="adj" fmla="val 4000"/>
            </a:avLst>
          </a:prstGeom>
          <a:solidFill>
            <a:srgbClr val="EF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0" y="1691640"/>
            <a:ext cx="73152" cy="4572000"/>
          </a:xfrm>
          <a:prstGeom prst="rect">
            <a:avLst/>
          </a:prstGeom>
          <a:solidFill>
            <a:srgbClr val="FAF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79" y="18288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21C35"/>
                </a:solidFill>
                <a:latin typeface="Calibri"/>
              </a:rPr>
              <a:t>Méthodes utiles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2194560"/>
            <a:ext cx="365760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150" b="0" i="0">
                <a:solidFill>
                  <a:srgbClr val="221C35"/>
                </a:solidFill>
                <a:latin typeface="Calibri"/>
              </a:rPr>
              <a:t>e.getSource()</a:t>
            </a:r>
          </a:p>
          <a:p>
            <a:pPr>
              <a:lnSpc>
                <a:spcPct val="125000"/>
              </a:lnSpc>
            </a:pPr>
            <a:r>
              <a:rPr sz="1150" b="0" i="0">
                <a:solidFill>
                  <a:srgbClr val="221C35"/>
                </a:solidFill>
                <a:latin typeface="Calibri"/>
              </a:rPr>
              <a:t>e.getActionCommand()</a:t>
            </a:r>
          </a:p>
          <a:p>
            <a:pPr>
              <a:lnSpc>
                <a:spcPct val="125000"/>
              </a:lnSpc>
            </a:pPr>
            <a:r>
              <a:rPr sz="1150" b="0" i="0">
                <a:solidFill>
                  <a:srgbClr val="221C35"/>
                </a:solidFill>
                <a:latin typeface="Calibri"/>
              </a:rPr>
              <a:t>e.getModifiers()</a:t>
            </a:r>
          </a:p>
          <a:p>
            <a:pPr>
              <a:lnSpc>
                <a:spcPct val="125000"/>
              </a:lnSpc>
            </a:pPr>
            <a:r>
              <a:rPr sz="1150" b="0" i="0">
                <a:solidFill>
                  <a:srgbClr val="221C35"/>
                </a:solidFill>
                <a:latin typeface="Calibri"/>
              </a:rPr>
              <a:t>e.getWhen()</a:t>
            </a:r>
          </a:p>
          <a:p>
            <a:pPr>
              <a:lnSpc>
                <a:spcPct val="125000"/>
              </a:lnSpc>
            </a:pPr>
            <a:r>
              <a:rPr sz="1150" b="0" i="0">
                <a:solidFill>
                  <a:srgbClr val="221C35"/>
                </a:solidFill>
                <a:latin typeface="Calibri"/>
              </a:rPr>
              <a:t/>
            </a:r>
          </a:p>
          <a:p>
            <a:pPr>
              <a:lnSpc>
                <a:spcPct val="125000"/>
              </a:lnSpc>
            </a:pPr>
            <a:r>
              <a:rPr sz="1150" b="0" i="0">
                <a:solidFill>
                  <a:srgbClr val="221C35"/>
                </a:solidFill>
                <a:latin typeface="Calibri"/>
              </a:rPr>
              <a:t>Composants compatibles :</a:t>
            </a:r>
          </a:p>
          <a:p>
            <a:pPr>
              <a:lnSpc>
                <a:spcPct val="125000"/>
              </a:lnSpc>
            </a:pPr>
            <a:r>
              <a:rPr sz="1150" b="0" i="0">
                <a:solidFill>
                  <a:srgbClr val="221C35"/>
                </a:solidFill>
                <a:latin typeface="Calibri"/>
              </a:rPr>
              <a:t>• JButton</a:t>
            </a:r>
          </a:p>
          <a:p>
            <a:pPr>
              <a:lnSpc>
                <a:spcPct val="125000"/>
              </a:lnSpc>
            </a:pPr>
            <a:r>
              <a:rPr sz="1150" b="0" i="0">
                <a:solidFill>
                  <a:srgbClr val="221C35"/>
                </a:solidFill>
                <a:latin typeface="Calibri"/>
              </a:rPr>
              <a:t>• JMenuItem</a:t>
            </a:r>
          </a:p>
          <a:p>
            <a:pPr>
              <a:lnSpc>
                <a:spcPct val="125000"/>
              </a:lnSpc>
            </a:pPr>
            <a:r>
              <a:rPr sz="1150" b="0" i="0">
                <a:solidFill>
                  <a:srgbClr val="221C35"/>
                </a:solidFill>
                <a:latin typeface="Calibri"/>
              </a:rPr>
              <a:t>• JTextField (Enter)</a:t>
            </a:r>
          </a:p>
          <a:p>
            <a:pPr>
              <a:lnSpc>
                <a:spcPct val="125000"/>
              </a:lnSpc>
            </a:pPr>
            <a:r>
              <a:rPr sz="1150" b="0" i="0">
                <a:solidFill>
                  <a:srgbClr val="221C35"/>
                </a:solidFill>
                <a:latin typeface="Calibri"/>
              </a:rPr>
              <a:t>• JComboBox</a:t>
            </a:r>
          </a:p>
          <a:p>
            <a:pPr>
              <a:lnSpc>
                <a:spcPct val="125000"/>
              </a:lnSpc>
            </a:pPr>
            <a:r>
              <a:rPr sz="1150" b="0" i="0">
                <a:solidFill>
                  <a:srgbClr val="221C35"/>
                </a:solidFill>
                <a:latin typeface="Calibri"/>
              </a:rPr>
              <a:t>• JRadioButton</a:t>
            </a:r>
          </a:p>
          <a:p>
            <a:pPr>
              <a:lnSpc>
                <a:spcPct val="125000"/>
              </a:lnSpc>
            </a:pPr>
            <a:r>
              <a:rPr sz="1150" b="0" i="0">
                <a:solidFill>
                  <a:srgbClr val="221C35"/>
                </a:solidFill>
                <a:latin typeface="Calibri"/>
              </a:rPr>
              <a:t>• JCheckBox</a:t>
            </a:r>
          </a:p>
          <a:p>
            <a:pPr>
              <a:lnSpc>
                <a:spcPct val="125000"/>
              </a:lnSpc>
            </a:pPr>
            <a:r>
              <a:rPr sz="1150" b="0" i="0">
                <a:solidFill>
                  <a:srgbClr val="221C35"/>
                </a:solidFill>
                <a:latin typeface="Calibri"/>
              </a:rPr>
              <a:t>• Timer (déclenchement)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D8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048695" y="2286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2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48695" y="228600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AFAFF"/>
                </a:solidFill>
                <a:latin typeface="Calibri"/>
              </a:rPr>
              <a:t>05 / 30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329184"/>
            <a:ext cx="91440" cy="91440"/>
          </a:xfrm>
          <a:prstGeom prst="ellipse">
            <a:avLst/>
          </a:prstGeom>
          <a:solidFill>
            <a:srgbClr val="E85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25603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200">
                <a:solidFill>
                  <a:srgbClr val="6B5F8C"/>
                </a:solidFill>
                <a:latin typeface="Calibri"/>
              </a:rPr>
              <a:t>1. MODÈLE ÉVÉNEMENTIEL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713232"/>
            <a:ext cx="164592" cy="329184"/>
          </a:xfrm>
          <a:prstGeom prst="rect">
            <a:avLst/>
          </a:prstGeom>
          <a:solidFill>
            <a:srgbClr val="FAF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00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21C35"/>
                </a:solidFill>
                <a:latin typeface="Calibri"/>
              </a:rPr>
              <a:t>ItemListener — cases &amp; listes déroulantes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07899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5F8C"/>
                </a:solidFill>
                <a:latin typeface="Calibri"/>
              </a:rPr>
              <a:t>Détecter quand un élément est sélectionné ou désélectionné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486400" cy="2194560"/>
          </a:xfrm>
          <a:prstGeom prst="roundRect">
            <a:avLst>
              <a:gd name="adj" fmla="val 4000"/>
            </a:avLst>
          </a:prstGeom>
          <a:solidFill>
            <a:srgbClr val="22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1856232"/>
            <a:ext cx="5120640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100">
                <a:solidFill>
                  <a:srgbClr val="9990B8"/>
                </a:solidFill>
                <a:latin typeface="Consolas"/>
              </a:rPr>
              <a:t>// JCheckBox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9D8DF1"/>
                </a:solidFill>
                <a:latin typeface="Consolas"/>
              </a:rPr>
              <a:t>JCheckBox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accepter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=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FAF33E"/>
                </a:solidFill>
                <a:latin typeface="Consolas"/>
              </a:rPr>
              <a:t>new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9D8DF1"/>
                </a:solidFill>
                <a:latin typeface="Consolas"/>
              </a:rPr>
              <a:t>JCheckBox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FFB3C1"/>
                </a:solidFill>
                <a:latin typeface="Consolas"/>
              </a:rPr>
              <a:t>"J'accepte"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accepter</a:t>
            </a:r>
            <a:r>
              <a:rPr sz="1100">
                <a:solidFill>
                  <a:srgbClr val="E8E2FF"/>
                </a:solidFill>
                <a:latin typeface="Consolas"/>
              </a:rPr>
              <a:t>.</a:t>
            </a:r>
            <a:r>
              <a:rPr sz="1100">
                <a:solidFill>
                  <a:srgbClr val="E8E2FF"/>
                </a:solidFill>
                <a:latin typeface="Consolas"/>
              </a:rPr>
              <a:t>addItemListener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E8E2FF"/>
                </a:solidFill>
                <a:latin typeface="Consolas"/>
              </a:rPr>
              <a:t>e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-</a:t>
            </a:r>
            <a:r>
              <a:rPr sz="1100">
                <a:solidFill>
                  <a:srgbClr val="E8E2FF"/>
                </a:solidFill>
                <a:latin typeface="Consolas"/>
              </a:rPr>
              <a:t>&gt;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    </a:t>
            </a:r>
            <a:r>
              <a:rPr sz="1100">
                <a:solidFill>
                  <a:srgbClr val="FAF33E"/>
                </a:solidFill>
                <a:latin typeface="Consolas"/>
              </a:rPr>
              <a:t>if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E8E2FF"/>
                </a:solidFill>
                <a:latin typeface="Consolas"/>
              </a:rPr>
              <a:t>e</a:t>
            </a:r>
            <a:r>
              <a:rPr sz="1100">
                <a:solidFill>
                  <a:srgbClr val="E8E2FF"/>
                </a:solidFill>
                <a:latin typeface="Consolas"/>
              </a:rPr>
              <a:t>.</a:t>
            </a:r>
            <a:r>
              <a:rPr sz="1100">
                <a:solidFill>
                  <a:srgbClr val="E8E2FF"/>
                </a:solidFill>
                <a:latin typeface="Consolas"/>
              </a:rPr>
              <a:t>getStateChange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=</a:t>
            </a:r>
            <a:r>
              <a:rPr sz="1100">
                <a:solidFill>
                  <a:srgbClr val="E8E2FF"/>
                </a:solidFill>
                <a:latin typeface="Consolas"/>
              </a:rPr>
              <a:t>=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9D8DF1"/>
                </a:solidFill>
                <a:latin typeface="Consolas"/>
              </a:rPr>
              <a:t>ItemEvent</a:t>
            </a:r>
            <a:r>
              <a:rPr sz="1100">
                <a:solidFill>
                  <a:srgbClr val="E8E2FF"/>
                </a:solidFill>
                <a:latin typeface="Consolas"/>
              </a:rPr>
              <a:t>.</a:t>
            </a:r>
            <a:r>
              <a:rPr sz="1100">
                <a:solidFill>
                  <a:srgbClr val="E8E2FF"/>
                </a:solidFill>
                <a:latin typeface="Consolas"/>
              </a:rPr>
              <a:t>SELECTED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        </a:t>
            </a:r>
            <a:r>
              <a:rPr sz="1100">
                <a:solidFill>
                  <a:srgbClr val="E8E2FF"/>
                </a:solidFill>
                <a:latin typeface="Consolas"/>
              </a:rPr>
              <a:t>bouton</a:t>
            </a:r>
            <a:r>
              <a:rPr sz="1100">
                <a:solidFill>
                  <a:srgbClr val="E8E2FF"/>
                </a:solidFill>
                <a:latin typeface="Consolas"/>
              </a:rPr>
              <a:t>.</a:t>
            </a:r>
            <a:r>
              <a:rPr sz="1100">
                <a:solidFill>
                  <a:srgbClr val="E8E2FF"/>
                </a:solidFill>
                <a:latin typeface="Consolas"/>
              </a:rPr>
              <a:t>setEnabled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FAF33E"/>
                </a:solidFill>
                <a:latin typeface="Consolas"/>
              </a:rPr>
              <a:t>true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    </a:t>
            </a:r>
            <a:r>
              <a:rPr sz="1100">
                <a:solidFill>
                  <a:srgbClr val="E8E2FF"/>
                </a:solidFill>
                <a:latin typeface="Consolas"/>
              </a:rPr>
              <a:t>}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FAF33E"/>
                </a:solidFill>
                <a:latin typeface="Consolas"/>
              </a:rPr>
              <a:t>else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        </a:t>
            </a:r>
            <a:r>
              <a:rPr sz="1100">
                <a:solidFill>
                  <a:srgbClr val="E8E2FF"/>
                </a:solidFill>
                <a:latin typeface="Consolas"/>
              </a:rPr>
              <a:t>bouton</a:t>
            </a:r>
            <a:r>
              <a:rPr sz="1100">
                <a:solidFill>
                  <a:srgbClr val="E8E2FF"/>
                </a:solidFill>
                <a:latin typeface="Consolas"/>
              </a:rPr>
              <a:t>.</a:t>
            </a:r>
            <a:r>
              <a:rPr sz="1100">
                <a:solidFill>
                  <a:srgbClr val="E8E2FF"/>
                </a:solidFill>
                <a:latin typeface="Consolas"/>
              </a:rPr>
              <a:t>setEnabled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FAF33E"/>
                </a:solidFill>
                <a:latin typeface="Consolas"/>
              </a:rPr>
              <a:t>false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    </a:t>
            </a:r>
            <a:r>
              <a:rPr sz="1100">
                <a:solidFill>
                  <a:srgbClr val="E8E2FF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}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691640"/>
            <a:ext cx="5212080" cy="2194560"/>
          </a:xfrm>
          <a:prstGeom prst="roundRect">
            <a:avLst>
              <a:gd name="adj" fmla="val 4000"/>
            </a:avLst>
          </a:prstGeom>
          <a:solidFill>
            <a:srgbClr val="22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1856232"/>
            <a:ext cx="4846320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100">
                <a:solidFill>
                  <a:srgbClr val="9990B8"/>
                </a:solidFill>
                <a:latin typeface="Consolas"/>
              </a:rPr>
              <a:t>// JComboBox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9D8DF1"/>
                </a:solidFill>
                <a:latin typeface="Consolas"/>
              </a:rPr>
              <a:t>JComboBox</a:t>
            </a:r>
            <a:r>
              <a:rPr sz="1100">
                <a:solidFill>
                  <a:srgbClr val="E8E2FF"/>
                </a:solidFill>
                <a:latin typeface="Consolas"/>
              </a:rPr>
              <a:t>&lt;</a:t>
            </a:r>
            <a:r>
              <a:rPr sz="1100">
                <a:solidFill>
                  <a:srgbClr val="9D8DF1"/>
                </a:solidFill>
                <a:latin typeface="Consolas"/>
              </a:rPr>
              <a:t>String</a:t>
            </a:r>
            <a:r>
              <a:rPr sz="1100">
                <a:solidFill>
                  <a:srgbClr val="E8E2FF"/>
                </a:solidFill>
                <a:latin typeface="Consolas"/>
              </a:rPr>
              <a:t>&gt;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pays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=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FAF33E"/>
                </a:solidFill>
                <a:latin typeface="Consolas"/>
              </a:rPr>
              <a:t>new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9D8DF1"/>
                </a:solidFill>
                <a:latin typeface="Consolas"/>
              </a:rPr>
              <a:t>JComboBox</a:t>
            </a:r>
            <a:r>
              <a:rPr sz="1100">
                <a:solidFill>
                  <a:srgbClr val="E8E2FF"/>
                </a:solidFill>
                <a:latin typeface="Consolas"/>
              </a:rPr>
              <a:t>&lt;</a:t>
            </a:r>
            <a:r>
              <a:rPr sz="1100">
                <a:solidFill>
                  <a:srgbClr val="E8E2FF"/>
                </a:solidFill>
                <a:latin typeface="Consolas"/>
              </a:rPr>
              <a:t>&gt;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    </a:t>
            </a:r>
            <a:r>
              <a:rPr sz="1100">
                <a:solidFill>
                  <a:srgbClr val="FAF33E"/>
                </a:solidFill>
                <a:latin typeface="Consolas"/>
              </a:rPr>
              <a:t>new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9D8DF1"/>
                </a:solidFill>
                <a:latin typeface="Consolas"/>
              </a:rPr>
              <a:t>String</a:t>
            </a:r>
            <a:r>
              <a:rPr sz="1100">
                <a:solidFill>
                  <a:srgbClr val="E8E2FF"/>
                </a:solidFill>
                <a:latin typeface="Consolas"/>
              </a:rPr>
              <a:t>[</a:t>
            </a:r>
            <a:r>
              <a:rPr sz="1100">
                <a:solidFill>
                  <a:srgbClr val="E8E2FF"/>
                </a:solidFill>
                <a:latin typeface="Consolas"/>
              </a:rPr>
              <a:t>]</a:t>
            </a:r>
            <a:r>
              <a:rPr sz="1100">
                <a:solidFill>
                  <a:srgbClr val="E8E2FF"/>
                </a:solidFill>
                <a:latin typeface="Consolas"/>
              </a:rPr>
              <a:t>{</a:t>
            </a:r>
            <a:r>
              <a:rPr sz="1100">
                <a:solidFill>
                  <a:srgbClr val="FFB3C1"/>
                </a:solidFill>
                <a:latin typeface="Consolas"/>
              </a:rPr>
              <a:t>"Sénégal"</a:t>
            </a:r>
            <a:r>
              <a:rPr sz="1100">
                <a:solidFill>
                  <a:srgbClr val="E8E2FF"/>
                </a:solidFill>
                <a:latin typeface="Consolas"/>
              </a:rPr>
              <a:t>,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FFB3C1"/>
                </a:solidFill>
                <a:latin typeface="Consolas"/>
              </a:rPr>
              <a:t>"Mali"</a:t>
            </a:r>
            <a:r>
              <a:rPr sz="1100">
                <a:solidFill>
                  <a:srgbClr val="E8E2FF"/>
                </a:solidFill>
                <a:latin typeface="Consolas"/>
              </a:rPr>
              <a:t>,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FFB3C1"/>
                </a:solidFill>
                <a:latin typeface="Consolas"/>
              </a:rPr>
              <a:t>"Côte d'Ivoire"</a:t>
            </a:r>
            <a:r>
              <a:rPr sz="1100">
                <a:solidFill>
                  <a:srgbClr val="E8E2FF"/>
                </a:solidFill>
                <a:latin typeface="Consolas"/>
              </a:rPr>
              <a:t>}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pays</a:t>
            </a:r>
            <a:r>
              <a:rPr sz="1100">
                <a:solidFill>
                  <a:srgbClr val="E8E2FF"/>
                </a:solidFill>
                <a:latin typeface="Consolas"/>
              </a:rPr>
              <a:t>.</a:t>
            </a:r>
            <a:r>
              <a:rPr sz="1100">
                <a:solidFill>
                  <a:srgbClr val="E8E2FF"/>
                </a:solidFill>
                <a:latin typeface="Consolas"/>
              </a:rPr>
              <a:t>addItemListener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E8E2FF"/>
                </a:solidFill>
                <a:latin typeface="Consolas"/>
              </a:rPr>
              <a:t>e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-</a:t>
            </a:r>
            <a:r>
              <a:rPr sz="1100">
                <a:solidFill>
                  <a:srgbClr val="E8E2FF"/>
                </a:solidFill>
                <a:latin typeface="Consolas"/>
              </a:rPr>
              <a:t>&gt;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    </a:t>
            </a:r>
            <a:r>
              <a:rPr sz="1100">
                <a:solidFill>
                  <a:srgbClr val="FAF33E"/>
                </a:solidFill>
                <a:latin typeface="Consolas"/>
              </a:rPr>
              <a:t>if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E8E2FF"/>
                </a:solidFill>
                <a:latin typeface="Consolas"/>
              </a:rPr>
              <a:t>e</a:t>
            </a:r>
            <a:r>
              <a:rPr sz="1100">
                <a:solidFill>
                  <a:srgbClr val="E8E2FF"/>
                </a:solidFill>
                <a:latin typeface="Consolas"/>
              </a:rPr>
              <a:t>.</a:t>
            </a:r>
            <a:r>
              <a:rPr sz="1100">
                <a:solidFill>
                  <a:srgbClr val="E8E2FF"/>
                </a:solidFill>
                <a:latin typeface="Consolas"/>
              </a:rPr>
              <a:t>getStateChange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=</a:t>
            </a:r>
            <a:r>
              <a:rPr sz="1100">
                <a:solidFill>
                  <a:srgbClr val="E8E2FF"/>
                </a:solidFill>
                <a:latin typeface="Consolas"/>
              </a:rPr>
              <a:t>=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9D8DF1"/>
                </a:solidFill>
                <a:latin typeface="Consolas"/>
              </a:rPr>
              <a:t>ItemEvent</a:t>
            </a:r>
            <a:r>
              <a:rPr sz="1100">
                <a:solidFill>
                  <a:srgbClr val="E8E2FF"/>
                </a:solidFill>
                <a:latin typeface="Consolas"/>
              </a:rPr>
              <a:t>.</a:t>
            </a:r>
            <a:r>
              <a:rPr sz="1100">
                <a:solidFill>
                  <a:srgbClr val="E8E2FF"/>
                </a:solidFill>
                <a:latin typeface="Consolas"/>
              </a:rPr>
              <a:t>SELECTED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        </a:t>
            </a:r>
            <a:r>
              <a:rPr sz="1100">
                <a:solidFill>
                  <a:srgbClr val="9D8DF1"/>
                </a:solidFill>
                <a:latin typeface="Consolas"/>
              </a:rPr>
              <a:t>String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choix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=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9D8DF1"/>
                </a:solidFill>
                <a:latin typeface="Consolas"/>
              </a:rPr>
              <a:t>String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e</a:t>
            </a:r>
            <a:r>
              <a:rPr sz="1100">
                <a:solidFill>
                  <a:srgbClr val="E8E2FF"/>
                </a:solidFill>
                <a:latin typeface="Consolas"/>
              </a:rPr>
              <a:t>.</a:t>
            </a:r>
            <a:r>
              <a:rPr sz="1100">
                <a:solidFill>
                  <a:srgbClr val="E8E2FF"/>
                </a:solidFill>
                <a:latin typeface="Consolas"/>
              </a:rPr>
              <a:t>getItem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        </a:t>
            </a:r>
            <a:r>
              <a:rPr sz="1100">
                <a:solidFill>
                  <a:srgbClr val="E8E2FF"/>
                </a:solidFill>
                <a:latin typeface="Consolas"/>
              </a:rPr>
              <a:t>chargerVilles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E8E2FF"/>
                </a:solidFill>
                <a:latin typeface="Consolas"/>
              </a:rPr>
              <a:t>choix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    </a:t>
            </a:r>
            <a:r>
              <a:rPr sz="1100">
                <a:solidFill>
                  <a:srgbClr val="E8E2FF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}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114800"/>
            <a:ext cx="10972800" cy="2103120"/>
          </a:xfrm>
          <a:prstGeom prst="roundRect">
            <a:avLst>
              <a:gd name="adj" fmla="val 4000"/>
            </a:avLst>
          </a:prstGeom>
          <a:solidFill>
            <a:srgbClr val="EF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114800"/>
            <a:ext cx="73152" cy="2103120"/>
          </a:xfrm>
          <a:prstGeom prst="rect">
            <a:avLst/>
          </a:prstGeom>
          <a:solidFill>
            <a:srgbClr val="E85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2519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21C35"/>
                </a:solidFill>
                <a:latin typeface="Calibri"/>
              </a:rPr>
              <a:t>À retenir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617720"/>
            <a:ext cx="105156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0000"/>
              </a:lnSpc>
            </a:pPr>
            <a:r>
              <a:rPr sz="1200" b="0" i="0">
                <a:solidFill>
                  <a:srgbClr val="221C35"/>
                </a:solidFill>
                <a:latin typeface="Calibri"/>
              </a:rPr>
              <a:t>• ItemEvent.SELECTED   → l'élément vient d'être coché / sélectionné</a:t>
            </a:r>
          </a:p>
          <a:p>
            <a:pPr>
              <a:lnSpc>
                <a:spcPct val="140000"/>
              </a:lnSpc>
            </a:pPr>
            <a:r>
              <a:rPr sz="1200" b="0" i="0">
                <a:solidFill>
                  <a:srgbClr val="221C35"/>
                </a:solidFill>
                <a:latin typeface="Calibri"/>
              </a:rPr>
              <a:t>• ItemEvent.DESELECTED → l'élément vient d'être décoché / désélectionné</a:t>
            </a:r>
          </a:p>
          <a:p>
            <a:pPr>
              <a:lnSpc>
                <a:spcPct val="140000"/>
              </a:lnSpc>
            </a:pPr>
            <a:r>
              <a:rPr sz="1200" b="0" i="0">
                <a:solidFill>
                  <a:srgbClr val="221C35"/>
                </a:solidFill>
                <a:latin typeface="Calibri"/>
              </a:rPr>
              <a:t>• Pour JCheckBox et JRadioButton, ActionListener marche aussi (déclenché aux 2 états)</a:t>
            </a:r>
          </a:p>
          <a:p>
            <a:pPr>
              <a:lnSpc>
                <a:spcPct val="140000"/>
              </a:lnSpc>
            </a:pPr>
            <a:r>
              <a:rPr sz="1200" b="0" i="0">
                <a:solidFill>
                  <a:srgbClr val="221C35"/>
                </a:solidFill>
                <a:latin typeface="Calibri"/>
              </a:rPr>
              <a:t>• Pour JComboBox, ItemListener est déclenché 2× lors d'un changement (DESELECTED puis SELECTED)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D8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048695" y="2286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2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48695" y="228600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AFAFF"/>
                </a:solidFill>
                <a:latin typeface="Calibri"/>
              </a:rPr>
              <a:t>06 / 30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329184"/>
            <a:ext cx="91440" cy="91440"/>
          </a:xfrm>
          <a:prstGeom prst="ellipse">
            <a:avLst/>
          </a:prstGeom>
          <a:solidFill>
            <a:srgbClr val="E85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25603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200">
                <a:solidFill>
                  <a:srgbClr val="6B5F8C"/>
                </a:solidFill>
                <a:latin typeface="Calibri"/>
              </a:rPr>
              <a:t>1. MODÈLE ÉVÉNEMENTIEL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713232"/>
            <a:ext cx="164592" cy="329184"/>
          </a:xfrm>
          <a:prstGeom prst="rect">
            <a:avLst/>
          </a:prstGeom>
          <a:solidFill>
            <a:srgbClr val="FAF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00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21C35"/>
                </a:solidFill>
                <a:latin typeface="Calibri"/>
              </a:rPr>
              <a:t>KeyListener — écouter le clavier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07899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5F8C"/>
                </a:solidFill>
                <a:latin typeface="Calibri"/>
              </a:rPr>
              <a:t>Trois moments : touche pressée, touche relâchée, caractère tapé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7040880" cy="4572000"/>
          </a:xfrm>
          <a:prstGeom prst="roundRect">
            <a:avLst>
              <a:gd name="adj" fmla="val 4000"/>
            </a:avLst>
          </a:prstGeom>
          <a:solidFill>
            <a:srgbClr val="22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1856232"/>
            <a:ext cx="6675120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100">
                <a:solidFill>
                  <a:srgbClr val="9D8DF1"/>
                </a:solidFill>
                <a:latin typeface="Consolas"/>
              </a:rPr>
              <a:t>JTextField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champ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=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FAF33E"/>
                </a:solidFill>
                <a:latin typeface="Consolas"/>
              </a:rPr>
              <a:t>new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9D8DF1"/>
                </a:solidFill>
                <a:latin typeface="Consolas"/>
              </a:rPr>
              <a:t>JTextField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E8E2FF"/>
                </a:solidFill>
                <a:latin typeface="Consolas"/>
              </a:rPr>
              <a:t>20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champ</a:t>
            </a:r>
            <a:r>
              <a:rPr sz="1100">
                <a:solidFill>
                  <a:srgbClr val="E8E2FF"/>
                </a:solidFill>
                <a:latin typeface="Consolas"/>
              </a:rPr>
              <a:t>.</a:t>
            </a:r>
            <a:r>
              <a:rPr sz="1100">
                <a:solidFill>
                  <a:srgbClr val="E8E2FF"/>
                </a:solidFill>
                <a:latin typeface="Consolas"/>
              </a:rPr>
              <a:t>addKeyListener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FAF33E"/>
                </a:solidFill>
                <a:latin typeface="Consolas"/>
              </a:rPr>
              <a:t>new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9D8DF1"/>
                </a:solidFill>
                <a:latin typeface="Consolas"/>
              </a:rPr>
              <a:t>KeyListener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    </a:t>
            </a:r>
            <a:r>
              <a:rPr sz="1100">
                <a:solidFill>
                  <a:srgbClr val="E8E2FF"/>
                </a:solidFill>
                <a:latin typeface="Consolas"/>
              </a:rPr>
              <a:t>@</a:t>
            </a:r>
            <a:r>
              <a:rPr sz="1100">
                <a:solidFill>
                  <a:srgbClr val="E8E2FF"/>
                </a:solidFill>
                <a:latin typeface="Consolas"/>
              </a:rPr>
              <a:t>Override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    </a:t>
            </a:r>
            <a:r>
              <a:rPr sz="1100">
                <a:solidFill>
                  <a:srgbClr val="FAF33E"/>
                </a:solidFill>
                <a:latin typeface="Consolas"/>
              </a:rPr>
              <a:t>public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FAF33E"/>
                </a:solidFill>
                <a:latin typeface="Consolas"/>
              </a:rPr>
              <a:t>void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keyPressed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9D8DF1"/>
                </a:solidFill>
                <a:latin typeface="Consolas"/>
              </a:rPr>
              <a:t>KeyEvent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e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        </a:t>
            </a:r>
            <a:r>
              <a:rPr sz="1100">
                <a:solidFill>
                  <a:srgbClr val="FAF33E"/>
                </a:solidFill>
                <a:latin typeface="Consolas"/>
              </a:rPr>
              <a:t>if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E8E2FF"/>
                </a:solidFill>
                <a:latin typeface="Consolas"/>
              </a:rPr>
              <a:t>e</a:t>
            </a:r>
            <a:r>
              <a:rPr sz="1100">
                <a:solidFill>
                  <a:srgbClr val="E8E2FF"/>
                </a:solidFill>
                <a:latin typeface="Consolas"/>
              </a:rPr>
              <a:t>.</a:t>
            </a:r>
            <a:r>
              <a:rPr sz="1100">
                <a:solidFill>
                  <a:srgbClr val="E8E2FF"/>
                </a:solidFill>
                <a:latin typeface="Consolas"/>
              </a:rPr>
              <a:t>getKeyCode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=</a:t>
            </a:r>
            <a:r>
              <a:rPr sz="1100">
                <a:solidFill>
                  <a:srgbClr val="E8E2FF"/>
                </a:solidFill>
                <a:latin typeface="Consolas"/>
              </a:rPr>
              <a:t>=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9D8DF1"/>
                </a:solidFill>
                <a:latin typeface="Consolas"/>
              </a:rPr>
              <a:t>KeyEvent</a:t>
            </a:r>
            <a:r>
              <a:rPr sz="1100">
                <a:solidFill>
                  <a:srgbClr val="E8E2FF"/>
                </a:solidFill>
                <a:latin typeface="Consolas"/>
              </a:rPr>
              <a:t>.</a:t>
            </a:r>
            <a:r>
              <a:rPr sz="1100">
                <a:solidFill>
                  <a:srgbClr val="E8E2FF"/>
                </a:solidFill>
                <a:latin typeface="Consolas"/>
              </a:rPr>
              <a:t>VK_ENTER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            </a:t>
            </a:r>
            <a:r>
              <a:rPr sz="1100">
                <a:solidFill>
                  <a:srgbClr val="E8E2FF"/>
                </a:solidFill>
                <a:latin typeface="Consolas"/>
              </a:rPr>
              <a:t>valider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        </a:t>
            </a:r>
            <a:r>
              <a:rPr sz="1100">
                <a:solidFill>
                  <a:srgbClr val="E8E2FF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        </a:t>
            </a:r>
            <a:r>
              <a:rPr sz="1100">
                <a:solidFill>
                  <a:srgbClr val="FAF33E"/>
                </a:solidFill>
                <a:latin typeface="Consolas"/>
              </a:rPr>
              <a:t>if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E8E2FF"/>
                </a:solidFill>
                <a:latin typeface="Consolas"/>
              </a:rPr>
              <a:t>e</a:t>
            </a:r>
            <a:r>
              <a:rPr sz="1100">
                <a:solidFill>
                  <a:srgbClr val="E8E2FF"/>
                </a:solidFill>
                <a:latin typeface="Consolas"/>
              </a:rPr>
              <a:t>.</a:t>
            </a:r>
            <a:r>
              <a:rPr sz="1100">
                <a:solidFill>
                  <a:srgbClr val="E8E2FF"/>
                </a:solidFill>
                <a:latin typeface="Consolas"/>
              </a:rPr>
              <a:t>isControlDown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&amp;</a:t>
            </a:r>
            <a:r>
              <a:rPr sz="1100">
                <a:solidFill>
                  <a:srgbClr val="E8E2FF"/>
                </a:solidFill>
                <a:latin typeface="Consolas"/>
              </a:rPr>
              <a:t>&amp;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e</a:t>
            </a:r>
            <a:r>
              <a:rPr sz="1100">
                <a:solidFill>
                  <a:srgbClr val="E8E2FF"/>
                </a:solidFill>
                <a:latin typeface="Consolas"/>
              </a:rPr>
              <a:t>.</a:t>
            </a:r>
            <a:r>
              <a:rPr sz="1100">
                <a:solidFill>
                  <a:srgbClr val="E8E2FF"/>
                </a:solidFill>
                <a:latin typeface="Consolas"/>
              </a:rPr>
              <a:t>getKeyCode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=</a:t>
            </a:r>
            <a:r>
              <a:rPr sz="1100">
                <a:solidFill>
                  <a:srgbClr val="E8E2FF"/>
                </a:solidFill>
                <a:latin typeface="Consolas"/>
              </a:rPr>
              <a:t>=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9D8DF1"/>
                </a:solidFill>
                <a:latin typeface="Consolas"/>
              </a:rPr>
              <a:t>KeyEvent</a:t>
            </a:r>
            <a:r>
              <a:rPr sz="1100">
                <a:solidFill>
                  <a:srgbClr val="E8E2FF"/>
                </a:solidFill>
                <a:latin typeface="Consolas"/>
              </a:rPr>
              <a:t>.</a:t>
            </a:r>
            <a:r>
              <a:rPr sz="1100">
                <a:solidFill>
                  <a:srgbClr val="E8E2FF"/>
                </a:solidFill>
                <a:latin typeface="Consolas"/>
              </a:rPr>
              <a:t>VK_S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            </a:t>
            </a:r>
            <a:r>
              <a:rPr sz="1100">
                <a:solidFill>
                  <a:srgbClr val="E8E2FF"/>
                </a:solidFill>
                <a:latin typeface="Consolas"/>
              </a:rPr>
              <a:t>sauvegarder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        </a:t>
            </a:r>
            <a:r>
              <a:rPr sz="1100">
                <a:solidFill>
                  <a:srgbClr val="E8E2FF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    </a:t>
            </a:r>
            <a:r>
              <a:rPr sz="1100">
                <a:solidFill>
                  <a:srgbClr val="E8E2FF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</a:pP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    </a:t>
            </a:r>
            <a:r>
              <a:rPr sz="1100">
                <a:solidFill>
                  <a:srgbClr val="E8E2FF"/>
                </a:solidFill>
                <a:latin typeface="Consolas"/>
              </a:rPr>
              <a:t>@</a:t>
            </a:r>
            <a:r>
              <a:rPr sz="1100">
                <a:solidFill>
                  <a:srgbClr val="E8E2FF"/>
                </a:solidFill>
                <a:latin typeface="Consolas"/>
              </a:rPr>
              <a:t>Override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    </a:t>
            </a:r>
            <a:r>
              <a:rPr sz="1100">
                <a:solidFill>
                  <a:srgbClr val="FAF33E"/>
                </a:solidFill>
                <a:latin typeface="Consolas"/>
              </a:rPr>
              <a:t>public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FAF33E"/>
                </a:solidFill>
                <a:latin typeface="Consolas"/>
              </a:rPr>
              <a:t>void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keyReleased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9D8DF1"/>
                </a:solidFill>
                <a:latin typeface="Consolas"/>
              </a:rPr>
              <a:t>KeyEvent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e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{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</a:pP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    </a:t>
            </a:r>
            <a:r>
              <a:rPr sz="1100">
                <a:solidFill>
                  <a:srgbClr val="E8E2FF"/>
                </a:solidFill>
                <a:latin typeface="Consolas"/>
              </a:rPr>
              <a:t>@</a:t>
            </a:r>
            <a:r>
              <a:rPr sz="1100">
                <a:solidFill>
                  <a:srgbClr val="E8E2FF"/>
                </a:solidFill>
                <a:latin typeface="Consolas"/>
              </a:rPr>
              <a:t>Override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    </a:t>
            </a:r>
            <a:r>
              <a:rPr sz="1100">
                <a:solidFill>
                  <a:srgbClr val="FAF33E"/>
                </a:solidFill>
                <a:latin typeface="Consolas"/>
              </a:rPr>
              <a:t>public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FAF33E"/>
                </a:solidFill>
                <a:latin typeface="Consolas"/>
              </a:rPr>
              <a:t>void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keyTyped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9D8DF1"/>
                </a:solidFill>
                <a:latin typeface="Consolas"/>
              </a:rPr>
              <a:t>KeyEvent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e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        </a:t>
            </a:r>
            <a:r>
              <a:rPr sz="1100">
                <a:solidFill>
                  <a:srgbClr val="9990B8"/>
                </a:solidFill>
                <a:latin typeface="Consolas"/>
              </a:rPr>
              <a:t>// Filtrer : n'autoriser que les chiffres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        </a:t>
            </a:r>
            <a:r>
              <a:rPr sz="1100">
                <a:solidFill>
                  <a:srgbClr val="9D8DF1"/>
                </a:solidFill>
                <a:latin typeface="Consolas"/>
              </a:rPr>
              <a:t>char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c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=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e</a:t>
            </a:r>
            <a:r>
              <a:rPr sz="1100">
                <a:solidFill>
                  <a:srgbClr val="E8E2FF"/>
                </a:solidFill>
                <a:latin typeface="Consolas"/>
              </a:rPr>
              <a:t>.</a:t>
            </a:r>
            <a:r>
              <a:rPr sz="1100">
                <a:solidFill>
                  <a:srgbClr val="E8E2FF"/>
                </a:solidFill>
                <a:latin typeface="Consolas"/>
              </a:rPr>
              <a:t>getKeyChar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        </a:t>
            </a:r>
            <a:r>
              <a:rPr sz="1100">
                <a:solidFill>
                  <a:srgbClr val="FAF33E"/>
                </a:solidFill>
                <a:latin typeface="Consolas"/>
              </a:rPr>
              <a:t>if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E8E2FF"/>
                </a:solidFill>
                <a:latin typeface="Consolas"/>
              </a:rPr>
              <a:t>!</a:t>
            </a:r>
            <a:r>
              <a:rPr sz="1100">
                <a:solidFill>
                  <a:srgbClr val="E8E2FF"/>
                </a:solidFill>
                <a:latin typeface="Consolas"/>
              </a:rPr>
              <a:t>Character</a:t>
            </a:r>
            <a:r>
              <a:rPr sz="1100">
                <a:solidFill>
                  <a:srgbClr val="E8E2FF"/>
                </a:solidFill>
                <a:latin typeface="Consolas"/>
              </a:rPr>
              <a:t>.</a:t>
            </a:r>
            <a:r>
              <a:rPr sz="1100">
                <a:solidFill>
                  <a:srgbClr val="E8E2FF"/>
                </a:solidFill>
                <a:latin typeface="Consolas"/>
              </a:rPr>
              <a:t>isDigit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E8E2FF"/>
                </a:solidFill>
                <a:latin typeface="Consolas"/>
              </a:rPr>
              <a:t>c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e</a:t>
            </a:r>
            <a:r>
              <a:rPr sz="1100">
                <a:solidFill>
                  <a:srgbClr val="E8E2FF"/>
                </a:solidFill>
                <a:latin typeface="Consolas"/>
              </a:rPr>
              <a:t>.</a:t>
            </a:r>
            <a:r>
              <a:rPr sz="1100">
                <a:solidFill>
                  <a:srgbClr val="E8E2FF"/>
                </a:solidFill>
                <a:latin typeface="Consolas"/>
              </a:rPr>
              <a:t>consume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    </a:t>
            </a:r>
            <a:r>
              <a:rPr sz="1100">
                <a:solidFill>
                  <a:srgbClr val="E8E2FF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}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691640"/>
            <a:ext cx="3657600" cy="4572000"/>
          </a:xfrm>
          <a:prstGeom prst="roundRect">
            <a:avLst>
              <a:gd name="adj" fmla="val 4000"/>
            </a:avLst>
          </a:prstGeom>
          <a:solidFill>
            <a:srgbClr val="22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5279" y="1691640"/>
            <a:ext cx="73152" cy="4572000"/>
          </a:xfrm>
          <a:prstGeom prst="rect">
            <a:avLst/>
          </a:prstGeom>
          <a:solidFill>
            <a:srgbClr val="E85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182880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AF33E"/>
                </a:solidFill>
                <a:latin typeface="Calibri"/>
              </a:rPr>
              <a:t>Codes de touches utiles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2240280"/>
            <a:ext cx="338328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050" b="0" i="0">
                <a:solidFill>
                  <a:srgbClr val="FAFAFF"/>
                </a:solidFill>
                <a:latin typeface="Consolas"/>
              </a:rPr>
              <a:t>VK_ENTER     ↵ Entrée</a:t>
            </a:r>
          </a:p>
          <a:p>
            <a:pPr>
              <a:lnSpc>
                <a:spcPct val="130000"/>
              </a:lnSpc>
            </a:pPr>
            <a:r>
              <a:rPr sz="1050" b="0" i="0">
                <a:solidFill>
                  <a:srgbClr val="FAFAFF"/>
                </a:solidFill>
                <a:latin typeface="Consolas"/>
              </a:rPr>
              <a:t>VK_ESCAPE    Échap</a:t>
            </a:r>
          </a:p>
          <a:p>
            <a:pPr>
              <a:lnSpc>
                <a:spcPct val="130000"/>
              </a:lnSpc>
            </a:pPr>
            <a:r>
              <a:rPr sz="1050" b="0" i="0">
                <a:solidFill>
                  <a:srgbClr val="FAFAFF"/>
                </a:solidFill>
                <a:latin typeface="Consolas"/>
              </a:rPr>
              <a:t>VK_TAB       ↹ Tab</a:t>
            </a:r>
          </a:p>
          <a:p>
            <a:pPr>
              <a:lnSpc>
                <a:spcPct val="130000"/>
              </a:lnSpc>
            </a:pPr>
            <a:r>
              <a:rPr sz="1050" b="0" i="0">
                <a:solidFill>
                  <a:srgbClr val="FAFAFF"/>
                </a:solidFill>
                <a:latin typeface="Consolas"/>
              </a:rPr>
              <a:t>VK_SPACE     Espace</a:t>
            </a:r>
          </a:p>
          <a:p>
            <a:pPr>
              <a:lnSpc>
                <a:spcPct val="130000"/>
              </a:lnSpc>
            </a:pPr>
            <a:r>
              <a:rPr sz="1050" b="0" i="0">
                <a:solidFill>
                  <a:srgbClr val="FAFAFF"/>
                </a:solidFill>
                <a:latin typeface="Consolas"/>
              </a:rPr>
              <a:t>VK_DELETE    Suppr</a:t>
            </a:r>
          </a:p>
          <a:p>
            <a:pPr>
              <a:lnSpc>
                <a:spcPct val="130000"/>
              </a:lnSpc>
            </a:pPr>
            <a:r>
              <a:rPr sz="1050" b="0" i="0">
                <a:solidFill>
                  <a:srgbClr val="FAFAFF"/>
                </a:solidFill>
                <a:latin typeface="Consolas"/>
              </a:rPr>
              <a:t>VK_BACK_SPACE  ⌫</a:t>
            </a:r>
          </a:p>
          <a:p>
            <a:pPr>
              <a:lnSpc>
                <a:spcPct val="130000"/>
              </a:lnSpc>
            </a:pPr>
            <a:r>
              <a:rPr sz="1050" b="0" i="0">
                <a:solidFill>
                  <a:srgbClr val="FAFAFF"/>
                </a:solidFill>
                <a:latin typeface="Consolas"/>
              </a:rPr>
              <a:t>VK_UP / DOWN     ↑ ↓</a:t>
            </a:r>
          </a:p>
          <a:p>
            <a:pPr>
              <a:lnSpc>
                <a:spcPct val="130000"/>
              </a:lnSpc>
            </a:pPr>
            <a:r>
              <a:rPr sz="1050" b="0" i="0">
                <a:solidFill>
                  <a:srgbClr val="FAFAFF"/>
                </a:solidFill>
                <a:latin typeface="Consolas"/>
              </a:rPr>
              <a:t>VK_LEFT / RIGHT  ← →</a:t>
            </a:r>
          </a:p>
          <a:p>
            <a:pPr>
              <a:lnSpc>
                <a:spcPct val="130000"/>
              </a:lnSpc>
            </a:pPr>
            <a:r>
              <a:rPr sz="1050" b="0" i="0">
                <a:solidFill>
                  <a:srgbClr val="FAFAFF"/>
                </a:solidFill>
                <a:latin typeface="Consolas"/>
              </a:rPr>
              <a:t>VK_F1 … VK_F12</a:t>
            </a:r>
          </a:p>
          <a:p>
            <a:pPr>
              <a:lnSpc>
                <a:spcPct val="130000"/>
              </a:lnSpc>
            </a:pPr>
            <a:r>
              <a:rPr sz="1050" b="0" i="0">
                <a:solidFill>
                  <a:srgbClr val="FAFAFF"/>
                </a:solidFill>
                <a:latin typeface="Consolas"/>
              </a:rPr>
              <a:t>VK_A … VK_Z</a:t>
            </a:r>
          </a:p>
          <a:p>
            <a:pPr>
              <a:lnSpc>
                <a:spcPct val="130000"/>
              </a:lnSpc>
            </a:pPr>
            <a:r>
              <a:rPr sz="1050" b="0" i="0">
                <a:solidFill>
                  <a:srgbClr val="FAFAFF"/>
                </a:solidFill>
                <a:latin typeface="Consolas"/>
              </a:rPr>
              <a:t/>
            </a:r>
          </a:p>
          <a:p>
            <a:pPr>
              <a:lnSpc>
                <a:spcPct val="130000"/>
              </a:lnSpc>
            </a:pPr>
            <a:r>
              <a:rPr sz="1050" b="0" i="0">
                <a:solidFill>
                  <a:srgbClr val="FAFAFF"/>
                </a:solidFill>
                <a:latin typeface="Consolas"/>
              </a:rPr>
              <a:t>Modificateurs :</a:t>
            </a:r>
          </a:p>
          <a:p>
            <a:pPr>
              <a:lnSpc>
                <a:spcPct val="130000"/>
              </a:lnSpc>
            </a:pPr>
            <a:r>
              <a:rPr sz="1050" b="0" i="0">
                <a:solidFill>
                  <a:srgbClr val="FAFAFF"/>
                </a:solidFill>
                <a:latin typeface="Consolas"/>
              </a:rPr>
              <a:t>isShiftDown()</a:t>
            </a:r>
          </a:p>
          <a:p>
            <a:pPr>
              <a:lnSpc>
                <a:spcPct val="130000"/>
              </a:lnSpc>
            </a:pPr>
            <a:r>
              <a:rPr sz="1050" b="0" i="0">
                <a:solidFill>
                  <a:srgbClr val="FAFAFF"/>
                </a:solidFill>
                <a:latin typeface="Consolas"/>
              </a:rPr>
              <a:t>isControlDown()</a:t>
            </a:r>
          </a:p>
          <a:p>
            <a:pPr>
              <a:lnSpc>
                <a:spcPct val="130000"/>
              </a:lnSpc>
            </a:pPr>
            <a:r>
              <a:rPr sz="1050" b="0" i="0">
                <a:solidFill>
                  <a:srgbClr val="FAFAFF"/>
                </a:solidFill>
                <a:latin typeface="Consolas"/>
              </a:rPr>
              <a:t>isAltDown()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D8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048695" y="2286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2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48695" y="228600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AFAFF"/>
                </a:solidFill>
                <a:latin typeface="Calibri"/>
              </a:rPr>
              <a:t>07 / 30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329184"/>
            <a:ext cx="91440" cy="91440"/>
          </a:xfrm>
          <a:prstGeom prst="ellipse">
            <a:avLst/>
          </a:prstGeom>
          <a:solidFill>
            <a:srgbClr val="E85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25603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200">
                <a:solidFill>
                  <a:srgbClr val="6B5F8C"/>
                </a:solidFill>
                <a:latin typeface="Calibri"/>
              </a:rPr>
              <a:t>1. MODÈLE ÉVÉNEMENTIEL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713232"/>
            <a:ext cx="164592" cy="329184"/>
          </a:xfrm>
          <a:prstGeom prst="rect">
            <a:avLst/>
          </a:prstGeom>
          <a:solidFill>
            <a:srgbClr val="FAF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00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21C35"/>
                </a:solidFill>
                <a:latin typeface="Calibri"/>
              </a:rPr>
              <a:t>MouseListener — événements de la souris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07899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5F8C"/>
                </a:solidFill>
                <a:latin typeface="Calibri"/>
              </a:rPr>
              <a:t>Cinq méthodes : pressed, released, clicked, entered, exited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7315200" cy="4572000"/>
          </a:xfrm>
          <a:prstGeom prst="roundRect">
            <a:avLst>
              <a:gd name="adj" fmla="val 4000"/>
            </a:avLst>
          </a:prstGeom>
          <a:solidFill>
            <a:srgbClr val="22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1856232"/>
            <a:ext cx="6949440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050">
                <a:solidFill>
                  <a:srgbClr val="9D8DF1"/>
                </a:solidFill>
                <a:latin typeface="Consolas"/>
              </a:rPr>
              <a:t>JLabel</a:t>
            </a:r>
            <a:r>
              <a:rPr sz="1050">
                <a:solidFill>
                  <a:srgbClr val="E8E2FF"/>
                </a:solidFill>
                <a:latin typeface="Consolas"/>
              </a:rPr>
              <a:t> </a:t>
            </a:r>
            <a:r>
              <a:rPr sz="1050">
                <a:solidFill>
                  <a:srgbClr val="E8E2FF"/>
                </a:solidFill>
                <a:latin typeface="Consolas"/>
              </a:rPr>
              <a:t>label</a:t>
            </a:r>
            <a:r>
              <a:rPr sz="1050">
                <a:solidFill>
                  <a:srgbClr val="E8E2FF"/>
                </a:solidFill>
                <a:latin typeface="Consolas"/>
              </a:rPr>
              <a:t> </a:t>
            </a:r>
            <a:r>
              <a:rPr sz="1050">
                <a:solidFill>
                  <a:srgbClr val="E8E2FF"/>
                </a:solidFill>
                <a:latin typeface="Consolas"/>
              </a:rPr>
              <a:t>=</a:t>
            </a:r>
            <a:r>
              <a:rPr sz="1050">
                <a:solidFill>
                  <a:srgbClr val="E8E2FF"/>
                </a:solidFill>
                <a:latin typeface="Consolas"/>
              </a:rPr>
              <a:t> </a:t>
            </a:r>
            <a:r>
              <a:rPr sz="1050">
                <a:solidFill>
                  <a:srgbClr val="FAF33E"/>
                </a:solidFill>
                <a:latin typeface="Consolas"/>
              </a:rPr>
              <a:t>new</a:t>
            </a:r>
            <a:r>
              <a:rPr sz="1050">
                <a:solidFill>
                  <a:srgbClr val="E8E2FF"/>
                </a:solidFill>
                <a:latin typeface="Consolas"/>
              </a:rPr>
              <a:t> </a:t>
            </a:r>
            <a:r>
              <a:rPr sz="1050">
                <a:solidFill>
                  <a:srgbClr val="9D8DF1"/>
                </a:solidFill>
                <a:latin typeface="Consolas"/>
              </a:rPr>
              <a:t>JLabel</a:t>
            </a:r>
            <a:r>
              <a:rPr sz="1050">
                <a:solidFill>
                  <a:srgbClr val="E8E2FF"/>
                </a:solidFill>
                <a:latin typeface="Consolas"/>
              </a:rPr>
              <a:t>(</a:t>
            </a:r>
            <a:r>
              <a:rPr sz="1050">
                <a:solidFill>
                  <a:srgbClr val="FFB3C1"/>
                </a:solidFill>
                <a:latin typeface="Consolas"/>
              </a:rPr>
              <a:t>"Survolez-moi"</a:t>
            </a:r>
            <a:r>
              <a:rPr sz="1050">
                <a:solidFill>
                  <a:srgbClr val="E8E2FF"/>
                </a:solidFill>
                <a:latin typeface="Consolas"/>
              </a:rPr>
              <a:t>)</a:t>
            </a:r>
            <a:r>
              <a:rPr sz="105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</a:p>
          <a:p>
            <a:pPr>
              <a:lnSpc>
                <a:spcPct val="108000"/>
              </a:lnSpc>
            </a:pPr>
            <a:r>
              <a:rPr sz="1050">
                <a:solidFill>
                  <a:srgbClr val="E8E2FF"/>
                </a:solidFill>
                <a:latin typeface="Consolas"/>
              </a:rPr>
              <a:t>label</a:t>
            </a:r>
            <a:r>
              <a:rPr sz="1050">
                <a:solidFill>
                  <a:srgbClr val="E8E2FF"/>
                </a:solidFill>
                <a:latin typeface="Consolas"/>
              </a:rPr>
              <a:t>.</a:t>
            </a:r>
            <a:r>
              <a:rPr sz="1050">
                <a:solidFill>
                  <a:srgbClr val="E8E2FF"/>
                </a:solidFill>
                <a:latin typeface="Consolas"/>
              </a:rPr>
              <a:t>addMouseListener</a:t>
            </a:r>
            <a:r>
              <a:rPr sz="1050">
                <a:solidFill>
                  <a:srgbClr val="E8E2FF"/>
                </a:solidFill>
                <a:latin typeface="Consolas"/>
              </a:rPr>
              <a:t>(</a:t>
            </a:r>
            <a:r>
              <a:rPr sz="1050">
                <a:solidFill>
                  <a:srgbClr val="FAF33E"/>
                </a:solidFill>
                <a:latin typeface="Consolas"/>
              </a:rPr>
              <a:t>new</a:t>
            </a:r>
            <a:r>
              <a:rPr sz="1050">
                <a:solidFill>
                  <a:srgbClr val="E8E2FF"/>
                </a:solidFill>
                <a:latin typeface="Consolas"/>
              </a:rPr>
              <a:t> </a:t>
            </a:r>
            <a:r>
              <a:rPr sz="1050">
                <a:solidFill>
                  <a:srgbClr val="9D8DF1"/>
                </a:solidFill>
                <a:latin typeface="Consolas"/>
              </a:rPr>
              <a:t>MouseListener</a:t>
            </a:r>
            <a:r>
              <a:rPr sz="1050">
                <a:solidFill>
                  <a:srgbClr val="E8E2FF"/>
                </a:solidFill>
                <a:latin typeface="Consolas"/>
              </a:rPr>
              <a:t>(</a:t>
            </a:r>
            <a:r>
              <a:rPr sz="1050">
                <a:solidFill>
                  <a:srgbClr val="E8E2FF"/>
                </a:solidFill>
                <a:latin typeface="Consolas"/>
              </a:rPr>
              <a:t>)</a:t>
            </a:r>
            <a:r>
              <a:rPr sz="1050">
                <a:solidFill>
                  <a:srgbClr val="E8E2FF"/>
                </a:solidFill>
                <a:latin typeface="Consolas"/>
              </a:rPr>
              <a:t> </a:t>
            </a:r>
            <a:r>
              <a:rPr sz="105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  <a:r>
              <a:rPr sz="1050">
                <a:solidFill>
                  <a:srgbClr val="E8E2FF"/>
                </a:solidFill>
                <a:latin typeface="Consolas"/>
              </a:rPr>
              <a:t>    </a:t>
            </a:r>
            <a:r>
              <a:rPr sz="1050">
                <a:solidFill>
                  <a:srgbClr val="E8E2FF"/>
                </a:solidFill>
                <a:latin typeface="Consolas"/>
              </a:rPr>
              <a:t>@</a:t>
            </a:r>
            <a:r>
              <a:rPr sz="1050">
                <a:solidFill>
                  <a:srgbClr val="E8E2FF"/>
                </a:solidFill>
                <a:latin typeface="Consolas"/>
              </a:rPr>
              <a:t>Override</a:t>
            </a:r>
            <a:r>
              <a:rPr sz="1050">
                <a:solidFill>
                  <a:srgbClr val="E8E2FF"/>
                </a:solidFill>
                <a:latin typeface="Consolas"/>
              </a:rPr>
              <a:t> </a:t>
            </a:r>
            <a:r>
              <a:rPr sz="1050">
                <a:solidFill>
                  <a:srgbClr val="FAF33E"/>
                </a:solidFill>
                <a:latin typeface="Consolas"/>
              </a:rPr>
              <a:t>public</a:t>
            </a:r>
            <a:r>
              <a:rPr sz="1050">
                <a:solidFill>
                  <a:srgbClr val="E8E2FF"/>
                </a:solidFill>
                <a:latin typeface="Consolas"/>
              </a:rPr>
              <a:t> </a:t>
            </a:r>
            <a:r>
              <a:rPr sz="1050">
                <a:solidFill>
                  <a:srgbClr val="FAF33E"/>
                </a:solidFill>
                <a:latin typeface="Consolas"/>
              </a:rPr>
              <a:t>void</a:t>
            </a:r>
            <a:r>
              <a:rPr sz="1050">
                <a:solidFill>
                  <a:srgbClr val="E8E2FF"/>
                </a:solidFill>
                <a:latin typeface="Consolas"/>
              </a:rPr>
              <a:t> </a:t>
            </a:r>
            <a:r>
              <a:rPr sz="1050">
                <a:solidFill>
                  <a:srgbClr val="E8E2FF"/>
                </a:solidFill>
                <a:latin typeface="Consolas"/>
              </a:rPr>
              <a:t>mouseClicked</a:t>
            </a:r>
            <a:r>
              <a:rPr sz="1050">
                <a:solidFill>
                  <a:srgbClr val="E8E2FF"/>
                </a:solidFill>
                <a:latin typeface="Consolas"/>
              </a:rPr>
              <a:t>(</a:t>
            </a:r>
            <a:r>
              <a:rPr sz="1050">
                <a:solidFill>
                  <a:srgbClr val="9D8DF1"/>
                </a:solidFill>
                <a:latin typeface="Consolas"/>
              </a:rPr>
              <a:t>MouseEvent</a:t>
            </a:r>
            <a:r>
              <a:rPr sz="1050">
                <a:solidFill>
                  <a:srgbClr val="E8E2FF"/>
                </a:solidFill>
                <a:latin typeface="Consolas"/>
              </a:rPr>
              <a:t> </a:t>
            </a:r>
            <a:r>
              <a:rPr sz="1050">
                <a:solidFill>
                  <a:srgbClr val="E8E2FF"/>
                </a:solidFill>
                <a:latin typeface="Consolas"/>
              </a:rPr>
              <a:t>e</a:t>
            </a:r>
            <a:r>
              <a:rPr sz="1050">
                <a:solidFill>
                  <a:srgbClr val="E8E2FF"/>
                </a:solidFill>
                <a:latin typeface="Consolas"/>
              </a:rPr>
              <a:t>)</a:t>
            </a:r>
            <a:r>
              <a:rPr sz="1050">
                <a:solidFill>
                  <a:srgbClr val="E8E2FF"/>
                </a:solidFill>
                <a:latin typeface="Consolas"/>
              </a:rPr>
              <a:t> </a:t>
            </a:r>
            <a:r>
              <a:rPr sz="105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  <a:r>
              <a:rPr sz="1050">
                <a:solidFill>
                  <a:srgbClr val="E8E2FF"/>
                </a:solidFill>
                <a:latin typeface="Consolas"/>
              </a:rPr>
              <a:t>        </a:t>
            </a:r>
            <a:r>
              <a:rPr sz="1050">
                <a:solidFill>
                  <a:srgbClr val="FAF33E"/>
                </a:solidFill>
                <a:latin typeface="Consolas"/>
              </a:rPr>
              <a:t>if</a:t>
            </a:r>
            <a:r>
              <a:rPr sz="1050">
                <a:solidFill>
                  <a:srgbClr val="E8E2FF"/>
                </a:solidFill>
                <a:latin typeface="Consolas"/>
              </a:rPr>
              <a:t> </a:t>
            </a:r>
            <a:r>
              <a:rPr sz="1050">
                <a:solidFill>
                  <a:srgbClr val="E8E2FF"/>
                </a:solidFill>
                <a:latin typeface="Consolas"/>
              </a:rPr>
              <a:t>(</a:t>
            </a:r>
            <a:r>
              <a:rPr sz="1050">
                <a:solidFill>
                  <a:srgbClr val="E8E2FF"/>
                </a:solidFill>
                <a:latin typeface="Consolas"/>
              </a:rPr>
              <a:t>e</a:t>
            </a:r>
            <a:r>
              <a:rPr sz="1050">
                <a:solidFill>
                  <a:srgbClr val="E8E2FF"/>
                </a:solidFill>
                <a:latin typeface="Consolas"/>
              </a:rPr>
              <a:t>.</a:t>
            </a:r>
            <a:r>
              <a:rPr sz="1050">
                <a:solidFill>
                  <a:srgbClr val="E8E2FF"/>
                </a:solidFill>
                <a:latin typeface="Consolas"/>
              </a:rPr>
              <a:t>getClickCount</a:t>
            </a:r>
            <a:r>
              <a:rPr sz="1050">
                <a:solidFill>
                  <a:srgbClr val="E8E2FF"/>
                </a:solidFill>
                <a:latin typeface="Consolas"/>
              </a:rPr>
              <a:t>(</a:t>
            </a:r>
            <a:r>
              <a:rPr sz="1050">
                <a:solidFill>
                  <a:srgbClr val="E8E2FF"/>
                </a:solidFill>
                <a:latin typeface="Consolas"/>
              </a:rPr>
              <a:t>)</a:t>
            </a:r>
            <a:r>
              <a:rPr sz="1050">
                <a:solidFill>
                  <a:srgbClr val="E8E2FF"/>
                </a:solidFill>
                <a:latin typeface="Consolas"/>
              </a:rPr>
              <a:t> </a:t>
            </a:r>
            <a:r>
              <a:rPr sz="1050">
                <a:solidFill>
                  <a:srgbClr val="E8E2FF"/>
                </a:solidFill>
                <a:latin typeface="Consolas"/>
              </a:rPr>
              <a:t>=</a:t>
            </a:r>
            <a:r>
              <a:rPr sz="1050">
                <a:solidFill>
                  <a:srgbClr val="E8E2FF"/>
                </a:solidFill>
                <a:latin typeface="Consolas"/>
              </a:rPr>
              <a:t>=</a:t>
            </a:r>
            <a:r>
              <a:rPr sz="1050">
                <a:solidFill>
                  <a:srgbClr val="E8E2FF"/>
                </a:solidFill>
                <a:latin typeface="Consolas"/>
              </a:rPr>
              <a:t> </a:t>
            </a:r>
            <a:r>
              <a:rPr sz="1050">
                <a:solidFill>
                  <a:srgbClr val="E8E2FF"/>
                </a:solidFill>
                <a:latin typeface="Consolas"/>
              </a:rPr>
              <a:t>2</a:t>
            </a:r>
            <a:r>
              <a:rPr sz="1050">
                <a:solidFill>
                  <a:srgbClr val="E8E2FF"/>
                </a:solidFill>
                <a:latin typeface="Consolas"/>
              </a:rPr>
              <a:t>)</a:t>
            </a:r>
            <a:r>
              <a:rPr sz="1050">
                <a:solidFill>
                  <a:srgbClr val="E8E2FF"/>
                </a:solidFill>
                <a:latin typeface="Consolas"/>
              </a:rPr>
              <a:t> </a:t>
            </a:r>
            <a:r>
              <a:rPr sz="105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  <a:r>
              <a:rPr sz="1050">
                <a:solidFill>
                  <a:srgbClr val="E8E2FF"/>
                </a:solidFill>
                <a:latin typeface="Consolas"/>
              </a:rPr>
              <a:t>            </a:t>
            </a:r>
            <a:r>
              <a:rPr sz="1050">
                <a:solidFill>
                  <a:srgbClr val="E8E2FF"/>
                </a:solidFill>
                <a:latin typeface="Consolas"/>
              </a:rPr>
              <a:t>ouvrirDetail</a:t>
            </a:r>
            <a:r>
              <a:rPr sz="1050">
                <a:solidFill>
                  <a:srgbClr val="E8E2FF"/>
                </a:solidFill>
                <a:latin typeface="Consolas"/>
              </a:rPr>
              <a:t>(</a:t>
            </a:r>
            <a:r>
              <a:rPr sz="1050">
                <a:solidFill>
                  <a:srgbClr val="E8E2FF"/>
                </a:solidFill>
                <a:latin typeface="Consolas"/>
              </a:rPr>
              <a:t>)</a:t>
            </a:r>
            <a:r>
              <a:rPr sz="1050">
                <a:solidFill>
                  <a:srgbClr val="E8E2FF"/>
                </a:solidFill>
                <a:latin typeface="Consolas"/>
              </a:rPr>
              <a:t>;</a:t>
            </a:r>
            <a:r>
              <a:rPr sz="1050">
                <a:solidFill>
                  <a:srgbClr val="E8E2FF"/>
                </a:solidFill>
                <a:latin typeface="Consolas"/>
              </a:rPr>
              <a:t>        </a:t>
            </a:r>
            <a:r>
              <a:rPr sz="1050">
                <a:solidFill>
                  <a:srgbClr val="9990B8"/>
                </a:solidFill>
                <a:latin typeface="Consolas"/>
              </a:rPr>
              <a:t>// double-clic</a:t>
            </a:r>
          </a:p>
          <a:p>
            <a:pPr>
              <a:lnSpc>
                <a:spcPct val="108000"/>
              </a:lnSpc>
            </a:pPr>
            <a:r>
              <a:rPr sz="1050">
                <a:solidFill>
                  <a:srgbClr val="E8E2FF"/>
                </a:solidFill>
                <a:latin typeface="Consolas"/>
              </a:rPr>
              <a:t>        </a:t>
            </a:r>
            <a:r>
              <a:rPr sz="1050">
                <a:solidFill>
                  <a:srgbClr val="E8E2FF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</a:pPr>
            <a:r>
              <a:rPr sz="1050">
                <a:solidFill>
                  <a:srgbClr val="E8E2FF"/>
                </a:solidFill>
                <a:latin typeface="Consolas"/>
              </a:rPr>
              <a:t>        </a:t>
            </a:r>
            <a:r>
              <a:rPr sz="1050">
                <a:solidFill>
                  <a:srgbClr val="FAF33E"/>
                </a:solidFill>
                <a:latin typeface="Consolas"/>
              </a:rPr>
              <a:t>if</a:t>
            </a:r>
            <a:r>
              <a:rPr sz="1050">
                <a:solidFill>
                  <a:srgbClr val="E8E2FF"/>
                </a:solidFill>
                <a:latin typeface="Consolas"/>
              </a:rPr>
              <a:t> </a:t>
            </a:r>
            <a:r>
              <a:rPr sz="1050">
                <a:solidFill>
                  <a:srgbClr val="E8E2FF"/>
                </a:solidFill>
                <a:latin typeface="Consolas"/>
              </a:rPr>
              <a:t>(</a:t>
            </a:r>
            <a:r>
              <a:rPr sz="1050">
                <a:solidFill>
                  <a:srgbClr val="9D8DF1"/>
                </a:solidFill>
                <a:latin typeface="Consolas"/>
              </a:rPr>
              <a:t>SwingUtilities</a:t>
            </a:r>
            <a:r>
              <a:rPr sz="1050">
                <a:solidFill>
                  <a:srgbClr val="E8E2FF"/>
                </a:solidFill>
                <a:latin typeface="Consolas"/>
              </a:rPr>
              <a:t>.</a:t>
            </a:r>
            <a:r>
              <a:rPr sz="1050">
                <a:solidFill>
                  <a:srgbClr val="E8E2FF"/>
                </a:solidFill>
                <a:latin typeface="Consolas"/>
              </a:rPr>
              <a:t>isRightMouseButton</a:t>
            </a:r>
            <a:r>
              <a:rPr sz="1050">
                <a:solidFill>
                  <a:srgbClr val="E8E2FF"/>
                </a:solidFill>
                <a:latin typeface="Consolas"/>
              </a:rPr>
              <a:t>(</a:t>
            </a:r>
            <a:r>
              <a:rPr sz="1050">
                <a:solidFill>
                  <a:srgbClr val="E8E2FF"/>
                </a:solidFill>
                <a:latin typeface="Consolas"/>
              </a:rPr>
              <a:t>e</a:t>
            </a:r>
            <a:r>
              <a:rPr sz="1050">
                <a:solidFill>
                  <a:srgbClr val="E8E2FF"/>
                </a:solidFill>
                <a:latin typeface="Consolas"/>
              </a:rPr>
              <a:t>)</a:t>
            </a:r>
            <a:r>
              <a:rPr sz="1050">
                <a:solidFill>
                  <a:srgbClr val="E8E2FF"/>
                </a:solidFill>
                <a:latin typeface="Consolas"/>
              </a:rPr>
              <a:t>)</a:t>
            </a:r>
            <a:r>
              <a:rPr sz="1050">
                <a:solidFill>
                  <a:srgbClr val="E8E2FF"/>
                </a:solidFill>
                <a:latin typeface="Consolas"/>
              </a:rPr>
              <a:t> </a:t>
            </a:r>
            <a:r>
              <a:rPr sz="105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  <a:r>
              <a:rPr sz="1050">
                <a:solidFill>
                  <a:srgbClr val="E8E2FF"/>
                </a:solidFill>
                <a:latin typeface="Consolas"/>
              </a:rPr>
              <a:t>            </a:t>
            </a:r>
            <a:r>
              <a:rPr sz="1050">
                <a:solidFill>
                  <a:srgbClr val="E8E2FF"/>
                </a:solidFill>
                <a:latin typeface="Consolas"/>
              </a:rPr>
              <a:t>menuContextuel</a:t>
            </a:r>
            <a:r>
              <a:rPr sz="1050">
                <a:solidFill>
                  <a:srgbClr val="E8E2FF"/>
                </a:solidFill>
                <a:latin typeface="Consolas"/>
              </a:rPr>
              <a:t>.</a:t>
            </a:r>
            <a:r>
              <a:rPr sz="1050">
                <a:solidFill>
                  <a:srgbClr val="E8E2FF"/>
                </a:solidFill>
                <a:latin typeface="Consolas"/>
              </a:rPr>
              <a:t>show</a:t>
            </a:r>
            <a:r>
              <a:rPr sz="1050">
                <a:solidFill>
                  <a:srgbClr val="E8E2FF"/>
                </a:solidFill>
                <a:latin typeface="Consolas"/>
              </a:rPr>
              <a:t>(</a:t>
            </a:r>
            <a:r>
              <a:rPr sz="1050">
                <a:solidFill>
                  <a:srgbClr val="E8E2FF"/>
                </a:solidFill>
                <a:latin typeface="Consolas"/>
              </a:rPr>
              <a:t>e</a:t>
            </a:r>
            <a:r>
              <a:rPr sz="1050">
                <a:solidFill>
                  <a:srgbClr val="E8E2FF"/>
                </a:solidFill>
                <a:latin typeface="Consolas"/>
              </a:rPr>
              <a:t>.</a:t>
            </a:r>
            <a:r>
              <a:rPr sz="1050">
                <a:solidFill>
                  <a:srgbClr val="E8E2FF"/>
                </a:solidFill>
                <a:latin typeface="Consolas"/>
              </a:rPr>
              <a:t>getComponent</a:t>
            </a:r>
            <a:r>
              <a:rPr sz="1050">
                <a:solidFill>
                  <a:srgbClr val="E8E2FF"/>
                </a:solidFill>
                <a:latin typeface="Consolas"/>
              </a:rPr>
              <a:t>(</a:t>
            </a:r>
            <a:r>
              <a:rPr sz="1050">
                <a:solidFill>
                  <a:srgbClr val="E8E2FF"/>
                </a:solidFill>
                <a:latin typeface="Consolas"/>
              </a:rPr>
              <a:t>)</a:t>
            </a:r>
            <a:r>
              <a:rPr sz="1050">
                <a:solidFill>
                  <a:srgbClr val="E8E2FF"/>
                </a:solidFill>
                <a:latin typeface="Consolas"/>
              </a:rPr>
              <a:t>,</a:t>
            </a:r>
            <a:r>
              <a:rPr sz="1050">
                <a:solidFill>
                  <a:srgbClr val="E8E2FF"/>
                </a:solidFill>
                <a:latin typeface="Consolas"/>
              </a:rPr>
              <a:t> </a:t>
            </a:r>
            <a:r>
              <a:rPr sz="1050">
                <a:solidFill>
                  <a:srgbClr val="E8E2FF"/>
                </a:solidFill>
                <a:latin typeface="Consolas"/>
              </a:rPr>
              <a:t>e</a:t>
            </a:r>
            <a:r>
              <a:rPr sz="1050">
                <a:solidFill>
                  <a:srgbClr val="E8E2FF"/>
                </a:solidFill>
                <a:latin typeface="Consolas"/>
              </a:rPr>
              <a:t>.</a:t>
            </a:r>
            <a:r>
              <a:rPr sz="1050">
                <a:solidFill>
                  <a:srgbClr val="E8E2FF"/>
                </a:solidFill>
                <a:latin typeface="Consolas"/>
              </a:rPr>
              <a:t>getX</a:t>
            </a:r>
            <a:r>
              <a:rPr sz="1050">
                <a:solidFill>
                  <a:srgbClr val="E8E2FF"/>
                </a:solidFill>
                <a:latin typeface="Consolas"/>
              </a:rPr>
              <a:t>(</a:t>
            </a:r>
            <a:r>
              <a:rPr sz="1050">
                <a:solidFill>
                  <a:srgbClr val="E8E2FF"/>
                </a:solidFill>
                <a:latin typeface="Consolas"/>
              </a:rPr>
              <a:t>)</a:t>
            </a:r>
            <a:r>
              <a:rPr sz="1050">
                <a:solidFill>
                  <a:srgbClr val="E8E2FF"/>
                </a:solidFill>
                <a:latin typeface="Consolas"/>
              </a:rPr>
              <a:t>,</a:t>
            </a:r>
            <a:r>
              <a:rPr sz="1050">
                <a:solidFill>
                  <a:srgbClr val="E8E2FF"/>
                </a:solidFill>
                <a:latin typeface="Consolas"/>
              </a:rPr>
              <a:t> </a:t>
            </a:r>
            <a:r>
              <a:rPr sz="1050">
                <a:solidFill>
                  <a:srgbClr val="E8E2FF"/>
                </a:solidFill>
                <a:latin typeface="Consolas"/>
              </a:rPr>
              <a:t>e</a:t>
            </a:r>
            <a:r>
              <a:rPr sz="1050">
                <a:solidFill>
                  <a:srgbClr val="E8E2FF"/>
                </a:solidFill>
                <a:latin typeface="Consolas"/>
              </a:rPr>
              <a:t>.</a:t>
            </a:r>
            <a:r>
              <a:rPr sz="1050">
                <a:solidFill>
                  <a:srgbClr val="E8E2FF"/>
                </a:solidFill>
                <a:latin typeface="Consolas"/>
              </a:rPr>
              <a:t>getY</a:t>
            </a:r>
            <a:r>
              <a:rPr sz="1050">
                <a:solidFill>
                  <a:srgbClr val="E8E2FF"/>
                </a:solidFill>
                <a:latin typeface="Consolas"/>
              </a:rPr>
              <a:t>(</a:t>
            </a:r>
            <a:r>
              <a:rPr sz="1050">
                <a:solidFill>
                  <a:srgbClr val="E8E2FF"/>
                </a:solidFill>
                <a:latin typeface="Consolas"/>
              </a:rPr>
              <a:t>)</a:t>
            </a:r>
            <a:r>
              <a:rPr sz="1050">
                <a:solidFill>
                  <a:srgbClr val="E8E2FF"/>
                </a:solidFill>
                <a:latin typeface="Consolas"/>
              </a:rPr>
              <a:t>)</a:t>
            </a:r>
            <a:r>
              <a:rPr sz="105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1050">
                <a:solidFill>
                  <a:srgbClr val="E8E2FF"/>
                </a:solidFill>
                <a:latin typeface="Consolas"/>
              </a:rPr>
              <a:t>        </a:t>
            </a:r>
            <a:r>
              <a:rPr sz="1050">
                <a:solidFill>
                  <a:srgbClr val="E8E2FF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</a:pPr>
            <a:r>
              <a:rPr sz="1050">
                <a:solidFill>
                  <a:srgbClr val="E8E2FF"/>
                </a:solidFill>
                <a:latin typeface="Consolas"/>
              </a:rPr>
              <a:t>    </a:t>
            </a:r>
            <a:r>
              <a:rPr sz="1050">
                <a:solidFill>
                  <a:srgbClr val="E8E2FF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</a:pPr>
            <a:r>
              <a:rPr sz="1050">
                <a:solidFill>
                  <a:srgbClr val="E8E2FF"/>
                </a:solidFill>
                <a:latin typeface="Consolas"/>
              </a:rPr>
              <a:t>    </a:t>
            </a:r>
            <a:r>
              <a:rPr sz="1050">
                <a:solidFill>
                  <a:srgbClr val="E8E2FF"/>
                </a:solidFill>
                <a:latin typeface="Consolas"/>
              </a:rPr>
              <a:t>@</a:t>
            </a:r>
            <a:r>
              <a:rPr sz="1050">
                <a:solidFill>
                  <a:srgbClr val="E8E2FF"/>
                </a:solidFill>
                <a:latin typeface="Consolas"/>
              </a:rPr>
              <a:t>Override</a:t>
            </a:r>
            <a:r>
              <a:rPr sz="1050">
                <a:solidFill>
                  <a:srgbClr val="E8E2FF"/>
                </a:solidFill>
                <a:latin typeface="Consolas"/>
              </a:rPr>
              <a:t> </a:t>
            </a:r>
            <a:r>
              <a:rPr sz="1050">
                <a:solidFill>
                  <a:srgbClr val="FAF33E"/>
                </a:solidFill>
                <a:latin typeface="Consolas"/>
              </a:rPr>
              <a:t>public</a:t>
            </a:r>
            <a:r>
              <a:rPr sz="1050">
                <a:solidFill>
                  <a:srgbClr val="E8E2FF"/>
                </a:solidFill>
                <a:latin typeface="Consolas"/>
              </a:rPr>
              <a:t> </a:t>
            </a:r>
            <a:r>
              <a:rPr sz="1050">
                <a:solidFill>
                  <a:srgbClr val="FAF33E"/>
                </a:solidFill>
                <a:latin typeface="Consolas"/>
              </a:rPr>
              <a:t>void</a:t>
            </a:r>
            <a:r>
              <a:rPr sz="1050">
                <a:solidFill>
                  <a:srgbClr val="E8E2FF"/>
                </a:solidFill>
                <a:latin typeface="Consolas"/>
              </a:rPr>
              <a:t> </a:t>
            </a:r>
            <a:r>
              <a:rPr sz="1050">
                <a:solidFill>
                  <a:srgbClr val="E8E2FF"/>
                </a:solidFill>
                <a:latin typeface="Consolas"/>
              </a:rPr>
              <a:t>mouseEntered</a:t>
            </a:r>
            <a:r>
              <a:rPr sz="1050">
                <a:solidFill>
                  <a:srgbClr val="E8E2FF"/>
                </a:solidFill>
                <a:latin typeface="Consolas"/>
              </a:rPr>
              <a:t>(</a:t>
            </a:r>
            <a:r>
              <a:rPr sz="1050">
                <a:solidFill>
                  <a:srgbClr val="9D8DF1"/>
                </a:solidFill>
                <a:latin typeface="Consolas"/>
              </a:rPr>
              <a:t>MouseEvent</a:t>
            </a:r>
            <a:r>
              <a:rPr sz="1050">
                <a:solidFill>
                  <a:srgbClr val="E8E2FF"/>
                </a:solidFill>
                <a:latin typeface="Consolas"/>
              </a:rPr>
              <a:t> </a:t>
            </a:r>
            <a:r>
              <a:rPr sz="1050">
                <a:solidFill>
                  <a:srgbClr val="E8E2FF"/>
                </a:solidFill>
                <a:latin typeface="Consolas"/>
              </a:rPr>
              <a:t>e</a:t>
            </a:r>
            <a:r>
              <a:rPr sz="1050">
                <a:solidFill>
                  <a:srgbClr val="E8E2FF"/>
                </a:solidFill>
                <a:latin typeface="Consolas"/>
              </a:rPr>
              <a:t>)</a:t>
            </a:r>
            <a:r>
              <a:rPr sz="1050">
                <a:solidFill>
                  <a:srgbClr val="E8E2FF"/>
                </a:solidFill>
                <a:latin typeface="Consolas"/>
              </a:rPr>
              <a:t> </a:t>
            </a:r>
            <a:r>
              <a:rPr sz="105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  <a:r>
              <a:rPr sz="1050">
                <a:solidFill>
                  <a:srgbClr val="E8E2FF"/>
                </a:solidFill>
                <a:latin typeface="Consolas"/>
              </a:rPr>
              <a:t>        </a:t>
            </a:r>
            <a:r>
              <a:rPr sz="1050">
                <a:solidFill>
                  <a:srgbClr val="E8E2FF"/>
                </a:solidFill>
                <a:latin typeface="Consolas"/>
              </a:rPr>
              <a:t>label</a:t>
            </a:r>
            <a:r>
              <a:rPr sz="1050">
                <a:solidFill>
                  <a:srgbClr val="E8E2FF"/>
                </a:solidFill>
                <a:latin typeface="Consolas"/>
              </a:rPr>
              <a:t>.</a:t>
            </a:r>
            <a:r>
              <a:rPr sz="1050">
                <a:solidFill>
                  <a:srgbClr val="E8E2FF"/>
                </a:solidFill>
                <a:latin typeface="Consolas"/>
              </a:rPr>
              <a:t>setForeground</a:t>
            </a:r>
            <a:r>
              <a:rPr sz="1050">
                <a:solidFill>
                  <a:srgbClr val="E8E2FF"/>
                </a:solidFill>
                <a:latin typeface="Consolas"/>
              </a:rPr>
              <a:t>(</a:t>
            </a:r>
            <a:r>
              <a:rPr sz="1050">
                <a:solidFill>
                  <a:srgbClr val="9D8DF1"/>
                </a:solidFill>
                <a:latin typeface="Consolas"/>
              </a:rPr>
              <a:t>Color</a:t>
            </a:r>
            <a:r>
              <a:rPr sz="1050">
                <a:solidFill>
                  <a:srgbClr val="E8E2FF"/>
                </a:solidFill>
                <a:latin typeface="Consolas"/>
              </a:rPr>
              <a:t>.</a:t>
            </a:r>
            <a:r>
              <a:rPr sz="1050">
                <a:solidFill>
                  <a:srgbClr val="E8E2FF"/>
                </a:solidFill>
                <a:latin typeface="Consolas"/>
              </a:rPr>
              <a:t>BLUE</a:t>
            </a:r>
            <a:r>
              <a:rPr sz="1050">
                <a:solidFill>
                  <a:srgbClr val="E8E2FF"/>
                </a:solidFill>
                <a:latin typeface="Consolas"/>
              </a:rPr>
              <a:t>)</a:t>
            </a:r>
            <a:r>
              <a:rPr sz="1050">
                <a:solidFill>
                  <a:srgbClr val="E8E2FF"/>
                </a:solidFill>
                <a:latin typeface="Consolas"/>
              </a:rPr>
              <a:t>;</a:t>
            </a:r>
            <a:r>
              <a:rPr sz="1050">
                <a:solidFill>
                  <a:srgbClr val="E8E2FF"/>
                </a:solidFill>
                <a:latin typeface="Consolas"/>
              </a:rPr>
              <a:t>   </a:t>
            </a:r>
            <a:r>
              <a:rPr sz="1050">
                <a:solidFill>
                  <a:srgbClr val="9990B8"/>
                </a:solidFill>
                <a:latin typeface="Consolas"/>
              </a:rPr>
              <a:t>// hover effect</a:t>
            </a:r>
          </a:p>
          <a:p>
            <a:pPr>
              <a:lnSpc>
                <a:spcPct val="108000"/>
              </a:lnSpc>
            </a:pPr>
            <a:r>
              <a:rPr sz="1050">
                <a:solidFill>
                  <a:srgbClr val="E8E2FF"/>
                </a:solidFill>
                <a:latin typeface="Consolas"/>
              </a:rPr>
              <a:t>    </a:t>
            </a:r>
            <a:r>
              <a:rPr sz="1050">
                <a:solidFill>
                  <a:srgbClr val="E8E2FF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</a:pPr>
            <a:r>
              <a:rPr sz="1050">
                <a:solidFill>
                  <a:srgbClr val="E8E2FF"/>
                </a:solidFill>
                <a:latin typeface="Consolas"/>
              </a:rPr>
              <a:t>    </a:t>
            </a:r>
            <a:r>
              <a:rPr sz="1050">
                <a:solidFill>
                  <a:srgbClr val="E8E2FF"/>
                </a:solidFill>
                <a:latin typeface="Consolas"/>
              </a:rPr>
              <a:t>@</a:t>
            </a:r>
            <a:r>
              <a:rPr sz="1050">
                <a:solidFill>
                  <a:srgbClr val="E8E2FF"/>
                </a:solidFill>
                <a:latin typeface="Consolas"/>
              </a:rPr>
              <a:t>Override</a:t>
            </a:r>
            <a:r>
              <a:rPr sz="1050">
                <a:solidFill>
                  <a:srgbClr val="E8E2FF"/>
                </a:solidFill>
                <a:latin typeface="Consolas"/>
              </a:rPr>
              <a:t> </a:t>
            </a:r>
            <a:r>
              <a:rPr sz="1050">
                <a:solidFill>
                  <a:srgbClr val="FAF33E"/>
                </a:solidFill>
                <a:latin typeface="Consolas"/>
              </a:rPr>
              <a:t>public</a:t>
            </a:r>
            <a:r>
              <a:rPr sz="1050">
                <a:solidFill>
                  <a:srgbClr val="E8E2FF"/>
                </a:solidFill>
                <a:latin typeface="Consolas"/>
              </a:rPr>
              <a:t> </a:t>
            </a:r>
            <a:r>
              <a:rPr sz="1050">
                <a:solidFill>
                  <a:srgbClr val="FAF33E"/>
                </a:solidFill>
                <a:latin typeface="Consolas"/>
              </a:rPr>
              <a:t>void</a:t>
            </a:r>
            <a:r>
              <a:rPr sz="1050">
                <a:solidFill>
                  <a:srgbClr val="E8E2FF"/>
                </a:solidFill>
                <a:latin typeface="Consolas"/>
              </a:rPr>
              <a:t> </a:t>
            </a:r>
            <a:r>
              <a:rPr sz="1050">
                <a:solidFill>
                  <a:srgbClr val="E8E2FF"/>
                </a:solidFill>
                <a:latin typeface="Consolas"/>
              </a:rPr>
              <a:t>mouseExited</a:t>
            </a:r>
            <a:r>
              <a:rPr sz="1050">
                <a:solidFill>
                  <a:srgbClr val="E8E2FF"/>
                </a:solidFill>
                <a:latin typeface="Consolas"/>
              </a:rPr>
              <a:t>(</a:t>
            </a:r>
            <a:r>
              <a:rPr sz="1050">
                <a:solidFill>
                  <a:srgbClr val="9D8DF1"/>
                </a:solidFill>
                <a:latin typeface="Consolas"/>
              </a:rPr>
              <a:t>MouseEvent</a:t>
            </a:r>
            <a:r>
              <a:rPr sz="1050">
                <a:solidFill>
                  <a:srgbClr val="E8E2FF"/>
                </a:solidFill>
                <a:latin typeface="Consolas"/>
              </a:rPr>
              <a:t> </a:t>
            </a:r>
            <a:r>
              <a:rPr sz="1050">
                <a:solidFill>
                  <a:srgbClr val="E8E2FF"/>
                </a:solidFill>
                <a:latin typeface="Consolas"/>
              </a:rPr>
              <a:t>e</a:t>
            </a:r>
            <a:r>
              <a:rPr sz="1050">
                <a:solidFill>
                  <a:srgbClr val="E8E2FF"/>
                </a:solidFill>
                <a:latin typeface="Consolas"/>
              </a:rPr>
              <a:t>)</a:t>
            </a:r>
            <a:r>
              <a:rPr sz="1050">
                <a:solidFill>
                  <a:srgbClr val="E8E2FF"/>
                </a:solidFill>
                <a:latin typeface="Consolas"/>
              </a:rPr>
              <a:t> </a:t>
            </a:r>
            <a:r>
              <a:rPr sz="105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  <a:r>
              <a:rPr sz="1050">
                <a:solidFill>
                  <a:srgbClr val="E8E2FF"/>
                </a:solidFill>
                <a:latin typeface="Consolas"/>
              </a:rPr>
              <a:t>        </a:t>
            </a:r>
            <a:r>
              <a:rPr sz="1050">
                <a:solidFill>
                  <a:srgbClr val="E8E2FF"/>
                </a:solidFill>
                <a:latin typeface="Consolas"/>
              </a:rPr>
              <a:t>label</a:t>
            </a:r>
            <a:r>
              <a:rPr sz="1050">
                <a:solidFill>
                  <a:srgbClr val="E8E2FF"/>
                </a:solidFill>
                <a:latin typeface="Consolas"/>
              </a:rPr>
              <a:t>.</a:t>
            </a:r>
            <a:r>
              <a:rPr sz="1050">
                <a:solidFill>
                  <a:srgbClr val="E8E2FF"/>
                </a:solidFill>
                <a:latin typeface="Consolas"/>
              </a:rPr>
              <a:t>setForeground</a:t>
            </a:r>
            <a:r>
              <a:rPr sz="1050">
                <a:solidFill>
                  <a:srgbClr val="E8E2FF"/>
                </a:solidFill>
                <a:latin typeface="Consolas"/>
              </a:rPr>
              <a:t>(</a:t>
            </a:r>
            <a:r>
              <a:rPr sz="1050">
                <a:solidFill>
                  <a:srgbClr val="9D8DF1"/>
                </a:solidFill>
                <a:latin typeface="Consolas"/>
              </a:rPr>
              <a:t>Color</a:t>
            </a:r>
            <a:r>
              <a:rPr sz="1050">
                <a:solidFill>
                  <a:srgbClr val="E8E2FF"/>
                </a:solidFill>
                <a:latin typeface="Consolas"/>
              </a:rPr>
              <a:t>.</a:t>
            </a:r>
            <a:r>
              <a:rPr sz="1050">
                <a:solidFill>
                  <a:srgbClr val="E8E2FF"/>
                </a:solidFill>
                <a:latin typeface="Consolas"/>
              </a:rPr>
              <a:t>BLACK</a:t>
            </a:r>
            <a:r>
              <a:rPr sz="1050">
                <a:solidFill>
                  <a:srgbClr val="E8E2FF"/>
                </a:solidFill>
                <a:latin typeface="Consolas"/>
              </a:rPr>
              <a:t>)</a:t>
            </a:r>
            <a:r>
              <a:rPr sz="105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1050">
                <a:solidFill>
                  <a:srgbClr val="E8E2FF"/>
                </a:solidFill>
                <a:latin typeface="Consolas"/>
              </a:rPr>
              <a:t>    </a:t>
            </a:r>
            <a:r>
              <a:rPr sz="1050">
                <a:solidFill>
                  <a:srgbClr val="E8E2FF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</a:pPr>
            <a:r>
              <a:rPr sz="1050">
                <a:solidFill>
                  <a:srgbClr val="E8E2FF"/>
                </a:solidFill>
                <a:latin typeface="Consolas"/>
              </a:rPr>
              <a:t>    </a:t>
            </a:r>
            <a:r>
              <a:rPr sz="1050">
                <a:solidFill>
                  <a:srgbClr val="E8E2FF"/>
                </a:solidFill>
                <a:latin typeface="Consolas"/>
              </a:rPr>
              <a:t>@</a:t>
            </a:r>
            <a:r>
              <a:rPr sz="1050">
                <a:solidFill>
                  <a:srgbClr val="E8E2FF"/>
                </a:solidFill>
                <a:latin typeface="Consolas"/>
              </a:rPr>
              <a:t>Override</a:t>
            </a:r>
            <a:r>
              <a:rPr sz="1050">
                <a:solidFill>
                  <a:srgbClr val="E8E2FF"/>
                </a:solidFill>
                <a:latin typeface="Consolas"/>
              </a:rPr>
              <a:t> </a:t>
            </a:r>
            <a:r>
              <a:rPr sz="1050">
                <a:solidFill>
                  <a:srgbClr val="FAF33E"/>
                </a:solidFill>
                <a:latin typeface="Consolas"/>
              </a:rPr>
              <a:t>public</a:t>
            </a:r>
            <a:r>
              <a:rPr sz="1050">
                <a:solidFill>
                  <a:srgbClr val="E8E2FF"/>
                </a:solidFill>
                <a:latin typeface="Consolas"/>
              </a:rPr>
              <a:t> </a:t>
            </a:r>
            <a:r>
              <a:rPr sz="1050">
                <a:solidFill>
                  <a:srgbClr val="FAF33E"/>
                </a:solidFill>
                <a:latin typeface="Consolas"/>
              </a:rPr>
              <a:t>void</a:t>
            </a:r>
            <a:r>
              <a:rPr sz="1050">
                <a:solidFill>
                  <a:srgbClr val="E8E2FF"/>
                </a:solidFill>
                <a:latin typeface="Consolas"/>
              </a:rPr>
              <a:t> </a:t>
            </a:r>
            <a:r>
              <a:rPr sz="1050">
                <a:solidFill>
                  <a:srgbClr val="E8E2FF"/>
                </a:solidFill>
                <a:latin typeface="Consolas"/>
              </a:rPr>
              <a:t>mousePressed</a:t>
            </a:r>
            <a:r>
              <a:rPr sz="1050">
                <a:solidFill>
                  <a:srgbClr val="E8E2FF"/>
                </a:solidFill>
                <a:latin typeface="Consolas"/>
              </a:rPr>
              <a:t>(</a:t>
            </a:r>
            <a:r>
              <a:rPr sz="1050">
                <a:solidFill>
                  <a:srgbClr val="9D8DF1"/>
                </a:solidFill>
                <a:latin typeface="Consolas"/>
              </a:rPr>
              <a:t>MouseEvent</a:t>
            </a:r>
            <a:r>
              <a:rPr sz="1050">
                <a:solidFill>
                  <a:srgbClr val="E8E2FF"/>
                </a:solidFill>
                <a:latin typeface="Consolas"/>
              </a:rPr>
              <a:t> </a:t>
            </a:r>
            <a:r>
              <a:rPr sz="1050">
                <a:solidFill>
                  <a:srgbClr val="E8E2FF"/>
                </a:solidFill>
                <a:latin typeface="Consolas"/>
              </a:rPr>
              <a:t>e</a:t>
            </a:r>
            <a:r>
              <a:rPr sz="1050">
                <a:solidFill>
                  <a:srgbClr val="E8E2FF"/>
                </a:solidFill>
                <a:latin typeface="Consolas"/>
              </a:rPr>
              <a:t>)</a:t>
            </a:r>
            <a:r>
              <a:rPr sz="1050">
                <a:solidFill>
                  <a:srgbClr val="E8E2FF"/>
                </a:solidFill>
                <a:latin typeface="Consolas"/>
              </a:rPr>
              <a:t>  </a:t>
            </a:r>
            <a:r>
              <a:rPr sz="1050">
                <a:solidFill>
                  <a:srgbClr val="E8E2FF"/>
                </a:solidFill>
                <a:latin typeface="Consolas"/>
              </a:rPr>
              <a:t>{</a:t>
            </a:r>
            <a:r>
              <a:rPr sz="1050">
                <a:solidFill>
                  <a:srgbClr val="E8E2FF"/>
                </a:solidFill>
                <a:latin typeface="Consolas"/>
              </a:rPr>
              <a:t> </a:t>
            </a:r>
            <a:r>
              <a:rPr sz="1050">
                <a:solidFill>
                  <a:srgbClr val="E8E2FF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</a:pPr>
            <a:r>
              <a:rPr sz="1050">
                <a:solidFill>
                  <a:srgbClr val="E8E2FF"/>
                </a:solidFill>
                <a:latin typeface="Consolas"/>
              </a:rPr>
              <a:t>    </a:t>
            </a:r>
            <a:r>
              <a:rPr sz="1050">
                <a:solidFill>
                  <a:srgbClr val="E8E2FF"/>
                </a:solidFill>
                <a:latin typeface="Consolas"/>
              </a:rPr>
              <a:t>@</a:t>
            </a:r>
            <a:r>
              <a:rPr sz="1050">
                <a:solidFill>
                  <a:srgbClr val="E8E2FF"/>
                </a:solidFill>
                <a:latin typeface="Consolas"/>
              </a:rPr>
              <a:t>Override</a:t>
            </a:r>
            <a:r>
              <a:rPr sz="1050">
                <a:solidFill>
                  <a:srgbClr val="E8E2FF"/>
                </a:solidFill>
                <a:latin typeface="Consolas"/>
              </a:rPr>
              <a:t> </a:t>
            </a:r>
            <a:r>
              <a:rPr sz="1050">
                <a:solidFill>
                  <a:srgbClr val="FAF33E"/>
                </a:solidFill>
                <a:latin typeface="Consolas"/>
              </a:rPr>
              <a:t>public</a:t>
            </a:r>
            <a:r>
              <a:rPr sz="1050">
                <a:solidFill>
                  <a:srgbClr val="E8E2FF"/>
                </a:solidFill>
                <a:latin typeface="Consolas"/>
              </a:rPr>
              <a:t> </a:t>
            </a:r>
            <a:r>
              <a:rPr sz="1050">
                <a:solidFill>
                  <a:srgbClr val="FAF33E"/>
                </a:solidFill>
                <a:latin typeface="Consolas"/>
              </a:rPr>
              <a:t>void</a:t>
            </a:r>
            <a:r>
              <a:rPr sz="1050">
                <a:solidFill>
                  <a:srgbClr val="E8E2FF"/>
                </a:solidFill>
                <a:latin typeface="Consolas"/>
              </a:rPr>
              <a:t> </a:t>
            </a:r>
            <a:r>
              <a:rPr sz="1050">
                <a:solidFill>
                  <a:srgbClr val="E8E2FF"/>
                </a:solidFill>
                <a:latin typeface="Consolas"/>
              </a:rPr>
              <a:t>mouseReleased</a:t>
            </a:r>
            <a:r>
              <a:rPr sz="1050">
                <a:solidFill>
                  <a:srgbClr val="E8E2FF"/>
                </a:solidFill>
                <a:latin typeface="Consolas"/>
              </a:rPr>
              <a:t>(</a:t>
            </a:r>
            <a:r>
              <a:rPr sz="1050">
                <a:solidFill>
                  <a:srgbClr val="9D8DF1"/>
                </a:solidFill>
                <a:latin typeface="Consolas"/>
              </a:rPr>
              <a:t>MouseEvent</a:t>
            </a:r>
            <a:r>
              <a:rPr sz="1050">
                <a:solidFill>
                  <a:srgbClr val="E8E2FF"/>
                </a:solidFill>
                <a:latin typeface="Consolas"/>
              </a:rPr>
              <a:t> </a:t>
            </a:r>
            <a:r>
              <a:rPr sz="1050">
                <a:solidFill>
                  <a:srgbClr val="E8E2FF"/>
                </a:solidFill>
                <a:latin typeface="Consolas"/>
              </a:rPr>
              <a:t>e</a:t>
            </a:r>
            <a:r>
              <a:rPr sz="1050">
                <a:solidFill>
                  <a:srgbClr val="E8E2FF"/>
                </a:solidFill>
                <a:latin typeface="Consolas"/>
              </a:rPr>
              <a:t>)</a:t>
            </a:r>
            <a:r>
              <a:rPr sz="1050">
                <a:solidFill>
                  <a:srgbClr val="E8E2FF"/>
                </a:solidFill>
                <a:latin typeface="Consolas"/>
              </a:rPr>
              <a:t> </a:t>
            </a:r>
            <a:r>
              <a:rPr sz="1050">
                <a:solidFill>
                  <a:srgbClr val="E8E2FF"/>
                </a:solidFill>
                <a:latin typeface="Consolas"/>
              </a:rPr>
              <a:t>{</a:t>
            </a:r>
            <a:r>
              <a:rPr sz="1050">
                <a:solidFill>
                  <a:srgbClr val="E8E2FF"/>
                </a:solidFill>
                <a:latin typeface="Consolas"/>
              </a:rPr>
              <a:t> </a:t>
            </a:r>
            <a:r>
              <a:rPr sz="1050">
                <a:solidFill>
                  <a:srgbClr val="E8E2FF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</a:pPr>
            <a:r>
              <a:rPr sz="1050">
                <a:solidFill>
                  <a:srgbClr val="E8E2FF"/>
                </a:solidFill>
                <a:latin typeface="Consolas"/>
              </a:rPr>
              <a:t>}</a:t>
            </a:r>
            <a:r>
              <a:rPr sz="1050">
                <a:solidFill>
                  <a:srgbClr val="E8E2FF"/>
                </a:solidFill>
                <a:latin typeface="Consolas"/>
              </a:rPr>
              <a:t>)</a:t>
            </a:r>
            <a:r>
              <a:rPr sz="1050">
                <a:solidFill>
                  <a:srgbClr val="E8E2FF"/>
                </a:solidFill>
                <a:latin typeface="Consolas"/>
              </a:rPr>
              <a:t>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691640"/>
            <a:ext cx="3383280" cy="4572000"/>
          </a:xfrm>
          <a:prstGeom prst="roundRect">
            <a:avLst>
              <a:gd name="adj" fmla="val 4000"/>
            </a:avLst>
          </a:prstGeom>
          <a:solidFill>
            <a:srgbClr val="EF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691640"/>
            <a:ext cx="73152" cy="4572000"/>
          </a:xfrm>
          <a:prstGeom prst="rect">
            <a:avLst/>
          </a:prstGeom>
          <a:solidFill>
            <a:srgbClr val="9D8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8288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221C35"/>
                </a:solidFill>
                <a:latin typeface="Calibri"/>
              </a:rPr>
              <a:t>Méthodes de MouseEvent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194560"/>
            <a:ext cx="310896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sz="1050" b="0" i="0">
                <a:solidFill>
                  <a:srgbClr val="221C35"/>
                </a:solidFill>
                <a:latin typeface="Calibri"/>
              </a:rPr>
              <a:t>getX(), getY()  → position</a:t>
            </a:r>
          </a:p>
          <a:p>
            <a:pPr>
              <a:lnSpc>
                <a:spcPct val="135000"/>
              </a:lnSpc>
            </a:pPr>
            <a:r>
              <a:rPr sz="1050" b="0" i="0">
                <a:solidFill>
                  <a:srgbClr val="221C35"/>
                </a:solidFill>
                <a:latin typeface="Calibri"/>
              </a:rPr>
              <a:t>getButton()  → 1, 2, 3</a:t>
            </a:r>
          </a:p>
          <a:p>
            <a:pPr>
              <a:lnSpc>
                <a:spcPct val="135000"/>
              </a:lnSpc>
            </a:pPr>
            <a:r>
              <a:rPr sz="1050" b="0" i="0">
                <a:solidFill>
                  <a:srgbClr val="221C35"/>
                </a:solidFill>
                <a:latin typeface="Calibri"/>
              </a:rPr>
              <a:t>getClickCount()</a:t>
            </a:r>
          </a:p>
          <a:p>
            <a:pPr>
              <a:lnSpc>
                <a:spcPct val="135000"/>
              </a:lnSpc>
            </a:pPr>
            <a:r>
              <a:rPr sz="1050" b="0" i="0">
                <a:solidFill>
                  <a:srgbClr val="221C35"/>
                </a:solidFill>
                <a:latin typeface="Calibri"/>
              </a:rPr>
              <a:t>isPopupTrigger()</a:t>
            </a:r>
          </a:p>
          <a:p>
            <a:pPr>
              <a:lnSpc>
                <a:spcPct val="135000"/>
              </a:lnSpc>
            </a:pPr>
            <a:r>
              <a:rPr sz="1050" b="0" i="0">
                <a:solidFill>
                  <a:srgbClr val="221C35"/>
                </a:solidFill>
                <a:latin typeface="Calibri"/>
              </a:rPr>
              <a:t>getComponent()</a:t>
            </a:r>
          </a:p>
          <a:p>
            <a:pPr>
              <a:lnSpc>
                <a:spcPct val="135000"/>
              </a:lnSpc>
            </a:pPr>
            <a:r>
              <a:rPr sz="1050" b="0" i="0">
                <a:solidFill>
                  <a:srgbClr val="221C35"/>
                </a:solidFill>
                <a:latin typeface="Calibri"/>
              </a:rPr>
              <a:t/>
            </a:r>
          </a:p>
          <a:p>
            <a:pPr>
              <a:lnSpc>
                <a:spcPct val="135000"/>
              </a:lnSpc>
            </a:pPr>
            <a:r>
              <a:rPr sz="1050" b="0" i="0">
                <a:solidFill>
                  <a:srgbClr val="221C35"/>
                </a:solidFill>
                <a:latin typeface="Calibri"/>
              </a:rPr>
              <a:t>Voisin :</a:t>
            </a:r>
          </a:p>
          <a:p>
            <a:pPr>
              <a:lnSpc>
                <a:spcPct val="135000"/>
              </a:lnSpc>
            </a:pPr>
            <a:r>
              <a:rPr sz="1050" b="0" i="0">
                <a:solidFill>
                  <a:srgbClr val="221C35"/>
                </a:solidFill>
                <a:latin typeface="Calibri"/>
              </a:rPr>
              <a:t>MouseMotionListener</a:t>
            </a:r>
          </a:p>
          <a:p>
            <a:pPr>
              <a:lnSpc>
                <a:spcPct val="135000"/>
              </a:lnSpc>
            </a:pPr>
            <a:r>
              <a:rPr sz="1050" b="0" i="0">
                <a:solidFill>
                  <a:srgbClr val="221C35"/>
                </a:solidFill>
                <a:latin typeface="Calibri"/>
              </a:rPr>
              <a:t>→ mouseDragged</a:t>
            </a:r>
          </a:p>
          <a:p>
            <a:pPr>
              <a:lnSpc>
                <a:spcPct val="135000"/>
              </a:lnSpc>
            </a:pPr>
            <a:r>
              <a:rPr sz="1050" b="0" i="0">
                <a:solidFill>
                  <a:srgbClr val="221C35"/>
                </a:solidFill>
                <a:latin typeface="Calibri"/>
              </a:rPr>
              <a:t>→ mouseMoved</a:t>
            </a:r>
          </a:p>
          <a:p>
            <a:pPr>
              <a:lnSpc>
                <a:spcPct val="135000"/>
              </a:lnSpc>
            </a:pPr>
            <a:r>
              <a:rPr sz="1050" b="0" i="0">
                <a:solidFill>
                  <a:srgbClr val="221C35"/>
                </a:solidFill>
                <a:latin typeface="Calibri"/>
              </a:rPr>
              <a:t/>
            </a:r>
          </a:p>
          <a:p>
            <a:pPr>
              <a:lnSpc>
                <a:spcPct val="135000"/>
              </a:lnSpc>
            </a:pPr>
            <a:r>
              <a:rPr sz="1050" b="0" i="0">
                <a:solidFill>
                  <a:srgbClr val="221C35"/>
                </a:solidFill>
                <a:latin typeface="Calibri"/>
              </a:rPr>
              <a:t>Voisin :</a:t>
            </a:r>
          </a:p>
          <a:p>
            <a:pPr>
              <a:lnSpc>
                <a:spcPct val="135000"/>
              </a:lnSpc>
            </a:pPr>
            <a:r>
              <a:rPr sz="1050" b="0" i="0">
                <a:solidFill>
                  <a:srgbClr val="221C35"/>
                </a:solidFill>
                <a:latin typeface="Calibri"/>
              </a:rPr>
              <a:t>MouseWheelListener</a:t>
            </a:r>
          </a:p>
          <a:p>
            <a:pPr>
              <a:lnSpc>
                <a:spcPct val="135000"/>
              </a:lnSpc>
            </a:pPr>
            <a:r>
              <a:rPr sz="1050" b="0" i="0">
                <a:solidFill>
                  <a:srgbClr val="221C35"/>
                </a:solidFill>
                <a:latin typeface="Calibri"/>
              </a:rPr>
              <a:t>→ mouseWheelMoved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D8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048695" y="2286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2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48695" y="228600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AFAFF"/>
                </a:solidFill>
                <a:latin typeface="Calibri"/>
              </a:rPr>
              <a:t>08 / 30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329184"/>
            <a:ext cx="91440" cy="91440"/>
          </a:xfrm>
          <a:prstGeom prst="ellipse">
            <a:avLst/>
          </a:prstGeom>
          <a:solidFill>
            <a:srgbClr val="E85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25603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200">
                <a:solidFill>
                  <a:srgbClr val="6B5F8C"/>
                </a:solidFill>
                <a:latin typeface="Calibri"/>
              </a:rPr>
              <a:t>1. MODÈLE ÉVÉNEMENTIEL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713232"/>
            <a:ext cx="164592" cy="329184"/>
          </a:xfrm>
          <a:prstGeom prst="rect">
            <a:avLst/>
          </a:prstGeom>
          <a:solidFill>
            <a:srgbClr val="FAF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00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21C35"/>
                </a:solidFill>
                <a:latin typeface="Calibri"/>
              </a:rPr>
              <a:t>WindowListener &amp; FocusListener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07899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5F8C"/>
                </a:solidFill>
                <a:latin typeface="Calibri"/>
              </a:rPr>
              <a:t>Réagir à l'ouverture/fermeture d'une fenêtre, à la perte de focus d'un champ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486400" cy="2468880"/>
          </a:xfrm>
          <a:prstGeom prst="roundRect">
            <a:avLst>
              <a:gd name="adj" fmla="val 4000"/>
            </a:avLst>
          </a:prstGeom>
          <a:solidFill>
            <a:srgbClr val="22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830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AF33E"/>
                </a:solidFill>
                <a:latin typeface="Consolas"/>
              </a:rPr>
              <a:t>// Window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103120"/>
            <a:ext cx="51206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950">
                <a:solidFill>
                  <a:srgbClr val="9990B8"/>
                </a:solidFill>
                <a:latin typeface="Consolas"/>
              </a:rPr>
              <a:t>// WindowListener — confirmer avant fermeture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frame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addWindowListener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FAF33E"/>
                </a:solidFill>
                <a:latin typeface="Consolas"/>
              </a:rPr>
              <a:t>new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9D8DF1"/>
                </a:solidFill>
                <a:latin typeface="Consolas"/>
              </a:rPr>
              <a:t>WindowAdapter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</a:t>
            </a:r>
            <a:r>
              <a:rPr sz="950">
                <a:solidFill>
                  <a:srgbClr val="E8E2FF"/>
                </a:solidFill>
                <a:latin typeface="Consolas"/>
              </a:rPr>
              <a:t>@</a:t>
            </a:r>
            <a:r>
              <a:rPr sz="950">
                <a:solidFill>
                  <a:srgbClr val="E8E2FF"/>
                </a:solidFill>
                <a:latin typeface="Consolas"/>
              </a:rPr>
              <a:t>Override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</a:t>
            </a:r>
            <a:r>
              <a:rPr sz="950">
                <a:solidFill>
                  <a:srgbClr val="FAF33E"/>
                </a:solidFill>
                <a:latin typeface="Consolas"/>
              </a:rPr>
              <a:t>public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FAF33E"/>
                </a:solidFill>
                <a:latin typeface="Consolas"/>
              </a:rPr>
              <a:t>void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windowClosing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9D8DF1"/>
                </a:solidFill>
                <a:latin typeface="Consolas"/>
              </a:rPr>
              <a:t>WindowEvent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e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</a:t>
            </a:r>
            <a:r>
              <a:rPr sz="950">
                <a:solidFill>
                  <a:srgbClr val="9D8DF1"/>
                </a:solidFill>
                <a:latin typeface="Consolas"/>
              </a:rPr>
              <a:t>int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rep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=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9D8DF1"/>
                </a:solidFill>
                <a:latin typeface="Consolas"/>
              </a:rPr>
              <a:t>JOptionPane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showConfirmDialog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    </a:t>
            </a:r>
            <a:r>
              <a:rPr sz="950">
                <a:solidFill>
                  <a:srgbClr val="E8E2FF"/>
                </a:solidFill>
                <a:latin typeface="Consolas"/>
              </a:rPr>
              <a:t>frame</a:t>
            </a:r>
            <a:r>
              <a:rPr sz="950">
                <a:solidFill>
                  <a:srgbClr val="E8E2FF"/>
                </a:solidFill>
                <a:latin typeface="Consolas"/>
              </a:rPr>
              <a:t>,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FFB3C1"/>
                </a:solidFill>
                <a:latin typeface="Consolas"/>
              </a:rPr>
              <a:t>"Quitter l'application ?"</a:t>
            </a:r>
            <a:r>
              <a:rPr sz="950">
                <a:solidFill>
                  <a:srgbClr val="E8E2FF"/>
                </a:solidFill>
                <a:latin typeface="Consolas"/>
              </a:rPr>
              <a:t>,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FFB3C1"/>
                </a:solidFill>
                <a:latin typeface="Consolas"/>
              </a:rPr>
              <a:t>"Confirmation"</a:t>
            </a:r>
            <a:r>
              <a:rPr sz="950">
                <a:solidFill>
                  <a:srgbClr val="E8E2FF"/>
                </a:solidFill>
                <a:latin typeface="Consolas"/>
              </a:rPr>
              <a:t>,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    </a:t>
            </a:r>
            <a:r>
              <a:rPr sz="950">
                <a:solidFill>
                  <a:srgbClr val="9D8DF1"/>
                </a:solidFill>
                <a:latin typeface="Consolas"/>
              </a:rPr>
              <a:t>JOptionPane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YES_NO_OPTION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</a:t>
            </a:r>
            <a:r>
              <a:rPr sz="950">
                <a:solidFill>
                  <a:srgbClr val="FAF33E"/>
                </a:solidFill>
                <a:latin typeface="Consolas"/>
              </a:rPr>
              <a:t>if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rep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=</a:t>
            </a:r>
            <a:r>
              <a:rPr sz="950">
                <a:solidFill>
                  <a:srgbClr val="E8E2FF"/>
                </a:solidFill>
                <a:latin typeface="Consolas"/>
              </a:rPr>
              <a:t>=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9D8DF1"/>
                </a:solidFill>
                <a:latin typeface="Consolas"/>
              </a:rPr>
              <a:t>JOptionPane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YES_OPTION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    </a:t>
            </a:r>
            <a:r>
              <a:rPr sz="950">
                <a:solidFill>
                  <a:srgbClr val="E8E2FF"/>
                </a:solidFill>
                <a:latin typeface="Consolas"/>
              </a:rPr>
              <a:t>frame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dispose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</a:t>
            </a:r>
            <a:r>
              <a:rPr sz="950">
                <a:solidFill>
                  <a:srgbClr val="E8E2FF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</a:t>
            </a:r>
            <a:r>
              <a:rPr sz="950">
                <a:solidFill>
                  <a:srgbClr val="E8E2FF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}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691640"/>
            <a:ext cx="5212080" cy="2468880"/>
          </a:xfrm>
          <a:prstGeom prst="roundRect">
            <a:avLst>
              <a:gd name="adj" fmla="val 4000"/>
            </a:avLst>
          </a:prstGeom>
          <a:solidFill>
            <a:srgbClr val="22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178308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AF33E"/>
                </a:solidFill>
                <a:latin typeface="Consolas"/>
              </a:rPr>
              <a:t>// 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2103120"/>
            <a:ext cx="48463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950">
                <a:solidFill>
                  <a:srgbClr val="9990B8"/>
                </a:solidFill>
                <a:latin typeface="Consolas"/>
              </a:rPr>
              <a:t>// FocusListener — valider à la sortie du champ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email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addFocusListener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FAF33E"/>
                </a:solidFill>
                <a:latin typeface="Consolas"/>
              </a:rPr>
              <a:t>new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9D8DF1"/>
                </a:solidFill>
                <a:latin typeface="Consolas"/>
              </a:rPr>
              <a:t>FocusAdapter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</a:t>
            </a:r>
            <a:r>
              <a:rPr sz="950">
                <a:solidFill>
                  <a:srgbClr val="E8E2FF"/>
                </a:solidFill>
                <a:latin typeface="Consolas"/>
              </a:rPr>
              <a:t>@</a:t>
            </a:r>
            <a:r>
              <a:rPr sz="950">
                <a:solidFill>
                  <a:srgbClr val="E8E2FF"/>
                </a:solidFill>
                <a:latin typeface="Consolas"/>
              </a:rPr>
              <a:t>Override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</a:t>
            </a:r>
            <a:r>
              <a:rPr sz="950">
                <a:solidFill>
                  <a:srgbClr val="FAF33E"/>
                </a:solidFill>
                <a:latin typeface="Consolas"/>
              </a:rPr>
              <a:t>public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FAF33E"/>
                </a:solidFill>
                <a:latin typeface="Consolas"/>
              </a:rPr>
              <a:t>void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focusLost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FocusEvent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e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</a:t>
            </a:r>
            <a:r>
              <a:rPr sz="950">
                <a:solidFill>
                  <a:srgbClr val="9D8DF1"/>
                </a:solidFill>
                <a:latin typeface="Consolas"/>
              </a:rPr>
              <a:t>String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v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=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email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getText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</a:t>
            </a:r>
            <a:r>
              <a:rPr sz="950">
                <a:solidFill>
                  <a:srgbClr val="FAF33E"/>
                </a:solidFill>
                <a:latin typeface="Consolas"/>
              </a:rPr>
              <a:t>if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!</a:t>
            </a:r>
            <a:r>
              <a:rPr sz="950">
                <a:solidFill>
                  <a:srgbClr val="E8E2FF"/>
                </a:solidFill>
                <a:latin typeface="Consolas"/>
              </a:rPr>
              <a:t>v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matches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FFB3C1"/>
                </a:solidFill>
                <a:latin typeface="Consolas"/>
              </a:rPr>
              <a:t>".+@.+\\..+"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    </a:t>
            </a:r>
            <a:r>
              <a:rPr sz="950">
                <a:solidFill>
                  <a:srgbClr val="E8E2FF"/>
                </a:solidFill>
                <a:latin typeface="Consolas"/>
              </a:rPr>
              <a:t>email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setBackground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9D8DF1"/>
                </a:solidFill>
                <a:latin typeface="Consolas"/>
              </a:rPr>
              <a:t>Color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PINK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    </a:t>
            </a:r>
            <a:r>
              <a:rPr sz="950">
                <a:solidFill>
                  <a:srgbClr val="E8E2FF"/>
                </a:solidFill>
                <a:latin typeface="Consolas"/>
              </a:rPr>
              <a:t>erreur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setText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FFB3C1"/>
                </a:solidFill>
                <a:latin typeface="Consolas"/>
              </a:rPr>
              <a:t>"Email invalide"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</a:t>
            </a:r>
            <a:r>
              <a:rPr sz="950">
                <a:solidFill>
                  <a:srgbClr val="E8E2FF"/>
                </a:solidFill>
                <a:latin typeface="Consolas"/>
              </a:rPr>
              <a:t>}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FAF33E"/>
                </a:solidFill>
                <a:latin typeface="Consolas"/>
              </a:rPr>
              <a:t>else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    </a:t>
            </a:r>
            <a:r>
              <a:rPr sz="950">
                <a:solidFill>
                  <a:srgbClr val="E8E2FF"/>
                </a:solidFill>
                <a:latin typeface="Consolas"/>
              </a:rPr>
              <a:t>email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setBackground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9D8DF1"/>
                </a:solidFill>
                <a:latin typeface="Consolas"/>
              </a:rPr>
              <a:t>Color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WHITE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</a:t>
            </a:r>
            <a:r>
              <a:rPr sz="950">
                <a:solidFill>
                  <a:srgbClr val="E8E2FF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</a:t>
            </a:r>
            <a:r>
              <a:rPr sz="950">
                <a:solidFill>
                  <a:srgbClr val="E8E2FF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}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43400"/>
            <a:ext cx="5440680" cy="1965960"/>
          </a:xfrm>
          <a:prstGeom prst="roundRect">
            <a:avLst>
              <a:gd name="adj" fmla="val 4000"/>
            </a:avLst>
          </a:prstGeom>
          <a:solidFill>
            <a:srgbClr val="EF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343400"/>
            <a:ext cx="73152" cy="1965960"/>
          </a:xfrm>
          <a:prstGeom prst="rect">
            <a:avLst/>
          </a:prstGeom>
          <a:solidFill>
            <a:srgbClr val="E85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507992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21C35"/>
                </a:solidFill>
                <a:latin typeface="Calibri"/>
              </a:rPr>
              <a:t>WindowListener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92040"/>
            <a:ext cx="507492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B5F8C"/>
                </a:solidFill>
                <a:latin typeface="Calibri"/>
              </a:rPr>
              <a:t>windowOpened, windowClosing, windowClosed,
windowIconified, windowDeiconified,
windowActivated, windowDeactivated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4343400"/>
            <a:ext cx="5440680" cy="1965960"/>
          </a:xfrm>
          <a:prstGeom prst="roundRect">
            <a:avLst>
              <a:gd name="adj" fmla="val 4000"/>
            </a:avLst>
          </a:prstGeom>
          <a:solidFill>
            <a:srgbClr val="EF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4343400"/>
            <a:ext cx="73152" cy="1965960"/>
          </a:xfrm>
          <a:prstGeom prst="rect">
            <a:avLst/>
          </a:prstGeom>
          <a:solidFill>
            <a:srgbClr val="9D8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507992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21C35"/>
                </a:solidFill>
                <a:latin typeface="Calibri"/>
              </a:rPr>
              <a:t>FocusListener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892040"/>
            <a:ext cx="507492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B5F8C"/>
                </a:solidFill>
                <a:latin typeface="Calibri"/>
              </a:rPr>
              <a:t>focusGained — le composant prend le focus
focusLost     — le composant perd le focus
Idéal pour valider un champ à la sortie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D8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048695" y="2286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2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48695" y="228600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AFAFF"/>
                </a:solidFill>
                <a:latin typeface="Calibri"/>
              </a:rPr>
              <a:t>09 / 30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329184"/>
            <a:ext cx="91440" cy="91440"/>
          </a:xfrm>
          <a:prstGeom prst="ellipse">
            <a:avLst/>
          </a:prstGeom>
          <a:solidFill>
            <a:srgbClr val="E85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25603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200">
                <a:solidFill>
                  <a:srgbClr val="6B5F8C"/>
                </a:solidFill>
                <a:latin typeface="Calibri"/>
              </a:rPr>
              <a:t>1. MODÈLE ÉVÉNEMENTIEL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713232"/>
            <a:ext cx="164592" cy="329184"/>
          </a:xfrm>
          <a:prstGeom prst="rect">
            <a:avLst/>
          </a:prstGeom>
          <a:solidFill>
            <a:srgbClr val="FAF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00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21C35"/>
                </a:solidFill>
                <a:latin typeface="Calibri"/>
              </a:rPr>
              <a:t>ChangeListener — valeur qui change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07899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5F8C"/>
                </a:solidFill>
                <a:latin typeface="Calibri"/>
              </a:rPr>
              <a:t>Pour JSlider, JSpinner, JTabbedPane, JProgressBar : un seul événement « state changed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7772400" cy="4572000"/>
          </a:xfrm>
          <a:prstGeom prst="roundRect">
            <a:avLst>
              <a:gd name="adj" fmla="val 4000"/>
            </a:avLst>
          </a:prstGeom>
          <a:solidFill>
            <a:srgbClr val="22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1856232"/>
            <a:ext cx="7406640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100">
                <a:solidFill>
                  <a:srgbClr val="9990B8"/>
                </a:solidFill>
                <a:latin typeface="Consolas"/>
              </a:rPr>
              <a:t>// JSlider — afficher la valeur en direct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9D8DF1"/>
                </a:solidFill>
                <a:latin typeface="Consolas"/>
              </a:rPr>
              <a:t>JSlider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volume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=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FAF33E"/>
                </a:solidFill>
                <a:latin typeface="Consolas"/>
              </a:rPr>
              <a:t>new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9D8DF1"/>
                </a:solidFill>
                <a:latin typeface="Consolas"/>
              </a:rPr>
              <a:t>JSlider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E8E2FF"/>
                </a:solidFill>
                <a:latin typeface="Consolas"/>
              </a:rPr>
              <a:t>0</a:t>
            </a:r>
            <a:r>
              <a:rPr sz="1100">
                <a:solidFill>
                  <a:srgbClr val="E8E2FF"/>
                </a:solidFill>
                <a:latin typeface="Consolas"/>
              </a:rPr>
              <a:t>,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100</a:t>
            </a:r>
            <a:r>
              <a:rPr sz="1100">
                <a:solidFill>
                  <a:srgbClr val="E8E2FF"/>
                </a:solidFill>
                <a:latin typeface="Consolas"/>
              </a:rPr>
              <a:t>,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50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9D8DF1"/>
                </a:solidFill>
                <a:latin typeface="Consolas"/>
              </a:rPr>
              <a:t>JLabel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echo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=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FAF33E"/>
                </a:solidFill>
                <a:latin typeface="Consolas"/>
              </a:rPr>
              <a:t>new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9D8DF1"/>
                </a:solidFill>
                <a:latin typeface="Consolas"/>
              </a:rPr>
              <a:t>JLabel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FFB3C1"/>
                </a:solidFill>
                <a:latin typeface="Consolas"/>
              </a:rPr>
              <a:t>"Volume : 50"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volume</a:t>
            </a:r>
            <a:r>
              <a:rPr sz="1100">
                <a:solidFill>
                  <a:srgbClr val="E8E2FF"/>
                </a:solidFill>
                <a:latin typeface="Consolas"/>
              </a:rPr>
              <a:t>.</a:t>
            </a:r>
            <a:r>
              <a:rPr sz="1100">
                <a:solidFill>
                  <a:srgbClr val="E8E2FF"/>
                </a:solidFill>
                <a:latin typeface="Consolas"/>
              </a:rPr>
              <a:t>addChangeListener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E8E2FF"/>
                </a:solidFill>
                <a:latin typeface="Consolas"/>
              </a:rPr>
              <a:t>e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-</a:t>
            </a:r>
            <a:r>
              <a:rPr sz="1100">
                <a:solidFill>
                  <a:srgbClr val="E8E2FF"/>
                </a:solidFill>
                <a:latin typeface="Consolas"/>
              </a:rPr>
              <a:t>&gt;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    </a:t>
            </a:r>
            <a:r>
              <a:rPr sz="1100">
                <a:solidFill>
                  <a:srgbClr val="9D8DF1"/>
                </a:solidFill>
                <a:latin typeface="Consolas"/>
              </a:rPr>
              <a:t>int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v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=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volume</a:t>
            </a:r>
            <a:r>
              <a:rPr sz="1100">
                <a:solidFill>
                  <a:srgbClr val="E8E2FF"/>
                </a:solidFill>
                <a:latin typeface="Consolas"/>
              </a:rPr>
              <a:t>.</a:t>
            </a:r>
            <a:r>
              <a:rPr sz="1100">
                <a:solidFill>
                  <a:srgbClr val="E8E2FF"/>
                </a:solidFill>
                <a:latin typeface="Consolas"/>
              </a:rPr>
              <a:t>getValue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    </a:t>
            </a:r>
            <a:r>
              <a:rPr sz="1100">
                <a:solidFill>
                  <a:srgbClr val="E8E2FF"/>
                </a:solidFill>
                <a:latin typeface="Consolas"/>
              </a:rPr>
              <a:t>echo</a:t>
            </a:r>
            <a:r>
              <a:rPr sz="1100">
                <a:solidFill>
                  <a:srgbClr val="E8E2FF"/>
                </a:solidFill>
                <a:latin typeface="Consolas"/>
              </a:rPr>
              <a:t>.</a:t>
            </a:r>
            <a:r>
              <a:rPr sz="1100">
                <a:solidFill>
                  <a:srgbClr val="E8E2FF"/>
                </a:solidFill>
                <a:latin typeface="Consolas"/>
              </a:rPr>
              <a:t>setText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FFB3C1"/>
                </a:solidFill>
                <a:latin typeface="Consolas"/>
              </a:rPr>
              <a:t>"Volume : "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+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v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    </a:t>
            </a:r>
            <a:r>
              <a:rPr sz="1100">
                <a:solidFill>
                  <a:srgbClr val="FAF33E"/>
                </a:solidFill>
                <a:latin typeface="Consolas"/>
              </a:rPr>
              <a:t>if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E8E2FF"/>
                </a:solidFill>
                <a:latin typeface="Consolas"/>
              </a:rPr>
              <a:t>!</a:t>
            </a:r>
            <a:r>
              <a:rPr sz="1100">
                <a:solidFill>
                  <a:srgbClr val="E8E2FF"/>
                </a:solidFill>
                <a:latin typeface="Consolas"/>
              </a:rPr>
              <a:t>volume</a:t>
            </a:r>
            <a:r>
              <a:rPr sz="1100">
                <a:solidFill>
                  <a:srgbClr val="E8E2FF"/>
                </a:solidFill>
                <a:latin typeface="Consolas"/>
              </a:rPr>
              <a:t>.</a:t>
            </a:r>
            <a:r>
              <a:rPr sz="1100">
                <a:solidFill>
                  <a:srgbClr val="E8E2FF"/>
                </a:solidFill>
                <a:latin typeface="Consolas"/>
              </a:rPr>
              <a:t>getValueIsAdjusting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        </a:t>
            </a:r>
            <a:r>
              <a:rPr sz="1100">
                <a:solidFill>
                  <a:srgbClr val="9990B8"/>
                </a:solidFill>
                <a:latin typeface="Consolas"/>
              </a:rPr>
              <a:t>// Appelé seulement quand l'utilisateur lâche le slider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        </a:t>
            </a:r>
            <a:r>
              <a:rPr sz="1100">
                <a:solidFill>
                  <a:srgbClr val="E8E2FF"/>
                </a:solidFill>
                <a:latin typeface="Consolas"/>
              </a:rPr>
              <a:t>sauvegarderPreference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E8E2FF"/>
                </a:solidFill>
                <a:latin typeface="Consolas"/>
              </a:rPr>
              <a:t>v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    </a:t>
            </a:r>
            <a:r>
              <a:rPr sz="1100">
                <a:solidFill>
                  <a:srgbClr val="E8E2FF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}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9990B8"/>
                </a:solidFill>
                <a:latin typeface="Consolas"/>
              </a:rPr>
              <a:t>// JSpinner — même principe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9D8DF1"/>
                </a:solidFill>
                <a:latin typeface="Consolas"/>
              </a:rPr>
              <a:t>JSpinner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age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=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FAF33E"/>
                </a:solidFill>
                <a:latin typeface="Consolas"/>
              </a:rPr>
              <a:t>new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9D8DF1"/>
                </a:solidFill>
                <a:latin typeface="Consolas"/>
              </a:rPr>
              <a:t>JSpinner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FAF33E"/>
                </a:solidFill>
                <a:latin typeface="Consolas"/>
              </a:rPr>
              <a:t>new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SpinnerNumberModel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E8E2FF"/>
                </a:solidFill>
                <a:latin typeface="Consolas"/>
              </a:rPr>
              <a:t>18</a:t>
            </a:r>
            <a:r>
              <a:rPr sz="1100">
                <a:solidFill>
                  <a:srgbClr val="E8E2FF"/>
                </a:solidFill>
                <a:latin typeface="Consolas"/>
              </a:rPr>
              <a:t>,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0</a:t>
            </a:r>
            <a:r>
              <a:rPr sz="1100">
                <a:solidFill>
                  <a:srgbClr val="E8E2FF"/>
                </a:solidFill>
                <a:latin typeface="Consolas"/>
              </a:rPr>
              <a:t>,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120</a:t>
            </a:r>
            <a:r>
              <a:rPr sz="1100">
                <a:solidFill>
                  <a:srgbClr val="E8E2FF"/>
                </a:solidFill>
                <a:latin typeface="Consolas"/>
              </a:rPr>
              <a:t>,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1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age</a:t>
            </a:r>
            <a:r>
              <a:rPr sz="1100">
                <a:solidFill>
                  <a:srgbClr val="E8E2FF"/>
                </a:solidFill>
                <a:latin typeface="Consolas"/>
              </a:rPr>
              <a:t>.</a:t>
            </a:r>
            <a:r>
              <a:rPr sz="1100">
                <a:solidFill>
                  <a:srgbClr val="E8E2FF"/>
                </a:solidFill>
                <a:latin typeface="Consolas"/>
              </a:rPr>
              <a:t>addChangeListener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E8E2FF"/>
                </a:solidFill>
                <a:latin typeface="Consolas"/>
              </a:rPr>
              <a:t>e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-</a:t>
            </a:r>
            <a:r>
              <a:rPr sz="1100">
                <a:solidFill>
                  <a:srgbClr val="E8E2FF"/>
                </a:solidFill>
                <a:latin typeface="Consolas"/>
              </a:rPr>
              <a:t>&gt;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System</a:t>
            </a:r>
            <a:r>
              <a:rPr sz="1100">
                <a:solidFill>
                  <a:srgbClr val="E8E2FF"/>
                </a:solidFill>
                <a:latin typeface="Consolas"/>
              </a:rPr>
              <a:t>.</a:t>
            </a:r>
            <a:r>
              <a:rPr sz="1100">
                <a:solidFill>
                  <a:srgbClr val="E8E2FF"/>
                </a:solidFill>
                <a:latin typeface="Consolas"/>
              </a:rPr>
              <a:t>out</a:t>
            </a:r>
            <a:r>
              <a:rPr sz="1100">
                <a:solidFill>
                  <a:srgbClr val="E8E2FF"/>
                </a:solidFill>
                <a:latin typeface="Consolas"/>
              </a:rPr>
              <a:t>.</a:t>
            </a:r>
            <a:r>
              <a:rPr sz="1100">
                <a:solidFill>
                  <a:srgbClr val="E8E2FF"/>
                </a:solidFill>
                <a:latin typeface="Consolas"/>
              </a:rPr>
              <a:t>println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E8E2FF"/>
                </a:solidFill>
                <a:latin typeface="Consolas"/>
              </a:rPr>
              <a:t>age</a:t>
            </a:r>
            <a:r>
              <a:rPr sz="1100">
                <a:solidFill>
                  <a:srgbClr val="E8E2FF"/>
                </a:solidFill>
                <a:latin typeface="Consolas"/>
              </a:rPr>
              <a:t>.</a:t>
            </a:r>
            <a:r>
              <a:rPr sz="1100">
                <a:solidFill>
                  <a:srgbClr val="E8E2FF"/>
                </a:solidFill>
                <a:latin typeface="Consolas"/>
              </a:rPr>
              <a:t>getValue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9990B8"/>
                </a:solidFill>
                <a:latin typeface="Consolas"/>
              </a:rPr>
              <a:t>// JTabbedPane — détecter changement d'onglet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onglets</a:t>
            </a:r>
            <a:r>
              <a:rPr sz="1100">
                <a:solidFill>
                  <a:srgbClr val="E8E2FF"/>
                </a:solidFill>
                <a:latin typeface="Consolas"/>
              </a:rPr>
              <a:t>.</a:t>
            </a:r>
            <a:r>
              <a:rPr sz="1100">
                <a:solidFill>
                  <a:srgbClr val="E8E2FF"/>
                </a:solidFill>
                <a:latin typeface="Consolas"/>
              </a:rPr>
              <a:t>addChangeListener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E8E2FF"/>
                </a:solidFill>
                <a:latin typeface="Consolas"/>
              </a:rPr>
              <a:t>e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-</a:t>
            </a:r>
            <a:r>
              <a:rPr sz="1100">
                <a:solidFill>
                  <a:srgbClr val="E8E2FF"/>
                </a:solidFill>
                <a:latin typeface="Consolas"/>
              </a:rPr>
              <a:t>&gt;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    </a:t>
            </a:r>
            <a:r>
              <a:rPr sz="1100">
                <a:solidFill>
                  <a:srgbClr val="9D8DF1"/>
                </a:solidFill>
                <a:latin typeface="Consolas"/>
              </a:rPr>
              <a:t>int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i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=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onglets</a:t>
            </a:r>
            <a:r>
              <a:rPr sz="1100">
                <a:solidFill>
                  <a:srgbClr val="E8E2FF"/>
                </a:solidFill>
                <a:latin typeface="Consolas"/>
              </a:rPr>
              <a:t>.</a:t>
            </a:r>
            <a:r>
              <a:rPr sz="1100">
                <a:solidFill>
                  <a:srgbClr val="E8E2FF"/>
                </a:solidFill>
                <a:latin typeface="Consolas"/>
              </a:rPr>
              <a:t>getSelectedIndex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    </a:t>
            </a:r>
            <a:r>
              <a:rPr sz="1100">
                <a:solidFill>
                  <a:srgbClr val="E8E2FF"/>
                </a:solidFill>
                <a:latin typeface="Consolas"/>
              </a:rPr>
              <a:t>chargerContenuOnglet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E8E2FF"/>
                </a:solidFill>
                <a:latin typeface="Consolas"/>
              </a:rPr>
              <a:t>i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}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1691640"/>
            <a:ext cx="2926080" cy="4572000"/>
          </a:xfrm>
          <a:prstGeom prst="roundRect">
            <a:avLst>
              <a:gd name="adj" fmla="val 4000"/>
            </a:avLst>
          </a:prstGeom>
          <a:solidFill>
            <a:srgbClr val="22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0" y="1691640"/>
            <a:ext cx="73152" cy="4572000"/>
          </a:xfrm>
          <a:prstGeom prst="rect">
            <a:avLst/>
          </a:prstGeom>
          <a:solidFill>
            <a:srgbClr val="FAF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0" y="18288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AF33E"/>
                </a:solidFill>
                <a:latin typeface="Calibri"/>
              </a:rPr>
              <a:t>Composants concernés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240280"/>
            <a:ext cx="274320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100" b="0" i="0">
                <a:solidFill>
                  <a:srgbClr val="FAFAFF"/>
                </a:solidFill>
                <a:latin typeface="Calibri"/>
              </a:rPr>
              <a:t>JSlider</a:t>
            </a:r>
          </a:p>
          <a:p>
            <a:pPr>
              <a:lnSpc>
                <a:spcPct val="130000"/>
              </a:lnSpc>
            </a:pPr>
            <a:r>
              <a:rPr sz="1100" b="0" i="0">
                <a:solidFill>
                  <a:srgbClr val="FAFAFF"/>
                </a:solidFill>
                <a:latin typeface="Calibri"/>
              </a:rPr>
              <a:t>JSpinner</a:t>
            </a:r>
          </a:p>
          <a:p>
            <a:pPr>
              <a:lnSpc>
                <a:spcPct val="130000"/>
              </a:lnSpc>
            </a:pPr>
            <a:r>
              <a:rPr sz="1100" b="0" i="0">
                <a:solidFill>
                  <a:srgbClr val="FAFAFF"/>
                </a:solidFill>
                <a:latin typeface="Calibri"/>
              </a:rPr>
              <a:t>JTabbedPane</a:t>
            </a:r>
          </a:p>
          <a:p>
            <a:pPr>
              <a:lnSpc>
                <a:spcPct val="130000"/>
              </a:lnSpc>
            </a:pPr>
            <a:r>
              <a:rPr sz="1100" b="0" i="0">
                <a:solidFill>
                  <a:srgbClr val="FAFAFF"/>
                </a:solidFill>
                <a:latin typeface="Calibri"/>
              </a:rPr>
              <a:t>JProgressBar</a:t>
            </a:r>
          </a:p>
          <a:p>
            <a:pPr>
              <a:lnSpc>
                <a:spcPct val="130000"/>
              </a:lnSpc>
            </a:pPr>
            <a:r>
              <a:rPr sz="1100" b="0" i="0">
                <a:solidFill>
                  <a:srgbClr val="FAFAFF"/>
                </a:solidFill>
                <a:latin typeface="Calibri"/>
              </a:rPr>
              <a:t>ButtonModel</a:t>
            </a:r>
          </a:p>
          <a:p>
            <a:pPr>
              <a:lnSpc>
                <a:spcPct val="130000"/>
              </a:lnSpc>
            </a:pPr>
            <a:r>
              <a:rPr sz="1100" b="0" i="0">
                <a:solidFill>
                  <a:srgbClr val="FAFAFF"/>
                </a:solidFill>
                <a:latin typeface="Calibri"/>
              </a:rPr>
              <a:t/>
            </a:r>
          </a:p>
          <a:p>
            <a:pPr>
              <a:lnSpc>
                <a:spcPct val="130000"/>
              </a:lnSpc>
            </a:pPr>
            <a:r>
              <a:rPr sz="1100" b="0" i="0">
                <a:solidFill>
                  <a:srgbClr val="FAFAFF"/>
                </a:solidFill>
                <a:latin typeface="Calibri"/>
              </a:rPr>
              <a:t>Astuce :</a:t>
            </a:r>
          </a:p>
          <a:p>
            <a:pPr>
              <a:lnSpc>
                <a:spcPct val="130000"/>
              </a:lnSpc>
            </a:pPr>
            <a:r>
              <a:rPr sz="1100" b="0" i="0">
                <a:solidFill>
                  <a:srgbClr val="FAFAFF"/>
                </a:solidFill>
                <a:latin typeface="Calibri"/>
              </a:rPr>
              <a:t>getValueIsAdjusting()</a:t>
            </a:r>
          </a:p>
          <a:p>
            <a:pPr>
              <a:lnSpc>
                <a:spcPct val="130000"/>
              </a:lnSpc>
            </a:pPr>
            <a:r>
              <a:rPr sz="1100" b="0" i="0">
                <a:solidFill>
                  <a:srgbClr val="FAFAFF"/>
                </a:solidFill>
                <a:latin typeface="Calibri"/>
              </a:rPr>
              <a:t>= true tant que</a:t>
            </a:r>
          </a:p>
          <a:p>
            <a:pPr>
              <a:lnSpc>
                <a:spcPct val="130000"/>
              </a:lnSpc>
            </a:pPr>
            <a:r>
              <a:rPr sz="1100" b="0" i="0">
                <a:solidFill>
                  <a:srgbClr val="FAFAFF"/>
                </a:solidFill>
                <a:latin typeface="Calibri"/>
              </a:rPr>
              <a:t>l'utilisateur déplace</a:t>
            </a:r>
          </a:p>
          <a:p>
            <a:pPr>
              <a:lnSpc>
                <a:spcPct val="130000"/>
              </a:lnSpc>
            </a:pPr>
            <a:r>
              <a:rPr sz="1100" b="0" i="0">
                <a:solidFill>
                  <a:srgbClr val="FAFAFF"/>
                </a:solidFill>
                <a:latin typeface="Calibri"/>
              </a:rPr>
              <a:t>le curseur. Très utile</a:t>
            </a:r>
          </a:p>
          <a:p>
            <a:pPr>
              <a:lnSpc>
                <a:spcPct val="130000"/>
              </a:lnSpc>
            </a:pPr>
            <a:r>
              <a:rPr sz="1100" b="0" i="0">
                <a:solidFill>
                  <a:srgbClr val="FAFAFF"/>
                </a:solidFill>
                <a:latin typeface="Calibri"/>
              </a:rPr>
              <a:t>pour ne sauvegarder</a:t>
            </a:r>
          </a:p>
          <a:p>
            <a:pPr>
              <a:lnSpc>
                <a:spcPct val="130000"/>
              </a:lnSpc>
            </a:pPr>
            <a:r>
              <a:rPr sz="1100" b="0" i="0">
                <a:solidFill>
                  <a:srgbClr val="FAFAFF"/>
                </a:solidFill>
                <a:latin typeface="Calibri"/>
              </a:rPr>
              <a:t>qu'à la fin.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D8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048695" y="2286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2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48695" y="228600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AFAFF"/>
                </a:solidFill>
                <a:latin typeface="Calibri"/>
              </a:rPr>
              <a:t>10 / 30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329184"/>
            <a:ext cx="91440" cy="91440"/>
          </a:xfrm>
          <a:prstGeom prst="ellipse">
            <a:avLst/>
          </a:prstGeom>
          <a:solidFill>
            <a:srgbClr val="E85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25603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200">
                <a:solidFill>
                  <a:srgbClr val="6B5F8C"/>
                </a:solidFill>
                <a:latin typeface="Calibri"/>
              </a:rPr>
              <a:t>1. MODÈLE ÉVÉNEMENTIEL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713232"/>
            <a:ext cx="164592" cy="329184"/>
          </a:xfrm>
          <a:prstGeom prst="rect">
            <a:avLst/>
          </a:prstGeom>
          <a:solidFill>
            <a:srgbClr val="FAF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00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21C35"/>
                </a:solidFill>
                <a:latin typeface="Calibri"/>
              </a:rPr>
              <a:t>ListSelectionListener — JList &amp; JTable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07899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5F8C"/>
                </a:solidFill>
                <a:latin typeface="Calibri"/>
              </a:rPr>
              <a:t>Réagir à un changement de sélection dans une liste ou un tableau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10972800" cy="4572000"/>
          </a:xfrm>
          <a:prstGeom prst="roundRect">
            <a:avLst>
              <a:gd name="adj" fmla="val 4000"/>
            </a:avLst>
          </a:prstGeom>
          <a:solidFill>
            <a:srgbClr val="22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1856232"/>
            <a:ext cx="10607040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100">
                <a:solidFill>
                  <a:srgbClr val="9990B8"/>
                </a:solidFill>
                <a:latin typeface="Consolas"/>
              </a:rPr>
              <a:t>// JTable — afficher l'élément sélectionné dans un formulaire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table</a:t>
            </a:r>
            <a:r>
              <a:rPr sz="1100">
                <a:solidFill>
                  <a:srgbClr val="E8E2FF"/>
                </a:solidFill>
                <a:latin typeface="Consolas"/>
              </a:rPr>
              <a:t>.</a:t>
            </a:r>
            <a:r>
              <a:rPr sz="1100">
                <a:solidFill>
                  <a:srgbClr val="E8E2FF"/>
                </a:solidFill>
                <a:latin typeface="Consolas"/>
              </a:rPr>
              <a:t>getSelectionModel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.</a:t>
            </a:r>
            <a:r>
              <a:rPr sz="1100">
                <a:solidFill>
                  <a:srgbClr val="E8E2FF"/>
                </a:solidFill>
                <a:latin typeface="Consolas"/>
              </a:rPr>
              <a:t>addListSelectionListener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E8E2FF"/>
                </a:solidFill>
                <a:latin typeface="Consolas"/>
              </a:rPr>
              <a:t>e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-</a:t>
            </a:r>
            <a:r>
              <a:rPr sz="1100">
                <a:solidFill>
                  <a:srgbClr val="E8E2FF"/>
                </a:solidFill>
                <a:latin typeface="Consolas"/>
              </a:rPr>
              <a:t>&gt;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    </a:t>
            </a:r>
            <a:r>
              <a:rPr sz="1100">
                <a:solidFill>
                  <a:srgbClr val="FAF33E"/>
                </a:solidFill>
                <a:latin typeface="Consolas"/>
              </a:rPr>
              <a:t>if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E8E2FF"/>
                </a:solidFill>
                <a:latin typeface="Consolas"/>
              </a:rPr>
              <a:t>e</a:t>
            </a:r>
            <a:r>
              <a:rPr sz="1100">
                <a:solidFill>
                  <a:srgbClr val="E8E2FF"/>
                </a:solidFill>
                <a:latin typeface="Consolas"/>
              </a:rPr>
              <a:t>.</a:t>
            </a:r>
            <a:r>
              <a:rPr sz="1100">
                <a:solidFill>
                  <a:srgbClr val="E8E2FF"/>
                </a:solidFill>
                <a:latin typeface="Consolas"/>
              </a:rPr>
              <a:t>getValueIsAdjusting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FAF33E"/>
                </a:solidFill>
                <a:latin typeface="Consolas"/>
              </a:rPr>
              <a:t>return</a:t>
            </a:r>
            <a:r>
              <a:rPr sz="1100">
                <a:solidFill>
                  <a:srgbClr val="E8E2FF"/>
                </a:solidFill>
                <a:latin typeface="Consolas"/>
              </a:rPr>
              <a:t>;</a:t>
            </a:r>
            <a:r>
              <a:rPr sz="1100">
                <a:solidFill>
                  <a:srgbClr val="E8E2FF"/>
                </a:solidFill>
                <a:latin typeface="Consolas"/>
              </a:rPr>
              <a:t>     </a:t>
            </a:r>
            <a:r>
              <a:rPr sz="1100">
                <a:solidFill>
                  <a:srgbClr val="9990B8"/>
                </a:solidFill>
                <a:latin typeface="Consolas"/>
              </a:rPr>
              <a:t>// ignorer les états transitoires</a:t>
            </a:r>
          </a:p>
          <a:p>
            <a:pPr>
              <a:lnSpc>
                <a:spcPct val="108000"/>
              </a:lnSpc>
            </a:pP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    </a:t>
            </a:r>
            <a:r>
              <a:rPr sz="1100">
                <a:solidFill>
                  <a:srgbClr val="9D8DF1"/>
                </a:solidFill>
                <a:latin typeface="Consolas"/>
              </a:rPr>
              <a:t>int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row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=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table</a:t>
            </a:r>
            <a:r>
              <a:rPr sz="1100">
                <a:solidFill>
                  <a:srgbClr val="E8E2FF"/>
                </a:solidFill>
                <a:latin typeface="Consolas"/>
              </a:rPr>
              <a:t>.</a:t>
            </a:r>
            <a:r>
              <a:rPr sz="1100">
                <a:solidFill>
                  <a:srgbClr val="E8E2FF"/>
                </a:solidFill>
                <a:latin typeface="Consolas"/>
              </a:rPr>
              <a:t>getSelectedRow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    </a:t>
            </a:r>
            <a:r>
              <a:rPr sz="1100">
                <a:solidFill>
                  <a:srgbClr val="FAF33E"/>
                </a:solidFill>
                <a:latin typeface="Consolas"/>
              </a:rPr>
              <a:t>if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E8E2FF"/>
                </a:solidFill>
                <a:latin typeface="Consolas"/>
              </a:rPr>
              <a:t>row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&lt;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0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FAF33E"/>
                </a:solidFill>
                <a:latin typeface="Consolas"/>
              </a:rPr>
              <a:t>return</a:t>
            </a:r>
            <a:r>
              <a:rPr sz="1100">
                <a:solidFill>
                  <a:srgbClr val="E8E2FF"/>
                </a:solidFill>
                <a:latin typeface="Consolas"/>
              </a:rPr>
              <a:t>;</a:t>
            </a:r>
            <a:r>
              <a:rPr sz="1100">
                <a:solidFill>
                  <a:srgbClr val="E8E2FF"/>
                </a:solidFill>
                <a:latin typeface="Consolas"/>
              </a:rPr>
              <a:t>                     </a:t>
            </a:r>
            <a:r>
              <a:rPr sz="1100">
                <a:solidFill>
                  <a:srgbClr val="9990B8"/>
                </a:solidFill>
                <a:latin typeface="Consolas"/>
              </a:rPr>
              <a:t>// aucune ligne sélectionnée</a:t>
            </a:r>
          </a:p>
          <a:p>
            <a:pPr>
              <a:lnSpc>
                <a:spcPct val="108000"/>
              </a:lnSpc>
            </a:pP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    </a:t>
            </a:r>
            <a:r>
              <a:rPr sz="1100">
                <a:solidFill>
                  <a:srgbClr val="9D8DF1"/>
                </a:solidFill>
                <a:latin typeface="Consolas"/>
              </a:rPr>
              <a:t>String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nom</a:t>
            </a:r>
            <a:r>
              <a:rPr sz="1100">
                <a:solidFill>
                  <a:srgbClr val="E8E2FF"/>
                </a:solidFill>
                <a:latin typeface="Consolas"/>
              </a:rPr>
              <a:t>    </a:t>
            </a:r>
            <a:r>
              <a:rPr sz="1100">
                <a:solidFill>
                  <a:srgbClr val="E8E2FF"/>
                </a:solidFill>
                <a:latin typeface="Consolas"/>
              </a:rPr>
              <a:t>=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9D8DF1"/>
                </a:solidFill>
                <a:latin typeface="Consolas"/>
              </a:rPr>
              <a:t>String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table</a:t>
            </a:r>
            <a:r>
              <a:rPr sz="1100">
                <a:solidFill>
                  <a:srgbClr val="E8E2FF"/>
                </a:solidFill>
                <a:latin typeface="Consolas"/>
              </a:rPr>
              <a:t>.</a:t>
            </a:r>
            <a:r>
              <a:rPr sz="1100">
                <a:solidFill>
                  <a:srgbClr val="E8E2FF"/>
                </a:solidFill>
                <a:latin typeface="Consolas"/>
              </a:rPr>
              <a:t>getValueAt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E8E2FF"/>
                </a:solidFill>
                <a:latin typeface="Consolas"/>
              </a:rPr>
              <a:t>row</a:t>
            </a:r>
            <a:r>
              <a:rPr sz="1100">
                <a:solidFill>
                  <a:srgbClr val="E8E2FF"/>
                </a:solidFill>
                <a:latin typeface="Consolas"/>
              </a:rPr>
              <a:t>,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0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    </a:t>
            </a:r>
            <a:r>
              <a:rPr sz="1100">
                <a:solidFill>
                  <a:srgbClr val="9D8DF1"/>
                </a:solidFill>
                <a:latin typeface="Consolas"/>
              </a:rPr>
              <a:t>String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prenom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=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9D8DF1"/>
                </a:solidFill>
                <a:latin typeface="Consolas"/>
              </a:rPr>
              <a:t>String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table</a:t>
            </a:r>
            <a:r>
              <a:rPr sz="1100">
                <a:solidFill>
                  <a:srgbClr val="E8E2FF"/>
                </a:solidFill>
                <a:latin typeface="Consolas"/>
              </a:rPr>
              <a:t>.</a:t>
            </a:r>
            <a:r>
              <a:rPr sz="1100">
                <a:solidFill>
                  <a:srgbClr val="E8E2FF"/>
                </a:solidFill>
                <a:latin typeface="Consolas"/>
              </a:rPr>
              <a:t>getValueAt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E8E2FF"/>
                </a:solidFill>
                <a:latin typeface="Consolas"/>
              </a:rPr>
              <a:t>row</a:t>
            </a:r>
            <a:r>
              <a:rPr sz="1100">
                <a:solidFill>
                  <a:srgbClr val="E8E2FF"/>
                </a:solidFill>
                <a:latin typeface="Consolas"/>
              </a:rPr>
              <a:t>,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1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    </a:t>
            </a:r>
            <a:r>
              <a:rPr sz="1100">
                <a:solidFill>
                  <a:srgbClr val="9D8DF1"/>
                </a:solidFill>
                <a:latin typeface="Consolas"/>
              </a:rPr>
              <a:t>Integer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note</a:t>
            </a:r>
            <a:r>
              <a:rPr sz="1100">
                <a:solidFill>
                  <a:srgbClr val="E8E2FF"/>
                </a:solidFill>
                <a:latin typeface="Consolas"/>
              </a:rPr>
              <a:t>  </a:t>
            </a:r>
            <a:r>
              <a:rPr sz="1100">
                <a:solidFill>
                  <a:srgbClr val="E8E2FF"/>
                </a:solidFill>
                <a:latin typeface="Consolas"/>
              </a:rPr>
              <a:t>=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9D8DF1"/>
                </a:solidFill>
                <a:latin typeface="Consolas"/>
              </a:rPr>
              <a:t>Integer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table</a:t>
            </a:r>
            <a:r>
              <a:rPr sz="1100">
                <a:solidFill>
                  <a:srgbClr val="E8E2FF"/>
                </a:solidFill>
                <a:latin typeface="Consolas"/>
              </a:rPr>
              <a:t>.</a:t>
            </a:r>
            <a:r>
              <a:rPr sz="1100">
                <a:solidFill>
                  <a:srgbClr val="E8E2FF"/>
                </a:solidFill>
                <a:latin typeface="Consolas"/>
              </a:rPr>
              <a:t>getValueAt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E8E2FF"/>
                </a:solidFill>
                <a:latin typeface="Consolas"/>
              </a:rPr>
              <a:t>row</a:t>
            </a:r>
            <a:r>
              <a:rPr sz="1100">
                <a:solidFill>
                  <a:srgbClr val="E8E2FF"/>
                </a:solidFill>
                <a:latin typeface="Consolas"/>
              </a:rPr>
              <a:t>,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2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    </a:t>
            </a:r>
            <a:r>
              <a:rPr sz="1100">
                <a:solidFill>
                  <a:srgbClr val="E8E2FF"/>
                </a:solidFill>
                <a:latin typeface="Consolas"/>
              </a:rPr>
              <a:t>formNom</a:t>
            </a:r>
            <a:r>
              <a:rPr sz="1100">
                <a:solidFill>
                  <a:srgbClr val="E8E2FF"/>
                </a:solidFill>
                <a:latin typeface="Consolas"/>
              </a:rPr>
              <a:t>.</a:t>
            </a:r>
            <a:r>
              <a:rPr sz="1100">
                <a:solidFill>
                  <a:srgbClr val="E8E2FF"/>
                </a:solidFill>
                <a:latin typeface="Consolas"/>
              </a:rPr>
              <a:t>setText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E8E2FF"/>
                </a:solidFill>
                <a:latin typeface="Consolas"/>
              </a:rPr>
              <a:t>nom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    </a:t>
            </a:r>
            <a:r>
              <a:rPr sz="1100">
                <a:solidFill>
                  <a:srgbClr val="E8E2FF"/>
                </a:solidFill>
                <a:latin typeface="Consolas"/>
              </a:rPr>
              <a:t>formPrenom</a:t>
            </a:r>
            <a:r>
              <a:rPr sz="1100">
                <a:solidFill>
                  <a:srgbClr val="E8E2FF"/>
                </a:solidFill>
                <a:latin typeface="Consolas"/>
              </a:rPr>
              <a:t>.</a:t>
            </a:r>
            <a:r>
              <a:rPr sz="1100">
                <a:solidFill>
                  <a:srgbClr val="E8E2FF"/>
                </a:solidFill>
                <a:latin typeface="Consolas"/>
              </a:rPr>
              <a:t>setText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E8E2FF"/>
                </a:solidFill>
                <a:latin typeface="Consolas"/>
              </a:rPr>
              <a:t>prenom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    </a:t>
            </a:r>
            <a:r>
              <a:rPr sz="1100">
                <a:solidFill>
                  <a:srgbClr val="E8E2FF"/>
                </a:solidFill>
                <a:latin typeface="Consolas"/>
              </a:rPr>
              <a:t>formNote</a:t>
            </a:r>
            <a:r>
              <a:rPr sz="1100">
                <a:solidFill>
                  <a:srgbClr val="E8E2FF"/>
                </a:solidFill>
                <a:latin typeface="Consolas"/>
              </a:rPr>
              <a:t>.</a:t>
            </a:r>
            <a:r>
              <a:rPr sz="1100">
                <a:solidFill>
                  <a:srgbClr val="E8E2FF"/>
                </a:solidFill>
                <a:latin typeface="Consolas"/>
              </a:rPr>
              <a:t>setValue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E8E2FF"/>
                </a:solidFill>
                <a:latin typeface="Consolas"/>
              </a:rPr>
              <a:t>note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}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9990B8"/>
                </a:solidFill>
                <a:latin typeface="Consolas"/>
              </a:rPr>
              <a:t>// JList — pareil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liste</a:t>
            </a:r>
            <a:r>
              <a:rPr sz="1100">
                <a:solidFill>
                  <a:srgbClr val="E8E2FF"/>
                </a:solidFill>
                <a:latin typeface="Consolas"/>
              </a:rPr>
              <a:t>.</a:t>
            </a:r>
            <a:r>
              <a:rPr sz="1100">
                <a:solidFill>
                  <a:srgbClr val="E8E2FF"/>
                </a:solidFill>
                <a:latin typeface="Consolas"/>
              </a:rPr>
              <a:t>addListSelectionListener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E8E2FF"/>
                </a:solidFill>
                <a:latin typeface="Consolas"/>
              </a:rPr>
              <a:t>e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-</a:t>
            </a:r>
            <a:r>
              <a:rPr sz="1100">
                <a:solidFill>
                  <a:srgbClr val="E8E2FF"/>
                </a:solidFill>
                <a:latin typeface="Consolas"/>
              </a:rPr>
              <a:t>&gt;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    </a:t>
            </a:r>
            <a:r>
              <a:rPr sz="1100">
                <a:solidFill>
                  <a:srgbClr val="FAF33E"/>
                </a:solidFill>
                <a:latin typeface="Consolas"/>
              </a:rPr>
              <a:t>if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E8E2FF"/>
                </a:solidFill>
                <a:latin typeface="Consolas"/>
              </a:rPr>
              <a:t>!</a:t>
            </a:r>
            <a:r>
              <a:rPr sz="1100">
                <a:solidFill>
                  <a:srgbClr val="E8E2FF"/>
                </a:solidFill>
                <a:latin typeface="Consolas"/>
              </a:rPr>
              <a:t>e</a:t>
            </a:r>
            <a:r>
              <a:rPr sz="1100">
                <a:solidFill>
                  <a:srgbClr val="E8E2FF"/>
                </a:solidFill>
                <a:latin typeface="Consolas"/>
              </a:rPr>
              <a:t>.</a:t>
            </a:r>
            <a:r>
              <a:rPr sz="1100">
                <a:solidFill>
                  <a:srgbClr val="E8E2FF"/>
                </a:solidFill>
                <a:latin typeface="Consolas"/>
              </a:rPr>
              <a:t>getValueIsAdjusting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        </a:t>
            </a:r>
            <a:r>
              <a:rPr sz="1100">
                <a:solidFill>
                  <a:srgbClr val="E8E2FF"/>
                </a:solidFill>
                <a:latin typeface="Consolas"/>
              </a:rPr>
              <a:t>afficher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E8E2FF"/>
                </a:solidFill>
                <a:latin typeface="Consolas"/>
              </a:rPr>
              <a:t>liste</a:t>
            </a:r>
            <a:r>
              <a:rPr sz="1100">
                <a:solidFill>
                  <a:srgbClr val="E8E2FF"/>
                </a:solidFill>
                <a:latin typeface="Consolas"/>
              </a:rPr>
              <a:t>.</a:t>
            </a:r>
            <a:r>
              <a:rPr sz="1100">
                <a:solidFill>
                  <a:srgbClr val="E8E2FF"/>
                </a:solidFill>
                <a:latin typeface="Consolas"/>
              </a:rPr>
              <a:t>getSelectedValue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    </a:t>
            </a:r>
            <a:r>
              <a:rPr sz="1100">
                <a:solidFill>
                  <a:srgbClr val="E8E2FF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}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D8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048695" y="2286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2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48695" y="228600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AFAFF"/>
                </a:solidFill>
                <a:latin typeface="Calibri"/>
              </a:rPr>
              <a:t>11 / 30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329184"/>
            <a:ext cx="91440" cy="91440"/>
          </a:xfrm>
          <a:prstGeom prst="ellipse">
            <a:avLst/>
          </a:prstGeom>
          <a:solidFill>
            <a:srgbClr val="E85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25603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200">
                <a:solidFill>
                  <a:srgbClr val="6B5F8C"/>
                </a:solidFill>
                <a:latin typeface="Calibri"/>
              </a:rPr>
              <a:t>1. MODÈLE ÉVÉNEMENTIEL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713232"/>
            <a:ext cx="164592" cy="329184"/>
          </a:xfrm>
          <a:prstGeom prst="rect">
            <a:avLst/>
          </a:prstGeom>
          <a:solidFill>
            <a:srgbClr val="FAF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00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21C35"/>
                </a:solidFill>
                <a:latin typeface="Calibri"/>
              </a:rPr>
              <a:t>DocumentListener — texte en temps réel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07899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5F8C"/>
                </a:solidFill>
                <a:latin typeface="Calibri"/>
              </a:rPr>
              <a:t>Réagir à CHAQUE caractère tapé : recherche live, validation, compteur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10972800" cy="2743200"/>
          </a:xfrm>
          <a:prstGeom prst="roundRect">
            <a:avLst>
              <a:gd name="adj" fmla="val 4000"/>
            </a:avLst>
          </a:prstGeom>
          <a:solidFill>
            <a:srgbClr val="22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1856232"/>
            <a:ext cx="10607040" cy="2514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100">
                <a:solidFill>
                  <a:srgbClr val="9D8DF1"/>
                </a:solidFill>
                <a:latin typeface="Consolas"/>
              </a:rPr>
              <a:t>JTextField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recherche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=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FAF33E"/>
                </a:solidFill>
                <a:latin typeface="Consolas"/>
              </a:rPr>
              <a:t>new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9D8DF1"/>
                </a:solidFill>
                <a:latin typeface="Consolas"/>
              </a:rPr>
              <a:t>JTextField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E8E2FF"/>
                </a:solidFill>
                <a:latin typeface="Consolas"/>
              </a:rPr>
              <a:t>30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recherche</a:t>
            </a:r>
            <a:r>
              <a:rPr sz="1100">
                <a:solidFill>
                  <a:srgbClr val="E8E2FF"/>
                </a:solidFill>
                <a:latin typeface="Consolas"/>
              </a:rPr>
              <a:t>.</a:t>
            </a:r>
            <a:r>
              <a:rPr sz="1100">
                <a:solidFill>
                  <a:srgbClr val="E8E2FF"/>
                </a:solidFill>
                <a:latin typeface="Consolas"/>
              </a:rPr>
              <a:t>getDocument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.</a:t>
            </a:r>
            <a:r>
              <a:rPr sz="1100">
                <a:solidFill>
                  <a:srgbClr val="E8E2FF"/>
                </a:solidFill>
                <a:latin typeface="Consolas"/>
              </a:rPr>
              <a:t>addDocumentListener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FAF33E"/>
                </a:solidFill>
                <a:latin typeface="Consolas"/>
              </a:rPr>
              <a:t>new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9D8DF1"/>
                </a:solidFill>
                <a:latin typeface="Consolas"/>
              </a:rPr>
              <a:t>DocumentListener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    </a:t>
            </a:r>
            <a:r>
              <a:rPr sz="1100">
                <a:solidFill>
                  <a:srgbClr val="E8E2FF"/>
                </a:solidFill>
                <a:latin typeface="Consolas"/>
              </a:rPr>
              <a:t>@</a:t>
            </a:r>
            <a:r>
              <a:rPr sz="1100">
                <a:solidFill>
                  <a:srgbClr val="E8E2FF"/>
                </a:solidFill>
                <a:latin typeface="Consolas"/>
              </a:rPr>
              <a:t>Override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FAF33E"/>
                </a:solidFill>
                <a:latin typeface="Consolas"/>
              </a:rPr>
              <a:t>public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FAF33E"/>
                </a:solidFill>
                <a:latin typeface="Consolas"/>
              </a:rPr>
              <a:t>void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insertUpdate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9D8DF1"/>
                </a:solidFill>
                <a:latin typeface="Consolas"/>
              </a:rPr>
              <a:t>DocumentEvent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e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  </a:t>
            </a:r>
            <a:r>
              <a:rPr sz="1100">
                <a:solidFill>
                  <a:srgbClr val="E8E2FF"/>
                </a:solidFill>
                <a:latin typeface="Consolas"/>
              </a:rPr>
              <a:t>{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filtrer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;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    </a:t>
            </a:r>
            <a:r>
              <a:rPr sz="1100">
                <a:solidFill>
                  <a:srgbClr val="E8E2FF"/>
                </a:solidFill>
                <a:latin typeface="Consolas"/>
              </a:rPr>
              <a:t>@</a:t>
            </a:r>
            <a:r>
              <a:rPr sz="1100">
                <a:solidFill>
                  <a:srgbClr val="E8E2FF"/>
                </a:solidFill>
                <a:latin typeface="Consolas"/>
              </a:rPr>
              <a:t>Override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FAF33E"/>
                </a:solidFill>
                <a:latin typeface="Consolas"/>
              </a:rPr>
              <a:t>public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FAF33E"/>
                </a:solidFill>
                <a:latin typeface="Consolas"/>
              </a:rPr>
              <a:t>void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removeUpdate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9D8DF1"/>
                </a:solidFill>
                <a:latin typeface="Consolas"/>
              </a:rPr>
              <a:t>DocumentEvent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e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  </a:t>
            </a:r>
            <a:r>
              <a:rPr sz="1100">
                <a:solidFill>
                  <a:srgbClr val="E8E2FF"/>
                </a:solidFill>
                <a:latin typeface="Consolas"/>
              </a:rPr>
              <a:t>{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filtrer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;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    </a:t>
            </a:r>
            <a:r>
              <a:rPr sz="1100">
                <a:solidFill>
                  <a:srgbClr val="E8E2FF"/>
                </a:solidFill>
                <a:latin typeface="Consolas"/>
              </a:rPr>
              <a:t>@</a:t>
            </a:r>
            <a:r>
              <a:rPr sz="1100">
                <a:solidFill>
                  <a:srgbClr val="E8E2FF"/>
                </a:solidFill>
                <a:latin typeface="Consolas"/>
              </a:rPr>
              <a:t>Override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FAF33E"/>
                </a:solidFill>
                <a:latin typeface="Consolas"/>
              </a:rPr>
              <a:t>public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FAF33E"/>
                </a:solidFill>
                <a:latin typeface="Consolas"/>
              </a:rPr>
              <a:t>void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changedUpdate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9D8DF1"/>
                </a:solidFill>
                <a:latin typeface="Consolas"/>
              </a:rPr>
              <a:t>DocumentEvent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e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{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/</a:t>
            </a:r>
            <a:r>
              <a:rPr sz="1100">
                <a:solidFill>
                  <a:srgbClr val="E8E2FF"/>
                </a:solidFill>
                <a:latin typeface="Consolas"/>
              </a:rPr>
              <a:t>*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texte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non</a:t>
            </a:r>
            <a:r>
              <a:rPr sz="1100">
                <a:solidFill>
                  <a:srgbClr val="E8E2FF"/>
                </a:solidFill>
                <a:latin typeface="Consolas"/>
              </a:rPr>
              <a:t>-</a:t>
            </a:r>
            <a:r>
              <a:rPr sz="1100">
                <a:solidFill>
                  <a:srgbClr val="E8E2FF"/>
                </a:solidFill>
                <a:latin typeface="Consolas"/>
              </a:rPr>
              <a:t>stylé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: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ignoré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*</a:t>
            </a:r>
            <a:r>
              <a:rPr sz="1100">
                <a:solidFill>
                  <a:srgbClr val="E8E2FF"/>
                </a:solidFill>
                <a:latin typeface="Consolas"/>
              </a:rPr>
              <a:t>/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</a:pP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    </a:t>
            </a:r>
            <a:r>
              <a:rPr sz="1100">
                <a:solidFill>
                  <a:srgbClr val="FAF33E"/>
                </a:solidFill>
                <a:latin typeface="Consolas"/>
              </a:rPr>
              <a:t>private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FAF33E"/>
                </a:solidFill>
                <a:latin typeface="Consolas"/>
              </a:rPr>
              <a:t>void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filtrer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        </a:t>
            </a:r>
            <a:r>
              <a:rPr sz="1100">
                <a:solidFill>
                  <a:srgbClr val="9D8DF1"/>
                </a:solidFill>
                <a:latin typeface="Consolas"/>
              </a:rPr>
              <a:t>String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motif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=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recherche</a:t>
            </a:r>
            <a:r>
              <a:rPr sz="1100">
                <a:solidFill>
                  <a:srgbClr val="E8E2FF"/>
                </a:solidFill>
                <a:latin typeface="Consolas"/>
              </a:rPr>
              <a:t>.</a:t>
            </a:r>
            <a:r>
              <a:rPr sz="1100">
                <a:solidFill>
                  <a:srgbClr val="E8E2FF"/>
                </a:solidFill>
                <a:latin typeface="Consolas"/>
              </a:rPr>
              <a:t>getText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.</a:t>
            </a:r>
            <a:r>
              <a:rPr sz="1100">
                <a:solidFill>
                  <a:srgbClr val="E8E2FF"/>
                </a:solidFill>
                <a:latin typeface="Consolas"/>
              </a:rPr>
              <a:t>toLowerCase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        </a:t>
            </a:r>
            <a:r>
              <a:rPr sz="1100">
                <a:solidFill>
                  <a:srgbClr val="E8E2FF"/>
                </a:solidFill>
                <a:latin typeface="Consolas"/>
              </a:rPr>
              <a:t>sorter</a:t>
            </a:r>
            <a:r>
              <a:rPr sz="1100">
                <a:solidFill>
                  <a:srgbClr val="E8E2FF"/>
                </a:solidFill>
                <a:latin typeface="Consolas"/>
              </a:rPr>
              <a:t>.</a:t>
            </a:r>
            <a:r>
              <a:rPr sz="1100">
                <a:solidFill>
                  <a:srgbClr val="E8E2FF"/>
                </a:solidFill>
                <a:latin typeface="Consolas"/>
              </a:rPr>
              <a:t>setRowFilter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E8E2FF"/>
                </a:solidFill>
                <a:latin typeface="Consolas"/>
              </a:rPr>
              <a:t>RowFilter</a:t>
            </a:r>
            <a:r>
              <a:rPr sz="1100">
                <a:solidFill>
                  <a:srgbClr val="E8E2FF"/>
                </a:solidFill>
                <a:latin typeface="Consolas"/>
              </a:rPr>
              <a:t>.</a:t>
            </a:r>
            <a:r>
              <a:rPr sz="1100">
                <a:solidFill>
                  <a:srgbClr val="E8E2FF"/>
                </a:solidFill>
                <a:latin typeface="Consolas"/>
              </a:rPr>
              <a:t>regexFilter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FFB3C1"/>
                </a:solidFill>
                <a:latin typeface="Consolas"/>
              </a:rPr>
              <a:t>"(?i)"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+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Pattern</a:t>
            </a:r>
            <a:r>
              <a:rPr sz="1100">
                <a:solidFill>
                  <a:srgbClr val="E8E2FF"/>
                </a:solidFill>
                <a:latin typeface="Consolas"/>
              </a:rPr>
              <a:t>.</a:t>
            </a:r>
            <a:r>
              <a:rPr sz="1100">
                <a:solidFill>
                  <a:srgbClr val="E8E2FF"/>
                </a:solidFill>
                <a:latin typeface="Consolas"/>
              </a:rPr>
              <a:t>quote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E8E2FF"/>
                </a:solidFill>
                <a:latin typeface="Consolas"/>
              </a:rPr>
              <a:t>motif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    </a:t>
            </a:r>
            <a:r>
              <a:rPr sz="1100">
                <a:solidFill>
                  <a:srgbClr val="E8E2FF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}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617720"/>
            <a:ext cx="10972800" cy="1691640"/>
          </a:xfrm>
          <a:prstGeom prst="roundRect">
            <a:avLst>
              <a:gd name="adj" fmla="val 4000"/>
            </a:avLst>
          </a:prstGeom>
          <a:solidFill>
            <a:srgbClr val="EF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617720"/>
            <a:ext cx="73152" cy="1691640"/>
          </a:xfrm>
          <a:prstGeom prst="rect">
            <a:avLst/>
          </a:prstGeom>
          <a:solidFill>
            <a:srgbClr val="FAF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7548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21C35"/>
                </a:solidFill>
                <a:latin typeface="Calibri"/>
              </a:rPr>
              <a:t>Pourquoi DocumentListener et pas KeyListener 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07492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0000"/>
              </a:lnSpc>
            </a:pPr>
            <a:r>
              <a:rPr sz="1150" b="0" i="0">
                <a:solidFill>
                  <a:srgbClr val="221C35"/>
                </a:solidFill>
                <a:latin typeface="Calibri"/>
              </a:rPr>
              <a:t>• KeyListener ne capture pas les modifications par programmation (setText, copier-coller souris…)</a:t>
            </a:r>
          </a:p>
          <a:p>
            <a:pPr>
              <a:lnSpc>
                <a:spcPct val="140000"/>
              </a:lnSpc>
            </a:pPr>
            <a:r>
              <a:rPr sz="1150" b="0" i="0">
                <a:solidFill>
                  <a:srgbClr val="221C35"/>
                </a:solidFill>
                <a:latin typeface="Calibri"/>
              </a:rPr>
              <a:t>• DocumentListener est déclenché QUEL QUE SOIT le moyen — frappe, collage, code, undo/redo</a:t>
            </a:r>
          </a:p>
          <a:p>
            <a:pPr>
              <a:lnSpc>
                <a:spcPct val="140000"/>
              </a:lnSpc>
            </a:pPr>
            <a:r>
              <a:rPr sz="1150" b="0" i="0">
                <a:solidFill>
                  <a:srgbClr val="221C35"/>
                </a:solidFill>
                <a:latin typeface="Calibri"/>
              </a:rPr>
              <a:t>• Toujours le préférer pour : recherche live, compteur de caractères, validation en temps réel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D8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048695" y="2286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2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48695" y="228600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AFAFF"/>
                </a:solidFill>
                <a:latin typeface="Calibri"/>
              </a:rPr>
              <a:t>12 / 30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329184"/>
            <a:ext cx="91440" cy="91440"/>
          </a:xfrm>
          <a:prstGeom prst="ellipse">
            <a:avLst/>
          </a:prstGeom>
          <a:solidFill>
            <a:srgbClr val="E85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25603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200">
                <a:solidFill>
                  <a:srgbClr val="6B5F8C"/>
                </a:solidFill>
                <a:latin typeface="Calibri"/>
              </a:rPr>
              <a:t>2. LAMBDAS &amp; ADAPTERS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713232"/>
            <a:ext cx="164592" cy="329184"/>
          </a:xfrm>
          <a:prstGeom prst="rect">
            <a:avLst/>
          </a:prstGeom>
          <a:solidFill>
            <a:srgbClr val="FAF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00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21C35"/>
                </a:solidFill>
                <a:latin typeface="Calibri"/>
              </a:rPr>
              <a:t>Les lambdas — code concis (Java 8+)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07899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5F8C"/>
                </a:solidFill>
                <a:latin typeface="Calibri"/>
              </a:rPr>
              <a:t>Une interface fonctionnelle = une seule méthode abstraite = une lambda possible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85D75"/>
                </a:solidFill>
                <a:latin typeface="Calibri"/>
              </a:rPr>
              <a:t>AVANT — classe anonyme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011680"/>
            <a:ext cx="5486400" cy="2377440"/>
          </a:xfrm>
          <a:prstGeom prst="roundRect">
            <a:avLst>
              <a:gd name="adj" fmla="val 4000"/>
            </a:avLst>
          </a:prstGeom>
          <a:solidFill>
            <a:srgbClr val="22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176272"/>
            <a:ext cx="5120640" cy="2148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bouton</a:t>
            </a:r>
            <a:r>
              <a:rPr sz="1100">
                <a:solidFill>
                  <a:srgbClr val="E8E2FF"/>
                </a:solidFill>
                <a:latin typeface="Consolas"/>
              </a:rPr>
              <a:t>.</a:t>
            </a:r>
            <a:r>
              <a:rPr sz="1100">
                <a:solidFill>
                  <a:srgbClr val="E8E2FF"/>
                </a:solidFill>
                <a:latin typeface="Consolas"/>
              </a:rPr>
              <a:t>addActionListener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    </a:t>
            </a:r>
            <a:r>
              <a:rPr sz="1100">
                <a:solidFill>
                  <a:srgbClr val="FAF33E"/>
                </a:solidFill>
                <a:latin typeface="Consolas"/>
              </a:rPr>
              <a:t>new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9D8DF1"/>
                </a:solidFill>
                <a:latin typeface="Consolas"/>
              </a:rPr>
              <a:t>ActionListener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        </a:t>
            </a:r>
            <a:r>
              <a:rPr sz="1100">
                <a:solidFill>
                  <a:srgbClr val="E8E2FF"/>
                </a:solidFill>
                <a:latin typeface="Consolas"/>
              </a:rPr>
              <a:t>@</a:t>
            </a:r>
            <a:r>
              <a:rPr sz="1100">
                <a:solidFill>
                  <a:srgbClr val="E8E2FF"/>
                </a:solidFill>
                <a:latin typeface="Consolas"/>
              </a:rPr>
              <a:t>Override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        </a:t>
            </a:r>
            <a:r>
              <a:rPr sz="1100">
                <a:solidFill>
                  <a:srgbClr val="FAF33E"/>
                </a:solidFill>
                <a:latin typeface="Consolas"/>
              </a:rPr>
              <a:t>public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FAF33E"/>
                </a:solidFill>
                <a:latin typeface="Consolas"/>
              </a:rPr>
              <a:t>void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actionPerformed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9D8DF1"/>
                </a:solidFill>
                <a:latin typeface="Consolas"/>
              </a:rPr>
              <a:t>ActionEvent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e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            </a:t>
            </a:r>
            <a:r>
              <a:rPr sz="1100">
                <a:solidFill>
                  <a:srgbClr val="E8E2FF"/>
                </a:solidFill>
                <a:latin typeface="Consolas"/>
              </a:rPr>
              <a:t>System</a:t>
            </a:r>
            <a:r>
              <a:rPr sz="1100">
                <a:solidFill>
                  <a:srgbClr val="E8E2FF"/>
                </a:solidFill>
                <a:latin typeface="Consolas"/>
              </a:rPr>
              <a:t>.</a:t>
            </a:r>
            <a:r>
              <a:rPr sz="1100">
                <a:solidFill>
                  <a:srgbClr val="E8E2FF"/>
                </a:solidFill>
                <a:latin typeface="Consolas"/>
              </a:rPr>
              <a:t>out</a:t>
            </a:r>
            <a:r>
              <a:rPr sz="1100">
                <a:solidFill>
                  <a:srgbClr val="E8E2FF"/>
                </a:solidFill>
                <a:latin typeface="Consolas"/>
              </a:rPr>
              <a:t>.</a:t>
            </a:r>
            <a:r>
              <a:rPr sz="1100">
                <a:solidFill>
                  <a:srgbClr val="E8E2FF"/>
                </a:solidFill>
                <a:latin typeface="Consolas"/>
              </a:rPr>
              <a:t>println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FFB3C1"/>
                </a:solidFill>
                <a:latin typeface="Consolas"/>
              </a:rPr>
              <a:t>"Cliqué"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        </a:t>
            </a:r>
            <a:r>
              <a:rPr sz="1100">
                <a:solidFill>
                  <a:srgbClr val="E8E2FF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    </a:t>
            </a:r>
            <a:r>
              <a:rPr sz="1100">
                <a:solidFill>
                  <a:srgbClr val="E8E2FF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6916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9D8DF1"/>
                </a:solidFill>
                <a:latin typeface="Calibri"/>
              </a:rPr>
              <a:t>APRÈS — lambda Java 8+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011680"/>
            <a:ext cx="5212080" cy="2377440"/>
          </a:xfrm>
          <a:prstGeom prst="roundRect">
            <a:avLst>
              <a:gd name="adj" fmla="val 4000"/>
            </a:avLst>
          </a:prstGeom>
          <a:solidFill>
            <a:srgbClr val="22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2176272"/>
            <a:ext cx="4846320" cy="2148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bouton</a:t>
            </a:r>
            <a:r>
              <a:rPr sz="1100">
                <a:solidFill>
                  <a:srgbClr val="E8E2FF"/>
                </a:solidFill>
                <a:latin typeface="Consolas"/>
              </a:rPr>
              <a:t>.</a:t>
            </a:r>
            <a:r>
              <a:rPr sz="1100">
                <a:solidFill>
                  <a:srgbClr val="E8E2FF"/>
                </a:solidFill>
                <a:latin typeface="Consolas"/>
              </a:rPr>
              <a:t>addActionListener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E8E2FF"/>
                </a:solidFill>
                <a:latin typeface="Consolas"/>
              </a:rPr>
              <a:t>e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-</a:t>
            </a:r>
            <a:r>
              <a:rPr sz="1100">
                <a:solidFill>
                  <a:srgbClr val="E8E2FF"/>
                </a:solidFill>
                <a:latin typeface="Consolas"/>
              </a:rPr>
              <a:t>&gt;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    </a:t>
            </a:r>
            <a:r>
              <a:rPr sz="1100">
                <a:solidFill>
                  <a:srgbClr val="E8E2FF"/>
                </a:solidFill>
                <a:latin typeface="Consolas"/>
              </a:rPr>
              <a:t>System</a:t>
            </a:r>
            <a:r>
              <a:rPr sz="1100">
                <a:solidFill>
                  <a:srgbClr val="E8E2FF"/>
                </a:solidFill>
                <a:latin typeface="Consolas"/>
              </a:rPr>
              <a:t>.</a:t>
            </a:r>
            <a:r>
              <a:rPr sz="1100">
                <a:solidFill>
                  <a:srgbClr val="E8E2FF"/>
                </a:solidFill>
                <a:latin typeface="Consolas"/>
              </a:rPr>
              <a:t>out</a:t>
            </a:r>
            <a:r>
              <a:rPr sz="1100">
                <a:solidFill>
                  <a:srgbClr val="E8E2FF"/>
                </a:solidFill>
                <a:latin typeface="Consolas"/>
              </a:rPr>
              <a:t>.</a:t>
            </a:r>
            <a:r>
              <a:rPr sz="1100">
                <a:solidFill>
                  <a:srgbClr val="E8E2FF"/>
                </a:solidFill>
                <a:latin typeface="Consolas"/>
              </a:rPr>
              <a:t>println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FFB3C1"/>
                </a:solidFill>
                <a:latin typeface="Consolas"/>
              </a:rPr>
              <a:t>"Cliqué"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9990B8"/>
                </a:solidFill>
                <a:latin typeface="Consolas"/>
              </a:rPr>
              <a:t>// Avec plusieurs lignes :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bouton</a:t>
            </a:r>
            <a:r>
              <a:rPr sz="1100">
                <a:solidFill>
                  <a:srgbClr val="E8E2FF"/>
                </a:solidFill>
                <a:latin typeface="Consolas"/>
              </a:rPr>
              <a:t>.</a:t>
            </a:r>
            <a:r>
              <a:rPr sz="1100">
                <a:solidFill>
                  <a:srgbClr val="E8E2FF"/>
                </a:solidFill>
                <a:latin typeface="Consolas"/>
              </a:rPr>
              <a:t>addActionListener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E8E2FF"/>
                </a:solidFill>
                <a:latin typeface="Consolas"/>
              </a:rPr>
              <a:t>e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-</a:t>
            </a:r>
            <a:r>
              <a:rPr sz="1100">
                <a:solidFill>
                  <a:srgbClr val="E8E2FF"/>
                </a:solidFill>
                <a:latin typeface="Consolas"/>
              </a:rPr>
              <a:t>&gt;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    </a:t>
            </a:r>
            <a:r>
              <a:rPr sz="1100">
                <a:solidFill>
                  <a:srgbClr val="9D8DF1"/>
                </a:solidFill>
                <a:latin typeface="Consolas"/>
              </a:rPr>
              <a:t>int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n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=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compteur</a:t>
            </a:r>
            <a:r>
              <a:rPr sz="1100">
                <a:solidFill>
                  <a:srgbClr val="E8E2FF"/>
                </a:solidFill>
                <a:latin typeface="Consolas"/>
              </a:rPr>
              <a:t>.</a:t>
            </a:r>
            <a:r>
              <a:rPr sz="1100">
                <a:solidFill>
                  <a:srgbClr val="E8E2FF"/>
                </a:solidFill>
                <a:latin typeface="Consolas"/>
              </a:rPr>
              <a:t>incrementer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    </a:t>
            </a:r>
            <a:r>
              <a:rPr sz="1100">
                <a:solidFill>
                  <a:srgbClr val="E8E2FF"/>
                </a:solidFill>
                <a:latin typeface="Consolas"/>
              </a:rPr>
              <a:t>label</a:t>
            </a:r>
            <a:r>
              <a:rPr sz="1100">
                <a:solidFill>
                  <a:srgbClr val="E8E2FF"/>
                </a:solidFill>
                <a:latin typeface="Consolas"/>
              </a:rPr>
              <a:t>.</a:t>
            </a:r>
            <a:r>
              <a:rPr sz="1100">
                <a:solidFill>
                  <a:srgbClr val="E8E2FF"/>
                </a:solidFill>
                <a:latin typeface="Consolas"/>
              </a:rPr>
              <a:t>setText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FFB3C1"/>
                </a:solidFill>
                <a:latin typeface="Consolas"/>
              </a:rPr>
              <a:t>"Clics : "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+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n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}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572000"/>
            <a:ext cx="10972800" cy="1691640"/>
          </a:xfrm>
          <a:prstGeom prst="roundRect">
            <a:avLst>
              <a:gd name="adj" fmla="val 4000"/>
            </a:avLst>
          </a:prstGeom>
          <a:solidFill>
            <a:srgbClr val="EF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572000"/>
            <a:ext cx="73152" cy="1691640"/>
          </a:xfrm>
          <a:prstGeom prst="rect">
            <a:avLst/>
          </a:prstGeom>
          <a:solidFill>
            <a:srgbClr val="FAF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7091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21C35"/>
                </a:solidFill>
                <a:latin typeface="Calibri"/>
              </a:rPr>
              <a:t>Quand puis-je utiliser une lambda 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07492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sz="1150" b="0" i="0">
                <a:solidFill>
                  <a:srgbClr val="221C35"/>
                </a:solidFill>
                <a:latin typeface="Calibri"/>
              </a:rPr>
              <a:t>✓ ActionListener, ItemListener, ChangeListener, ListSelectionListener, DocumentListener…</a:t>
            </a:r>
          </a:p>
          <a:p>
            <a:pPr>
              <a:lnSpc>
                <a:spcPct val="135000"/>
              </a:lnSpc>
            </a:pPr>
            <a:r>
              <a:rPr sz="1150" b="0" i="0">
                <a:solidFill>
                  <a:srgbClr val="221C35"/>
                </a:solidFill>
                <a:latin typeface="Calibri"/>
              </a:rPr>
              <a:t>    → toutes les interfaces avec UNE SEULE méthode (interfaces fonctionnelles)</a:t>
            </a:r>
          </a:p>
          <a:p>
            <a:pPr>
              <a:lnSpc>
                <a:spcPct val="135000"/>
              </a:lnSpc>
            </a:pPr>
            <a:r>
              <a:rPr sz="1150" b="0" i="0">
                <a:solidFill>
                  <a:srgbClr val="221C35"/>
                </a:solidFill>
                <a:latin typeface="Calibri"/>
              </a:rPr>
              <a:t>✗ MouseListener, KeyListener, WindowListener, FocusListener…</a:t>
            </a:r>
          </a:p>
          <a:p>
            <a:pPr>
              <a:lnSpc>
                <a:spcPct val="135000"/>
              </a:lnSpc>
            </a:pPr>
            <a:r>
              <a:rPr sz="1150" b="0" i="0">
                <a:solidFill>
                  <a:srgbClr val="221C35"/>
                </a:solidFill>
                <a:latin typeface="Calibri"/>
              </a:rPr>
              <a:t>    → 5+ méthodes : impossible en lambda directe → utiliser un Adapter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D8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048695" y="2286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2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48695" y="228600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AFAFF"/>
                </a:solidFill>
                <a:latin typeface="Calibri"/>
              </a:rPr>
              <a:t>13 / 30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329184"/>
            <a:ext cx="91440" cy="91440"/>
          </a:xfrm>
          <a:prstGeom prst="ellipse">
            <a:avLst/>
          </a:prstGeom>
          <a:solidFill>
            <a:srgbClr val="E85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25603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200">
                <a:solidFill>
                  <a:srgbClr val="6B5F8C"/>
                </a:solidFill>
                <a:latin typeface="Calibri"/>
              </a:rPr>
              <a:t>2. LAMBDAS &amp; ADAPTERS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713232"/>
            <a:ext cx="164592" cy="329184"/>
          </a:xfrm>
          <a:prstGeom prst="rect">
            <a:avLst/>
          </a:prstGeom>
          <a:solidFill>
            <a:srgbClr val="FAF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00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21C35"/>
                </a:solidFill>
                <a:latin typeface="Calibri"/>
              </a:rPr>
              <a:t>Les Adapters — n'implémenter qu'une méthode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07899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5F8C"/>
                </a:solidFill>
                <a:latin typeface="Calibri"/>
              </a:rPr>
              <a:t>Classes abstraites avec implémentations vides : on n'override que ce qu'on veut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10972800" cy="3291840"/>
          </a:xfrm>
          <a:prstGeom prst="roundRect">
            <a:avLst>
              <a:gd name="adj" fmla="val 4000"/>
            </a:avLst>
          </a:prstGeom>
          <a:solidFill>
            <a:srgbClr val="22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1856232"/>
            <a:ext cx="10607040" cy="3063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100">
                <a:solidFill>
                  <a:srgbClr val="9990B8"/>
                </a:solidFill>
                <a:latin typeface="Consolas"/>
              </a:rPr>
              <a:t>// SANS Adapter : 5 méthodes obligatoires (4 inutiles)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panel</a:t>
            </a:r>
            <a:r>
              <a:rPr sz="1100">
                <a:solidFill>
                  <a:srgbClr val="E8E2FF"/>
                </a:solidFill>
                <a:latin typeface="Consolas"/>
              </a:rPr>
              <a:t>.</a:t>
            </a:r>
            <a:r>
              <a:rPr sz="1100">
                <a:solidFill>
                  <a:srgbClr val="E8E2FF"/>
                </a:solidFill>
                <a:latin typeface="Consolas"/>
              </a:rPr>
              <a:t>addMouseListener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FAF33E"/>
                </a:solidFill>
                <a:latin typeface="Consolas"/>
              </a:rPr>
              <a:t>new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9D8DF1"/>
                </a:solidFill>
                <a:latin typeface="Consolas"/>
              </a:rPr>
              <a:t>MouseListener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    </a:t>
            </a:r>
            <a:r>
              <a:rPr sz="1100">
                <a:solidFill>
                  <a:srgbClr val="E8E2FF"/>
                </a:solidFill>
                <a:latin typeface="Consolas"/>
              </a:rPr>
              <a:t>@</a:t>
            </a:r>
            <a:r>
              <a:rPr sz="1100">
                <a:solidFill>
                  <a:srgbClr val="E8E2FF"/>
                </a:solidFill>
                <a:latin typeface="Consolas"/>
              </a:rPr>
              <a:t>Override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FAF33E"/>
                </a:solidFill>
                <a:latin typeface="Consolas"/>
              </a:rPr>
              <a:t>public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FAF33E"/>
                </a:solidFill>
                <a:latin typeface="Consolas"/>
              </a:rPr>
              <a:t>void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mouseClicked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9D8DF1"/>
                </a:solidFill>
                <a:latin typeface="Consolas"/>
              </a:rPr>
              <a:t>MouseEvent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e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  </a:t>
            </a:r>
            <a:r>
              <a:rPr sz="1100">
                <a:solidFill>
                  <a:srgbClr val="E8E2FF"/>
                </a:solidFill>
                <a:latin typeface="Consolas"/>
              </a:rPr>
              <a:t>{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ouvrir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;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    </a:t>
            </a:r>
            <a:r>
              <a:rPr sz="1100">
                <a:solidFill>
                  <a:srgbClr val="E8E2FF"/>
                </a:solidFill>
                <a:latin typeface="Consolas"/>
              </a:rPr>
              <a:t>@</a:t>
            </a:r>
            <a:r>
              <a:rPr sz="1100">
                <a:solidFill>
                  <a:srgbClr val="E8E2FF"/>
                </a:solidFill>
                <a:latin typeface="Consolas"/>
              </a:rPr>
              <a:t>Override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FAF33E"/>
                </a:solidFill>
                <a:latin typeface="Consolas"/>
              </a:rPr>
              <a:t>public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FAF33E"/>
                </a:solidFill>
                <a:latin typeface="Consolas"/>
              </a:rPr>
              <a:t>void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mousePressed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9D8DF1"/>
                </a:solidFill>
                <a:latin typeface="Consolas"/>
              </a:rPr>
              <a:t>MouseEvent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e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  </a:t>
            </a:r>
            <a:r>
              <a:rPr sz="1100">
                <a:solidFill>
                  <a:srgbClr val="E8E2FF"/>
                </a:solidFill>
                <a:latin typeface="Consolas"/>
              </a:rPr>
              <a:t>{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}</a:t>
            </a:r>
            <a:r>
              <a:rPr sz="1100">
                <a:solidFill>
                  <a:srgbClr val="E8E2FF"/>
                </a:solidFill>
                <a:latin typeface="Consolas"/>
              </a:rPr>
              <a:t>   </a:t>
            </a:r>
            <a:r>
              <a:rPr sz="1100">
                <a:solidFill>
                  <a:srgbClr val="9990B8"/>
                </a:solidFill>
                <a:latin typeface="Consolas"/>
              </a:rPr>
              <a:t>// vide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    </a:t>
            </a:r>
            <a:r>
              <a:rPr sz="1100">
                <a:solidFill>
                  <a:srgbClr val="E8E2FF"/>
                </a:solidFill>
                <a:latin typeface="Consolas"/>
              </a:rPr>
              <a:t>@</a:t>
            </a:r>
            <a:r>
              <a:rPr sz="1100">
                <a:solidFill>
                  <a:srgbClr val="E8E2FF"/>
                </a:solidFill>
                <a:latin typeface="Consolas"/>
              </a:rPr>
              <a:t>Override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FAF33E"/>
                </a:solidFill>
                <a:latin typeface="Consolas"/>
              </a:rPr>
              <a:t>public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FAF33E"/>
                </a:solidFill>
                <a:latin typeface="Consolas"/>
              </a:rPr>
              <a:t>void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mouseReleased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9D8DF1"/>
                </a:solidFill>
                <a:latin typeface="Consolas"/>
              </a:rPr>
              <a:t>MouseEvent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e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{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}</a:t>
            </a:r>
            <a:r>
              <a:rPr sz="1100">
                <a:solidFill>
                  <a:srgbClr val="E8E2FF"/>
                </a:solidFill>
                <a:latin typeface="Consolas"/>
              </a:rPr>
              <a:t>   </a:t>
            </a:r>
            <a:r>
              <a:rPr sz="1100">
                <a:solidFill>
                  <a:srgbClr val="9990B8"/>
                </a:solidFill>
                <a:latin typeface="Consolas"/>
              </a:rPr>
              <a:t>// vide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    </a:t>
            </a:r>
            <a:r>
              <a:rPr sz="1100">
                <a:solidFill>
                  <a:srgbClr val="E8E2FF"/>
                </a:solidFill>
                <a:latin typeface="Consolas"/>
              </a:rPr>
              <a:t>@</a:t>
            </a:r>
            <a:r>
              <a:rPr sz="1100">
                <a:solidFill>
                  <a:srgbClr val="E8E2FF"/>
                </a:solidFill>
                <a:latin typeface="Consolas"/>
              </a:rPr>
              <a:t>Override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FAF33E"/>
                </a:solidFill>
                <a:latin typeface="Consolas"/>
              </a:rPr>
              <a:t>public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FAF33E"/>
                </a:solidFill>
                <a:latin typeface="Consolas"/>
              </a:rPr>
              <a:t>void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mouseEntered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9D8DF1"/>
                </a:solidFill>
                <a:latin typeface="Consolas"/>
              </a:rPr>
              <a:t>MouseEvent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e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  </a:t>
            </a:r>
            <a:r>
              <a:rPr sz="1100">
                <a:solidFill>
                  <a:srgbClr val="E8E2FF"/>
                </a:solidFill>
                <a:latin typeface="Consolas"/>
              </a:rPr>
              <a:t>{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}</a:t>
            </a:r>
            <a:r>
              <a:rPr sz="1100">
                <a:solidFill>
                  <a:srgbClr val="E8E2FF"/>
                </a:solidFill>
                <a:latin typeface="Consolas"/>
              </a:rPr>
              <a:t>   </a:t>
            </a:r>
            <a:r>
              <a:rPr sz="1100">
                <a:solidFill>
                  <a:srgbClr val="9990B8"/>
                </a:solidFill>
                <a:latin typeface="Consolas"/>
              </a:rPr>
              <a:t>// vide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    </a:t>
            </a:r>
            <a:r>
              <a:rPr sz="1100">
                <a:solidFill>
                  <a:srgbClr val="E8E2FF"/>
                </a:solidFill>
                <a:latin typeface="Consolas"/>
              </a:rPr>
              <a:t>@</a:t>
            </a:r>
            <a:r>
              <a:rPr sz="1100">
                <a:solidFill>
                  <a:srgbClr val="E8E2FF"/>
                </a:solidFill>
                <a:latin typeface="Consolas"/>
              </a:rPr>
              <a:t>Override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FAF33E"/>
                </a:solidFill>
                <a:latin typeface="Consolas"/>
              </a:rPr>
              <a:t>public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FAF33E"/>
                </a:solidFill>
                <a:latin typeface="Consolas"/>
              </a:rPr>
              <a:t>void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mouseExited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9D8DF1"/>
                </a:solidFill>
                <a:latin typeface="Consolas"/>
              </a:rPr>
              <a:t>MouseEvent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e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   </a:t>
            </a:r>
            <a:r>
              <a:rPr sz="1100">
                <a:solidFill>
                  <a:srgbClr val="E8E2FF"/>
                </a:solidFill>
                <a:latin typeface="Consolas"/>
              </a:rPr>
              <a:t>{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}</a:t>
            </a:r>
            <a:r>
              <a:rPr sz="1100">
                <a:solidFill>
                  <a:srgbClr val="E8E2FF"/>
                </a:solidFill>
                <a:latin typeface="Consolas"/>
              </a:rPr>
              <a:t>   </a:t>
            </a:r>
            <a:r>
              <a:rPr sz="1100">
                <a:solidFill>
                  <a:srgbClr val="9990B8"/>
                </a:solidFill>
                <a:latin typeface="Consolas"/>
              </a:rPr>
              <a:t>// vide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}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9990B8"/>
                </a:solidFill>
                <a:latin typeface="Consolas"/>
              </a:rPr>
              <a:t>// AVEC MouseAdapter : on n'override que mouseClicked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panel</a:t>
            </a:r>
            <a:r>
              <a:rPr sz="1100">
                <a:solidFill>
                  <a:srgbClr val="E8E2FF"/>
                </a:solidFill>
                <a:latin typeface="Consolas"/>
              </a:rPr>
              <a:t>.</a:t>
            </a:r>
            <a:r>
              <a:rPr sz="1100">
                <a:solidFill>
                  <a:srgbClr val="E8E2FF"/>
                </a:solidFill>
                <a:latin typeface="Consolas"/>
              </a:rPr>
              <a:t>addMouseListener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FAF33E"/>
                </a:solidFill>
                <a:latin typeface="Consolas"/>
              </a:rPr>
              <a:t>new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9D8DF1"/>
                </a:solidFill>
                <a:latin typeface="Consolas"/>
              </a:rPr>
              <a:t>MouseAdapter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    </a:t>
            </a:r>
            <a:r>
              <a:rPr sz="1100">
                <a:solidFill>
                  <a:srgbClr val="E8E2FF"/>
                </a:solidFill>
                <a:latin typeface="Consolas"/>
              </a:rPr>
              <a:t>@</a:t>
            </a:r>
            <a:r>
              <a:rPr sz="1100">
                <a:solidFill>
                  <a:srgbClr val="E8E2FF"/>
                </a:solidFill>
                <a:latin typeface="Consolas"/>
              </a:rPr>
              <a:t>Override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FAF33E"/>
                </a:solidFill>
                <a:latin typeface="Consolas"/>
              </a:rPr>
              <a:t>public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FAF33E"/>
                </a:solidFill>
                <a:latin typeface="Consolas"/>
              </a:rPr>
              <a:t>void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mouseClicked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9D8DF1"/>
                </a:solidFill>
                <a:latin typeface="Consolas"/>
              </a:rPr>
              <a:t>MouseEvent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e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{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ouvrir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;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}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166360"/>
            <a:ext cx="10972800" cy="1280160"/>
          </a:xfrm>
          <a:prstGeom prst="roundRect">
            <a:avLst>
              <a:gd name="adj" fmla="val 4000"/>
            </a:avLst>
          </a:prstGeom>
          <a:solidFill>
            <a:srgbClr val="F2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5166360"/>
            <a:ext cx="73152" cy="1280160"/>
          </a:xfrm>
          <a:prstGeom prst="rect">
            <a:avLst/>
          </a:prstGeom>
          <a:solidFill>
            <a:srgbClr val="E85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28523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21C35"/>
                </a:solidFill>
                <a:latin typeface="Calibri"/>
              </a:rPr>
              <a:t>Adapters disponibles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62356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21C35"/>
                </a:solidFill>
                <a:latin typeface="Consolas"/>
              </a:rPr>
              <a:t>MouseAdapter  ·  KeyAdapter  ·  WindowAdapter  ·  FocusAdapter  ·  ComponentAdapter  ·  ContainerAdapter  ·  MouseMotionAdapter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5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6B2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840480"/>
            <a:ext cx="3657600" cy="3657600"/>
          </a:xfrm>
          <a:prstGeom prst="ellipse">
            <a:avLst/>
          </a:prstGeom>
          <a:solidFill>
            <a:srgbClr val="3A2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4114800"/>
            <a:ext cx="3657600" cy="3657600"/>
          </a:xfrm>
          <a:prstGeom prst="ellipse">
            <a:avLst/>
          </a:prstGeom>
          <a:solidFill>
            <a:srgbClr val="8B7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0" y="-1371600"/>
            <a:ext cx="2743200" cy="2743200"/>
          </a:xfrm>
          <a:prstGeom prst="ellipse">
            <a:avLst/>
          </a:prstGeom>
          <a:solidFill>
            <a:srgbClr val="3A2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286000"/>
            <a:ext cx="164592" cy="2286000"/>
          </a:xfrm>
          <a:prstGeom prst="rect">
            <a:avLst/>
          </a:prstGeom>
          <a:solidFill>
            <a:srgbClr val="E85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300">
                <a:solidFill>
                  <a:srgbClr val="E85D75"/>
                </a:solidFill>
                <a:latin typeface="Calibri"/>
              </a:rPr>
              <a:t>PARTIE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AFAFF"/>
                </a:solidFill>
                <a:latin typeface="Calibri"/>
              </a:rPr>
              <a:t>L'Event Dispatch Thread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49039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9990B8"/>
                </a:solidFill>
                <a:latin typeface="Calibri"/>
              </a:rPr>
              <a:t>Le thread unique qui gère toute l'UI Swing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D8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048695" y="2286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2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48695" y="228600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AFAFF"/>
                </a:solidFill>
                <a:latin typeface="Calibri"/>
              </a:rPr>
              <a:t>15 / 30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329184"/>
            <a:ext cx="91440" cy="91440"/>
          </a:xfrm>
          <a:prstGeom prst="ellipse">
            <a:avLst/>
          </a:prstGeom>
          <a:solidFill>
            <a:srgbClr val="E85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25603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200">
                <a:solidFill>
                  <a:srgbClr val="6B5F8C"/>
                </a:solidFill>
                <a:latin typeface="Calibri"/>
              </a:rPr>
              <a:t>3. EVENT DISPATCH THREAD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713232"/>
            <a:ext cx="164592" cy="329184"/>
          </a:xfrm>
          <a:prstGeom prst="rect">
            <a:avLst/>
          </a:prstGeom>
          <a:solidFill>
            <a:srgbClr val="FAF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00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21C35"/>
                </a:solidFill>
                <a:latin typeface="Calibri"/>
              </a:rPr>
              <a:t>L'EDT — la règle d'or de Swing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07899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5F8C"/>
                </a:solidFill>
                <a:latin typeface="Calibri"/>
              </a:rPr>
              <a:t>TOUTES les modifications de l'UI doivent se faire sur l'Event Dispatch Thread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83080"/>
            <a:ext cx="10972800" cy="1417320"/>
          </a:xfrm>
          <a:prstGeom prst="roundRect">
            <a:avLst>
              <a:gd name="adj" fmla="val 4000"/>
            </a:avLst>
          </a:prstGeom>
          <a:solidFill>
            <a:srgbClr val="F2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783080"/>
            <a:ext cx="73152" cy="1417320"/>
          </a:xfrm>
          <a:prstGeom prst="rect">
            <a:avLst/>
          </a:prstGeom>
          <a:solidFill>
            <a:srgbClr val="9D8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2148840"/>
            <a:ext cx="640080" cy="640080"/>
          </a:xfrm>
          <a:prstGeom prst="ellipse">
            <a:avLst/>
          </a:prstGeom>
          <a:solidFill>
            <a:srgbClr val="9D8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14884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1A1529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011680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21C35"/>
                </a:solidFill>
                <a:latin typeface="Calibri"/>
              </a:rPr>
              <a:t>Toujours créer &amp; modifier l'UI sur l'EDT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2377440"/>
            <a:ext cx="96926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B5F8C"/>
                </a:solidFill>
                <a:latin typeface="Calibri"/>
              </a:rPr>
              <a:t>Utiliser SwingUtilities.invokeLater() depuis le main
Tous les listeners s'exécutent déjà sur l'EDT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310128"/>
            <a:ext cx="10972800" cy="1417320"/>
          </a:xfrm>
          <a:prstGeom prst="roundRect">
            <a:avLst>
              <a:gd name="adj" fmla="val 4000"/>
            </a:avLst>
          </a:prstGeom>
          <a:solidFill>
            <a:srgbClr val="F2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310128"/>
            <a:ext cx="73152" cy="1417320"/>
          </a:xfrm>
          <a:prstGeom prst="rect">
            <a:avLst/>
          </a:prstGeom>
          <a:solidFill>
            <a:srgbClr val="E85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3675888"/>
            <a:ext cx="640080" cy="640080"/>
          </a:xfrm>
          <a:prstGeom prst="ellipse">
            <a:avLst/>
          </a:prstGeom>
          <a:solidFill>
            <a:srgbClr val="E85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675888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1A1529"/>
                </a:solidFill>
                <a:latin typeface="Calibri"/>
              </a:rPr>
              <a:t>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3538728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21C35"/>
                </a:solidFill>
                <a:latin typeface="Calibri"/>
              </a:rPr>
              <a:t>Jamais de tâche longue sur l'EDT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3904488"/>
            <a:ext cx="96926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B5F8C"/>
                </a:solidFill>
                <a:latin typeface="Calibri"/>
              </a:rPr>
              <a:t>Pas de requête réseau, BDD, fichier, gros calcul
Sinon → l'UI fige (le fameux freeze)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837176"/>
            <a:ext cx="10972800" cy="1417320"/>
          </a:xfrm>
          <a:prstGeom prst="roundRect">
            <a:avLst>
              <a:gd name="adj" fmla="val 4000"/>
            </a:avLst>
          </a:prstGeom>
          <a:solidFill>
            <a:srgbClr val="F2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837176"/>
            <a:ext cx="73152" cy="1417320"/>
          </a:xfrm>
          <a:prstGeom prst="rect">
            <a:avLst/>
          </a:prstGeom>
          <a:solidFill>
            <a:srgbClr val="FAF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68680" y="5202936"/>
            <a:ext cx="640080" cy="640080"/>
          </a:xfrm>
          <a:prstGeom prst="ellipse">
            <a:avLst/>
          </a:prstGeom>
          <a:solidFill>
            <a:srgbClr val="FAF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02936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1A1529"/>
                </a:solidFill>
                <a:latin typeface="Calibri"/>
              </a:rPr>
              <a:t>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5065776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21C35"/>
                </a:solidFill>
                <a:latin typeface="Calibri"/>
              </a:rPr>
              <a:t>Pour les tâches longues : SwingWorker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5431536"/>
            <a:ext cx="96926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B5F8C"/>
                </a:solidFill>
                <a:latin typeface="Calibri"/>
              </a:rPr>
              <a:t>Calcul en arrière-plan + retour sur EDT pour l'UI
Couvert dans la partie suivante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D8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048695" y="2286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2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48695" y="228600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AFAFF"/>
                </a:solidFill>
                <a:latin typeface="Calibri"/>
              </a:rPr>
              <a:t>16 / 30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329184"/>
            <a:ext cx="91440" cy="91440"/>
          </a:xfrm>
          <a:prstGeom prst="ellipse">
            <a:avLst/>
          </a:prstGeom>
          <a:solidFill>
            <a:srgbClr val="E85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25603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200">
                <a:solidFill>
                  <a:srgbClr val="6B5F8C"/>
                </a:solidFill>
                <a:latin typeface="Calibri"/>
              </a:rPr>
              <a:t>3. EVENT DISPATCH THREAD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713232"/>
            <a:ext cx="164592" cy="329184"/>
          </a:xfrm>
          <a:prstGeom prst="rect">
            <a:avLst/>
          </a:prstGeom>
          <a:solidFill>
            <a:srgbClr val="FAF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00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21C35"/>
                </a:solidFill>
                <a:latin typeface="Calibri"/>
              </a:rPr>
              <a:t>SwingUtilities.invokeLater &amp; invokeAndWait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07899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5F8C"/>
                </a:solidFill>
                <a:latin typeface="Calibri"/>
              </a:rPr>
              <a:t>Programmer une action à exécuter sur l'EDT depuis n'importe quel thread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858000" cy="3383280"/>
          </a:xfrm>
          <a:prstGeom prst="roundRect">
            <a:avLst>
              <a:gd name="adj" fmla="val 4000"/>
            </a:avLst>
          </a:prstGeom>
          <a:solidFill>
            <a:srgbClr val="22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830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AF33E"/>
                </a:solidFill>
                <a:latin typeface="Consolas"/>
              </a:rPr>
              <a:t>// invokeLater — asynchrone, ne bloque pas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103120"/>
            <a:ext cx="649224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100">
                <a:solidFill>
                  <a:srgbClr val="9990B8"/>
                </a:solidFill>
                <a:latin typeface="Consolas"/>
              </a:rPr>
              <a:t>// Le main démarre sur le thread principal — pas l'EDT !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FAF33E"/>
                </a:solidFill>
                <a:latin typeface="Consolas"/>
              </a:rPr>
              <a:t>public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FAF33E"/>
                </a:solidFill>
                <a:latin typeface="Consolas"/>
              </a:rPr>
              <a:t>static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FAF33E"/>
                </a:solidFill>
                <a:latin typeface="Consolas"/>
              </a:rPr>
              <a:t>void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main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9D8DF1"/>
                </a:solidFill>
                <a:latin typeface="Consolas"/>
              </a:rPr>
              <a:t>String</a:t>
            </a:r>
            <a:r>
              <a:rPr sz="1100">
                <a:solidFill>
                  <a:srgbClr val="E8E2FF"/>
                </a:solidFill>
                <a:latin typeface="Consolas"/>
              </a:rPr>
              <a:t>[</a:t>
            </a:r>
            <a:r>
              <a:rPr sz="1100">
                <a:solidFill>
                  <a:srgbClr val="E8E2FF"/>
                </a:solidFill>
                <a:latin typeface="Consolas"/>
              </a:rPr>
              <a:t>]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args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    </a:t>
            </a:r>
            <a:r>
              <a:rPr sz="1100">
                <a:solidFill>
                  <a:srgbClr val="9D8DF1"/>
                </a:solidFill>
                <a:latin typeface="Consolas"/>
              </a:rPr>
              <a:t>SwingUtilities</a:t>
            </a:r>
            <a:r>
              <a:rPr sz="1100">
                <a:solidFill>
                  <a:srgbClr val="E8E2FF"/>
                </a:solidFill>
                <a:latin typeface="Consolas"/>
              </a:rPr>
              <a:t>.</a:t>
            </a:r>
            <a:r>
              <a:rPr sz="1100">
                <a:solidFill>
                  <a:srgbClr val="E8E2FF"/>
                </a:solidFill>
                <a:latin typeface="Consolas"/>
              </a:rPr>
              <a:t>invokeLater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-</a:t>
            </a:r>
            <a:r>
              <a:rPr sz="1100">
                <a:solidFill>
                  <a:srgbClr val="E8E2FF"/>
                </a:solidFill>
                <a:latin typeface="Consolas"/>
              </a:rPr>
              <a:t>&gt;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        </a:t>
            </a:r>
            <a:r>
              <a:rPr sz="1100">
                <a:solidFill>
                  <a:srgbClr val="9D8DF1"/>
                </a:solidFill>
                <a:latin typeface="Consolas"/>
              </a:rPr>
              <a:t>JFrame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f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=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FAF33E"/>
                </a:solidFill>
                <a:latin typeface="Consolas"/>
              </a:rPr>
              <a:t>new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9D8DF1"/>
                </a:solidFill>
                <a:latin typeface="Consolas"/>
              </a:rPr>
              <a:t>JFrame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FFB3C1"/>
                </a:solidFill>
                <a:latin typeface="Consolas"/>
              </a:rPr>
              <a:t>"Mon app"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        </a:t>
            </a:r>
            <a:r>
              <a:rPr sz="1100">
                <a:solidFill>
                  <a:srgbClr val="E8E2FF"/>
                </a:solidFill>
                <a:latin typeface="Consolas"/>
              </a:rPr>
              <a:t>f</a:t>
            </a:r>
            <a:r>
              <a:rPr sz="1100">
                <a:solidFill>
                  <a:srgbClr val="E8E2FF"/>
                </a:solidFill>
                <a:latin typeface="Consolas"/>
              </a:rPr>
              <a:t>.</a:t>
            </a:r>
            <a:r>
              <a:rPr sz="1100">
                <a:solidFill>
                  <a:srgbClr val="E8E2FF"/>
                </a:solidFill>
                <a:latin typeface="Consolas"/>
              </a:rPr>
              <a:t>setSize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E8E2FF"/>
                </a:solidFill>
                <a:latin typeface="Consolas"/>
              </a:rPr>
              <a:t>800</a:t>
            </a:r>
            <a:r>
              <a:rPr sz="1100">
                <a:solidFill>
                  <a:srgbClr val="E8E2FF"/>
                </a:solidFill>
                <a:latin typeface="Consolas"/>
              </a:rPr>
              <a:t>,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600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        </a:t>
            </a:r>
            <a:r>
              <a:rPr sz="1100">
                <a:solidFill>
                  <a:srgbClr val="E8E2FF"/>
                </a:solidFill>
                <a:latin typeface="Consolas"/>
              </a:rPr>
              <a:t>f</a:t>
            </a:r>
            <a:r>
              <a:rPr sz="1100">
                <a:solidFill>
                  <a:srgbClr val="E8E2FF"/>
                </a:solidFill>
                <a:latin typeface="Consolas"/>
              </a:rPr>
              <a:t>.</a:t>
            </a:r>
            <a:r>
              <a:rPr sz="1100">
                <a:solidFill>
                  <a:srgbClr val="E8E2FF"/>
                </a:solidFill>
                <a:latin typeface="Consolas"/>
              </a:rPr>
              <a:t>setVisible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FAF33E"/>
                </a:solidFill>
                <a:latin typeface="Consolas"/>
              </a:rPr>
              <a:t>true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    </a:t>
            </a:r>
            <a:r>
              <a:rPr sz="1100">
                <a:solidFill>
                  <a:srgbClr val="E8E2FF"/>
                </a:solidFill>
                <a:latin typeface="Consolas"/>
              </a:rPr>
              <a:t>}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</a:pP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9990B8"/>
                </a:solidFill>
                <a:latin typeface="Consolas"/>
              </a:rPr>
              <a:t>// Equivalent (dépréciée mais identique) :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9D8DF1"/>
                </a:solidFill>
                <a:latin typeface="Consolas"/>
              </a:rPr>
              <a:t>EventQueue</a:t>
            </a:r>
            <a:r>
              <a:rPr sz="1100">
                <a:solidFill>
                  <a:srgbClr val="E8E2FF"/>
                </a:solidFill>
                <a:latin typeface="Consolas"/>
              </a:rPr>
              <a:t>.</a:t>
            </a:r>
            <a:r>
              <a:rPr sz="1100">
                <a:solidFill>
                  <a:srgbClr val="E8E2FF"/>
                </a:solidFill>
                <a:latin typeface="Consolas"/>
              </a:rPr>
              <a:t>invokeLater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-</a:t>
            </a:r>
            <a:r>
              <a:rPr sz="1100">
                <a:solidFill>
                  <a:srgbClr val="E8E2FF"/>
                </a:solidFill>
                <a:latin typeface="Consolas"/>
              </a:rPr>
              <a:t>&gt;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{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/</a:t>
            </a:r>
            <a:r>
              <a:rPr sz="1100">
                <a:solidFill>
                  <a:srgbClr val="E8E2FF"/>
                </a:solidFill>
                <a:latin typeface="Consolas"/>
              </a:rPr>
              <a:t>*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…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*</a:t>
            </a:r>
            <a:r>
              <a:rPr sz="1100">
                <a:solidFill>
                  <a:srgbClr val="E8E2FF"/>
                </a:solidFill>
                <a:latin typeface="Consolas"/>
              </a:rPr>
              <a:t>/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}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691640"/>
            <a:ext cx="3931920" cy="3383280"/>
          </a:xfrm>
          <a:prstGeom prst="roundRect">
            <a:avLst>
              <a:gd name="adj" fmla="val 4000"/>
            </a:avLst>
          </a:prstGeom>
          <a:solidFill>
            <a:srgbClr val="22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178308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AF33E"/>
                </a:solidFill>
                <a:latin typeface="Consolas"/>
              </a:rPr>
              <a:t>// Defensive 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2128" y="2103120"/>
            <a:ext cx="356616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050">
                <a:solidFill>
                  <a:srgbClr val="9990B8"/>
                </a:solidFill>
                <a:latin typeface="Consolas"/>
              </a:rPr>
              <a:t>// Vérifier qu'on est sur l'EDT (debug)</a:t>
            </a:r>
          </a:p>
          <a:p>
            <a:pPr>
              <a:lnSpc>
                <a:spcPct val="108000"/>
              </a:lnSpc>
            </a:pPr>
            <a:r>
              <a:rPr sz="1050">
                <a:solidFill>
                  <a:srgbClr val="FAF33E"/>
                </a:solidFill>
                <a:latin typeface="Consolas"/>
              </a:rPr>
              <a:t>if</a:t>
            </a:r>
            <a:r>
              <a:rPr sz="1050">
                <a:solidFill>
                  <a:srgbClr val="E8E2FF"/>
                </a:solidFill>
                <a:latin typeface="Consolas"/>
              </a:rPr>
              <a:t> </a:t>
            </a:r>
            <a:r>
              <a:rPr sz="1050">
                <a:solidFill>
                  <a:srgbClr val="E8E2FF"/>
                </a:solidFill>
                <a:latin typeface="Consolas"/>
              </a:rPr>
              <a:t>(</a:t>
            </a:r>
            <a:r>
              <a:rPr sz="1050">
                <a:solidFill>
                  <a:srgbClr val="9D8DF1"/>
                </a:solidFill>
                <a:latin typeface="Consolas"/>
              </a:rPr>
              <a:t>SwingUtilities</a:t>
            </a:r>
            <a:r>
              <a:rPr sz="1050">
                <a:solidFill>
                  <a:srgbClr val="E8E2FF"/>
                </a:solidFill>
                <a:latin typeface="Consolas"/>
              </a:rPr>
              <a:t>.</a:t>
            </a:r>
            <a:r>
              <a:rPr sz="1050">
                <a:solidFill>
                  <a:srgbClr val="E8E2FF"/>
                </a:solidFill>
                <a:latin typeface="Consolas"/>
              </a:rPr>
              <a:t>isEventDispatchThread</a:t>
            </a:r>
            <a:r>
              <a:rPr sz="1050">
                <a:solidFill>
                  <a:srgbClr val="E8E2FF"/>
                </a:solidFill>
                <a:latin typeface="Consolas"/>
              </a:rPr>
              <a:t>(</a:t>
            </a:r>
            <a:r>
              <a:rPr sz="1050">
                <a:solidFill>
                  <a:srgbClr val="E8E2FF"/>
                </a:solidFill>
                <a:latin typeface="Consolas"/>
              </a:rPr>
              <a:t>)</a:t>
            </a:r>
            <a:r>
              <a:rPr sz="1050">
                <a:solidFill>
                  <a:srgbClr val="E8E2FF"/>
                </a:solidFill>
                <a:latin typeface="Consolas"/>
              </a:rPr>
              <a:t>)</a:t>
            </a:r>
            <a:r>
              <a:rPr sz="1050">
                <a:solidFill>
                  <a:srgbClr val="E8E2FF"/>
                </a:solidFill>
                <a:latin typeface="Consolas"/>
              </a:rPr>
              <a:t> </a:t>
            </a:r>
            <a:r>
              <a:rPr sz="105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  <a:r>
              <a:rPr sz="1050">
                <a:solidFill>
                  <a:srgbClr val="E8E2FF"/>
                </a:solidFill>
                <a:latin typeface="Consolas"/>
              </a:rPr>
              <a:t>    </a:t>
            </a:r>
            <a:r>
              <a:rPr sz="1050">
                <a:solidFill>
                  <a:srgbClr val="9990B8"/>
                </a:solidFill>
                <a:latin typeface="Consolas"/>
              </a:rPr>
              <a:t>// OK pour modifier l'UI</a:t>
            </a:r>
          </a:p>
          <a:p>
            <a:pPr>
              <a:lnSpc>
                <a:spcPct val="108000"/>
              </a:lnSpc>
            </a:pPr>
            <a:r>
              <a:rPr sz="1050">
                <a:solidFill>
                  <a:srgbClr val="E8E2FF"/>
                </a:solidFill>
                <a:latin typeface="Consolas"/>
              </a:rPr>
              <a:t>    </a:t>
            </a:r>
            <a:r>
              <a:rPr sz="1050">
                <a:solidFill>
                  <a:srgbClr val="E8E2FF"/>
                </a:solidFill>
                <a:latin typeface="Consolas"/>
              </a:rPr>
              <a:t>label</a:t>
            </a:r>
            <a:r>
              <a:rPr sz="1050">
                <a:solidFill>
                  <a:srgbClr val="E8E2FF"/>
                </a:solidFill>
                <a:latin typeface="Consolas"/>
              </a:rPr>
              <a:t>.</a:t>
            </a:r>
            <a:r>
              <a:rPr sz="1050">
                <a:solidFill>
                  <a:srgbClr val="E8E2FF"/>
                </a:solidFill>
                <a:latin typeface="Consolas"/>
              </a:rPr>
              <a:t>setText</a:t>
            </a:r>
            <a:r>
              <a:rPr sz="1050">
                <a:solidFill>
                  <a:srgbClr val="E8E2FF"/>
                </a:solidFill>
                <a:latin typeface="Consolas"/>
              </a:rPr>
              <a:t>(</a:t>
            </a:r>
            <a:r>
              <a:rPr sz="1050">
                <a:solidFill>
                  <a:srgbClr val="FFB3C1"/>
                </a:solidFill>
                <a:latin typeface="Consolas"/>
              </a:rPr>
              <a:t>"ok"</a:t>
            </a:r>
            <a:r>
              <a:rPr sz="1050">
                <a:solidFill>
                  <a:srgbClr val="E8E2FF"/>
                </a:solidFill>
                <a:latin typeface="Consolas"/>
              </a:rPr>
              <a:t>)</a:t>
            </a:r>
            <a:r>
              <a:rPr sz="105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1050">
                <a:solidFill>
                  <a:srgbClr val="E8E2FF"/>
                </a:solidFill>
                <a:latin typeface="Consolas"/>
              </a:rPr>
              <a:t>}</a:t>
            </a:r>
            <a:r>
              <a:rPr sz="1050">
                <a:solidFill>
                  <a:srgbClr val="E8E2FF"/>
                </a:solidFill>
                <a:latin typeface="Consolas"/>
              </a:rPr>
              <a:t> </a:t>
            </a:r>
            <a:r>
              <a:rPr sz="1050">
                <a:solidFill>
                  <a:srgbClr val="FAF33E"/>
                </a:solidFill>
                <a:latin typeface="Consolas"/>
              </a:rPr>
              <a:t>else</a:t>
            </a:r>
            <a:r>
              <a:rPr sz="1050">
                <a:solidFill>
                  <a:srgbClr val="E8E2FF"/>
                </a:solidFill>
                <a:latin typeface="Consolas"/>
              </a:rPr>
              <a:t> </a:t>
            </a:r>
            <a:r>
              <a:rPr sz="105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  <a:r>
              <a:rPr sz="1050">
                <a:solidFill>
                  <a:srgbClr val="E8E2FF"/>
                </a:solidFill>
                <a:latin typeface="Consolas"/>
              </a:rPr>
              <a:t>    </a:t>
            </a:r>
            <a:r>
              <a:rPr sz="1050">
                <a:solidFill>
                  <a:srgbClr val="9D8DF1"/>
                </a:solidFill>
                <a:latin typeface="Consolas"/>
              </a:rPr>
              <a:t>SwingUtilities</a:t>
            </a:r>
            <a:r>
              <a:rPr sz="1050">
                <a:solidFill>
                  <a:srgbClr val="E8E2FF"/>
                </a:solidFill>
                <a:latin typeface="Consolas"/>
              </a:rPr>
              <a:t>.</a:t>
            </a:r>
            <a:r>
              <a:rPr sz="1050">
                <a:solidFill>
                  <a:srgbClr val="E8E2FF"/>
                </a:solidFill>
                <a:latin typeface="Consolas"/>
              </a:rPr>
              <a:t>invokeLater</a:t>
            </a:r>
            <a:r>
              <a:rPr sz="1050">
                <a:solidFill>
                  <a:srgbClr val="E8E2FF"/>
                </a:solidFill>
                <a:latin typeface="Consolas"/>
              </a:rPr>
              <a:t>(</a:t>
            </a:r>
          </a:p>
          <a:p>
            <a:pPr>
              <a:lnSpc>
                <a:spcPct val="108000"/>
              </a:lnSpc>
            </a:pPr>
            <a:r>
              <a:rPr sz="1050">
                <a:solidFill>
                  <a:srgbClr val="E8E2FF"/>
                </a:solidFill>
                <a:latin typeface="Consolas"/>
              </a:rPr>
              <a:t>        </a:t>
            </a:r>
            <a:r>
              <a:rPr sz="1050">
                <a:solidFill>
                  <a:srgbClr val="E8E2FF"/>
                </a:solidFill>
                <a:latin typeface="Consolas"/>
              </a:rPr>
              <a:t>(</a:t>
            </a:r>
            <a:r>
              <a:rPr sz="1050">
                <a:solidFill>
                  <a:srgbClr val="E8E2FF"/>
                </a:solidFill>
                <a:latin typeface="Consolas"/>
              </a:rPr>
              <a:t>)</a:t>
            </a:r>
            <a:r>
              <a:rPr sz="1050">
                <a:solidFill>
                  <a:srgbClr val="E8E2FF"/>
                </a:solidFill>
                <a:latin typeface="Consolas"/>
              </a:rPr>
              <a:t> </a:t>
            </a:r>
            <a:r>
              <a:rPr sz="1050">
                <a:solidFill>
                  <a:srgbClr val="E8E2FF"/>
                </a:solidFill>
                <a:latin typeface="Consolas"/>
              </a:rPr>
              <a:t>-</a:t>
            </a:r>
            <a:r>
              <a:rPr sz="1050">
                <a:solidFill>
                  <a:srgbClr val="E8E2FF"/>
                </a:solidFill>
                <a:latin typeface="Consolas"/>
              </a:rPr>
              <a:t>&gt;</a:t>
            </a:r>
            <a:r>
              <a:rPr sz="1050">
                <a:solidFill>
                  <a:srgbClr val="E8E2FF"/>
                </a:solidFill>
                <a:latin typeface="Consolas"/>
              </a:rPr>
              <a:t> </a:t>
            </a:r>
            <a:r>
              <a:rPr sz="1050">
                <a:solidFill>
                  <a:srgbClr val="E8E2FF"/>
                </a:solidFill>
                <a:latin typeface="Consolas"/>
              </a:rPr>
              <a:t>label</a:t>
            </a:r>
            <a:r>
              <a:rPr sz="1050">
                <a:solidFill>
                  <a:srgbClr val="E8E2FF"/>
                </a:solidFill>
                <a:latin typeface="Consolas"/>
              </a:rPr>
              <a:t>.</a:t>
            </a:r>
            <a:r>
              <a:rPr sz="1050">
                <a:solidFill>
                  <a:srgbClr val="E8E2FF"/>
                </a:solidFill>
                <a:latin typeface="Consolas"/>
              </a:rPr>
              <a:t>setText</a:t>
            </a:r>
            <a:r>
              <a:rPr sz="1050">
                <a:solidFill>
                  <a:srgbClr val="E8E2FF"/>
                </a:solidFill>
                <a:latin typeface="Consolas"/>
              </a:rPr>
              <a:t>(</a:t>
            </a:r>
            <a:r>
              <a:rPr sz="1050">
                <a:solidFill>
                  <a:srgbClr val="FFB3C1"/>
                </a:solidFill>
                <a:latin typeface="Consolas"/>
              </a:rPr>
              <a:t>"ok"</a:t>
            </a:r>
            <a:r>
              <a:rPr sz="1050">
                <a:solidFill>
                  <a:srgbClr val="E8E2FF"/>
                </a:solidFill>
                <a:latin typeface="Consolas"/>
              </a:rPr>
              <a:t>)</a:t>
            </a:r>
            <a:r>
              <a:rPr sz="1050">
                <a:solidFill>
                  <a:srgbClr val="E8E2FF"/>
                </a:solidFill>
                <a:latin typeface="Consolas"/>
              </a:rPr>
              <a:t>)</a:t>
            </a:r>
            <a:r>
              <a:rPr sz="105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1050">
                <a:solidFill>
                  <a:srgbClr val="E8E2FF"/>
                </a:solidFill>
                <a:latin typeface="Consolas"/>
              </a:rPr>
              <a:t>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257800"/>
            <a:ext cx="10972800" cy="1188720"/>
          </a:xfrm>
          <a:prstGeom prst="roundRect">
            <a:avLst>
              <a:gd name="adj" fmla="val 4000"/>
            </a:avLst>
          </a:prstGeom>
          <a:solidFill>
            <a:srgbClr val="EF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5257800"/>
            <a:ext cx="73152" cy="1188720"/>
          </a:xfrm>
          <a:prstGeom prst="rect">
            <a:avLst/>
          </a:prstGeom>
          <a:solidFill>
            <a:srgbClr val="FAF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37667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21C35"/>
                </a:solidFill>
                <a:latin typeface="Calibri"/>
              </a:rPr>
              <a:t>invokeLater vs invokeAndWait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7150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221C35"/>
                </a:solidFill>
                <a:latin typeface="Calibri"/>
              </a:rPr>
              <a:t>invokeLater(r)  → planifie r sur l'EDT et rend la main immédiatement (recommandé).
invokeAndWait(r) → planifie r et BLOQUE jusqu'à exécution. Ne JAMAIS appeler depuis l'EDT.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5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6B2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840480"/>
            <a:ext cx="3657600" cy="3657600"/>
          </a:xfrm>
          <a:prstGeom prst="ellipse">
            <a:avLst/>
          </a:prstGeom>
          <a:solidFill>
            <a:srgbClr val="3A2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4114800"/>
            <a:ext cx="3657600" cy="3657600"/>
          </a:xfrm>
          <a:prstGeom prst="ellipse">
            <a:avLst/>
          </a:prstGeom>
          <a:solidFill>
            <a:srgbClr val="8B7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0" y="-1371600"/>
            <a:ext cx="2743200" cy="2743200"/>
          </a:xfrm>
          <a:prstGeom prst="ellipse">
            <a:avLst/>
          </a:prstGeom>
          <a:solidFill>
            <a:srgbClr val="3A2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286000"/>
            <a:ext cx="164592" cy="2286000"/>
          </a:xfrm>
          <a:prstGeom prst="rect">
            <a:avLst/>
          </a:prstGeom>
          <a:solidFill>
            <a:srgbClr val="E85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300">
                <a:solidFill>
                  <a:srgbClr val="E85D75"/>
                </a:solidFill>
                <a:latin typeface="Calibri"/>
              </a:rPr>
              <a:t>PARTIE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AFAFF"/>
                </a:solidFill>
                <a:latin typeface="Calibri"/>
              </a:rPr>
              <a:t>Tâches longues &amp; SwingWorker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49039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9990B8"/>
                </a:solidFill>
                <a:latin typeface="Calibri"/>
              </a:rPr>
              <a:t>Charger, calculer, télécharger — sans figer l'UI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D8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048695" y="2286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2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48695" y="228600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AFAFF"/>
                </a:solidFill>
                <a:latin typeface="Calibri"/>
              </a:rPr>
              <a:t>18 / 30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329184"/>
            <a:ext cx="91440" cy="91440"/>
          </a:xfrm>
          <a:prstGeom prst="ellipse">
            <a:avLst/>
          </a:prstGeom>
          <a:solidFill>
            <a:srgbClr val="E85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25603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200">
                <a:solidFill>
                  <a:srgbClr val="6B5F8C"/>
                </a:solidFill>
                <a:latin typeface="Calibri"/>
              </a:rPr>
              <a:t>4. TÂCHES LONGUES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713232"/>
            <a:ext cx="164592" cy="329184"/>
          </a:xfrm>
          <a:prstGeom prst="rect">
            <a:avLst/>
          </a:prstGeom>
          <a:solidFill>
            <a:srgbClr val="FAF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00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21C35"/>
                </a:solidFill>
                <a:latin typeface="Calibri"/>
              </a:rPr>
              <a:t>Le problème du freeze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07899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5F8C"/>
                </a:solidFill>
                <a:latin typeface="Calibri"/>
              </a:rPr>
              <a:t>Que se passe-t-il quand on bloque l'EDT ? L'UI ne répond plus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10972800" cy="2377440"/>
          </a:xfrm>
          <a:prstGeom prst="roundRect">
            <a:avLst>
              <a:gd name="adj" fmla="val 4000"/>
            </a:avLst>
          </a:prstGeom>
          <a:solidFill>
            <a:srgbClr val="22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1856232"/>
            <a:ext cx="10607040" cy="2148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100">
                <a:solidFill>
                  <a:srgbClr val="9990B8"/>
                </a:solidFill>
                <a:latin typeface="Consolas"/>
              </a:rPr>
              <a:t>// ❌ MAUVAIS — exécution sur l'EDT (listener)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bouton</a:t>
            </a:r>
            <a:r>
              <a:rPr sz="1100">
                <a:solidFill>
                  <a:srgbClr val="E8E2FF"/>
                </a:solidFill>
                <a:latin typeface="Consolas"/>
              </a:rPr>
              <a:t>.</a:t>
            </a:r>
            <a:r>
              <a:rPr sz="1100">
                <a:solidFill>
                  <a:srgbClr val="E8E2FF"/>
                </a:solidFill>
                <a:latin typeface="Consolas"/>
              </a:rPr>
              <a:t>addActionListener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E8E2FF"/>
                </a:solidFill>
                <a:latin typeface="Consolas"/>
              </a:rPr>
              <a:t>e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-</a:t>
            </a:r>
            <a:r>
              <a:rPr sz="1100">
                <a:solidFill>
                  <a:srgbClr val="E8E2FF"/>
                </a:solidFill>
                <a:latin typeface="Consolas"/>
              </a:rPr>
              <a:t>&gt;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    </a:t>
            </a:r>
            <a:r>
              <a:rPr sz="1100">
                <a:solidFill>
                  <a:srgbClr val="9D8DF1"/>
                </a:solidFill>
                <a:latin typeface="Consolas"/>
              </a:rPr>
              <a:t>String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json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=</a:t>
            </a:r>
            <a:r>
              <a:rPr sz="1100">
                <a:solidFill>
                  <a:srgbClr val="E8E2FF"/>
                </a:solidFill>
                <a:latin typeface="Consolas"/>
              </a:rPr>
              <a:t> </a:t>
            </a:r>
            <a:r>
              <a:rPr sz="1100">
                <a:solidFill>
                  <a:srgbClr val="E8E2FF"/>
                </a:solidFill>
                <a:latin typeface="Consolas"/>
              </a:rPr>
              <a:t>telechargerDepuisAPI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FFB3C1"/>
                </a:solidFill>
                <a:latin typeface="Consolas"/>
              </a:rPr>
              <a:t>"https://..."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;</a:t>
            </a:r>
            <a:r>
              <a:rPr sz="1100">
                <a:solidFill>
                  <a:srgbClr val="E8E2FF"/>
                </a:solidFill>
                <a:latin typeface="Consolas"/>
              </a:rPr>
              <a:t>   </a:t>
            </a:r>
            <a:r>
              <a:rPr sz="1100">
                <a:solidFill>
                  <a:srgbClr val="9990B8"/>
                </a:solidFill>
                <a:latin typeface="Consolas"/>
              </a:rPr>
              <a:t>// 3 secondes !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    </a:t>
            </a:r>
            <a:r>
              <a:rPr sz="1100">
                <a:solidFill>
                  <a:srgbClr val="9990B8"/>
                </a:solidFill>
                <a:latin typeface="Consolas"/>
              </a:rPr>
              <a:t>// Pendant ces 3 secondes, l'UI est complètement gelée :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    </a:t>
            </a:r>
            <a:r>
              <a:rPr sz="1100">
                <a:solidFill>
                  <a:srgbClr val="9990B8"/>
                </a:solidFill>
                <a:latin typeface="Consolas"/>
              </a:rPr>
              <a:t>//  - les boutons ne réagissent plus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    </a:t>
            </a:r>
            <a:r>
              <a:rPr sz="1100">
                <a:solidFill>
                  <a:srgbClr val="9990B8"/>
                </a:solidFill>
                <a:latin typeface="Consolas"/>
              </a:rPr>
              <a:t>//  - la fenêtre ne se redessine plus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    </a:t>
            </a:r>
            <a:r>
              <a:rPr sz="1100">
                <a:solidFill>
                  <a:srgbClr val="9990B8"/>
                </a:solidFill>
                <a:latin typeface="Consolas"/>
              </a:rPr>
              <a:t>//  - Windows / macOS affiche « Application ne répond pas »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    </a:t>
            </a:r>
            <a:r>
              <a:rPr sz="1100">
                <a:solidFill>
                  <a:srgbClr val="E8E2FF"/>
                </a:solidFill>
                <a:latin typeface="Consolas"/>
              </a:rPr>
              <a:t>label</a:t>
            </a:r>
            <a:r>
              <a:rPr sz="1100">
                <a:solidFill>
                  <a:srgbClr val="E8E2FF"/>
                </a:solidFill>
                <a:latin typeface="Consolas"/>
              </a:rPr>
              <a:t>.</a:t>
            </a:r>
            <a:r>
              <a:rPr sz="1100">
                <a:solidFill>
                  <a:srgbClr val="E8E2FF"/>
                </a:solidFill>
                <a:latin typeface="Consolas"/>
              </a:rPr>
              <a:t>setText</a:t>
            </a:r>
            <a:r>
              <a:rPr sz="1100">
                <a:solidFill>
                  <a:srgbClr val="E8E2FF"/>
                </a:solidFill>
                <a:latin typeface="Consolas"/>
              </a:rPr>
              <a:t>(</a:t>
            </a:r>
            <a:r>
              <a:rPr sz="1100">
                <a:solidFill>
                  <a:srgbClr val="E8E2FF"/>
                </a:solidFill>
                <a:latin typeface="Consolas"/>
              </a:rPr>
              <a:t>json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1100">
                <a:solidFill>
                  <a:srgbClr val="E8E2FF"/>
                </a:solidFill>
                <a:latin typeface="Consolas"/>
              </a:rPr>
              <a:t>}</a:t>
            </a:r>
            <a:r>
              <a:rPr sz="1100">
                <a:solidFill>
                  <a:srgbClr val="E8E2FF"/>
                </a:solidFill>
                <a:latin typeface="Consolas"/>
              </a:rPr>
              <a:t>)</a:t>
            </a:r>
            <a:r>
              <a:rPr sz="1100">
                <a:solidFill>
                  <a:srgbClr val="E8E2FF"/>
                </a:solidFill>
                <a:latin typeface="Consolas"/>
              </a:rPr>
              <a:t>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29768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EF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297680"/>
            <a:ext cx="73152" cy="1828800"/>
          </a:xfrm>
          <a:prstGeom prst="rect">
            <a:avLst/>
          </a:prstGeom>
          <a:solidFill>
            <a:srgbClr val="E85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57200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221C35"/>
                </a:solidFill>
                <a:latin typeface="Calibri"/>
              </a:rPr>
              <a:t>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25780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21C35"/>
                </a:solidFill>
                <a:latin typeface="Calibri"/>
              </a:rPr>
              <a:t>L'UI gèle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62356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5F8C"/>
                </a:solidFill>
                <a:latin typeface="Calibri"/>
              </a:rPr>
              <a:t>Aucun clic, aucun redraw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429768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EF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0" y="4297680"/>
            <a:ext cx="73152" cy="1828800"/>
          </a:xfrm>
          <a:prstGeom prst="rect">
            <a:avLst/>
          </a:prstGeom>
          <a:solidFill>
            <a:srgbClr val="E85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457200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221C35"/>
                </a:solidFill>
                <a:latin typeface="Calibri"/>
              </a:rPr>
              <a:t>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525780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21C35"/>
                </a:solidFill>
                <a:latin typeface="Calibri"/>
              </a:rPr>
              <a:t>Curseur d'attente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562356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5F8C"/>
                </a:solidFill>
                <a:latin typeface="Calibri"/>
              </a:rPr>
              <a:t>L'OS affiche une roue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429768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EF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60" y="4297680"/>
            <a:ext cx="73152" cy="1828800"/>
          </a:xfrm>
          <a:prstGeom prst="rect">
            <a:avLst/>
          </a:prstGeom>
          <a:solidFill>
            <a:srgbClr val="E85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457200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221C35"/>
                </a:solidFill>
                <a:latin typeface="Calibri"/>
              </a:rPr>
              <a:t>⚠️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525780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21C35"/>
                </a:solidFill>
                <a:latin typeface="Calibri"/>
              </a:rPr>
              <a:t>« Ne répond pas 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562356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5F8C"/>
                </a:solidFill>
                <a:latin typeface="Calibri"/>
              </a:rPr>
              <a:t>L'OS propose de tuer l'app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D8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048695" y="2286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2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48695" y="228600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AFAFF"/>
                </a:solidFill>
                <a:latin typeface="Calibri"/>
              </a:rPr>
              <a:t>19 / 30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329184"/>
            <a:ext cx="91440" cy="91440"/>
          </a:xfrm>
          <a:prstGeom prst="ellipse">
            <a:avLst/>
          </a:prstGeom>
          <a:solidFill>
            <a:srgbClr val="E85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25603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200">
                <a:solidFill>
                  <a:srgbClr val="6B5F8C"/>
                </a:solidFill>
                <a:latin typeface="Calibri"/>
              </a:rPr>
              <a:t>4. TÂCHES LONGUES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713232"/>
            <a:ext cx="164592" cy="329184"/>
          </a:xfrm>
          <a:prstGeom prst="rect">
            <a:avLst/>
          </a:prstGeom>
          <a:solidFill>
            <a:srgbClr val="FAF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00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21C35"/>
                </a:solidFill>
                <a:latin typeface="Calibri"/>
              </a:rPr>
              <a:t>SwingWorker — la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07899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5F8C"/>
                </a:solidFill>
                <a:latin typeface="Calibri"/>
              </a:rPr>
              <a:t>Calcul en tâche de fond + retour automatique sur l'EDT pour mettre à jour l'UI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7315200" cy="4937760"/>
          </a:xfrm>
          <a:prstGeom prst="roundRect">
            <a:avLst>
              <a:gd name="adj" fmla="val 4000"/>
            </a:avLst>
          </a:prstGeom>
          <a:solidFill>
            <a:srgbClr val="22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1856232"/>
            <a:ext cx="6949440" cy="4709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950">
                <a:solidFill>
                  <a:srgbClr val="9D8DF1"/>
                </a:solidFill>
                <a:latin typeface="Consolas"/>
              </a:rPr>
              <a:t>SwingWorker</a:t>
            </a:r>
            <a:r>
              <a:rPr sz="950">
                <a:solidFill>
                  <a:srgbClr val="E8E2FF"/>
                </a:solidFill>
                <a:latin typeface="Consolas"/>
              </a:rPr>
              <a:t>&lt;</a:t>
            </a:r>
            <a:r>
              <a:rPr sz="950">
                <a:solidFill>
                  <a:srgbClr val="9D8DF1"/>
                </a:solidFill>
                <a:latin typeface="Consolas"/>
              </a:rPr>
              <a:t>String</a:t>
            </a:r>
            <a:r>
              <a:rPr sz="950">
                <a:solidFill>
                  <a:srgbClr val="E8E2FF"/>
                </a:solidFill>
                <a:latin typeface="Consolas"/>
              </a:rPr>
              <a:t>,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Void</a:t>
            </a:r>
            <a:r>
              <a:rPr sz="950">
                <a:solidFill>
                  <a:srgbClr val="E8E2FF"/>
                </a:solidFill>
                <a:latin typeface="Consolas"/>
              </a:rPr>
              <a:t>&gt;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worker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=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FAF33E"/>
                </a:solidFill>
                <a:latin typeface="Consolas"/>
              </a:rPr>
              <a:t>new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9D8DF1"/>
                </a:solidFill>
                <a:latin typeface="Consolas"/>
              </a:rPr>
              <a:t>SwingWorker</a:t>
            </a:r>
            <a:r>
              <a:rPr sz="950">
                <a:solidFill>
                  <a:srgbClr val="E8E2FF"/>
                </a:solidFill>
                <a:latin typeface="Consolas"/>
              </a:rPr>
              <a:t>&lt;</a:t>
            </a:r>
            <a:r>
              <a:rPr sz="950">
                <a:solidFill>
                  <a:srgbClr val="E8E2FF"/>
                </a:solidFill>
                <a:latin typeface="Consolas"/>
              </a:rPr>
              <a:t>&gt;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</a:t>
            </a:r>
            <a:r>
              <a:rPr sz="950">
                <a:solidFill>
                  <a:srgbClr val="E8E2FF"/>
                </a:solidFill>
                <a:latin typeface="Consolas"/>
              </a:rPr>
              <a:t>@</a:t>
            </a:r>
            <a:r>
              <a:rPr sz="950">
                <a:solidFill>
                  <a:srgbClr val="E8E2FF"/>
                </a:solidFill>
                <a:latin typeface="Consolas"/>
              </a:rPr>
              <a:t>Override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</a:t>
            </a:r>
            <a:r>
              <a:rPr sz="950">
                <a:solidFill>
                  <a:srgbClr val="FAF33E"/>
                </a:solidFill>
                <a:latin typeface="Consolas"/>
              </a:rPr>
              <a:t>protected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9D8DF1"/>
                </a:solidFill>
                <a:latin typeface="Consolas"/>
              </a:rPr>
              <a:t>String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doInBackground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FAF33E"/>
                </a:solidFill>
                <a:latin typeface="Consolas"/>
              </a:rPr>
              <a:t>throws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9D8DF1"/>
                </a:solidFill>
                <a:latin typeface="Consolas"/>
              </a:rPr>
              <a:t>Exception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</a:t>
            </a:r>
            <a:r>
              <a:rPr sz="950">
                <a:solidFill>
                  <a:srgbClr val="9990B8"/>
                </a:solidFill>
                <a:latin typeface="Consolas"/>
              </a:rPr>
              <a:t>// ⚠️ Hors EDT : pas d'accès direct aux composants !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</a:t>
            </a:r>
            <a:r>
              <a:rPr sz="950">
                <a:solidFill>
                  <a:srgbClr val="FAF33E"/>
                </a:solidFill>
                <a:latin typeface="Consolas"/>
              </a:rPr>
              <a:t>return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telechargerDepuisAPI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FFB3C1"/>
                </a:solidFill>
                <a:latin typeface="Consolas"/>
              </a:rPr>
              <a:t>"https://api.exemple.com/data"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</a:t>
            </a:r>
            <a:r>
              <a:rPr sz="950">
                <a:solidFill>
                  <a:srgbClr val="E8E2FF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</a:pP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</a:t>
            </a:r>
            <a:r>
              <a:rPr sz="950">
                <a:solidFill>
                  <a:srgbClr val="E8E2FF"/>
                </a:solidFill>
                <a:latin typeface="Consolas"/>
              </a:rPr>
              <a:t>@</a:t>
            </a:r>
            <a:r>
              <a:rPr sz="950">
                <a:solidFill>
                  <a:srgbClr val="E8E2FF"/>
                </a:solidFill>
                <a:latin typeface="Consolas"/>
              </a:rPr>
              <a:t>Override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</a:t>
            </a:r>
            <a:r>
              <a:rPr sz="950">
                <a:solidFill>
                  <a:srgbClr val="FAF33E"/>
                </a:solidFill>
                <a:latin typeface="Consolas"/>
              </a:rPr>
              <a:t>protected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FAF33E"/>
                </a:solidFill>
                <a:latin typeface="Consolas"/>
              </a:rPr>
              <a:t>void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done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</a:t>
            </a:r>
            <a:r>
              <a:rPr sz="950">
                <a:solidFill>
                  <a:srgbClr val="9990B8"/>
                </a:solidFill>
                <a:latin typeface="Consolas"/>
              </a:rPr>
              <a:t>// ✅ Retour sur l'EDT : on peut toucher à l'UI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</a:t>
            </a:r>
            <a:r>
              <a:rPr sz="950">
                <a:solidFill>
                  <a:srgbClr val="FAF33E"/>
                </a:solidFill>
                <a:latin typeface="Consolas"/>
              </a:rPr>
              <a:t>try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    </a:t>
            </a:r>
            <a:r>
              <a:rPr sz="950">
                <a:solidFill>
                  <a:srgbClr val="E8E2FF"/>
                </a:solidFill>
                <a:latin typeface="Consolas"/>
              </a:rPr>
              <a:t>label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setText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get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  <a:r>
              <a:rPr sz="950">
                <a:solidFill>
                  <a:srgbClr val="E8E2FF"/>
                </a:solidFill>
                <a:latin typeface="Consolas"/>
              </a:rPr>
              <a:t>            </a:t>
            </a:r>
            <a:r>
              <a:rPr sz="950">
                <a:solidFill>
                  <a:srgbClr val="9990B8"/>
                </a:solidFill>
                <a:latin typeface="Consolas"/>
              </a:rPr>
              <a:t>// get() lit le résultat de doInBackground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</a:t>
            </a:r>
            <a:r>
              <a:rPr sz="950">
                <a:solidFill>
                  <a:srgbClr val="E8E2FF"/>
                </a:solidFill>
                <a:latin typeface="Consolas"/>
              </a:rPr>
              <a:t>}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FAF33E"/>
                </a:solidFill>
                <a:latin typeface="Consolas"/>
              </a:rPr>
              <a:t>catch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9D8DF1"/>
                </a:solidFill>
                <a:latin typeface="Consolas"/>
              </a:rPr>
              <a:t>Exception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ex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    </a:t>
            </a:r>
            <a:r>
              <a:rPr sz="950">
                <a:solidFill>
                  <a:srgbClr val="E8E2FF"/>
                </a:solidFill>
                <a:latin typeface="Consolas"/>
              </a:rPr>
              <a:t>label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setText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FFB3C1"/>
                </a:solidFill>
                <a:latin typeface="Consolas"/>
              </a:rPr>
              <a:t>"Erreur : "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+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ex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getMessage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</a:t>
            </a:r>
            <a:r>
              <a:rPr sz="950">
                <a:solidFill>
                  <a:srgbClr val="E8E2FF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</a:t>
            </a:r>
            <a:r>
              <a:rPr sz="950">
                <a:solidFill>
                  <a:srgbClr val="E8E2FF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}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worker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execute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  <a:r>
              <a:rPr sz="950">
                <a:solidFill>
                  <a:srgbClr val="E8E2FF"/>
                </a:solidFill>
                <a:latin typeface="Consolas"/>
              </a:rPr>
              <a:t>   </a:t>
            </a:r>
            <a:r>
              <a:rPr sz="950">
                <a:solidFill>
                  <a:srgbClr val="9990B8"/>
                </a:solidFill>
                <a:latin typeface="Consolas"/>
              </a:rPr>
              <a:t>// démarre la tâche en arrière-plan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691640"/>
            <a:ext cx="3474720" cy="4937760"/>
          </a:xfrm>
          <a:prstGeom prst="roundRect">
            <a:avLst>
              <a:gd name="adj" fmla="val 4000"/>
            </a:avLst>
          </a:prstGeom>
          <a:solidFill>
            <a:srgbClr val="22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691640"/>
            <a:ext cx="73152" cy="4937760"/>
          </a:xfrm>
          <a:prstGeom prst="rect">
            <a:avLst/>
          </a:prstGeom>
          <a:solidFill>
            <a:srgbClr val="FAF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8288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AF33E"/>
                </a:solidFill>
                <a:latin typeface="Calibri"/>
              </a:rPr>
              <a:t>Cycle de vie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240280"/>
            <a:ext cx="320040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050" b="0" i="0">
                <a:solidFill>
                  <a:srgbClr val="FAFAFF"/>
                </a:solidFill>
                <a:latin typeface="Consolas"/>
              </a:rPr>
              <a:t>1.  execute()</a:t>
            </a:r>
          </a:p>
          <a:p>
            <a:pPr>
              <a:lnSpc>
                <a:spcPct val="125000"/>
              </a:lnSpc>
            </a:pPr>
            <a:r>
              <a:rPr sz="1050" b="0" i="0">
                <a:solidFill>
                  <a:srgbClr val="FAFAFF"/>
                </a:solidFill>
                <a:latin typeface="Consolas"/>
              </a:rPr>
              <a:t>    démarre</a:t>
            </a:r>
          </a:p>
          <a:p>
            <a:pPr>
              <a:lnSpc>
                <a:spcPct val="125000"/>
              </a:lnSpc>
            </a:pPr>
            <a:r>
              <a:rPr sz="1050" b="0" i="0">
                <a:solidFill>
                  <a:srgbClr val="FAFAFF"/>
                </a:solidFill>
                <a:latin typeface="Consolas"/>
              </a:rPr>
              <a:t/>
            </a:r>
          </a:p>
          <a:p>
            <a:pPr>
              <a:lnSpc>
                <a:spcPct val="125000"/>
              </a:lnSpc>
            </a:pPr>
            <a:r>
              <a:rPr sz="1050" b="0" i="0">
                <a:solidFill>
                  <a:srgbClr val="FAFAFF"/>
                </a:solidFill>
                <a:latin typeface="Consolas"/>
              </a:rPr>
              <a:t>2.  doInBackground()</a:t>
            </a:r>
          </a:p>
          <a:p>
            <a:pPr>
              <a:lnSpc>
                <a:spcPct val="125000"/>
              </a:lnSpc>
            </a:pPr>
            <a:r>
              <a:rPr sz="1050" b="0" i="0">
                <a:solidFill>
                  <a:srgbClr val="FAFAFF"/>
                </a:solidFill>
                <a:latin typeface="Consolas"/>
              </a:rPr>
              <a:t>    s'exécute hors EDT</a:t>
            </a:r>
          </a:p>
          <a:p>
            <a:pPr>
              <a:lnSpc>
                <a:spcPct val="125000"/>
              </a:lnSpc>
            </a:pPr>
            <a:r>
              <a:rPr sz="1050" b="0" i="0">
                <a:solidFill>
                  <a:srgbClr val="FAFAFF"/>
                </a:solidFill>
                <a:latin typeface="Consolas"/>
              </a:rPr>
              <a:t>    → calcul, BDD, API…</a:t>
            </a:r>
          </a:p>
          <a:p>
            <a:pPr>
              <a:lnSpc>
                <a:spcPct val="125000"/>
              </a:lnSpc>
            </a:pPr>
            <a:r>
              <a:rPr sz="1050" b="0" i="0">
                <a:solidFill>
                  <a:srgbClr val="FAFAFF"/>
                </a:solidFill>
                <a:latin typeface="Consolas"/>
              </a:rPr>
              <a:t/>
            </a:r>
          </a:p>
          <a:p>
            <a:pPr>
              <a:lnSpc>
                <a:spcPct val="125000"/>
              </a:lnSpc>
            </a:pPr>
            <a:r>
              <a:rPr sz="1050" b="0" i="0">
                <a:solidFill>
                  <a:srgbClr val="FAFAFF"/>
                </a:solidFill>
                <a:latin typeface="Consolas"/>
              </a:rPr>
              <a:t>3.  done()</a:t>
            </a:r>
          </a:p>
          <a:p>
            <a:pPr>
              <a:lnSpc>
                <a:spcPct val="125000"/>
              </a:lnSpc>
            </a:pPr>
            <a:r>
              <a:rPr sz="1050" b="0" i="0">
                <a:solidFill>
                  <a:srgbClr val="FAFAFF"/>
                </a:solidFill>
                <a:latin typeface="Consolas"/>
              </a:rPr>
              <a:t>    s'exécute sur EDT</a:t>
            </a:r>
          </a:p>
          <a:p>
            <a:pPr>
              <a:lnSpc>
                <a:spcPct val="125000"/>
              </a:lnSpc>
            </a:pPr>
            <a:r>
              <a:rPr sz="1050" b="0" i="0">
                <a:solidFill>
                  <a:srgbClr val="FAFAFF"/>
                </a:solidFill>
                <a:latin typeface="Consolas"/>
              </a:rPr>
              <a:t>    → met à jour l'UI</a:t>
            </a:r>
          </a:p>
          <a:p>
            <a:pPr>
              <a:lnSpc>
                <a:spcPct val="125000"/>
              </a:lnSpc>
            </a:pPr>
            <a:r>
              <a:rPr sz="1050" b="0" i="0">
                <a:solidFill>
                  <a:srgbClr val="FAFAFF"/>
                </a:solidFill>
                <a:latin typeface="Consolas"/>
              </a:rPr>
              <a:t/>
            </a:r>
          </a:p>
          <a:p>
            <a:pPr>
              <a:lnSpc>
                <a:spcPct val="125000"/>
              </a:lnSpc>
            </a:pPr>
            <a:r>
              <a:rPr sz="1050" b="0" i="0">
                <a:solidFill>
                  <a:srgbClr val="FAFAFF"/>
                </a:solidFill>
                <a:latin typeface="Consolas"/>
              </a:rPr>
              <a:t>Generic &lt;T, V&gt; :</a:t>
            </a:r>
          </a:p>
          <a:p>
            <a:pPr>
              <a:lnSpc>
                <a:spcPct val="125000"/>
              </a:lnSpc>
            </a:pPr>
            <a:r>
              <a:rPr sz="1050" b="0" i="0">
                <a:solidFill>
                  <a:srgbClr val="FAFAFF"/>
                </a:solidFill>
                <a:latin typeface="Consolas"/>
              </a:rPr>
              <a:t>T = type retourné</a:t>
            </a:r>
          </a:p>
          <a:p>
            <a:pPr>
              <a:lnSpc>
                <a:spcPct val="125000"/>
              </a:lnSpc>
            </a:pPr>
            <a:r>
              <a:rPr sz="1050" b="0" i="0">
                <a:solidFill>
                  <a:srgbClr val="FAFAFF"/>
                </a:solidFill>
                <a:latin typeface="Consolas"/>
              </a:rPr>
              <a:t>V = type des updates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D8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048695" y="2286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2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48695" y="228600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AFAFF"/>
                </a:solidFill>
                <a:latin typeface="Calibri"/>
              </a:rPr>
              <a:t>20 / 30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329184"/>
            <a:ext cx="91440" cy="91440"/>
          </a:xfrm>
          <a:prstGeom prst="ellipse">
            <a:avLst/>
          </a:prstGeom>
          <a:solidFill>
            <a:srgbClr val="E85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25603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200">
                <a:solidFill>
                  <a:srgbClr val="6B5F8C"/>
                </a:solidFill>
                <a:latin typeface="Calibri"/>
              </a:rPr>
              <a:t>4. TÂCHES LONGUES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713232"/>
            <a:ext cx="164592" cy="329184"/>
          </a:xfrm>
          <a:prstGeom prst="rect">
            <a:avLst/>
          </a:prstGeom>
          <a:solidFill>
            <a:srgbClr val="FAF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00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21C35"/>
                </a:solidFill>
                <a:latin typeface="Calibri"/>
              </a:rPr>
              <a:t>publish() / process() — résultats intermédiaires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07899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5F8C"/>
                </a:solidFill>
                <a:latin typeface="Calibri"/>
              </a:rPr>
              <a:t>Envoyer des morceaux du calcul vers l'UI au fur et à mesure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10972800" cy="4937760"/>
          </a:xfrm>
          <a:prstGeom prst="roundRect">
            <a:avLst>
              <a:gd name="adj" fmla="val 4000"/>
            </a:avLst>
          </a:prstGeom>
          <a:solidFill>
            <a:srgbClr val="22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1856232"/>
            <a:ext cx="10607040" cy="4709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950">
                <a:solidFill>
                  <a:srgbClr val="9D8DF1"/>
                </a:solidFill>
                <a:latin typeface="Consolas"/>
              </a:rPr>
              <a:t>SwingWorker</a:t>
            </a:r>
            <a:r>
              <a:rPr sz="950">
                <a:solidFill>
                  <a:srgbClr val="E8E2FF"/>
                </a:solidFill>
                <a:latin typeface="Consolas"/>
              </a:rPr>
              <a:t>&lt;</a:t>
            </a:r>
            <a:r>
              <a:rPr sz="950">
                <a:solidFill>
                  <a:srgbClr val="9D8DF1"/>
                </a:solidFill>
                <a:latin typeface="Consolas"/>
              </a:rPr>
              <a:t>List</a:t>
            </a:r>
            <a:r>
              <a:rPr sz="950">
                <a:solidFill>
                  <a:srgbClr val="E8E2FF"/>
                </a:solidFill>
                <a:latin typeface="Consolas"/>
              </a:rPr>
              <a:t>&lt;</a:t>
            </a:r>
            <a:r>
              <a:rPr sz="950">
                <a:solidFill>
                  <a:srgbClr val="E8E2FF"/>
                </a:solidFill>
                <a:latin typeface="Consolas"/>
              </a:rPr>
              <a:t>Etudiant</a:t>
            </a:r>
            <a:r>
              <a:rPr sz="950">
                <a:solidFill>
                  <a:srgbClr val="E8E2FF"/>
                </a:solidFill>
                <a:latin typeface="Consolas"/>
              </a:rPr>
              <a:t>&gt;</a:t>
            </a:r>
            <a:r>
              <a:rPr sz="950">
                <a:solidFill>
                  <a:srgbClr val="E8E2FF"/>
                </a:solidFill>
                <a:latin typeface="Consolas"/>
              </a:rPr>
              <a:t>,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Etudiant</a:t>
            </a:r>
            <a:r>
              <a:rPr sz="950">
                <a:solidFill>
                  <a:srgbClr val="E8E2FF"/>
                </a:solidFill>
                <a:latin typeface="Consolas"/>
              </a:rPr>
              <a:t>&gt;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w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=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FAF33E"/>
                </a:solidFill>
                <a:latin typeface="Consolas"/>
              </a:rPr>
              <a:t>new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9D8DF1"/>
                </a:solidFill>
                <a:latin typeface="Consolas"/>
              </a:rPr>
              <a:t>SwingWorker</a:t>
            </a:r>
            <a:r>
              <a:rPr sz="950">
                <a:solidFill>
                  <a:srgbClr val="E8E2FF"/>
                </a:solidFill>
                <a:latin typeface="Consolas"/>
              </a:rPr>
              <a:t>&lt;</a:t>
            </a:r>
            <a:r>
              <a:rPr sz="950">
                <a:solidFill>
                  <a:srgbClr val="E8E2FF"/>
                </a:solidFill>
                <a:latin typeface="Consolas"/>
              </a:rPr>
              <a:t>&gt;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</a:t>
            </a:r>
            <a:r>
              <a:rPr sz="950">
                <a:solidFill>
                  <a:srgbClr val="E8E2FF"/>
                </a:solidFill>
                <a:latin typeface="Consolas"/>
              </a:rPr>
              <a:t>@</a:t>
            </a:r>
            <a:r>
              <a:rPr sz="950">
                <a:solidFill>
                  <a:srgbClr val="E8E2FF"/>
                </a:solidFill>
                <a:latin typeface="Consolas"/>
              </a:rPr>
              <a:t>Override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</a:t>
            </a:r>
            <a:r>
              <a:rPr sz="950">
                <a:solidFill>
                  <a:srgbClr val="FAF33E"/>
                </a:solidFill>
                <a:latin typeface="Consolas"/>
              </a:rPr>
              <a:t>protected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9D8DF1"/>
                </a:solidFill>
                <a:latin typeface="Consolas"/>
              </a:rPr>
              <a:t>List</a:t>
            </a:r>
            <a:r>
              <a:rPr sz="950">
                <a:solidFill>
                  <a:srgbClr val="E8E2FF"/>
                </a:solidFill>
                <a:latin typeface="Consolas"/>
              </a:rPr>
              <a:t>&lt;</a:t>
            </a:r>
            <a:r>
              <a:rPr sz="950">
                <a:solidFill>
                  <a:srgbClr val="E8E2FF"/>
                </a:solidFill>
                <a:latin typeface="Consolas"/>
              </a:rPr>
              <a:t>Etudiant</a:t>
            </a:r>
            <a:r>
              <a:rPr sz="950">
                <a:solidFill>
                  <a:srgbClr val="E8E2FF"/>
                </a:solidFill>
                <a:latin typeface="Consolas"/>
              </a:rPr>
              <a:t>&gt;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doInBackground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</a:t>
            </a:r>
            <a:r>
              <a:rPr sz="950">
                <a:solidFill>
                  <a:srgbClr val="9D8DF1"/>
                </a:solidFill>
                <a:latin typeface="Consolas"/>
              </a:rPr>
              <a:t>List</a:t>
            </a:r>
            <a:r>
              <a:rPr sz="950">
                <a:solidFill>
                  <a:srgbClr val="E8E2FF"/>
                </a:solidFill>
                <a:latin typeface="Consolas"/>
              </a:rPr>
              <a:t>&lt;</a:t>
            </a:r>
            <a:r>
              <a:rPr sz="950">
                <a:solidFill>
                  <a:srgbClr val="E8E2FF"/>
                </a:solidFill>
                <a:latin typeface="Consolas"/>
              </a:rPr>
              <a:t>Etudiant</a:t>
            </a:r>
            <a:r>
              <a:rPr sz="950">
                <a:solidFill>
                  <a:srgbClr val="E8E2FF"/>
                </a:solidFill>
                <a:latin typeface="Consolas"/>
              </a:rPr>
              <a:t>&gt;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tous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=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FAF33E"/>
                </a:solidFill>
                <a:latin typeface="Consolas"/>
              </a:rPr>
              <a:t>new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9D8DF1"/>
                </a:solidFill>
                <a:latin typeface="Consolas"/>
              </a:rPr>
              <a:t>ArrayList</a:t>
            </a:r>
            <a:r>
              <a:rPr sz="950">
                <a:solidFill>
                  <a:srgbClr val="E8E2FF"/>
                </a:solidFill>
                <a:latin typeface="Consolas"/>
              </a:rPr>
              <a:t>&lt;</a:t>
            </a:r>
            <a:r>
              <a:rPr sz="950">
                <a:solidFill>
                  <a:srgbClr val="E8E2FF"/>
                </a:solidFill>
                <a:latin typeface="Consolas"/>
              </a:rPr>
              <a:t>&gt;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</a:t>
            </a:r>
            <a:r>
              <a:rPr sz="950">
                <a:solidFill>
                  <a:srgbClr val="FAF33E"/>
                </a:solidFill>
                <a:latin typeface="Consolas"/>
              </a:rPr>
              <a:t>for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9D8DF1"/>
                </a:solidFill>
                <a:latin typeface="Consolas"/>
              </a:rPr>
              <a:t>int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i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=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0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i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&lt;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1000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i</a:t>
            </a:r>
            <a:r>
              <a:rPr sz="950">
                <a:solidFill>
                  <a:srgbClr val="E8E2FF"/>
                </a:solidFill>
                <a:latin typeface="Consolas"/>
              </a:rPr>
              <a:t>+</a:t>
            </a:r>
            <a:r>
              <a:rPr sz="950">
                <a:solidFill>
                  <a:srgbClr val="E8E2FF"/>
                </a:solidFill>
                <a:latin typeface="Consolas"/>
              </a:rPr>
              <a:t>+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    </a:t>
            </a:r>
            <a:r>
              <a:rPr sz="950">
                <a:solidFill>
                  <a:srgbClr val="E8E2FF"/>
                </a:solidFill>
                <a:latin typeface="Consolas"/>
              </a:rPr>
              <a:t>Etudiant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e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=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chargerDepuisBDD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i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  <a:r>
              <a:rPr sz="950">
                <a:solidFill>
                  <a:srgbClr val="E8E2FF"/>
                </a:solidFill>
                <a:latin typeface="Consolas"/>
              </a:rPr>
              <a:t>   </a:t>
            </a:r>
            <a:r>
              <a:rPr sz="950">
                <a:solidFill>
                  <a:srgbClr val="9990B8"/>
                </a:solidFill>
                <a:latin typeface="Consolas"/>
              </a:rPr>
              <a:t>// hors EDT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    </a:t>
            </a:r>
            <a:r>
              <a:rPr sz="950">
                <a:solidFill>
                  <a:srgbClr val="E8E2FF"/>
                </a:solidFill>
                <a:latin typeface="Consolas"/>
              </a:rPr>
              <a:t>tous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add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e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    </a:t>
            </a:r>
            <a:r>
              <a:rPr sz="950">
                <a:solidFill>
                  <a:srgbClr val="E8E2FF"/>
                </a:solidFill>
                <a:latin typeface="Consolas"/>
              </a:rPr>
              <a:t>publish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e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  <a:r>
              <a:rPr sz="950">
                <a:solidFill>
                  <a:srgbClr val="E8E2FF"/>
                </a:solidFill>
                <a:latin typeface="Consolas"/>
              </a:rPr>
              <a:t>                          </a:t>
            </a:r>
            <a:r>
              <a:rPr sz="950">
                <a:solidFill>
                  <a:srgbClr val="9990B8"/>
                </a:solidFill>
                <a:latin typeface="Consolas"/>
              </a:rPr>
              <a:t>// envoyer à l'UI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    </a:t>
            </a:r>
            <a:r>
              <a:rPr sz="950">
                <a:solidFill>
                  <a:srgbClr val="E8E2FF"/>
                </a:solidFill>
                <a:latin typeface="Consolas"/>
              </a:rPr>
              <a:t>setProgress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i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+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1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*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100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/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1000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  <a:r>
              <a:rPr sz="950">
                <a:solidFill>
                  <a:srgbClr val="E8E2FF"/>
                </a:solidFill>
                <a:latin typeface="Consolas"/>
              </a:rPr>
              <a:t>   </a:t>
            </a:r>
            <a:r>
              <a:rPr sz="950">
                <a:solidFill>
                  <a:srgbClr val="9990B8"/>
                </a:solidFill>
                <a:latin typeface="Consolas"/>
              </a:rPr>
              <a:t>// 0..100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</a:t>
            </a:r>
            <a:r>
              <a:rPr sz="950">
                <a:solidFill>
                  <a:srgbClr val="E8E2FF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</a:t>
            </a:r>
            <a:r>
              <a:rPr sz="950">
                <a:solidFill>
                  <a:srgbClr val="FAF33E"/>
                </a:solidFill>
                <a:latin typeface="Consolas"/>
              </a:rPr>
              <a:t>return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tous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</a:t>
            </a:r>
            <a:r>
              <a:rPr sz="950">
                <a:solidFill>
                  <a:srgbClr val="E8E2FF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</a:pP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</a:t>
            </a:r>
            <a:r>
              <a:rPr sz="950">
                <a:solidFill>
                  <a:srgbClr val="E8E2FF"/>
                </a:solidFill>
                <a:latin typeface="Consolas"/>
              </a:rPr>
              <a:t>@</a:t>
            </a:r>
            <a:r>
              <a:rPr sz="950">
                <a:solidFill>
                  <a:srgbClr val="E8E2FF"/>
                </a:solidFill>
                <a:latin typeface="Consolas"/>
              </a:rPr>
              <a:t>Override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</a:t>
            </a:r>
            <a:r>
              <a:rPr sz="950">
                <a:solidFill>
                  <a:srgbClr val="FAF33E"/>
                </a:solidFill>
                <a:latin typeface="Consolas"/>
              </a:rPr>
              <a:t>protected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FAF33E"/>
                </a:solidFill>
                <a:latin typeface="Consolas"/>
              </a:rPr>
              <a:t>void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process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9D8DF1"/>
                </a:solidFill>
                <a:latin typeface="Consolas"/>
              </a:rPr>
              <a:t>List</a:t>
            </a:r>
            <a:r>
              <a:rPr sz="950">
                <a:solidFill>
                  <a:srgbClr val="E8E2FF"/>
                </a:solidFill>
                <a:latin typeface="Consolas"/>
              </a:rPr>
              <a:t>&lt;</a:t>
            </a:r>
            <a:r>
              <a:rPr sz="950">
                <a:solidFill>
                  <a:srgbClr val="E8E2FF"/>
                </a:solidFill>
                <a:latin typeface="Consolas"/>
              </a:rPr>
              <a:t>Etudiant</a:t>
            </a:r>
            <a:r>
              <a:rPr sz="950">
                <a:solidFill>
                  <a:srgbClr val="E8E2FF"/>
                </a:solidFill>
                <a:latin typeface="Consolas"/>
              </a:rPr>
              <a:t>&gt;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chunks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</a:t>
            </a:r>
            <a:r>
              <a:rPr sz="950">
                <a:solidFill>
                  <a:srgbClr val="9990B8"/>
                </a:solidFill>
                <a:latin typeface="Consolas"/>
              </a:rPr>
              <a:t>// Sur l'EDT : ajouter au fur et à mesure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</a:t>
            </a:r>
            <a:r>
              <a:rPr sz="950">
                <a:solidFill>
                  <a:srgbClr val="FAF33E"/>
                </a:solidFill>
                <a:latin typeface="Consolas"/>
              </a:rPr>
              <a:t>for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Etudiant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e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: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chunks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modele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addRow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e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toRow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</a:t>
            </a:r>
            <a:r>
              <a:rPr sz="950">
                <a:solidFill>
                  <a:srgbClr val="E8E2FF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</a:pP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</a:t>
            </a:r>
            <a:r>
              <a:rPr sz="950">
                <a:solidFill>
                  <a:srgbClr val="E8E2FF"/>
                </a:solidFill>
                <a:latin typeface="Consolas"/>
              </a:rPr>
              <a:t>@</a:t>
            </a:r>
            <a:r>
              <a:rPr sz="950">
                <a:solidFill>
                  <a:srgbClr val="E8E2FF"/>
                </a:solidFill>
                <a:latin typeface="Consolas"/>
              </a:rPr>
              <a:t>Override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</a:t>
            </a:r>
            <a:r>
              <a:rPr sz="950">
                <a:solidFill>
                  <a:srgbClr val="FAF33E"/>
                </a:solidFill>
                <a:latin typeface="Consolas"/>
              </a:rPr>
              <a:t>protected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FAF33E"/>
                </a:solidFill>
                <a:latin typeface="Consolas"/>
              </a:rPr>
              <a:t>void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done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{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progressBar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setValue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100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}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w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addPropertyChangeListener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evt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-</a:t>
            </a:r>
            <a:r>
              <a:rPr sz="950">
                <a:solidFill>
                  <a:srgbClr val="E8E2FF"/>
                </a:solidFill>
                <a:latin typeface="Consolas"/>
              </a:rPr>
              <a:t>&gt;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</a:t>
            </a:r>
            <a:r>
              <a:rPr sz="950">
                <a:solidFill>
                  <a:srgbClr val="FAF33E"/>
                </a:solidFill>
                <a:latin typeface="Consolas"/>
              </a:rPr>
              <a:t>if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FFB3C1"/>
                </a:solidFill>
                <a:latin typeface="Consolas"/>
              </a:rPr>
              <a:t>"progress"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equals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evt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getPropertyName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</a:t>
            </a:r>
            <a:r>
              <a:rPr sz="950">
                <a:solidFill>
                  <a:srgbClr val="E8E2FF"/>
                </a:solidFill>
                <a:latin typeface="Consolas"/>
              </a:rPr>
              <a:t>progressBar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setValue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9D8DF1"/>
                </a:solidFill>
                <a:latin typeface="Consolas"/>
              </a:rPr>
              <a:t>Integer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evt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getNewValue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}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w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execute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D8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048695" y="2286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2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48695" y="228600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AFAFF"/>
                </a:solidFill>
                <a:latin typeface="Calibri"/>
              </a:rPr>
              <a:t>21 / 30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329184"/>
            <a:ext cx="91440" cy="91440"/>
          </a:xfrm>
          <a:prstGeom prst="ellipse">
            <a:avLst/>
          </a:prstGeom>
          <a:solidFill>
            <a:srgbClr val="E85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25603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200">
                <a:solidFill>
                  <a:srgbClr val="6B5F8C"/>
                </a:solidFill>
                <a:latin typeface="Calibri"/>
              </a:rPr>
              <a:t>5. CHARGER DES DONNÉES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713232"/>
            <a:ext cx="164592" cy="329184"/>
          </a:xfrm>
          <a:prstGeom prst="rect">
            <a:avLst/>
          </a:prstGeom>
          <a:solidFill>
            <a:srgbClr val="FAF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00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21C35"/>
                </a:solidFill>
                <a:latin typeface="Calibri"/>
              </a:rPr>
              <a:t>Charger depuis une base de données (JDBC)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07899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5F8C"/>
                </a:solidFill>
                <a:latin typeface="Calibri"/>
              </a:rPr>
              <a:t>Pattern complet : SwingWorker + JDBC + mise à jour de la JTable sur l'EDT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10972800" cy="4937760"/>
          </a:xfrm>
          <a:prstGeom prst="roundRect">
            <a:avLst>
              <a:gd name="adj" fmla="val 4000"/>
            </a:avLst>
          </a:prstGeom>
          <a:solidFill>
            <a:srgbClr val="22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1856232"/>
            <a:ext cx="10607040" cy="4709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950">
                <a:solidFill>
                  <a:srgbClr val="FAF33E"/>
                </a:solidFill>
                <a:latin typeface="Consolas"/>
              </a:rPr>
              <a:t>new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9D8DF1"/>
                </a:solidFill>
                <a:latin typeface="Consolas"/>
              </a:rPr>
              <a:t>SwingWorker</a:t>
            </a:r>
            <a:r>
              <a:rPr sz="950">
                <a:solidFill>
                  <a:srgbClr val="E8E2FF"/>
                </a:solidFill>
                <a:latin typeface="Consolas"/>
              </a:rPr>
              <a:t>&lt;</a:t>
            </a:r>
            <a:r>
              <a:rPr sz="950">
                <a:solidFill>
                  <a:srgbClr val="9D8DF1"/>
                </a:solidFill>
                <a:latin typeface="Consolas"/>
              </a:rPr>
              <a:t>List</a:t>
            </a:r>
            <a:r>
              <a:rPr sz="950">
                <a:solidFill>
                  <a:srgbClr val="E8E2FF"/>
                </a:solidFill>
                <a:latin typeface="Consolas"/>
              </a:rPr>
              <a:t>&lt;</a:t>
            </a:r>
            <a:r>
              <a:rPr sz="950">
                <a:solidFill>
                  <a:srgbClr val="E8E2FF"/>
                </a:solidFill>
                <a:latin typeface="Consolas"/>
              </a:rPr>
              <a:t>Etudiant</a:t>
            </a:r>
            <a:r>
              <a:rPr sz="950">
                <a:solidFill>
                  <a:srgbClr val="E8E2FF"/>
                </a:solidFill>
                <a:latin typeface="Consolas"/>
              </a:rPr>
              <a:t>&gt;</a:t>
            </a:r>
            <a:r>
              <a:rPr sz="950">
                <a:solidFill>
                  <a:srgbClr val="E8E2FF"/>
                </a:solidFill>
                <a:latin typeface="Consolas"/>
              </a:rPr>
              <a:t>,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Void</a:t>
            </a:r>
            <a:r>
              <a:rPr sz="950">
                <a:solidFill>
                  <a:srgbClr val="E8E2FF"/>
                </a:solidFill>
                <a:latin typeface="Consolas"/>
              </a:rPr>
              <a:t>&gt;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</a:t>
            </a:r>
            <a:r>
              <a:rPr sz="950">
                <a:solidFill>
                  <a:srgbClr val="E8E2FF"/>
                </a:solidFill>
                <a:latin typeface="Consolas"/>
              </a:rPr>
              <a:t>@</a:t>
            </a:r>
            <a:r>
              <a:rPr sz="950">
                <a:solidFill>
                  <a:srgbClr val="E8E2FF"/>
                </a:solidFill>
                <a:latin typeface="Consolas"/>
              </a:rPr>
              <a:t>Override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</a:t>
            </a:r>
            <a:r>
              <a:rPr sz="950">
                <a:solidFill>
                  <a:srgbClr val="FAF33E"/>
                </a:solidFill>
                <a:latin typeface="Consolas"/>
              </a:rPr>
              <a:t>protected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9D8DF1"/>
                </a:solidFill>
                <a:latin typeface="Consolas"/>
              </a:rPr>
              <a:t>List</a:t>
            </a:r>
            <a:r>
              <a:rPr sz="950">
                <a:solidFill>
                  <a:srgbClr val="E8E2FF"/>
                </a:solidFill>
                <a:latin typeface="Consolas"/>
              </a:rPr>
              <a:t>&lt;</a:t>
            </a:r>
            <a:r>
              <a:rPr sz="950">
                <a:solidFill>
                  <a:srgbClr val="E8E2FF"/>
                </a:solidFill>
                <a:latin typeface="Consolas"/>
              </a:rPr>
              <a:t>Etudiant</a:t>
            </a:r>
            <a:r>
              <a:rPr sz="950">
                <a:solidFill>
                  <a:srgbClr val="E8E2FF"/>
                </a:solidFill>
                <a:latin typeface="Consolas"/>
              </a:rPr>
              <a:t>&gt;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doInBackground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FAF33E"/>
                </a:solidFill>
                <a:latin typeface="Consolas"/>
              </a:rPr>
              <a:t>throws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9D8DF1"/>
                </a:solidFill>
                <a:latin typeface="Consolas"/>
              </a:rPr>
              <a:t>Exception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</a:t>
            </a:r>
            <a:r>
              <a:rPr sz="950">
                <a:solidFill>
                  <a:srgbClr val="9D8DF1"/>
                </a:solidFill>
                <a:latin typeface="Consolas"/>
              </a:rPr>
              <a:t>List</a:t>
            </a:r>
            <a:r>
              <a:rPr sz="950">
                <a:solidFill>
                  <a:srgbClr val="E8E2FF"/>
                </a:solidFill>
                <a:latin typeface="Consolas"/>
              </a:rPr>
              <a:t>&lt;</a:t>
            </a:r>
            <a:r>
              <a:rPr sz="950">
                <a:solidFill>
                  <a:srgbClr val="E8E2FF"/>
                </a:solidFill>
                <a:latin typeface="Consolas"/>
              </a:rPr>
              <a:t>Etudiant</a:t>
            </a:r>
            <a:r>
              <a:rPr sz="950">
                <a:solidFill>
                  <a:srgbClr val="E8E2FF"/>
                </a:solidFill>
                <a:latin typeface="Consolas"/>
              </a:rPr>
              <a:t>&gt;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liste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=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FAF33E"/>
                </a:solidFill>
                <a:latin typeface="Consolas"/>
              </a:rPr>
              <a:t>new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9D8DF1"/>
                </a:solidFill>
                <a:latin typeface="Consolas"/>
              </a:rPr>
              <a:t>ArrayList</a:t>
            </a:r>
            <a:r>
              <a:rPr sz="950">
                <a:solidFill>
                  <a:srgbClr val="E8E2FF"/>
                </a:solidFill>
                <a:latin typeface="Consolas"/>
              </a:rPr>
              <a:t>&lt;</a:t>
            </a:r>
            <a:r>
              <a:rPr sz="950">
                <a:solidFill>
                  <a:srgbClr val="E8E2FF"/>
                </a:solidFill>
                <a:latin typeface="Consolas"/>
              </a:rPr>
              <a:t>&gt;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</a:t>
            </a:r>
            <a:r>
              <a:rPr sz="950">
                <a:solidFill>
                  <a:srgbClr val="9D8DF1"/>
                </a:solidFill>
                <a:latin typeface="Consolas"/>
              </a:rPr>
              <a:t>String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sql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=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FFB3C1"/>
                </a:solidFill>
                <a:latin typeface="Consolas"/>
              </a:rPr>
              <a:t>"SELECT id, nom, prenom, note FROM etudiant"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</a:t>
            </a:r>
            <a:r>
              <a:rPr sz="950">
                <a:solidFill>
                  <a:srgbClr val="FAF33E"/>
                </a:solidFill>
                <a:latin typeface="Consolas"/>
              </a:rPr>
              <a:t>try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9D8DF1"/>
                </a:solidFill>
                <a:latin typeface="Consolas"/>
              </a:rPr>
              <a:t>Connection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c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=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9D8DF1"/>
                </a:solidFill>
                <a:latin typeface="Consolas"/>
              </a:rPr>
              <a:t>DriverManager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getConnection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9D8DF1"/>
                </a:solidFill>
                <a:latin typeface="Consolas"/>
              </a:rPr>
              <a:t>URL</a:t>
            </a:r>
            <a:r>
              <a:rPr sz="950">
                <a:solidFill>
                  <a:srgbClr val="E8E2FF"/>
                </a:solidFill>
                <a:latin typeface="Consolas"/>
              </a:rPr>
              <a:t>,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USER</a:t>
            </a:r>
            <a:r>
              <a:rPr sz="950">
                <a:solidFill>
                  <a:srgbClr val="E8E2FF"/>
                </a:solidFill>
                <a:latin typeface="Consolas"/>
              </a:rPr>
              <a:t>,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PWD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     </a:t>
            </a:r>
            <a:r>
              <a:rPr sz="950">
                <a:solidFill>
                  <a:srgbClr val="9D8DF1"/>
                </a:solidFill>
                <a:latin typeface="Consolas"/>
              </a:rPr>
              <a:t>PreparedStatement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ps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=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c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prepareStatement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sql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     </a:t>
            </a:r>
            <a:r>
              <a:rPr sz="950">
                <a:solidFill>
                  <a:srgbClr val="9D8DF1"/>
                </a:solidFill>
                <a:latin typeface="Consolas"/>
              </a:rPr>
              <a:t>ResultSet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rs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=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ps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executeQuery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    </a:t>
            </a:r>
            <a:r>
              <a:rPr sz="950">
                <a:solidFill>
                  <a:srgbClr val="FAF33E"/>
                </a:solidFill>
                <a:latin typeface="Consolas"/>
              </a:rPr>
              <a:t>while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rs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next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        </a:t>
            </a:r>
            <a:r>
              <a:rPr sz="950">
                <a:solidFill>
                  <a:srgbClr val="E8E2FF"/>
                </a:solidFill>
                <a:latin typeface="Consolas"/>
              </a:rPr>
              <a:t>liste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add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FAF33E"/>
                </a:solidFill>
                <a:latin typeface="Consolas"/>
              </a:rPr>
              <a:t>new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Etudiant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            </a:t>
            </a:r>
            <a:r>
              <a:rPr sz="950">
                <a:solidFill>
                  <a:srgbClr val="E8E2FF"/>
                </a:solidFill>
                <a:latin typeface="Consolas"/>
              </a:rPr>
              <a:t>rs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getInt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FFB3C1"/>
                </a:solidFill>
                <a:latin typeface="Consolas"/>
              </a:rPr>
              <a:t>"id"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,</a:t>
            </a:r>
            <a:r>
              <a:rPr sz="950">
                <a:solidFill>
                  <a:srgbClr val="E8E2FF"/>
                </a:solidFill>
                <a:latin typeface="Consolas"/>
              </a:rPr>
              <a:t>    </a:t>
            </a:r>
            <a:r>
              <a:rPr sz="950">
                <a:solidFill>
                  <a:srgbClr val="E8E2FF"/>
                </a:solidFill>
                <a:latin typeface="Consolas"/>
              </a:rPr>
              <a:t>rs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getString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FFB3C1"/>
                </a:solidFill>
                <a:latin typeface="Consolas"/>
              </a:rPr>
              <a:t>"nom"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,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            </a:t>
            </a:r>
            <a:r>
              <a:rPr sz="950">
                <a:solidFill>
                  <a:srgbClr val="E8E2FF"/>
                </a:solidFill>
                <a:latin typeface="Consolas"/>
              </a:rPr>
              <a:t>rs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getString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FFB3C1"/>
                </a:solidFill>
                <a:latin typeface="Consolas"/>
              </a:rPr>
              <a:t>"prenom"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,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rs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getDouble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FFB3C1"/>
                </a:solidFill>
                <a:latin typeface="Consolas"/>
              </a:rPr>
              <a:t>"note"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    </a:t>
            </a:r>
            <a:r>
              <a:rPr sz="950">
                <a:solidFill>
                  <a:srgbClr val="E8E2FF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</a:t>
            </a:r>
            <a:r>
              <a:rPr sz="950">
                <a:solidFill>
                  <a:srgbClr val="E8E2FF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</a:t>
            </a:r>
            <a:r>
              <a:rPr sz="950">
                <a:solidFill>
                  <a:srgbClr val="FAF33E"/>
                </a:solidFill>
                <a:latin typeface="Consolas"/>
              </a:rPr>
              <a:t>return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liste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</a:t>
            </a:r>
            <a:r>
              <a:rPr sz="950">
                <a:solidFill>
                  <a:srgbClr val="E8E2FF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</a:pP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</a:t>
            </a:r>
            <a:r>
              <a:rPr sz="950">
                <a:solidFill>
                  <a:srgbClr val="E8E2FF"/>
                </a:solidFill>
                <a:latin typeface="Consolas"/>
              </a:rPr>
              <a:t>@</a:t>
            </a:r>
            <a:r>
              <a:rPr sz="950">
                <a:solidFill>
                  <a:srgbClr val="E8E2FF"/>
                </a:solidFill>
                <a:latin typeface="Consolas"/>
              </a:rPr>
              <a:t>Override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</a:t>
            </a:r>
            <a:r>
              <a:rPr sz="950">
                <a:solidFill>
                  <a:srgbClr val="FAF33E"/>
                </a:solidFill>
                <a:latin typeface="Consolas"/>
              </a:rPr>
              <a:t>protected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FAF33E"/>
                </a:solidFill>
                <a:latin typeface="Consolas"/>
              </a:rPr>
              <a:t>void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done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</a:t>
            </a:r>
            <a:r>
              <a:rPr sz="950">
                <a:solidFill>
                  <a:srgbClr val="FAF33E"/>
                </a:solidFill>
                <a:latin typeface="Consolas"/>
              </a:rPr>
              <a:t>try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    </a:t>
            </a:r>
            <a:r>
              <a:rPr sz="950">
                <a:solidFill>
                  <a:srgbClr val="E8E2FF"/>
                </a:solidFill>
                <a:latin typeface="Consolas"/>
              </a:rPr>
              <a:t>modele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setRowCount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0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    </a:t>
            </a:r>
            <a:r>
              <a:rPr sz="950">
                <a:solidFill>
                  <a:srgbClr val="FAF33E"/>
                </a:solidFill>
                <a:latin typeface="Consolas"/>
              </a:rPr>
              <a:t>for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Etudiant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e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: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get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modele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addRow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e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toRow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</a:t>
            </a:r>
            <a:r>
              <a:rPr sz="950">
                <a:solidFill>
                  <a:srgbClr val="E8E2FF"/>
                </a:solidFill>
                <a:latin typeface="Consolas"/>
              </a:rPr>
              <a:t>}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FAF33E"/>
                </a:solidFill>
                <a:latin typeface="Consolas"/>
              </a:rPr>
              <a:t>catch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9D8DF1"/>
                </a:solidFill>
                <a:latin typeface="Consolas"/>
              </a:rPr>
              <a:t>Exception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ex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    </a:t>
            </a:r>
            <a:r>
              <a:rPr sz="950">
                <a:solidFill>
                  <a:srgbClr val="9D8DF1"/>
                </a:solidFill>
                <a:latin typeface="Consolas"/>
              </a:rPr>
              <a:t>JOptionPane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showMessageDialog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frame</a:t>
            </a:r>
            <a:r>
              <a:rPr sz="950">
                <a:solidFill>
                  <a:srgbClr val="E8E2FF"/>
                </a:solidFill>
                <a:latin typeface="Consolas"/>
              </a:rPr>
              <a:t>,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FFB3C1"/>
                </a:solidFill>
                <a:latin typeface="Consolas"/>
              </a:rPr>
              <a:t>"Erreur BDD : "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+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ex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getMessage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</a:t>
            </a:r>
            <a:r>
              <a:rPr sz="950">
                <a:solidFill>
                  <a:srgbClr val="E8E2FF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</a:t>
            </a:r>
            <a:r>
              <a:rPr sz="950">
                <a:solidFill>
                  <a:srgbClr val="E8E2FF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}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execute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D8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048695" y="2286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2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48695" y="228600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AFAFF"/>
                </a:solidFill>
                <a:latin typeface="Calibri"/>
              </a:rPr>
              <a:t>22 / 30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329184"/>
            <a:ext cx="91440" cy="91440"/>
          </a:xfrm>
          <a:prstGeom prst="ellipse">
            <a:avLst/>
          </a:prstGeom>
          <a:solidFill>
            <a:srgbClr val="E85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25603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200">
                <a:solidFill>
                  <a:srgbClr val="6B5F8C"/>
                </a:solidFill>
                <a:latin typeface="Calibri"/>
              </a:rPr>
              <a:t>5. CHARGER DES DONNÉES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713232"/>
            <a:ext cx="164592" cy="329184"/>
          </a:xfrm>
          <a:prstGeom prst="rect">
            <a:avLst/>
          </a:prstGeom>
          <a:solidFill>
            <a:srgbClr val="FAF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00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21C35"/>
                </a:solidFill>
                <a:latin typeface="Calibri"/>
              </a:rPr>
              <a:t>Charger depuis une API REST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07899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5F8C"/>
                </a:solidFill>
                <a:latin typeface="Calibri"/>
              </a:rPr>
              <a:t>HttpURLConnection (ou HttpClient depuis Java 11) + parsing JSON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10972800" cy="4937760"/>
          </a:xfrm>
          <a:prstGeom prst="roundRect">
            <a:avLst>
              <a:gd name="adj" fmla="val 4000"/>
            </a:avLst>
          </a:prstGeom>
          <a:solidFill>
            <a:srgbClr val="22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1856232"/>
            <a:ext cx="10607040" cy="4709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950">
                <a:solidFill>
                  <a:srgbClr val="FAF33E"/>
                </a:solidFill>
                <a:latin typeface="Consolas"/>
              </a:rPr>
              <a:t>new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9D8DF1"/>
                </a:solidFill>
                <a:latin typeface="Consolas"/>
              </a:rPr>
              <a:t>SwingWorker</a:t>
            </a:r>
            <a:r>
              <a:rPr sz="950">
                <a:solidFill>
                  <a:srgbClr val="E8E2FF"/>
                </a:solidFill>
                <a:latin typeface="Consolas"/>
              </a:rPr>
              <a:t>&lt;</a:t>
            </a:r>
            <a:r>
              <a:rPr sz="950">
                <a:solidFill>
                  <a:srgbClr val="9D8DF1"/>
                </a:solidFill>
                <a:latin typeface="Consolas"/>
              </a:rPr>
              <a:t>String</a:t>
            </a:r>
            <a:r>
              <a:rPr sz="950">
                <a:solidFill>
                  <a:srgbClr val="E8E2FF"/>
                </a:solidFill>
                <a:latin typeface="Consolas"/>
              </a:rPr>
              <a:t>,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Void</a:t>
            </a:r>
            <a:r>
              <a:rPr sz="950">
                <a:solidFill>
                  <a:srgbClr val="E8E2FF"/>
                </a:solidFill>
                <a:latin typeface="Consolas"/>
              </a:rPr>
              <a:t>&gt;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</a:t>
            </a:r>
            <a:r>
              <a:rPr sz="950">
                <a:solidFill>
                  <a:srgbClr val="E8E2FF"/>
                </a:solidFill>
                <a:latin typeface="Consolas"/>
              </a:rPr>
              <a:t>@</a:t>
            </a:r>
            <a:r>
              <a:rPr sz="950">
                <a:solidFill>
                  <a:srgbClr val="E8E2FF"/>
                </a:solidFill>
                <a:latin typeface="Consolas"/>
              </a:rPr>
              <a:t>Override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</a:t>
            </a:r>
            <a:r>
              <a:rPr sz="950">
                <a:solidFill>
                  <a:srgbClr val="FAF33E"/>
                </a:solidFill>
                <a:latin typeface="Consolas"/>
              </a:rPr>
              <a:t>protected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9D8DF1"/>
                </a:solidFill>
                <a:latin typeface="Consolas"/>
              </a:rPr>
              <a:t>String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doInBackground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FAF33E"/>
                </a:solidFill>
                <a:latin typeface="Consolas"/>
              </a:rPr>
              <a:t>throws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9D8DF1"/>
                </a:solidFill>
                <a:latin typeface="Consolas"/>
              </a:rPr>
              <a:t>Exception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</a:t>
            </a:r>
            <a:r>
              <a:rPr sz="950">
                <a:solidFill>
                  <a:srgbClr val="9D8DF1"/>
                </a:solidFill>
                <a:latin typeface="Consolas"/>
              </a:rPr>
              <a:t>URL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url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=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FAF33E"/>
                </a:solidFill>
                <a:latin typeface="Consolas"/>
              </a:rPr>
              <a:t>new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9D8DF1"/>
                </a:solidFill>
                <a:latin typeface="Consolas"/>
              </a:rPr>
              <a:t>URL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FFB3C1"/>
                </a:solidFill>
                <a:latin typeface="Consolas"/>
              </a:rPr>
              <a:t>"https://api.exemple.com/etudiants"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</a:t>
            </a:r>
            <a:r>
              <a:rPr sz="950">
                <a:solidFill>
                  <a:srgbClr val="9D8DF1"/>
                </a:solidFill>
                <a:latin typeface="Consolas"/>
              </a:rPr>
              <a:t>HttpURLConnection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con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=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9D8DF1"/>
                </a:solidFill>
                <a:latin typeface="Consolas"/>
              </a:rPr>
              <a:t>HttpURLConnection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url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openConnection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</a:t>
            </a:r>
            <a:r>
              <a:rPr sz="950">
                <a:solidFill>
                  <a:srgbClr val="E8E2FF"/>
                </a:solidFill>
                <a:latin typeface="Consolas"/>
              </a:rPr>
              <a:t>con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setRequestMethod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FFB3C1"/>
                </a:solidFill>
                <a:latin typeface="Consolas"/>
              </a:rPr>
              <a:t>"GET"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</a:t>
            </a:r>
            <a:r>
              <a:rPr sz="950">
                <a:solidFill>
                  <a:srgbClr val="E8E2FF"/>
                </a:solidFill>
                <a:latin typeface="Consolas"/>
              </a:rPr>
              <a:t>con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setRequestProperty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FFB3C1"/>
                </a:solidFill>
                <a:latin typeface="Consolas"/>
              </a:rPr>
              <a:t>"Accept"</a:t>
            </a:r>
            <a:r>
              <a:rPr sz="950">
                <a:solidFill>
                  <a:srgbClr val="E8E2FF"/>
                </a:solidFill>
                <a:latin typeface="Consolas"/>
              </a:rPr>
              <a:t>,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FFB3C1"/>
                </a:solidFill>
                <a:latin typeface="Consolas"/>
              </a:rPr>
              <a:t>"application/json"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</a:t>
            </a:r>
            <a:r>
              <a:rPr sz="950">
                <a:solidFill>
                  <a:srgbClr val="E8E2FF"/>
                </a:solidFill>
                <a:latin typeface="Consolas"/>
              </a:rPr>
              <a:t>con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setConnectTimeout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5000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</a:t>
            </a:r>
            <a:r>
              <a:rPr sz="950">
                <a:solidFill>
                  <a:srgbClr val="E8E2FF"/>
                </a:solidFill>
                <a:latin typeface="Consolas"/>
              </a:rPr>
              <a:t>con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setReadTimeout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10000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</a:t>
            </a:r>
            <a:r>
              <a:rPr sz="950">
                <a:solidFill>
                  <a:srgbClr val="FAF33E"/>
                </a:solidFill>
                <a:latin typeface="Consolas"/>
              </a:rPr>
              <a:t>try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9D8DF1"/>
                </a:solidFill>
                <a:latin typeface="Consolas"/>
              </a:rPr>
              <a:t>BufferedReader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r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=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FAF33E"/>
                </a:solidFill>
                <a:latin typeface="Consolas"/>
              </a:rPr>
              <a:t>new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9D8DF1"/>
                </a:solidFill>
                <a:latin typeface="Consolas"/>
              </a:rPr>
              <a:t>BufferedReader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         </a:t>
            </a:r>
            <a:r>
              <a:rPr sz="950">
                <a:solidFill>
                  <a:srgbClr val="FAF33E"/>
                </a:solidFill>
                <a:latin typeface="Consolas"/>
              </a:rPr>
              <a:t>new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9D8DF1"/>
                </a:solidFill>
                <a:latin typeface="Consolas"/>
              </a:rPr>
              <a:t>InputStreamReader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con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getInputStream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    </a:t>
            </a:r>
            <a:r>
              <a:rPr sz="950">
                <a:solidFill>
                  <a:srgbClr val="E8E2FF"/>
                </a:solidFill>
                <a:latin typeface="Consolas"/>
              </a:rPr>
              <a:t>StringBuilder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sb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=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FAF33E"/>
                </a:solidFill>
                <a:latin typeface="Consolas"/>
              </a:rPr>
              <a:t>new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StringBuilder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    </a:t>
            </a:r>
            <a:r>
              <a:rPr sz="950">
                <a:solidFill>
                  <a:srgbClr val="9D8DF1"/>
                </a:solidFill>
                <a:latin typeface="Consolas"/>
              </a:rPr>
              <a:t>String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ligne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    </a:t>
            </a:r>
            <a:r>
              <a:rPr sz="950">
                <a:solidFill>
                  <a:srgbClr val="FAF33E"/>
                </a:solidFill>
                <a:latin typeface="Consolas"/>
              </a:rPr>
              <a:t>while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ligne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=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r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readLine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!</a:t>
            </a:r>
            <a:r>
              <a:rPr sz="950">
                <a:solidFill>
                  <a:srgbClr val="E8E2FF"/>
                </a:solidFill>
                <a:latin typeface="Consolas"/>
              </a:rPr>
              <a:t>=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FAF33E"/>
                </a:solidFill>
                <a:latin typeface="Consolas"/>
              </a:rPr>
              <a:t>null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sb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append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ligne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    </a:t>
            </a:r>
            <a:r>
              <a:rPr sz="950">
                <a:solidFill>
                  <a:srgbClr val="FAF33E"/>
                </a:solidFill>
                <a:latin typeface="Consolas"/>
              </a:rPr>
              <a:t>return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sb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toString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</a:t>
            </a:r>
            <a:r>
              <a:rPr sz="950">
                <a:solidFill>
                  <a:srgbClr val="E8E2FF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</a:t>
            </a:r>
            <a:r>
              <a:rPr sz="950">
                <a:solidFill>
                  <a:srgbClr val="E8E2FF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</a:t>
            </a:r>
            <a:r>
              <a:rPr sz="950">
                <a:solidFill>
                  <a:srgbClr val="E8E2FF"/>
                </a:solidFill>
                <a:latin typeface="Consolas"/>
              </a:rPr>
              <a:t>@</a:t>
            </a:r>
            <a:r>
              <a:rPr sz="950">
                <a:solidFill>
                  <a:srgbClr val="E8E2FF"/>
                </a:solidFill>
                <a:latin typeface="Consolas"/>
              </a:rPr>
              <a:t>Override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</a:t>
            </a:r>
            <a:r>
              <a:rPr sz="950">
                <a:solidFill>
                  <a:srgbClr val="FAF33E"/>
                </a:solidFill>
                <a:latin typeface="Consolas"/>
              </a:rPr>
              <a:t>protected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FAF33E"/>
                </a:solidFill>
                <a:latin typeface="Consolas"/>
              </a:rPr>
              <a:t>void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done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</a:t>
            </a:r>
            <a:r>
              <a:rPr sz="950">
                <a:solidFill>
                  <a:srgbClr val="FAF33E"/>
                </a:solidFill>
                <a:latin typeface="Consolas"/>
              </a:rPr>
              <a:t>try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    </a:t>
            </a:r>
            <a:r>
              <a:rPr sz="950">
                <a:solidFill>
                  <a:srgbClr val="9D8DF1"/>
                </a:solidFill>
                <a:latin typeface="Consolas"/>
              </a:rPr>
              <a:t>List</a:t>
            </a:r>
            <a:r>
              <a:rPr sz="950">
                <a:solidFill>
                  <a:srgbClr val="E8E2FF"/>
                </a:solidFill>
                <a:latin typeface="Consolas"/>
              </a:rPr>
              <a:t>&lt;</a:t>
            </a:r>
            <a:r>
              <a:rPr sz="950">
                <a:solidFill>
                  <a:srgbClr val="E8E2FF"/>
                </a:solidFill>
                <a:latin typeface="Consolas"/>
              </a:rPr>
              <a:t>Etudiant</a:t>
            </a:r>
            <a:r>
              <a:rPr sz="950">
                <a:solidFill>
                  <a:srgbClr val="E8E2FF"/>
                </a:solidFill>
                <a:latin typeface="Consolas"/>
              </a:rPr>
              <a:t>&gt;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liste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=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parserJson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get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  <a:r>
              <a:rPr sz="950">
                <a:solidFill>
                  <a:srgbClr val="E8E2FF"/>
                </a:solidFill>
                <a:latin typeface="Consolas"/>
              </a:rPr>
              <a:t>   </a:t>
            </a:r>
            <a:r>
              <a:rPr sz="950">
                <a:solidFill>
                  <a:srgbClr val="9990B8"/>
                </a:solidFill>
                <a:latin typeface="Consolas"/>
              </a:rPr>
              <a:t>// ex : Gson, Jackson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    </a:t>
            </a:r>
            <a:r>
              <a:rPr sz="950">
                <a:solidFill>
                  <a:srgbClr val="E8E2FF"/>
                </a:solidFill>
                <a:latin typeface="Consolas"/>
              </a:rPr>
              <a:t>afficherDansTable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liste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</a:t>
            </a:r>
            <a:r>
              <a:rPr sz="950">
                <a:solidFill>
                  <a:srgbClr val="E8E2FF"/>
                </a:solidFill>
                <a:latin typeface="Consolas"/>
              </a:rPr>
              <a:t>}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FAF33E"/>
                </a:solidFill>
                <a:latin typeface="Consolas"/>
              </a:rPr>
              <a:t>catch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9D8DF1"/>
                </a:solidFill>
                <a:latin typeface="Consolas"/>
              </a:rPr>
              <a:t>Exception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ex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    </a:t>
            </a:r>
            <a:r>
              <a:rPr sz="950">
                <a:solidFill>
                  <a:srgbClr val="E8E2FF"/>
                </a:solidFill>
                <a:latin typeface="Consolas"/>
              </a:rPr>
              <a:t>erreur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setText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FFB3C1"/>
                </a:solidFill>
                <a:latin typeface="Consolas"/>
              </a:rPr>
              <a:t>"API indisponible : "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+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ex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getMessage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</a:t>
            </a:r>
            <a:r>
              <a:rPr sz="950">
                <a:solidFill>
                  <a:srgbClr val="E8E2FF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</a:t>
            </a:r>
            <a:r>
              <a:rPr sz="950">
                <a:solidFill>
                  <a:srgbClr val="E8E2FF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}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execute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D8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048695" y="2286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2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48695" y="228600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AFAFF"/>
                </a:solidFill>
                <a:latin typeface="Calibri"/>
              </a:rPr>
              <a:t>23 / 30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329184"/>
            <a:ext cx="91440" cy="91440"/>
          </a:xfrm>
          <a:prstGeom prst="ellipse">
            <a:avLst/>
          </a:prstGeom>
          <a:solidFill>
            <a:srgbClr val="E85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25603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200">
                <a:solidFill>
                  <a:srgbClr val="6B5F8C"/>
                </a:solidFill>
                <a:latin typeface="Calibri"/>
              </a:rPr>
              <a:t>5. CHARGER DES DONNÉES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713232"/>
            <a:ext cx="164592" cy="329184"/>
          </a:xfrm>
          <a:prstGeom prst="rect">
            <a:avLst/>
          </a:prstGeom>
          <a:solidFill>
            <a:srgbClr val="FAF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00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21C35"/>
                </a:solidFill>
                <a:latin typeface="Calibri"/>
              </a:rPr>
              <a:t>Mettre à jour une JTable dynamiquement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07899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5F8C"/>
                </a:solidFill>
                <a:latin typeface="Calibri"/>
              </a:rPr>
              <a:t>Toujours passer par le DefaultTableModel — jamais modifier la JTable directement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7315200" cy="4937760"/>
          </a:xfrm>
          <a:prstGeom prst="roundRect">
            <a:avLst>
              <a:gd name="adj" fmla="val 4000"/>
            </a:avLst>
          </a:prstGeom>
          <a:solidFill>
            <a:srgbClr val="22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1856232"/>
            <a:ext cx="6949440" cy="4709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950">
                <a:solidFill>
                  <a:srgbClr val="9990B8"/>
                </a:solidFill>
                <a:latin typeface="Consolas"/>
              </a:rPr>
              <a:t>// Création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9D8DF1"/>
                </a:solidFill>
                <a:latin typeface="Consolas"/>
              </a:rPr>
              <a:t>String</a:t>
            </a:r>
            <a:r>
              <a:rPr sz="950">
                <a:solidFill>
                  <a:srgbClr val="E8E2FF"/>
                </a:solidFill>
                <a:latin typeface="Consolas"/>
              </a:rPr>
              <a:t>[</a:t>
            </a:r>
            <a:r>
              <a:rPr sz="950">
                <a:solidFill>
                  <a:srgbClr val="E8E2FF"/>
                </a:solidFill>
                <a:latin typeface="Consolas"/>
              </a:rPr>
              <a:t>]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cols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=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{</a:t>
            </a:r>
            <a:r>
              <a:rPr sz="950">
                <a:solidFill>
                  <a:srgbClr val="FFB3C1"/>
                </a:solidFill>
                <a:latin typeface="Consolas"/>
              </a:rPr>
              <a:t>"ID"</a:t>
            </a:r>
            <a:r>
              <a:rPr sz="950">
                <a:solidFill>
                  <a:srgbClr val="E8E2FF"/>
                </a:solidFill>
                <a:latin typeface="Consolas"/>
              </a:rPr>
              <a:t>,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FFB3C1"/>
                </a:solidFill>
                <a:latin typeface="Consolas"/>
              </a:rPr>
              <a:t>"Nom"</a:t>
            </a:r>
            <a:r>
              <a:rPr sz="950">
                <a:solidFill>
                  <a:srgbClr val="E8E2FF"/>
                </a:solidFill>
                <a:latin typeface="Consolas"/>
              </a:rPr>
              <a:t>,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FFB3C1"/>
                </a:solidFill>
                <a:latin typeface="Consolas"/>
              </a:rPr>
              <a:t>"Prénom"</a:t>
            </a:r>
            <a:r>
              <a:rPr sz="950">
                <a:solidFill>
                  <a:srgbClr val="E8E2FF"/>
                </a:solidFill>
                <a:latin typeface="Consolas"/>
              </a:rPr>
              <a:t>,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FFB3C1"/>
                </a:solidFill>
                <a:latin typeface="Consolas"/>
              </a:rPr>
              <a:t>"Note"</a:t>
            </a:r>
            <a:r>
              <a:rPr sz="950">
                <a:solidFill>
                  <a:srgbClr val="E8E2FF"/>
                </a:solidFill>
                <a:latin typeface="Consolas"/>
              </a:rPr>
              <a:t>}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9D8DF1"/>
                </a:solidFill>
                <a:latin typeface="Consolas"/>
              </a:rPr>
              <a:t>DefaultTableModel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modele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=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FAF33E"/>
                </a:solidFill>
                <a:latin typeface="Consolas"/>
              </a:rPr>
              <a:t>new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9D8DF1"/>
                </a:solidFill>
                <a:latin typeface="Consolas"/>
              </a:rPr>
              <a:t>DefaultTableModel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cols</a:t>
            </a:r>
            <a:r>
              <a:rPr sz="950">
                <a:solidFill>
                  <a:srgbClr val="E8E2FF"/>
                </a:solidFill>
                <a:latin typeface="Consolas"/>
              </a:rPr>
              <a:t>,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0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9D8DF1"/>
                </a:solidFill>
                <a:latin typeface="Consolas"/>
              </a:rPr>
              <a:t>JTable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table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=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FAF33E"/>
                </a:solidFill>
                <a:latin typeface="Consolas"/>
              </a:rPr>
              <a:t>new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9D8DF1"/>
                </a:solidFill>
                <a:latin typeface="Consolas"/>
              </a:rPr>
              <a:t>JTable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modele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9990B8"/>
                </a:solidFill>
                <a:latin typeface="Consolas"/>
              </a:rPr>
              <a:t>// Ajouter une ligne (sur l'EDT)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modele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addRow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FAF33E"/>
                </a:solidFill>
                <a:latin typeface="Consolas"/>
              </a:rPr>
              <a:t>new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9D8DF1"/>
                </a:solidFill>
                <a:latin typeface="Consolas"/>
              </a:rPr>
              <a:t>Object</a:t>
            </a:r>
            <a:r>
              <a:rPr sz="950">
                <a:solidFill>
                  <a:srgbClr val="E8E2FF"/>
                </a:solidFill>
                <a:latin typeface="Consolas"/>
              </a:rPr>
              <a:t>[</a:t>
            </a:r>
            <a:r>
              <a:rPr sz="950">
                <a:solidFill>
                  <a:srgbClr val="E8E2FF"/>
                </a:solidFill>
                <a:latin typeface="Consolas"/>
              </a:rPr>
              <a:t>]</a:t>
            </a:r>
            <a:r>
              <a:rPr sz="950">
                <a:solidFill>
                  <a:srgbClr val="E8E2FF"/>
                </a:solidFill>
                <a:latin typeface="Consolas"/>
              </a:rPr>
              <a:t>{</a:t>
            </a:r>
            <a:r>
              <a:rPr sz="950">
                <a:solidFill>
                  <a:srgbClr val="E8E2FF"/>
                </a:solidFill>
                <a:latin typeface="Consolas"/>
              </a:rPr>
              <a:t>1</a:t>
            </a:r>
            <a:r>
              <a:rPr sz="950">
                <a:solidFill>
                  <a:srgbClr val="E8E2FF"/>
                </a:solidFill>
                <a:latin typeface="Consolas"/>
              </a:rPr>
              <a:t>,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FFB3C1"/>
                </a:solidFill>
                <a:latin typeface="Consolas"/>
              </a:rPr>
              <a:t>"Ndiaye"</a:t>
            </a:r>
            <a:r>
              <a:rPr sz="950">
                <a:solidFill>
                  <a:srgbClr val="E8E2FF"/>
                </a:solidFill>
                <a:latin typeface="Consolas"/>
              </a:rPr>
              <a:t>,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FFB3C1"/>
                </a:solidFill>
                <a:latin typeface="Consolas"/>
              </a:rPr>
              <a:t>"Awa"</a:t>
            </a:r>
            <a:r>
              <a:rPr sz="950">
                <a:solidFill>
                  <a:srgbClr val="E8E2FF"/>
                </a:solidFill>
                <a:latin typeface="Consolas"/>
              </a:rPr>
              <a:t>,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15.5</a:t>
            </a:r>
            <a:r>
              <a:rPr sz="950">
                <a:solidFill>
                  <a:srgbClr val="E8E2FF"/>
                </a:solidFill>
                <a:latin typeface="Consolas"/>
              </a:rPr>
              <a:t>}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9990B8"/>
                </a:solidFill>
                <a:latin typeface="Consolas"/>
              </a:rPr>
              <a:t>// Vider tout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modele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setRowCount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0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9990B8"/>
                </a:solidFill>
                <a:latin typeface="Consolas"/>
              </a:rPr>
              <a:t>// Supprimer la ligne sélectionnée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9D8DF1"/>
                </a:solidFill>
                <a:latin typeface="Consolas"/>
              </a:rPr>
              <a:t>int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row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=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table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getSelectedRow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FAF33E"/>
                </a:solidFill>
                <a:latin typeface="Consolas"/>
              </a:rPr>
              <a:t>if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row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&gt;</a:t>
            </a:r>
            <a:r>
              <a:rPr sz="950">
                <a:solidFill>
                  <a:srgbClr val="E8E2FF"/>
                </a:solidFill>
                <a:latin typeface="Consolas"/>
              </a:rPr>
              <a:t>=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0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modele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removeRow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table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convertRowIndexToModel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row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9990B8"/>
                </a:solidFill>
                <a:latin typeface="Consolas"/>
              </a:rPr>
              <a:t>// Modifier une cellule (valeur, ligne, colonne)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modele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setValueAt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18.0</a:t>
            </a:r>
            <a:r>
              <a:rPr sz="950">
                <a:solidFill>
                  <a:srgbClr val="E8E2FF"/>
                </a:solidFill>
                <a:latin typeface="Consolas"/>
              </a:rPr>
              <a:t>,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row</a:t>
            </a:r>
            <a:r>
              <a:rPr sz="950">
                <a:solidFill>
                  <a:srgbClr val="E8E2FF"/>
                </a:solidFill>
                <a:latin typeface="Consolas"/>
              </a:rPr>
              <a:t>,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3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9990B8"/>
                </a:solidFill>
                <a:latin typeface="Consolas"/>
              </a:rPr>
              <a:t>// Recharger toutes les données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modele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setRowCount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0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FAF33E"/>
                </a:solidFill>
                <a:latin typeface="Consolas"/>
              </a:rPr>
              <a:t>for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Etudiant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e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: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nouvelleListe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</a:t>
            </a:r>
            <a:r>
              <a:rPr sz="950">
                <a:solidFill>
                  <a:srgbClr val="E8E2FF"/>
                </a:solidFill>
                <a:latin typeface="Consolas"/>
              </a:rPr>
              <a:t>modele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addRow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FAF33E"/>
                </a:solidFill>
                <a:latin typeface="Consolas"/>
              </a:rPr>
              <a:t>new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9D8DF1"/>
                </a:solidFill>
                <a:latin typeface="Consolas"/>
              </a:rPr>
              <a:t>Object</a:t>
            </a:r>
            <a:r>
              <a:rPr sz="950">
                <a:solidFill>
                  <a:srgbClr val="E8E2FF"/>
                </a:solidFill>
                <a:latin typeface="Consolas"/>
              </a:rPr>
              <a:t>[</a:t>
            </a:r>
            <a:r>
              <a:rPr sz="950">
                <a:solidFill>
                  <a:srgbClr val="E8E2FF"/>
                </a:solidFill>
                <a:latin typeface="Consolas"/>
              </a:rPr>
              <a:t>]</a:t>
            </a:r>
            <a:r>
              <a:rPr sz="950">
                <a:solidFill>
                  <a:srgbClr val="E8E2FF"/>
                </a:solidFill>
                <a:latin typeface="Consolas"/>
              </a:rPr>
              <a:t>{</a:t>
            </a:r>
            <a:r>
              <a:rPr sz="950">
                <a:solidFill>
                  <a:srgbClr val="E8E2FF"/>
                </a:solidFill>
                <a:latin typeface="Consolas"/>
              </a:rPr>
              <a:t>e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id</a:t>
            </a:r>
            <a:r>
              <a:rPr sz="950">
                <a:solidFill>
                  <a:srgbClr val="E8E2FF"/>
                </a:solidFill>
                <a:latin typeface="Consolas"/>
              </a:rPr>
              <a:t>,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e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nom</a:t>
            </a:r>
            <a:r>
              <a:rPr sz="950">
                <a:solidFill>
                  <a:srgbClr val="E8E2FF"/>
                </a:solidFill>
                <a:latin typeface="Consolas"/>
              </a:rPr>
              <a:t>,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e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prenom</a:t>
            </a:r>
            <a:r>
              <a:rPr sz="950">
                <a:solidFill>
                  <a:srgbClr val="E8E2FF"/>
                </a:solidFill>
                <a:latin typeface="Consolas"/>
              </a:rPr>
              <a:t>,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e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note</a:t>
            </a:r>
            <a:r>
              <a:rPr sz="950">
                <a:solidFill>
                  <a:srgbClr val="E8E2FF"/>
                </a:solidFill>
                <a:latin typeface="Consolas"/>
              </a:rPr>
              <a:t>}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691640"/>
            <a:ext cx="3474720" cy="4937760"/>
          </a:xfrm>
          <a:prstGeom prst="roundRect">
            <a:avLst>
              <a:gd name="adj" fmla="val 4000"/>
            </a:avLst>
          </a:prstGeom>
          <a:solidFill>
            <a:srgbClr val="EF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691640"/>
            <a:ext cx="73152" cy="4937760"/>
          </a:xfrm>
          <a:prstGeom prst="rect">
            <a:avLst/>
          </a:prstGeom>
          <a:solidFill>
            <a:srgbClr val="FAF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8288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21C35"/>
                </a:solidFill>
                <a:latin typeface="Calibri"/>
              </a:rPr>
              <a:t>Règles d'or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194560"/>
            <a:ext cx="3200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050" b="0" i="0">
                <a:solidFill>
                  <a:srgbClr val="221C35"/>
                </a:solidFill>
                <a:latin typeface="Calibri"/>
              </a:rPr>
              <a:t>✓ Toujours utiliser</a:t>
            </a:r>
          </a:p>
          <a:p>
            <a:pPr>
              <a:lnSpc>
                <a:spcPct val="125000"/>
              </a:lnSpc>
            </a:pPr>
            <a:r>
              <a:rPr sz="1050" b="0" i="0">
                <a:solidFill>
                  <a:srgbClr val="221C35"/>
                </a:solidFill>
                <a:latin typeface="Calibri"/>
              </a:rPr>
              <a:t>  DefaultTableModel</a:t>
            </a:r>
          </a:p>
          <a:p>
            <a:pPr>
              <a:lnSpc>
                <a:spcPct val="125000"/>
              </a:lnSpc>
            </a:pPr>
            <a:r>
              <a:rPr sz="1050" b="0" i="0">
                <a:solidFill>
                  <a:srgbClr val="221C35"/>
                </a:solidFill>
                <a:latin typeface="Calibri"/>
              </a:rPr>
              <a:t/>
            </a:r>
          </a:p>
          <a:p>
            <a:pPr>
              <a:lnSpc>
                <a:spcPct val="125000"/>
              </a:lnSpc>
            </a:pPr>
            <a:r>
              <a:rPr sz="1050" b="0" i="0">
                <a:solidFill>
                  <a:srgbClr val="221C35"/>
                </a:solidFill>
                <a:latin typeface="Calibri"/>
              </a:rPr>
              <a:t>✓ Modifier le modèle,</a:t>
            </a:r>
          </a:p>
          <a:p>
            <a:pPr>
              <a:lnSpc>
                <a:spcPct val="125000"/>
              </a:lnSpc>
            </a:pPr>
            <a:r>
              <a:rPr sz="1050" b="0" i="0">
                <a:solidFill>
                  <a:srgbClr val="221C35"/>
                </a:solidFill>
                <a:latin typeface="Calibri"/>
              </a:rPr>
              <a:t>  pas la JTable</a:t>
            </a:r>
          </a:p>
          <a:p>
            <a:pPr>
              <a:lnSpc>
                <a:spcPct val="125000"/>
              </a:lnSpc>
            </a:pPr>
            <a:r>
              <a:rPr sz="1050" b="0" i="0">
                <a:solidFill>
                  <a:srgbClr val="221C35"/>
                </a:solidFill>
                <a:latin typeface="Calibri"/>
              </a:rPr>
              <a:t/>
            </a:r>
          </a:p>
          <a:p>
            <a:pPr>
              <a:lnSpc>
                <a:spcPct val="125000"/>
              </a:lnSpc>
            </a:pPr>
            <a:r>
              <a:rPr sz="1050" b="0" i="0">
                <a:solidFill>
                  <a:srgbClr val="221C35"/>
                </a:solidFill>
                <a:latin typeface="Calibri"/>
              </a:rPr>
              <a:t>✓ Toutes les modifs</a:t>
            </a:r>
          </a:p>
          <a:p>
            <a:pPr>
              <a:lnSpc>
                <a:spcPct val="125000"/>
              </a:lnSpc>
            </a:pPr>
            <a:r>
              <a:rPr sz="1050" b="0" i="0">
                <a:solidFill>
                  <a:srgbClr val="221C35"/>
                </a:solidFill>
                <a:latin typeface="Calibri"/>
              </a:rPr>
              <a:t>  sur l'EDT</a:t>
            </a:r>
          </a:p>
          <a:p>
            <a:pPr>
              <a:lnSpc>
                <a:spcPct val="125000"/>
              </a:lnSpc>
            </a:pPr>
            <a:r>
              <a:rPr sz="1050" b="0" i="0">
                <a:solidFill>
                  <a:srgbClr val="221C35"/>
                </a:solidFill>
                <a:latin typeface="Calibri"/>
              </a:rPr>
              <a:t/>
            </a:r>
          </a:p>
          <a:p>
            <a:pPr>
              <a:lnSpc>
                <a:spcPct val="125000"/>
              </a:lnSpc>
            </a:pPr>
            <a:r>
              <a:rPr sz="1050" b="0" i="0">
                <a:solidFill>
                  <a:srgbClr val="221C35"/>
                </a:solidFill>
                <a:latin typeface="Calibri"/>
              </a:rPr>
              <a:t>✓ Pour 1000+ lignes,</a:t>
            </a:r>
          </a:p>
          <a:p>
            <a:pPr>
              <a:lnSpc>
                <a:spcPct val="125000"/>
              </a:lnSpc>
            </a:pPr>
            <a:r>
              <a:rPr sz="1050" b="0" i="0">
                <a:solidFill>
                  <a:srgbClr val="221C35"/>
                </a:solidFill>
                <a:latin typeface="Calibri"/>
              </a:rPr>
              <a:t>  batcher les ajouts</a:t>
            </a:r>
          </a:p>
          <a:p>
            <a:pPr>
              <a:lnSpc>
                <a:spcPct val="125000"/>
              </a:lnSpc>
            </a:pPr>
            <a:r>
              <a:rPr sz="1050" b="0" i="0">
                <a:solidFill>
                  <a:srgbClr val="221C35"/>
                </a:solidFill>
                <a:latin typeface="Calibri"/>
              </a:rPr>
              <a:t/>
            </a:r>
          </a:p>
          <a:p>
            <a:pPr>
              <a:lnSpc>
                <a:spcPct val="125000"/>
              </a:lnSpc>
            </a:pPr>
            <a:r>
              <a:rPr sz="1050" b="0" i="0">
                <a:solidFill>
                  <a:srgbClr val="221C35"/>
                </a:solidFill>
                <a:latin typeface="Calibri"/>
              </a:rPr>
              <a:t>✗ Ne pas modifier</a:t>
            </a:r>
          </a:p>
          <a:p>
            <a:pPr>
              <a:lnSpc>
                <a:spcPct val="125000"/>
              </a:lnSpc>
            </a:pPr>
            <a:r>
              <a:rPr sz="1050" b="0" i="0">
                <a:solidFill>
                  <a:srgbClr val="221C35"/>
                </a:solidFill>
                <a:latin typeface="Calibri"/>
              </a:rPr>
              <a:t>  pendant un tri actif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D8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048695" y="2286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2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48695" y="228600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AFAFF"/>
                </a:solidFill>
                <a:latin typeface="Calibri"/>
              </a:rPr>
              <a:t>24 / 30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329184"/>
            <a:ext cx="91440" cy="91440"/>
          </a:xfrm>
          <a:prstGeom prst="ellipse">
            <a:avLst/>
          </a:prstGeom>
          <a:solidFill>
            <a:srgbClr val="E85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25603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200">
                <a:solidFill>
                  <a:srgbClr val="6B5F8C"/>
                </a:solidFill>
                <a:latin typeface="Calibri"/>
              </a:rPr>
              <a:t>5. CHARGER DES DONNÉES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713232"/>
            <a:ext cx="164592" cy="329184"/>
          </a:xfrm>
          <a:prstGeom prst="rect">
            <a:avLst/>
          </a:prstGeom>
          <a:solidFill>
            <a:srgbClr val="FAF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00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21C35"/>
                </a:solidFill>
                <a:latin typeface="Calibri"/>
              </a:rPr>
              <a:t>JProgressBar — afficher la progression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07899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5F8C"/>
                </a:solidFill>
                <a:latin typeface="Calibri"/>
              </a:rPr>
              <a:t>Lier la barre de progression au SwingWorker via PropertyChangeListener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10972800" cy="4937760"/>
          </a:xfrm>
          <a:prstGeom prst="roundRect">
            <a:avLst>
              <a:gd name="adj" fmla="val 4000"/>
            </a:avLst>
          </a:prstGeom>
          <a:solidFill>
            <a:srgbClr val="22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1856232"/>
            <a:ext cx="10607040" cy="4709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950">
                <a:solidFill>
                  <a:srgbClr val="9D8DF1"/>
                </a:solidFill>
                <a:latin typeface="Consolas"/>
              </a:rPr>
              <a:t>JProgressBar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barre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=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FAF33E"/>
                </a:solidFill>
                <a:latin typeface="Consolas"/>
              </a:rPr>
              <a:t>new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9D8DF1"/>
                </a:solidFill>
                <a:latin typeface="Consolas"/>
              </a:rPr>
              <a:t>JProgressBar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0</a:t>
            </a:r>
            <a:r>
              <a:rPr sz="950">
                <a:solidFill>
                  <a:srgbClr val="E8E2FF"/>
                </a:solidFill>
                <a:latin typeface="Consolas"/>
              </a:rPr>
              <a:t>,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100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barre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setStringPainted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FAF33E"/>
                </a:solidFill>
                <a:latin typeface="Consolas"/>
              </a:rPr>
              <a:t>true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  <a:r>
              <a:rPr sz="950">
                <a:solidFill>
                  <a:srgbClr val="E8E2FF"/>
                </a:solidFill>
                <a:latin typeface="Consolas"/>
              </a:rPr>
              <a:t>              </a:t>
            </a:r>
            <a:r>
              <a:rPr sz="950">
                <a:solidFill>
                  <a:srgbClr val="9990B8"/>
                </a:solidFill>
                <a:latin typeface="Consolas"/>
              </a:rPr>
              <a:t>// afficher "42%"</a:t>
            </a:r>
          </a:p>
          <a:p>
            <a:pPr>
              <a:lnSpc>
                <a:spcPct val="108000"/>
              </a:lnSpc>
            </a:pP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9D8DF1"/>
                </a:solidFill>
                <a:latin typeface="Consolas"/>
              </a:rPr>
              <a:t>SwingWorker</a:t>
            </a:r>
            <a:r>
              <a:rPr sz="950">
                <a:solidFill>
                  <a:srgbClr val="E8E2FF"/>
                </a:solidFill>
                <a:latin typeface="Consolas"/>
              </a:rPr>
              <a:t>&lt;</a:t>
            </a:r>
            <a:r>
              <a:rPr sz="950">
                <a:solidFill>
                  <a:srgbClr val="E8E2FF"/>
                </a:solidFill>
                <a:latin typeface="Consolas"/>
              </a:rPr>
              <a:t>Void</a:t>
            </a:r>
            <a:r>
              <a:rPr sz="950">
                <a:solidFill>
                  <a:srgbClr val="E8E2FF"/>
                </a:solidFill>
                <a:latin typeface="Consolas"/>
              </a:rPr>
              <a:t>,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Void</a:t>
            </a:r>
            <a:r>
              <a:rPr sz="950">
                <a:solidFill>
                  <a:srgbClr val="E8E2FF"/>
                </a:solidFill>
                <a:latin typeface="Consolas"/>
              </a:rPr>
              <a:t>&gt;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worker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=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FAF33E"/>
                </a:solidFill>
                <a:latin typeface="Consolas"/>
              </a:rPr>
              <a:t>new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9D8DF1"/>
                </a:solidFill>
                <a:latin typeface="Consolas"/>
              </a:rPr>
              <a:t>SwingWorker</a:t>
            </a:r>
            <a:r>
              <a:rPr sz="950">
                <a:solidFill>
                  <a:srgbClr val="E8E2FF"/>
                </a:solidFill>
                <a:latin typeface="Consolas"/>
              </a:rPr>
              <a:t>&lt;</a:t>
            </a:r>
            <a:r>
              <a:rPr sz="950">
                <a:solidFill>
                  <a:srgbClr val="E8E2FF"/>
                </a:solidFill>
                <a:latin typeface="Consolas"/>
              </a:rPr>
              <a:t>&gt;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</a:t>
            </a:r>
            <a:r>
              <a:rPr sz="950">
                <a:solidFill>
                  <a:srgbClr val="E8E2FF"/>
                </a:solidFill>
                <a:latin typeface="Consolas"/>
              </a:rPr>
              <a:t>@</a:t>
            </a:r>
            <a:r>
              <a:rPr sz="950">
                <a:solidFill>
                  <a:srgbClr val="E8E2FF"/>
                </a:solidFill>
                <a:latin typeface="Consolas"/>
              </a:rPr>
              <a:t>Override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</a:t>
            </a:r>
            <a:r>
              <a:rPr sz="950">
                <a:solidFill>
                  <a:srgbClr val="FAF33E"/>
                </a:solidFill>
                <a:latin typeface="Consolas"/>
              </a:rPr>
              <a:t>protected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Void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doInBackground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</a:t>
            </a:r>
            <a:r>
              <a:rPr sz="950">
                <a:solidFill>
                  <a:srgbClr val="FAF33E"/>
                </a:solidFill>
                <a:latin typeface="Consolas"/>
              </a:rPr>
              <a:t>for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9D8DF1"/>
                </a:solidFill>
                <a:latin typeface="Consolas"/>
              </a:rPr>
              <a:t>int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i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=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0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i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&lt;</a:t>
            </a:r>
            <a:r>
              <a:rPr sz="950">
                <a:solidFill>
                  <a:srgbClr val="E8E2FF"/>
                </a:solidFill>
                <a:latin typeface="Consolas"/>
              </a:rPr>
              <a:t>=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100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i</a:t>
            </a:r>
            <a:r>
              <a:rPr sz="950">
                <a:solidFill>
                  <a:srgbClr val="E8E2FF"/>
                </a:solidFill>
                <a:latin typeface="Consolas"/>
              </a:rPr>
              <a:t>+</a:t>
            </a:r>
            <a:r>
              <a:rPr sz="950">
                <a:solidFill>
                  <a:srgbClr val="E8E2FF"/>
                </a:solidFill>
                <a:latin typeface="Consolas"/>
              </a:rPr>
              <a:t>+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    </a:t>
            </a:r>
            <a:r>
              <a:rPr sz="950">
                <a:solidFill>
                  <a:srgbClr val="9D8DF1"/>
                </a:solidFill>
                <a:latin typeface="Consolas"/>
              </a:rPr>
              <a:t>Thread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sleep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30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  <a:r>
              <a:rPr sz="950">
                <a:solidFill>
                  <a:srgbClr val="E8E2FF"/>
                </a:solidFill>
                <a:latin typeface="Consolas"/>
              </a:rPr>
              <a:t>              </a:t>
            </a:r>
            <a:r>
              <a:rPr sz="950">
                <a:solidFill>
                  <a:srgbClr val="9990B8"/>
                </a:solidFill>
                <a:latin typeface="Consolas"/>
              </a:rPr>
              <a:t>// simule du travail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    </a:t>
            </a:r>
            <a:r>
              <a:rPr sz="950">
                <a:solidFill>
                  <a:srgbClr val="E8E2FF"/>
                </a:solidFill>
                <a:latin typeface="Consolas"/>
              </a:rPr>
              <a:t>setProgress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i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  <a:r>
              <a:rPr sz="950">
                <a:solidFill>
                  <a:srgbClr val="E8E2FF"/>
                </a:solidFill>
                <a:latin typeface="Consolas"/>
              </a:rPr>
              <a:t>                </a:t>
            </a:r>
            <a:r>
              <a:rPr sz="950">
                <a:solidFill>
                  <a:srgbClr val="9990B8"/>
                </a:solidFill>
                <a:latin typeface="Consolas"/>
              </a:rPr>
              <a:t>// 0..100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</a:t>
            </a:r>
            <a:r>
              <a:rPr sz="950">
                <a:solidFill>
                  <a:srgbClr val="E8E2FF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</a:t>
            </a:r>
            <a:r>
              <a:rPr sz="950">
                <a:solidFill>
                  <a:srgbClr val="FAF33E"/>
                </a:solidFill>
                <a:latin typeface="Consolas"/>
              </a:rPr>
              <a:t>return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FAF33E"/>
                </a:solidFill>
                <a:latin typeface="Consolas"/>
              </a:rPr>
              <a:t>null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</a:t>
            </a:r>
            <a:r>
              <a:rPr sz="950">
                <a:solidFill>
                  <a:srgbClr val="E8E2FF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}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9990B8"/>
                </a:solidFill>
                <a:latin typeface="Consolas"/>
              </a:rPr>
              <a:t>// Connecter le worker à la barre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worker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addPropertyChangeListener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evt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-</a:t>
            </a:r>
            <a:r>
              <a:rPr sz="950">
                <a:solidFill>
                  <a:srgbClr val="E8E2FF"/>
                </a:solidFill>
                <a:latin typeface="Consolas"/>
              </a:rPr>
              <a:t>&gt;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</a:t>
            </a:r>
            <a:r>
              <a:rPr sz="950">
                <a:solidFill>
                  <a:srgbClr val="FAF33E"/>
                </a:solidFill>
                <a:latin typeface="Consolas"/>
              </a:rPr>
              <a:t>if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FFB3C1"/>
                </a:solidFill>
                <a:latin typeface="Consolas"/>
              </a:rPr>
              <a:t>"progress"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equals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evt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getPropertyName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</a:t>
            </a:r>
            <a:r>
              <a:rPr sz="950">
                <a:solidFill>
                  <a:srgbClr val="E8E2FF"/>
                </a:solidFill>
                <a:latin typeface="Consolas"/>
              </a:rPr>
              <a:t>barre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setValue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9D8DF1"/>
                </a:solidFill>
                <a:latin typeface="Consolas"/>
              </a:rPr>
              <a:t>Integer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evt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getNewValue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</a:t>
            </a:r>
            <a:r>
              <a:rPr sz="950">
                <a:solidFill>
                  <a:srgbClr val="E8E2FF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}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worker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execute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9990B8"/>
                </a:solidFill>
                <a:latin typeface="Consolas"/>
              </a:rPr>
              <a:t>// Mode indéterminé (durée inconnue) :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barre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setIndeterminate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FAF33E"/>
                </a:solidFill>
                <a:latin typeface="Consolas"/>
              </a:rPr>
              <a:t>true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  <a:r>
              <a:rPr sz="950">
                <a:solidFill>
                  <a:srgbClr val="E8E2FF"/>
                </a:solidFill>
                <a:latin typeface="Consolas"/>
              </a:rPr>
              <a:t>   </a:t>
            </a:r>
            <a:r>
              <a:rPr sz="950">
                <a:solidFill>
                  <a:srgbClr val="9990B8"/>
                </a:solidFill>
                <a:latin typeface="Consolas"/>
              </a:rPr>
              <a:t>// animation va-et-vient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D8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048695" y="2286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2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48695" y="228600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AFAFF"/>
                </a:solidFill>
                <a:latin typeface="Calibri"/>
              </a:rPr>
              <a:t>25 / 30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329184"/>
            <a:ext cx="91440" cy="91440"/>
          </a:xfrm>
          <a:prstGeom prst="ellipse">
            <a:avLst/>
          </a:prstGeom>
          <a:solidFill>
            <a:srgbClr val="E85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25603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200">
                <a:solidFill>
                  <a:srgbClr val="6B5F8C"/>
                </a:solidFill>
                <a:latin typeface="Calibri"/>
              </a:rPr>
              <a:t>4. TÂCHES LONGUES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713232"/>
            <a:ext cx="164592" cy="329184"/>
          </a:xfrm>
          <a:prstGeom prst="rect">
            <a:avLst/>
          </a:prstGeom>
          <a:solidFill>
            <a:srgbClr val="FAF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00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21C35"/>
                </a:solidFill>
                <a:latin typeface="Calibri"/>
              </a:rPr>
              <a:t>Annuler une tâche — cancel()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07899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5F8C"/>
                </a:solidFill>
                <a:latin typeface="Calibri"/>
              </a:rPr>
              <a:t>Permettre à l'utilisateur d'interrompre un téléchargement, un calcul, une recherche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10972800" cy="4937760"/>
          </a:xfrm>
          <a:prstGeom prst="roundRect">
            <a:avLst>
              <a:gd name="adj" fmla="val 4000"/>
            </a:avLst>
          </a:prstGeom>
          <a:solidFill>
            <a:srgbClr val="22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1856232"/>
            <a:ext cx="10607040" cy="4709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950">
                <a:solidFill>
                  <a:srgbClr val="9D8DF1"/>
                </a:solidFill>
                <a:latin typeface="Consolas"/>
              </a:rPr>
              <a:t>SwingWorker</a:t>
            </a:r>
            <a:r>
              <a:rPr sz="950">
                <a:solidFill>
                  <a:srgbClr val="E8E2FF"/>
                </a:solidFill>
                <a:latin typeface="Consolas"/>
              </a:rPr>
              <a:t>&lt;</a:t>
            </a:r>
            <a:r>
              <a:rPr sz="950">
                <a:solidFill>
                  <a:srgbClr val="E8E2FF"/>
                </a:solidFill>
                <a:latin typeface="Consolas"/>
              </a:rPr>
              <a:t>Void</a:t>
            </a:r>
            <a:r>
              <a:rPr sz="950">
                <a:solidFill>
                  <a:srgbClr val="E8E2FF"/>
                </a:solidFill>
                <a:latin typeface="Consolas"/>
              </a:rPr>
              <a:t>,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Void</a:t>
            </a:r>
            <a:r>
              <a:rPr sz="950">
                <a:solidFill>
                  <a:srgbClr val="E8E2FF"/>
                </a:solidFill>
                <a:latin typeface="Consolas"/>
              </a:rPr>
              <a:t>&gt;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worker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=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FAF33E"/>
                </a:solidFill>
                <a:latin typeface="Consolas"/>
              </a:rPr>
              <a:t>new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9D8DF1"/>
                </a:solidFill>
                <a:latin typeface="Consolas"/>
              </a:rPr>
              <a:t>SwingWorker</a:t>
            </a:r>
            <a:r>
              <a:rPr sz="950">
                <a:solidFill>
                  <a:srgbClr val="E8E2FF"/>
                </a:solidFill>
                <a:latin typeface="Consolas"/>
              </a:rPr>
              <a:t>&lt;</a:t>
            </a:r>
            <a:r>
              <a:rPr sz="950">
                <a:solidFill>
                  <a:srgbClr val="E8E2FF"/>
                </a:solidFill>
                <a:latin typeface="Consolas"/>
              </a:rPr>
              <a:t>&gt;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</a:t>
            </a:r>
            <a:r>
              <a:rPr sz="950">
                <a:solidFill>
                  <a:srgbClr val="E8E2FF"/>
                </a:solidFill>
                <a:latin typeface="Consolas"/>
              </a:rPr>
              <a:t>@</a:t>
            </a:r>
            <a:r>
              <a:rPr sz="950">
                <a:solidFill>
                  <a:srgbClr val="E8E2FF"/>
                </a:solidFill>
                <a:latin typeface="Consolas"/>
              </a:rPr>
              <a:t>Override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</a:t>
            </a:r>
            <a:r>
              <a:rPr sz="950">
                <a:solidFill>
                  <a:srgbClr val="FAF33E"/>
                </a:solidFill>
                <a:latin typeface="Consolas"/>
              </a:rPr>
              <a:t>protected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Void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doInBackground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FAF33E"/>
                </a:solidFill>
                <a:latin typeface="Consolas"/>
              </a:rPr>
              <a:t>throws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9D8DF1"/>
                </a:solidFill>
                <a:latin typeface="Consolas"/>
              </a:rPr>
              <a:t>Exception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</a:t>
            </a:r>
            <a:r>
              <a:rPr sz="950">
                <a:solidFill>
                  <a:srgbClr val="FAF33E"/>
                </a:solidFill>
                <a:latin typeface="Consolas"/>
              </a:rPr>
              <a:t>for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9D8DF1"/>
                </a:solidFill>
                <a:latin typeface="Consolas"/>
              </a:rPr>
              <a:t>int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i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=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0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i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&lt;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1000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i</a:t>
            </a:r>
            <a:r>
              <a:rPr sz="950">
                <a:solidFill>
                  <a:srgbClr val="E8E2FF"/>
                </a:solidFill>
                <a:latin typeface="Consolas"/>
              </a:rPr>
              <a:t>+</a:t>
            </a:r>
            <a:r>
              <a:rPr sz="950">
                <a:solidFill>
                  <a:srgbClr val="E8E2FF"/>
                </a:solidFill>
                <a:latin typeface="Consolas"/>
              </a:rPr>
              <a:t>+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    </a:t>
            </a:r>
            <a:r>
              <a:rPr sz="950">
                <a:solidFill>
                  <a:srgbClr val="9990B8"/>
                </a:solidFill>
                <a:latin typeface="Consolas"/>
              </a:rPr>
              <a:t>// Vérifier l'annulation à chaque itération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    </a:t>
            </a:r>
            <a:r>
              <a:rPr sz="950">
                <a:solidFill>
                  <a:srgbClr val="FAF33E"/>
                </a:solidFill>
                <a:latin typeface="Consolas"/>
              </a:rPr>
              <a:t>if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isCancelled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        </a:t>
            </a:r>
            <a:r>
              <a:rPr sz="950">
                <a:solidFill>
                  <a:srgbClr val="FAF33E"/>
                </a:solidFill>
                <a:latin typeface="Consolas"/>
              </a:rPr>
              <a:t>return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FAF33E"/>
                </a:solidFill>
                <a:latin typeface="Consolas"/>
              </a:rPr>
              <a:t>null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    </a:t>
            </a:r>
            <a:r>
              <a:rPr sz="950">
                <a:solidFill>
                  <a:srgbClr val="E8E2FF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    </a:t>
            </a:r>
            <a:r>
              <a:rPr sz="950">
                <a:solidFill>
                  <a:srgbClr val="E8E2FF"/>
                </a:solidFill>
                <a:latin typeface="Consolas"/>
              </a:rPr>
              <a:t>traiterElement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i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    </a:t>
            </a:r>
            <a:r>
              <a:rPr sz="950">
                <a:solidFill>
                  <a:srgbClr val="E8E2FF"/>
                </a:solidFill>
                <a:latin typeface="Consolas"/>
              </a:rPr>
              <a:t>setProgress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i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/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10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</a:t>
            </a:r>
            <a:r>
              <a:rPr sz="950">
                <a:solidFill>
                  <a:srgbClr val="E8E2FF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</a:t>
            </a:r>
            <a:r>
              <a:rPr sz="950">
                <a:solidFill>
                  <a:srgbClr val="FAF33E"/>
                </a:solidFill>
                <a:latin typeface="Consolas"/>
              </a:rPr>
              <a:t>return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FAF33E"/>
                </a:solidFill>
                <a:latin typeface="Consolas"/>
              </a:rPr>
              <a:t>null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</a:t>
            </a:r>
            <a:r>
              <a:rPr sz="950">
                <a:solidFill>
                  <a:srgbClr val="E8E2FF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</a:pP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</a:t>
            </a:r>
            <a:r>
              <a:rPr sz="950">
                <a:solidFill>
                  <a:srgbClr val="E8E2FF"/>
                </a:solidFill>
                <a:latin typeface="Consolas"/>
              </a:rPr>
              <a:t>@</a:t>
            </a:r>
            <a:r>
              <a:rPr sz="950">
                <a:solidFill>
                  <a:srgbClr val="E8E2FF"/>
                </a:solidFill>
                <a:latin typeface="Consolas"/>
              </a:rPr>
              <a:t>Override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</a:t>
            </a:r>
            <a:r>
              <a:rPr sz="950">
                <a:solidFill>
                  <a:srgbClr val="FAF33E"/>
                </a:solidFill>
                <a:latin typeface="Consolas"/>
              </a:rPr>
              <a:t>protected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FAF33E"/>
                </a:solidFill>
                <a:latin typeface="Consolas"/>
              </a:rPr>
              <a:t>void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done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</a:t>
            </a:r>
            <a:r>
              <a:rPr sz="950">
                <a:solidFill>
                  <a:srgbClr val="FAF33E"/>
                </a:solidFill>
                <a:latin typeface="Consolas"/>
              </a:rPr>
              <a:t>if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isCancelled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    </a:t>
            </a:r>
            <a:r>
              <a:rPr sz="950">
                <a:solidFill>
                  <a:srgbClr val="E8E2FF"/>
                </a:solidFill>
                <a:latin typeface="Consolas"/>
              </a:rPr>
              <a:t>statut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setText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FFB3C1"/>
                </a:solidFill>
                <a:latin typeface="Consolas"/>
              </a:rPr>
              <a:t>"⛔ Annulé par l'utilisateur"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</a:t>
            </a:r>
            <a:r>
              <a:rPr sz="950">
                <a:solidFill>
                  <a:srgbClr val="E8E2FF"/>
                </a:solidFill>
                <a:latin typeface="Consolas"/>
              </a:rPr>
              <a:t>}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FAF33E"/>
                </a:solidFill>
                <a:latin typeface="Consolas"/>
              </a:rPr>
              <a:t>else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    </a:t>
            </a:r>
            <a:r>
              <a:rPr sz="950">
                <a:solidFill>
                  <a:srgbClr val="E8E2FF"/>
                </a:solidFill>
                <a:latin typeface="Consolas"/>
              </a:rPr>
              <a:t>statut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setText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FFB3C1"/>
                </a:solidFill>
                <a:latin typeface="Consolas"/>
              </a:rPr>
              <a:t>"✓ Terminé"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</a:t>
            </a:r>
            <a:r>
              <a:rPr sz="950">
                <a:solidFill>
                  <a:srgbClr val="E8E2FF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</a:t>
            </a:r>
            <a:r>
              <a:rPr sz="950">
                <a:solidFill>
                  <a:srgbClr val="E8E2FF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}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9D8DF1"/>
                </a:solidFill>
                <a:latin typeface="Consolas"/>
              </a:rPr>
              <a:t>JButton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annuler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=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FAF33E"/>
                </a:solidFill>
                <a:latin typeface="Consolas"/>
              </a:rPr>
              <a:t>new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9D8DF1"/>
                </a:solidFill>
                <a:latin typeface="Consolas"/>
              </a:rPr>
              <a:t>JButton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FFB3C1"/>
                </a:solidFill>
                <a:latin typeface="Consolas"/>
              </a:rPr>
              <a:t>"Annuler"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annuler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addActionListener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e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-</a:t>
            </a:r>
            <a:r>
              <a:rPr sz="950">
                <a:solidFill>
                  <a:srgbClr val="E8E2FF"/>
                </a:solidFill>
                <a:latin typeface="Consolas"/>
              </a:rPr>
              <a:t>&gt;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worker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cancel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FAF33E"/>
                </a:solidFill>
                <a:latin typeface="Consolas"/>
              </a:rPr>
              <a:t>true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worker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execute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5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6B2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840480"/>
            <a:ext cx="3657600" cy="3657600"/>
          </a:xfrm>
          <a:prstGeom prst="ellipse">
            <a:avLst/>
          </a:prstGeom>
          <a:solidFill>
            <a:srgbClr val="3A2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4114800"/>
            <a:ext cx="3657600" cy="3657600"/>
          </a:xfrm>
          <a:prstGeom prst="ellipse">
            <a:avLst/>
          </a:prstGeom>
          <a:solidFill>
            <a:srgbClr val="8B7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0" y="-1371600"/>
            <a:ext cx="2743200" cy="2743200"/>
          </a:xfrm>
          <a:prstGeom prst="ellipse">
            <a:avLst/>
          </a:prstGeom>
          <a:solidFill>
            <a:srgbClr val="3A2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286000"/>
            <a:ext cx="164592" cy="2286000"/>
          </a:xfrm>
          <a:prstGeom prst="rect">
            <a:avLst/>
          </a:prstGeom>
          <a:solidFill>
            <a:srgbClr val="E85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300">
                <a:solidFill>
                  <a:srgbClr val="E85D75"/>
                </a:solidFill>
                <a:latin typeface="Calibri"/>
              </a:rPr>
              <a:t>PARTIE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AFAFF"/>
                </a:solidFill>
                <a:latin typeface="Calibri"/>
              </a:rPr>
              <a:t>Patterns &amp; bonnes pratiques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49039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9990B8"/>
                </a:solidFill>
                <a:latin typeface="Calibri"/>
              </a:rPr>
              <a:t>Architecturer son application : MVC, Observer, séparation des responsabilités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D8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048695" y="2286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2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48695" y="228600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AFAFF"/>
                </a:solidFill>
                <a:latin typeface="Calibri"/>
              </a:rPr>
              <a:t>27 / 30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329184"/>
            <a:ext cx="91440" cy="91440"/>
          </a:xfrm>
          <a:prstGeom prst="ellipse">
            <a:avLst/>
          </a:prstGeom>
          <a:solidFill>
            <a:srgbClr val="E85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25603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200">
                <a:solidFill>
                  <a:srgbClr val="6B5F8C"/>
                </a:solidFill>
                <a:latin typeface="Calibri"/>
              </a:rPr>
              <a:t>6. PATTERNS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713232"/>
            <a:ext cx="164592" cy="329184"/>
          </a:xfrm>
          <a:prstGeom prst="rect">
            <a:avLst/>
          </a:prstGeom>
          <a:solidFill>
            <a:srgbClr val="FAF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00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21C35"/>
                </a:solidFill>
                <a:latin typeface="Calibri"/>
              </a:rPr>
              <a:t>Le pattern MVC en Swing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07899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5F8C"/>
                </a:solidFill>
                <a:latin typeface="Calibri"/>
              </a:rPr>
              <a:t>Modèle / Vue / Contrôleur : séparer les données, l'affichage et la logique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03120"/>
            <a:ext cx="3611880" cy="2377440"/>
          </a:xfrm>
          <a:prstGeom prst="roundRect">
            <a:avLst>
              <a:gd name="adj" fmla="val 4000"/>
            </a:avLst>
          </a:prstGeom>
          <a:solidFill>
            <a:srgbClr val="F2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103120"/>
            <a:ext cx="73152" cy="2377440"/>
          </a:xfrm>
          <a:prstGeom prst="rect">
            <a:avLst/>
          </a:prstGeom>
          <a:solidFill>
            <a:srgbClr val="9D8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2331720"/>
            <a:ext cx="502920" cy="502920"/>
          </a:xfrm>
          <a:prstGeom prst="ellipse">
            <a:avLst/>
          </a:prstGeom>
          <a:solidFill>
            <a:srgbClr val="9D8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35000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200">
                <a:solidFill>
                  <a:srgbClr val="221C35"/>
                </a:solidFill>
                <a:latin typeface="Calibri"/>
              </a:rPr>
              <a:t>MODÈLE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9718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D8DF1"/>
                </a:solidFill>
                <a:latin typeface="Consolas"/>
              </a:rPr>
              <a:t>Etudiant.java
EtudiantDAO.java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657600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B5F8C"/>
                </a:solidFill>
                <a:latin typeface="Calibri"/>
              </a:rPr>
              <a:t>Données pures + accès
Indépendant de l'UI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2103120"/>
            <a:ext cx="3611880" cy="2377440"/>
          </a:xfrm>
          <a:prstGeom prst="roundRect">
            <a:avLst>
              <a:gd name="adj" fmla="val 4000"/>
            </a:avLst>
          </a:prstGeom>
          <a:solidFill>
            <a:srgbClr val="F2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0" y="2103120"/>
            <a:ext cx="73152" cy="2377440"/>
          </a:xfrm>
          <a:prstGeom prst="rect">
            <a:avLst/>
          </a:prstGeom>
          <a:solidFill>
            <a:srgbClr val="FAF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617720" y="2331720"/>
            <a:ext cx="502920" cy="502920"/>
          </a:xfrm>
          <a:prstGeom prst="ellipse">
            <a:avLst/>
          </a:prstGeom>
          <a:solidFill>
            <a:srgbClr val="FAF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57800" y="235000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200">
                <a:solidFill>
                  <a:srgbClr val="221C35"/>
                </a:solidFill>
                <a:latin typeface="Calibri"/>
              </a:rPr>
              <a:t>VUE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29718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D8DF1"/>
                </a:solidFill>
                <a:latin typeface="Consolas"/>
              </a:rPr>
              <a:t>EtudiantPanel.java
EtudiantDialog.java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3657600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B5F8C"/>
                </a:solidFill>
                <a:latin typeface="Calibri"/>
              </a:rPr>
              <a:t>Composants Swing
Affichage uniquement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2103120"/>
            <a:ext cx="3611880" cy="2377440"/>
          </a:xfrm>
          <a:prstGeom prst="roundRect">
            <a:avLst>
              <a:gd name="adj" fmla="val 4000"/>
            </a:avLst>
          </a:prstGeom>
          <a:solidFill>
            <a:srgbClr val="F2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60" y="2103120"/>
            <a:ext cx="73152" cy="2377440"/>
          </a:xfrm>
          <a:prstGeom prst="rect">
            <a:avLst/>
          </a:prstGeom>
          <a:solidFill>
            <a:srgbClr val="E85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366760" y="2331720"/>
            <a:ext cx="502920" cy="502920"/>
          </a:xfrm>
          <a:prstGeom prst="ellipse">
            <a:avLst/>
          </a:prstGeom>
          <a:solidFill>
            <a:srgbClr val="E85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06840" y="235000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200">
                <a:solidFill>
                  <a:srgbClr val="221C35"/>
                </a:solidFill>
                <a:latin typeface="Calibri"/>
              </a:rPr>
              <a:t>CONTRÔLEUR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9718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D8DF1"/>
                </a:solidFill>
                <a:latin typeface="Consolas"/>
              </a:rPr>
              <a:t>EtudiantController.java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657600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B5F8C"/>
                </a:solidFill>
                <a:latin typeface="Calibri"/>
              </a:rPr>
              <a:t>Reçoit événements
Met à jour modèle &amp; vue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663440"/>
            <a:ext cx="10972800" cy="1965960"/>
          </a:xfrm>
          <a:prstGeom prst="roundRect">
            <a:avLst>
              <a:gd name="adj" fmla="val 4000"/>
            </a:avLst>
          </a:prstGeom>
          <a:solidFill>
            <a:srgbClr val="22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4828032"/>
            <a:ext cx="106070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950">
                <a:solidFill>
                  <a:srgbClr val="9990B8"/>
                </a:solidFill>
                <a:latin typeface="Consolas"/>
              </a:rPr>
              <a:t>// Le contrôleur écoute la vue, agit sur le modèle, rafraîchit la vue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FAF33E"/>
                </a:solidFill>
                <a:latin typeface="Consolas"/>
              </a:rPr>
              <a:t>public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FAF33E"/>
                </a:solidFill>
                <a:latin typeface="Consolas"/>
              </a:rPr>
              <a:t>class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EtudiantController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</a:t>
            </a:r>
            <a:r>
              <a:rPr sz="950">
                <a:solidFill>
                  <a:srgbClr val="FAF33E"/>
                </a:solidFill>
                <a:latin typeface="Consolas"/>
              </a:rPr>
              <a:t>private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FAF33E"/>
                </a:solidFill>
                <a:latin typeface="Consolas"/>
              </a:rPr>
              <a:t>final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EtudiantDAO</a:t>
            </a:r>
            <a:r>
              <a:rPr sz="950">
                <a:solidFill>
                  <a:srgbClr val="E8E2FF"/>
                </a:solidFill>
                <a:latin typeface="Consolas"/>
              </a:rPr>
              <a:t>  </a:t>
            </a:r>
            <a:r>
              <a:rPr sz="950">
                <a:solidFill>
                  <a:srgbClr val="E8E2FF"/>
                </a:solidFill>
                <a:latin typeface="Consolas"/>
              </a:rPr>
              <a:t>modele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</a:t>
            </a:r>
            <a:r>
              <a:rPr sz="950">
                <a:solidFill>
                  <a:srgbClr val="FAF33E"/>
                </a:solidFill>
                <a:latin typeface="Consolas"/>
              </a:rPr>
              <a:t>private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FAF33E"/>
                </a:solidFill>
                <a:latin typeface="Consolas"/>
              </a:rPr>
              <a:t>final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EtudiantPanel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vue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</a:t>
            </a:r>
            <a:r>
              <a:rPr sz="950">
                <a:solidFill>
                  <a:srgbClr val="FAF33E"/>
                </a:solidFill>
                <a:latin typeface="Consolas"/>
              </a:rPr>
              <a:t>public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EtudiantController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EtudiantDAO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m</a:t>
            </a:r>
            <a:r>
              <a:rPr sz="950">
                <a:solidFill>
                  <a:srgbClr val="E8E2FF"/>
                </a:solidFill>
                <a:latin typeface="Consolas"/>
              </a:rPr>
              <a:t>,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EtudiantPanel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v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{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</a:t>
            </a:r>
            <a:r>
              <a:rPr sz="950">
                <a:solidFill>
                  <a:srgbClr val="FAF33E"/>
                </a:solidFill>
                <a:latin typeface="Consolas"/>
              </a:rPr>
              <a:t>this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modele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=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m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  <a:r>
              <a:rPr sz="950">
                <a:solidFill>
                  <a:srgbClr val="E8E2FF"/>
                </a:solidFill>
                <a:latin typeface="Consolas"/>
              </a:rPr>
              <a:t>  </a:t>
            </a:r>
            <a:r>
              <a:rPr sz="950">
                <a:solidFill>
                  <a:srgbClr val="FAF33E"/>
                </a:solidFill>
                <a:latin typeface="Consolas"/>
              </a:rPr>
              <a:t>this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vue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=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v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    </a:t>
            </a:r>
            <a:r>
              <a:rPr sz="950">
                <a:solidFill>
                  <a:srgbClr val="E8E2FF"/>
                </a:solidFill>
                <a:latin typeface="Consolas"/>
              </a:rPr>
              <a:t>vue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btnAjouter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.</a:t>
            </a:r>
            <a:r>
              <a:rPr sz="950">
                <a:solidFill>
                  <a:srgbClr val="E8E2FF"/>
                </a:solidFill>
                <a:latin typeface="Consolas"/>
              </a:rPr>
              <a:t>addActionListener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e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-</a:t>
            </a:r>
            <a:r>
              <a:rPr sz="950">
                <a:solidFill>
                  <a:srgbClr val="E8E2FF"/>
                </a:solidFill>
                <a:latin typeface="Consolas"/>
              </a:rPr>
              <a:t>&gt;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ajouter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;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</a:t>
            </a:r>
            <a:r>
              <a:rPr sz="950">
                <a:solidFill>
                  <a:srgbClr val="E8E2FF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    </a:t>
            </a:r>
            <a:r>
              <a:rPr sz="950">
                <a:solidFill>
                  <a:srgbClr val="FAF33E"/>
                </a:solidFill>
                <a:latin typeface="Consolas"/>
              </a:rPr>
              <a:t>private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FAF33E"/>
                </a:solidFill>
                <a:latin typeface="Consolas"/>
              </a:rPr>
              <a:t>void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ajouter</a:t>
            </a:r>
            <a:r>
              <a:rPr sz="950">
                <a:solidFill>
                  <a:srgbClr val="E8E2FF"/>
                </a:solidFill>
                <a:latin typeface="Consolas"/>
              </a:rPr>
              <a:t>(</a:t>
            </a:r>
            <a:r>
              <a:rPr sz="950">
                <a:solidFill>
                  <a:srgbClr val="E8E2FF"/>
                </a:solidFill>
                <a:latin typeface="Consolas"/>
              </a:rPr>
              <a:t>)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{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/</a:t>
            </a:r>
            <a:r>
              <a:rPr sz="950">
                <a:solidFill>
                  <a:srgbClr val="E8E2FF"/>
                </a:solidFill>
                <a:latin typeface="Consolas"/>
              </a:rPr>
              <a:t>*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…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*</a:t>
            </a:r>
            <a:r>
              <a:rPr sz="950">
                <a:solidFill>
                  <a:srgbClr val="E8E2FF"/>
                </a:solidFill>
                <a:latin typeface="Consolas"/>
              </a:rPr>
              <a:t>/</a:t>
            </a:r>
            <a:r>
              <a:rPr sz="950">
                <a:solidFill>
                  <a:srgbClr val="E8E2FF"/>
                </a:solidFill>
                <a:latin typeface="Consolas"/>
              </a:rPr>
              <a:t> </a:t>
            </a:r>
            <a:r>
              <a:rPr sz="950">
                <a:solidFill>
                  <a:srgbClr val="E8E2FF"/>
                </a:solidFill>
                <a:latin typeface="Consolas"/>
              </a:rPr>
              <a:t>}</a:t>
            </a:r>
          </a:p>
          <a:p>
            <a:pPr>
              <a:lnSpc>
                <a:spcPct val="108000"/>
              </a:lnSpc>
            </a:pPr>
            <a:r>
              <a:rPr sz="950">
                <a:solidFill>
                  <a:srgbClr val="E8E2FF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D8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048695" y="2286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2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48695" y="228600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AFAFF"/>
                </a:solidFill>
                <a:latin typeface="Calibri"/>
              </a:rPr>
              <a:t>28 / 30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329184"/>
            <a:ext cx="91440" cy="91440"/>
          </a:xfrm>
          <a:prstGeom prst="ellipse">
            <a:avLst/>
          </a:prstGeom>
          <a:solidFill>
            <a:srgbClr val="E85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25603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200">
                <a:solidFill>
                  <a:srgbClr val="6B5F8C"/>
                </a:solidFill>
                <a:latin typeface="Calibri"/>
              </a:rPr>
              <a:t>6. PATTERNS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713232"/>
            <a:ext cx="164592" cy="329184"/>
          </a:xfrm>
          <a:prstGeom prst="rect">
            <a:avLst/>
          </a:prstGeom>
          <a:solidFill>
            <a:srgbClr val="FAF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00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21C35"/>
                </a:solidFill>
                <a:latin typeface="Calibri"/>
              </a:rPr>
              <a:t>Bonnes pratiques — événements &amp; données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07899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5F8C"/>
                </a:solidFill>
                <a:latin typeface="Calibri"/>
              </a:rPr>
              <a:t>Les 8 règles à suivre pour un code Swing dynamique propre et performant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440680" cy="4297680"/>
          </a:xfrm>
          <a:prstGeom prst="roundRect">
            <a:avLst>
              <a:gd name="adj" fmla="val 4000"/>
            </a:avLst>
          </a:prstGeom>
          <a:solidFill>
            <a:srgbClr val="F2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9D8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856232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300">
                <a:solidFill>
                  <a:srgbClr val="9D8DF1"/>
                </a:solidFill>
                <a:latin typeface="Calibri"/>
              </a:rPr>
              <a:t>À FAIRE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2331720"/>
            <a:ext cx="292608" cy="292608"/>
          </a:xfrm>
          <a:prstGeom prst="ellipse">
            <a:avLst/>
          </a:prstGeom>
          <a:solidFill>
            <a:srgbClr val="9D8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3317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AFA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28600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21C35"/>
                </a:solidFill>
                <a:latin typeface="Calibri"/>
              </a:rPr>
              <a:t>Toujours wrapper le main avec invokeLater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3200400"/>
            <a:ext cx="292608" cy="292608"/>
          </a:xfrm>
          <a:prstGeom prst="ellipse">
            <a:avLst/>
          </a:prstGeom>
          <a:solidFill>
            <a:srgbClr val="9D8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2004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AFA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15468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21C35"/>
                </a:solidFill>
                <a:latin typeface="Calibri"/>
              </a:rPr>
              <a:t>Utiliser des lambdas pour les listeners simples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4069080"/>
            <a:ext cx="292608" cy="292608"/>
          </a:xfrm>
          <a:prstGeom prst="ellipse">
            <a:avLst/>
          </a:prstGeom>
          <a:solidFill>
            <a:srgbClr val="9D8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06908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AFA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02336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21C35"/>
                </a:solidFill>
                <a:latin typeface="Calibri"/>
              </a:rPr>
              <a:t>SwingWorker pour TOUT ce qui dure &gt; 100 ms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4937760"/>
            <a:ext cx="292608" cy="292608"/>
          </a:xfrm>
          <a:prstGeom prst="ellipse">
            <a:avLst/>
          </a:prstGeom>
          <a:solidFill>
            <a:srgbClr val="9D8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3776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AFAFF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89204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21C35"/>
                </a:solidFill>
                <a:latin typeface="Calibri"/>
              </a:rPr>
              <a:t>Modifier l'UI uniquement sur l'EDT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1691640"/>
            <a:ext cx="5440680" cy="4297680"/>
          </a:xfrm>
          <a:prstGeom prst="roundRect">
            <a:avLst>
              <a:gd name="adj" fmla="val 4000"/>
            </a:avLst>
          </a:prstGeom>
          <a:solidFill>
            <a:srgbClr val="F2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1691640"/>
            <a:ext cx="73152" cy="4297680"/>
          </a:xfrm>
          <a:prstGeom prst="rect">
            <a:avLst/>
          </a:prstGeom>
          <a:solidFill>
            <a:srgbClr val="E85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1856232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300">
                <a:solidFill>
                  <a:srgbClr val="E85D75"/>
                </a:solidFill>
                <a:latin typeface="Calibri"/>
              </a:rPr>
              <a:t>À ÉVITER</a:t>
            </a:r>
          </a:p>
        </p:txBody>
      </p:sp>
      <p:sp>
        <p:nvSpPr>
          <p:cNvPr id="28" name="Oval 27"/>
          <p:cNvSpPr/>
          <p:nvPr/>
        </p:nvSpPr>
        <p:spPr>
          <a:xfrm>
            <a:off x="6446520" y="2331720"/>
            <a:ext cx="292608" cy="292608"/>
          </a:xfrm>
          <a:prstGeom prst="ellipse">
            <a:avLst/>
          </a:prstGeom>
          <a:solidFill>
            <a:srgbClr val="E85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23317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AFAFF"/>
                </a:solidFill>
                <a:latin typeface="Calibri"/>
              </a:rPr>
              <a:t>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28600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21C35"/>
                </a:solidFill>
                <a:latin typeface="Calibri"/>
              </a:rPr>
              <a:t>Ne jamais bloquer l'EDT (Thread.sleep, IO, BDD)</a:t>
            </a:r>
          </a:p>
        </p:txBody>
      </p:sp>
      <p:sp>
        <p:nvSpPr>
          <p:cNvPr id="31" name="Oval 30"/>
          <p:cNvSpPr/>
          <p:nvPr/>
        </p:nvSpPr>
        <p:spPr>
          <a:xfrm>
            <a:off x="6446520" y="3200400"/>
            <a:ext cx="292608" cy="292608"/>
          </a:xfrm>
          <a:prstGeom prst="ellipse">
            <a:avLst/>
          </a:prstGeom>
          <a:solidFill>
            <a:srgbClr val="E85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32004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AFAFF"/>
                </a:solidFill>
                <a:latin typeface="Calibri"/>
              </a:rPr>
              <a:t>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15468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21C35"/>
                </a:solidFill>
                <a:latin typeface="Calibri"/>
              </a:rPr>
              <a:t>Ne jamais accéder aux composants depuis doInBackground()</a:t>
            </a:r>
          </a:p>
        </p:txBody>
      </p:sp>
      <p:sp>
        <p:nvSpPr>
          <p:cNvPr id="34" name="Oval 33"/>
          <p:cNvSpPr/>
          <p:nvPr/>
        </p:nvSpPr>
        <p:spPr>
          <a:xfrm>
            <a:off x="6446520" y="4069080"/>
            <a:ext cx="292608" cy="292608"/>
          </a:xfrm>
          <a:prstGeom prst="ellipse">
            <a:avLst/>
          </a:prstGeom>
          <a:solidFill>
            <a:srgbClr val="E85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406908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AFAFF"/>
                </a:solidFill>
                <a:latin typeface="Calibri"/>
              </a:rPr>
              <a:t>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02336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21C35"/>
                </a:solidFill>
                <a:latin typeface="Calibri"/>
              </a:rPr>
              <a:t>Ne pas oublier try/catch dans done() avec get()</a:t>
            </a:r>
          </a:p>
        </p:txBody>
      </p:sp>
      <p:sp>
        <p:nvSpPr>
          <p:cNvPr id="37" name="Oval 36"/>
          <p:cNvSpPr/>
          <p:nvPr/>
        </p:nvSpPr>
        <p:spPr>
          <a:xfrm>
            <a:off x="6446520" y="4937760"/>
            <a:ext cx="292608" cy="292608"/>
          </a:xfrm>
          <a:prstGeom prst="ellipse">
            <a:avLst/>
          </a:prstGeom>
          <a:solidFill>
            <a:srgbClr val="E85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493776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AFAFF"/>
                </a:solidFill>
                <a:latin typeface="Calibri"/>
              </a:rPr>
              <a:t>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89204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21C35"/>
                </a:solidFill>
                <a:latin typeface="Calibri"/>
              </a:rPr>
              <a:t>Ne pas créer un SwingWorker à chaque clic répété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6126480"/>
            <a:ext cx="10972800" cy="411480"/>
          </a:xfrm>
          <a:prstGeom prst="roundRect">
            <a:avLst>
              <a:gd name="adj" fmla="val 20000"/>
            </a:avLst>
          </a:prstGeom>
          <a:solidFill>
            <a:srgbClr val="22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" y="612648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1">
                <a:solidFill>
                  <a:srgbClr val="FAF33E"/>
                </a:solidFill>
                <a:latin typeface="Calibri"/>
              </a:rPr>
              <a:t>Règle d'or : si une opération peut prendre du temps, elle ne doit jamais être sur l'EDT.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D8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048695" y="2286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2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48695" y="228600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AFAFF"/>
                </a:solidFill>
                <a:latin typeface="Calibri"/>
              </a:rPr>
              <a:t>29 / 30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329184"/>
            <a:ext cx="91440" cy="91440"/>
          </a:xfrm>
          <a:prstGeom prst="ellipse">
            <a:avLst/>
          </a:prstGeom>
          <a:solidFill>
            <a:srgbClr val="E85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25603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200">
                <a:solidFill>
                  <a:srgbClr val="6B5F8C"/>
                </a:solidFill>
                <a:latin typeface="Calibri"/>
              </a:rPr>
              <a:t>6. PATTERNS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713232"/>
            <a:ext cx="164592" cy="329184"/>
          </a:xfrm>
          <a:prstGeom prst="rect">
            <a:avLst/>
          </a:prstGeom>
          <a:solidFill>
            <a:srgbClr val="FAF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00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21C35"/>
                </a:solidFill>
                <a:latin typeface="Calibri"/>
              </a:rPr>
              <a:t>Pièges classiques à connaître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07899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5F8C"/>
                </a:solidFill>
                <a:latin typeface="Calibri"/>
              </a:rPr>
              <a:t>Quatre erreurs courantes — et comment les éviter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440680" cy="2148840"/>
          </a:xfrm>
          <a:prstGeom prst="roundRect">
            <a:avLst>
              <a:gd name="adj" fmla="val 4000"/>
            </a:avLst>
          </a:prstGeom>
          <a:solidFill>
            <a:srgbClr val="EF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691640"/>
            <a:ext cx="73152" cy="2148840"/>
          </a:xfrm>
          <a:prstGeom prst="rect">
            <a:avLst/>
          </a:prstGeom>
          <a:solidFill>
            <a:srgbClr val="E85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1965960"/>
            <a:ext cx="411480" cy="411480"/>
          </a:xfrm>
          <a:prstGeom prst="ellipse">
            <a:avLst/>
          </a:prstGeom>
          <a:solidFill>
            <a:srgbClr val="FAF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6596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1A1529"/>
                </a:solidFill>
                <a:latin typeface="Calibri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1947672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221C35"/>
                </a:solidFill>
                <a:latin typeface="Calibri"/>
              </a:rPr>
              <a:t>Modifier la JTable depuis doInBackground()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560320"/>
            <a:ext cx="44348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5F8C"/>
                </a:solidFill>
                <a:latin typeface="Calibri"/>
              </a:rPr>
              <a:t>→ comportement imprévisible, exceptions aléatoires.
Solution : passer par publish()/process() ou done().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691640"/>
            <a:ext cx="5440680" cy="2148840"/>
          </a:xfrm>
          <a:prstGeom prst="roundRect">
            <a:avLst>
              <a:gd name="adj" fmla="val 4000"/>
            </a:avLst>
          </a:prstGeom>
          <a:solidFill>
            <a:srgbClr val="EF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691640"/>
            <a:ext cx="73152" cy="2148840"/>
          </a:xfrm>
          <a:prstGeom prst="rect">
            <a:avLst/>
          </a:prstGeom>
          <a:solidFill>
            <a:srgbClr val="E85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46520" y="1965960"/>
            <a:ext cx="411480" cy="411480"/>
          </a:xfrm>
          <a:prstGeom prst="ellipse">
            <a:avLst/>
          </a:prstGeom>
          <a:solidFill>
            <a:srgbClr val="FAF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96596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1A1529"/>
                </a:solidFill>
                <a:latin typeface="Calibri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1947672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221C35"/>
                </a:solidFill>
                <a:latin typeface="Calibri"/>
              </a:rPr>
              <a:t>Oublier e.getValueIsAdjusting() sur JTable/JList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2560320"/>
            <a:ext cx="44348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5F8C"/>
                </a:solidFill>
                <a:latin typeface="Calibri"/>
              </a:rPr>
              <a:t>→ le listener est appelé 2× pour chaque sélection.
Solution : if (e.getValueIsAdjusting()) return;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977640"/>
            <a:ext cx="5440680" cy="2148840"/>
          </a:xfrm>
          <a:prstGeom prst="roundRect">
            <a:avLst>
              <a:gd name="adj" fmla="val 4000"/>
            </a:avLst>
          </a:prstGeom>
          <a:solidFill>
            <a:srgbClr val="EF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3977640"/>
            <a:ext cx="73152" cy="2148840"/>
          </a:xfrm>
          <a:prstGeom prst="rect">
            <a:avLst/>
          </a:prstGeom>
          <a:solidFill>
            <a:srgbClr val="E85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68680" y="4251960"/>
            <a:ext cx="411480" cy="411480"/>
          </a:xfrm>
          <a:prstGeom prst="ellipse">
            <a:avLst/>
          </a:prstGeom>
          <a:solidFill>
            <a:srgbClr val="FAF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25196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1A1529"/>
                </a:solidFill>
                <a:latin typeface="Calibri"/>
              </a:rPr>
              <a:t>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4233672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221C35"/>
                </a:solidFill>
                <a:latin typeface="Calibri"/>
              </a:rPr>
              <a:t>KeyListener au lieu de DocumentListener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4846320"/>
            <a:ext cx="44348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5F8C"/>
                </a:solidFill>
                <a:latin typeface="Calibri"/>
              </a:rPr>
              <a:t>→ rate les copier-coller, le setText(), l'undo.
Solution : DocumentListener pour le suivi du contenu.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3977640"/>
            <a:ext cx="5440680" cy="2148840"/>
          </a:xfrm>
          <a:prstGeom prst="roundRect">
            <a:avLst>
              <a:gd name="adj" fmla="val 4000"/>
            </a:avLst>
          </a:prstGeom>
          <a:solidFill>
            <a:srgbClr val="EF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3977640"/>
            <a:ext cx="73152" cy="2148840"/>
          </a:xfrm>
          <a:prstGeom prst="rect">
            <a:avLst/>
          </a:prstGeom>
          <a:solidFill>
            <a:srgbClr val="E85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46520" y="4251960"/>
            <a:ext cx="411480" cy="411480"/>
          </a:xfrm>
          <a:prstGeom prst="ellipse">
            <a:avLst/>
          </a:prstGeom>
          <a:solidFill>
            <a:srgbClr val="FAF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425196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1A1529"/>
                </a:solidFill>
                <a:latin typeface="Calibri"/>
              </a:rPr>
              <a:t>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4233672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221C35"/>
                </a:solidFill>
                <a:latin typeface="Calibri"/>
              </a:rPr>
              <a:t>Ne pas catcher les exceptions de get()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4846320"/>
            <a:ext cx="44348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5F8C"/>
                </a:solidFill>
                <a:latin typeface="Calibri"/>
              </a:rPr>
              <a:t>→ ExecutionException silencieuse, données manquantes.
Solution : try/catch (Exception ex) dans done().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5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6B2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4114800"/>
            <a:ext cx="4114800" cy="4114800"/>
          </a:xfrm>
          <a:prstGeom prst="ellipse">
            <a:avLst/>
          </a:prstGeom>
          <a:solidFill>
            <a:srgbClr val="8B7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300">
                <a:solidFill>
                  <a:srgbClr val="E85D75"/>
                </a:solidFill>
                <a:latin typeface="Calibri"/>
              </a:rPr>
              <a:t>VOUS SAVEZ MAINTENANT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64592" cy="640080"/>
          </a:xfrm>
          <a:prstGeom prst="rect">
            <a:avLst/>
          </a:prstGeom>
          <a:solidFill>
            <a:srgbClr val="FAF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05156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AFAFF"/>
                </a:solidFill>
                <a:latin typeface="Calibri"/>
              </a:rPr>
              <a:t>Construire une UI Swing dynamique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3611880" cy="777240"/>
          </a:xfrm>
          <a:prstGeom prst="roundRect">
            <a:avLst>
              <a:gd name="adj" fmla="val 15000"/>
            </a:avLst>
          </a:prstGeom>
          <a:solidFill>
            <a:srgbClr val="3A2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04672" y="2450592"/>
            <a:ext cx="457200" cy="457200"/>
          </a:xfrm>
          <a:prstGeom prst="ellipse">
            <a:avLst/>
          </a:prstGeom>
          <a:solidFill>
            <a:srgbClr val="E85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45059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AFA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450592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AFAFF"/>
                </a:solidFill>
                <a:latin typeface="Calibri"/>
              </a:rPr>
              <a:t>Modèle événementiel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286000"/>
            <a:ext cx="3611880" cy="777240"/>
          </a:xfrm>
          <a:prstGeom prst="roundRect">
            <a:avLst>
              <a:gd name="adj" fmla="val 15000"/>
            </a:avLst>
          </a:prstGeom>
          <a:solidFill>
            <a:srgbClr val="3A2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53712" y="2450592"/>
            <a:ext cx="457200" cy="457200"/>
          </a:xfrm>
          <a:prstGeom prst="ellipse">
            <a:avLst/>
          </a:prstGeom>
          <a:solidFill>
            <a:srgbClr val="E85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245059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AFA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2450592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AFAFF"/>
                </a:solidFill>
                <a:latin typeface="Calibri"/>
              </a:rPr>
              <a:t>Lambdas &amp; adapters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286000"/>
            <a:ext cx="3611880" cy="777240"/>
          </a:xfrm>
          <a:prstGeom prst="roundRect">
            <a:avLst>
              <a:gd name="adj" fmla="val 15000"/>
            </a:avLst>
          </a:prstGeom>
          <a:solidFill>
            <a:srgbClr val="3A2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02752" y="2450592"/>
            <a:ext cx="457200" cy="457200"/>
          </a:xfrm>
          <a:prstGeom prst="ellipse">
            <a:avLst/>
          </a:prstGeom>
          <a:solidFill>
            <a:srgbClr val="E85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245059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AFAFF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2450592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AFAFF"/>
                </a:solidFill>
                <a:latin typeface="Calibri"/>
              </a:rPr>
              <a:t>Event Dispatch Thread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246120"/>
            <a:ext cx="3611880" cy="777240"/>
          </a:xfrm>
          <a:prstGeom prst="roundRect">
            <a:avLst>
              <a:gd name="adj" fmla="val 15000"/>
            </a:avLst>
          </a:prstGeom>
          <a:solidFill>
            <a:srgbClr val="3A2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04672" y="3410712"/>
            <a:ext cx="457200" cy="457200"/>
          </a:xfrm>
          <a:prstGeom prst="ellipse">
            <a:avLst/>
          </a:prstGeom>
          <a:solidFill>
            <a:srgbClr val="E85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341071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AFAFF"/>
                </a:solidFill>
                <a:latin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3410712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AFAFF"/>
                </a:solidFill>
                <a:latin typeface="Calibri"/>
              </a:rPr>
              <a:t>SwingWorker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3246120"/>
            <a:ext cx="3611880" cy="777240"/>
          </a:xfrm>
          <a:prstGeom prst="roundRect">
            <a:avLst>
              <a:gd name="adj" fmla="val 15000"/>
            </a:avLst>
          </a:prstGeom>
          <a:solidFill>
            <a:srgbClr val="3A2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53712" y="3410712"/>
            <a:ext cx="457200" cy="457200"/>
          </a:xfrm>
          <a:prstGeom prst="ellipse">
            <a:avLst/>
          </a:prstGeom>
          <a:solidFill>
            <a:srgbClr val="E85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53712" y="341071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AFAFF"/>
                </a:solidFill>
                <a:latin typeface="Calibri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66360" y="3410712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AFAFF"/>
                </a:solidFill>
                <a:latin typeface="Calibri"/>
              </a:rPr>
              <a:t>Charger BDD &amp; API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3246120"/>
            <a:ext cx="3611880" cy="777240"/>
          </a:xfrm>
          <a:prstGeom prst="roundRect">
            <a:avLst>
              <a:gd name="adj" fmla="val 15000"/>
            </a:avLst>
          </a:prstGeom>
          <a:solidFill>
            <a:srgbClr val="3A2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302752" y="3410712"/>
            <a:ext cx="457200" cy="457200"/>
          </a:xfrm>
          <a:prstGeom prst="ellipse">
            <a:avLst/>
          </a:prstGeom>
          <a:solidFill>
            <a:srgbClr val="E85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02752" y="341071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AFAFF"/>
                </a:solidFill>
                <a:latin typeface="Calibri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15400" y="3410712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AFAFF"/>
                </a:solidFill>
                <a:latin typeface="Calibri"/>
              </a:rPr>
              <a:t>MVC &amp; bonnes pratiques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074920"/>
            <a:ext cx="10972800" cy="1371600"/>
          </a:xfrm>
          <a:prstGeom prst="roundRect">
            <a:avLst>
              <a:gd name="adj" fmla="val 6000"/>
            </a:avLst>
          </a:prstGeom>
          <a:solidFill>
            <a:srgbClr val="22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5074920"/>
            <a:ext cx="164592" cy="1371600"/>
          </a:xfrm>
          <a:prstGeom prst="rect">
            <a:avLst/>
          </a:prstGeom>
          <a:solidFill>
            <a:srgbClr val="FAF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39512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E85D75"/>
                </a:solidFill>
                <a:latin typeface="Calibri"/>
              </a:rPr>
              <a:t>PROCHAIN COURS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5321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AFAFF"/>
                </a:solidFill>
                <a:latin typeface="Calibri"/>
              </a:rPr>
              <a:t>Les tests, le packaging &amp; le déploiement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60350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9990B8"/>
                </a:solidFill>
                <a:latin typeface="Calibri"/>
              </a:rPr>
              <a:t>JUnit · Mockito · jpackage · création d'un installateur Windows / macOS / Linux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5379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9990B8"/>
                </a:solidFill>
                <a:latin typeface="Calibri"/>
              </a:rPr>
              <a:t>Faye Core Consulting · Cours Java Licence 2 · Swing Dynamic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