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73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E85D75">
              <a:alpha val="4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9D8DF1">
              <a:alpha val="35000"/>
            </a:srgbClr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3657600"/>
            <a:ext cx="3200400" cy="3200400"/>
          </a:xfrm>
          <a:prstGeom prst="ellipse">
            <a:avLst/>
          </a:prstGeom>
          <a:solidFill>
            <a:srgbClr val="FAF33E">
              <a:alpha val="25000"/>
            </a:srgbClr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97280"/>
            <a:ext cx="3200400" cy="411480"/>
          </a:xfrm>
          <a:prstGeom prst="roundRect">
            <a:avLst>
              <a:gd name="adj" fmla="val 48889"/>
            </a:avLst>
          </a:prstGeom>
          <a:solidFill>
            <a:srgbClr val="1A1529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JAVA · LICENCE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Swing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</a:t>
            </a:r>
            <a:r>
              <a:rPr lang="en-US" sz="2200" b="1" i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interfaces graphiques </a:t>
            </a:r>
            <a:r>
              <a:rPr lang="en-US" sz="2200" i="1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modernes en Java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886200"/>
            <a:ext cx="3657600" cy="411480"/>
          </a:xfrm>
          <a:prstGeom prst="roundRect">
            <a:avLst>
              <a:gd name="adj" fmla="val 48889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UI · COMPOSANTS &amp;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61772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1529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754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5486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Boutons, champs, listes, tables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461772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1529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754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5486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Border, Grid, GridBag, Box…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461772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1529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4754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61120" y="5166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0" y="5486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FlatLaf, polices, couleurs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diapositives · les événements seront couverts dans un cours dédié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du cours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l'interface, du composant le plus simple à l'application complète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1168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&amp; composants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JFrame, JPanel, JLabel, JButton, JTextField, JTextArea, JComboBox, JList, JSpinner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87752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AFAFF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24912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24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5877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63440" y="258775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FlowLayout, BorderLayout, GridLayout, GridBagLayout, BoxLayout, CardLayout, imbrication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38144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38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3009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Look&amp;Feel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63440" y="330098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FlatLaf, polices, couleurs, bordures, padding, icônes, hiérarchie visuelle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14216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AFAFF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51376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51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40142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avancés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63440" y="401421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JTable, JScrollPane, JTabbedPane, JMenuBar, JToolBar, JDialog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27448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864608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64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17320" y="47274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complète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663440" y="472744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MainFrame, menu, JTable, formulaire d'édition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AFAFF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57784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577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1732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UI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663440" y="54406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d'interface et erreurs courantes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6263640"/>
            <a:ext cx="11247120" cy="411480"/>
          </a:xfrm>
          <a:prstGeom prst="roundRect">
            <a:avLst>
              <a:gd name="adj" fmla="val 22222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62636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</a:t>
            </a:r>
            <a:r>
              <a:rPr lang="en-US" sz="1150" i="1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événements (ActionListener, MouseListener, EDT, SwingWorker, MVC) sont couverts dans un cours dédié.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Qu'est-ce que Swing 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bibliothèque Java standard pour les interfaces graphiques de bureau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960120"/>
          </a:xfrm>
          <a:prstGeom prst="roundRect">
            <a:avLst>
              <a:gd name="adj" fmla="val 11429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09728" cy="960120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2024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est l'API graphique standard de Java. Elle permet de créer des fenêtres, boutons, formulaires, tableaux et menus pour des applications de bureau (desktop). Inclus dans le JDK : aucune installation requise.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F2EFFC"/>
          </a:solidFill>
          <a:ln w="9525">
            <a:solidFill>
              <a:srgbClr val="D8D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109728" cy="155448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278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8D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Java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entièrement écrits en Java, indépendants de l'OS.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6324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F2EFFC"/>
          </a:solidFill>
          <a:ln w="9525">
            <a:solidFill>
              <a:srgbClr val="D8D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063240"/>
            <a:ext cx="109728" cy="1554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22783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Pluggable L&amp;F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657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Apparence personnalisable : Metal, Nimbus, FlatLaf…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F2EFFC"/>
          </a:solidFill>
          <a:ln w="9525">
            <a:solidFill>
              <a:srgbClr val="D8D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00600"/>
            <a:ext cx="109728" cy="155448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9651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8D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Riche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50 composants : tables, arbres, onglets, menus.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800600"/>
            <a:ext cx="5577840" cy="1554480"/>
          </a:xfrm>
          <a:prstGeom prst="roundRect">
            <a:avLst>
              <a:gd name="adj" fmla="val 7059"/>
            </a:avLst>
          </a:prstGeom>
          <a:solidFill>
            <a:srgbClr val="F2EFFC"/>
          </a:solidFill>
          <a:ln w="9525">
            <a:solidFill>
              <a:srgbClr val="D8D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800600"/>
            <a:ext cx="109728" cy="15544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9651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5394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depuis Java 1.2 (1998). Très grande communauté.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AWT, Swing, JavaFX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bibliothèques graphiques Java, trois époques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743200" cy="50292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Aspect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834640" cy="50292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834640" cy="50292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0" y="1828800"/>
            <a:ext cx="2834640" cy="50292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JavaFX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274320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0" y="23317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35040" y="23317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69680" y="23317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2788920"/>
            <a:ext cx="274320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788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0" y="27889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(natif OS)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27889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 (100% Java)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869680" y="27889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haut (FXML)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3246120"/>
            <a:ext cx="274320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246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Apparence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0" y="32461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 de l'OS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35040" y="32461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Personnalisable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869680" y="32461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0684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/ moderne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274320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00400" y="37033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035040" y="37033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riches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869680" y="37033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068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Riches + animations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4160520"/>
            <a:ext cx="274320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dans JDK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200400" y="41605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756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035040" y="41605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869680" y="41605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0684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(Java 11+)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57200" y="4617720"/>
            <a:ext cx="274320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L2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3200400" y="46177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3756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035040" y="46177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869680" y="4617720"/>
            <a:ext cx="2834640" cy="45720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00684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457200" y="5074920"/>
            <a:ext cx="274320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de ce cours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200400" y="50749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3756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035040" y="50749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✓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8869680" y="5074920"/>
            <a:ext cx="2834640" cy="45720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00684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ce cours : on utilise Swing — riche, mature, et prêt à l'emploi avec n'importe quel JDK.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hiérarchie des conteneurs Swing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fenêtre Swing = un emboîtement de conteneurs et de composants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0881360" cy="4206240"/>
          </a:xfrm>
          <a:prstGeom prst="roundRect">
            <a:avLst>
              <a:gd name="adj" fmla="val 2174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top-level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2130552"/>
            <a:ext cx="9784080" cy="3602736"/>
          </a:xfrm>
          <a:prstGeom prst="roundRect">
            <a:avLst>
              <a:gd name="adj" fmla="val 2538"/>
            </a:avLst>
          </a:prstGeom>
          <a:solidFill>
            <a:srgbClr val="9D8DF1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22199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ContentPane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49631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panneau racine de la fenêtre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432304"/>
            <a:ext cx="8686800" cy="2999232"/>
          </a:xfrm>
          <a:prstGeom prst="roundRect">
            <a:avLst>
              <a:gd name="adj" fmla="val 3049"/>
            </a:avLst>
          </a:prstGeom>
          <a:solidFill>
            <a:srgbClr val="E85D7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523744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7980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Sous-panneau organisateur (avec son layout)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2734056"/>
            <a:ext cx="7589520" cy="2395728"/>
          </a:xfrm>
          <a:prstGeom prst="roundRect">
            <a:avLst>
              <a:gd name="adj" fmla="val 3817"/>
            </a:avLst>
          </a:prstGeom>
          <a:solidFill>
            <a:srgbClr val="FAF33E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82549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1C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JComponent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0998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JLabel, JButton, JTextField, JTable…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on n'ajoute jamais des composants directement à JFrame — toujours via getContentPane() ou simplement add() qui le fait pour vous.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Votre première fenêtre Swing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JFrame, le conteneur de base de toute 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73152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73152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sn.youssoupha.swing;
</a:t>
            </a:r>
            <a:r>
              <a:rPr lang="en-US" sz="12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javax.swing.*;
</a:t>
            </a:r>
            <a:r>
              <a:rPr lang="en-US" sz="12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PremiereFenetre {
    </a:t>
            </a:r>
            <a:r>
              <a:rPr lang="en-US" sz="12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main(String[] args) {
        SwingUtilities.invokeLater(() -&gt; {
            JFrame fenetre = </a:t>
            </a:r>
            <a:r>
              <a:rPr lang="en-US" sz="12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JFrame(</a:t>
            </a:r>
            <a:r>
              <a:rPr lang="en-US" sz="12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 première fenêtre"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    fenetre.setSize(</a:t>
            </a:r>
            <a:r>
              <a:rPr lang="en-US" sz="12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    fenetre.setLocationRelativeTo(</a:t>
            </a:r>
            <a:r>
              <a:rPr lang="en-US" sz="12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r>
              <a:rPr lang="en-US" sz="1200" i="1" dirty="0">
                <a:solidFill>
                  <a:srgbClr val="7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centrée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      fenetre.setDefaultCloseOperation(JFrame.EXIT_ON_CLOSE);
            fenetre.setVisible(</a:t>
            </a:r>
            <a:r>
              <a:rPr lang="en-US" sz="12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        });
    }
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828800"/>
            <a:ext cx="73152" cy="82296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9244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fenêtre principale avec barre de titre et bordure.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274320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743200"/>
            <a:ext cx="73152" cy="8229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8163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setSize(w, h)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9244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et hauteur en pixels.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365760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3657600"/>
            <a:ext cx="73152" cy="82296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3730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setLocationRelativeTo(null)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924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la fenêtre à l'écran.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457200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572000"/>
            <a:ext cx="73152" cy="8229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6451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EXIT_ON_CLOSE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92440" y="4937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Quitter l'application à la fermeture.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5486400"/>
            <a:ext cx="3749040" cy="822960"/>
          </a:xfrm>
          <a:prstGeom prst="roundRect">
            <a:avLst>
              <a:gd name="adj" fmla="val 888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5486400"/>
            <a:ext cx="73152" cy="82296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55595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invokeLater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92440" y="5852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l'UI doit s'exécuter sur l'EDT.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JFrame — méthodes utiles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la fenêtre principale en profondeur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 fenetre = new JFrame("Application");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Taille et position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fenetre.setSize(800, 600);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fenetre.setMinimumSize(new Dimension(400, 300));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fenetre.setLocationRelativeTo(null);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fenetre.setExtendedState(JFrame.MAXIMIZED_BOTH);  // plein écran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Comportement à la fermeture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fenetre.setDefaultCloseOperation(JFrame.EXIT_ON_CLOSE);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 .DISPOSE_ON_CLOSE    -&gt; ferme juste la fenêtre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 .HIDE_ON_CLOSE       -&gt; cache la fenêtre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 .DO_NOTHING_ON_CLOSE -&gt; intercepter manuellement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Icône dans la barre de titre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fenetre.setIconImage(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ImageIcon(getClass().getResource("/icons/app.png")).getImage());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Empêcher le redimensionnement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fenetre.setResizable(false);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Conteneur principal (par défaut BorderLayout)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fenetre.add(monPanel, BorderLayout.CENTER);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fenetre.setVisible(true);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JPanel — le conteneur intermédiaire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organiser et regrouper vos composants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JPanel par défaut : FlowLayout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panel = new JPanel();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un layout précis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form = new JPanel(new BorderLayout(10, 10));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Les ajouts vont dans l'ordre du layout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form.add(titre,  BorderLayout.NORTH);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form.add(corps,  BorderLayout.CENTER);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form.add(actions,BorderLayout.SOUTH);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Pour ajouter une bordure (padding interne, cadre)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form.setBorder(BorderFactory.createEmptyBorder(16, 16, 16, 16));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Imbrication : un panel dans un panel — pratique courante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ligne1 = new JPanel(new FlowLayout(FlowLayout.LEFT));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ligne1.add(new JLabel("Nom :"));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ligne1.add(new JTextField(20));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ligne2 = new JPanel(new FlowLayout(FlowLayout.LEFT));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ligne2.add(new JLabel("Email :"));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ligne2.add(new JTextField(25));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principal = new JPanel();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principal.setLayout(new BoxLayout(principal, BoxLayout.Y_AXIS));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principal.add(ligne1); principal.add(ligne2);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JLabel — afficher du texte ou une image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composant le plus simple, mais le plus utilisé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73152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73152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 titre = new JLabel("Bienvenue dans l'application");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Personnalisation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titre.setFont(new Font("Segoe UI", Font.BOLD, 24));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titre.setForeground(new Color(0x9D8DF1));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titre.setHorizontalAlignment(SwingConstants.CENTER);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JLabel peut aussi afficher une icône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 logo = new JLabel(new ImageIcon("logo.png"));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Et même les deux à la fois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 mixte = new JLabel("Profil",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ImageIcon("user.png"),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SwingConstants.LEFT);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HTML basique supporté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 info = new JLabel(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"&lt;html&gt;&lt;b&gt;Statut :&lt;/b&gt; &lt;i&gt;connecté&lt;/i&gt;&lt;/html&gt;");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749040" cy="4572000"/>
          </a:xfrm>
          <a:prstGeom prst="roundRect">
            <a:avLst>
              <a:gd name="adj" fmla="val 2927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Méthodes utiles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37744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setText(String)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setFont(Font)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setForeground(Color)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setIcon(Icon)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setBorder(Border)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setToolTipText(String)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setHorizontalAlignment(...)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setVerticalAlignment(...)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JButton — un bouton cliquable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L'action utilisateur la plus courante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bouton = new JButton("Valider");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Couleurs et apparence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bouton.setBackground(new Color(0xE85D75));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bouton.setForeground(Color.WHITE);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bouton.setFocusPainted(false);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bouton.setBorder(BorderFactory.createEmptyBorder(8, 24, 8, 24));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Tooltip au survol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bouton.setToolTipText("Cliquez pour valider le formulaire");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une icône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btnSave = new JButton("Enregistrer",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ImageIcon("save.png"));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Différents états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bouton.setEnabled(false);          // grisé, non cliquable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bouton.setSelected(true);          // pour JToggleButton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Action au clic — voir cours dédié aux événements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Variantes de boutons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JToggleButton, JCheckBox, JRadioButton héritent de AbstractButton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91440" cy="219456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classique avec une action déclenchée à chaque clic.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5212080" cy="9144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971800"/>
            <a:ext cx="521208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btn = new JButton("OK");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828800"/>
            <a:ext cx="91440" cy="21945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JToggleButton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à deux états (enfoncé / relâché). Idéal pour mode actif/inactif.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2971800"/>
            <a:ext cx="5212080" cy="9144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971800"/>
            <a:ext cx="521208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JToggleButton tb = new JToggleButton("Gras");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tb.setSelected(true);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06240"/>
            <a:ext cx="91440" cy="219456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JCheckBox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4709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à cocher : choix multiples possibles dans un groupe.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5349240"/>
            <a:ext cx="5212080" cy="9144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5349240"/>
            <a:ext cx="521208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" y="5486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JCheckBox cb = new JCheckBox("J'accepte");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4206240"/>
            <a:ext cx="5577840" cy="2194560"/>
          </a:xfrm>
          <a:prstGeom prst="roundRect">
            <a:avLst>
              <a:gd name="adj" fmla="val 416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206240"/>
            <a:ext cx="91440" cy="21945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JRadioButton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55080" y="47091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unique dans un ButtonGroup (exclusivité gérée).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5349240"/>
            <a:ext cx="5212080" cy="9144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5349240"/>
            <a:ext cx="521208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5486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JRadioButton r = new JRadioButton("Homme");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ButtonGroup g = new ButtonGroup();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g.add(r);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JTextField &amp; JPasswordField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de saisie sur une ligne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Champ texte simple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JTextField nom = new JTextField(20);   // 20 colonnes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nom.setText("Faye");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Récupérer ou modifier la valeur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saisie = nom.getText();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nom.setText("");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Texte d'invite (placeholder) — JTextField hérite de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JTextComponent. FlatLaf supporte 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nom.putClientProperty("JTextField.placeholderText",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"ex. Faye Youssoupha");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Validation visuelle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nom.setBorder(BorderFactory.createLineBorder(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Color(0xE85D75), 2));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36576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Champ mot de passe (caractères masqués)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JPasswordField mdp = new JPasswordField(20);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IMPORTANT : utiliser char[] pas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char[] valeur = mdp.getPassword();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Effacer le contenu sensible après usage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Arrays.fill(valeur, ' ');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Changer le caractère affiché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mdp.setEchoChar('•');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Désactiver le masquage temporairement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mdp.setEchoChar((char) 0);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669280"/>
            <a:ext cx="109728" cy="777240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76072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 </a:t>
            </a: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JPasswordField.getPassword() retourne char[] (et non String) pour pouvoir être effacé en mémoire après usage.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JTextArea — texte multi-lignes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notes, descriptions, journaux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29768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Création : 5 lignes de 30 colonnes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JTextArea zone = new JTextArea(5, 30);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Retour à la ligne automatique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zone.setLineWrap(true);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zone.setWrapStyleWord(true);     // couper aux mots, pas en plein milieu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Texte initial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zone.setText("Premier paragraphe\n\nSecond paragraphe");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TOUJOURS dans un JScrollPane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JScrollPane scroll = new JScrollPane(zone);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scroll.setVerticalScrollBarPolicy(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JScrollPane.VERTICAL_SCROLLBAR_AS_NEEDED);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Marges internes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zone.setMargin(new Insets(10, 10, 10, 10));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Récupérer ou ajouter du texte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contenu = zone.getText();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zone.append("\nNouvelle ligne ajoutée.");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Lecture seule (pour afficher du log par ex.)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zone.setEditable(false);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un JTextArea s'utilise toujours dans un JScrollPane, sinon il devient inutilisable dès qu'il y a beaucoup de texte.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JCheckBox &amp; JRadioButton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à cocher (multi) et boutons radio (exclusifs)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JCheckBox : choix multiples possibles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JCheckBox cbJava = new JCheckBox("Java");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JCheckBox cbPython = new JCheckBox("Python");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JCheckBox cbPHP = new JCheckBox("PHP", true);  // pré-coché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État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coche = cbJava.isSelected();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cbJava.setSelected(true);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Tooltip + icône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cbJava.setToolTipText("Cocher si Java maîtrisé");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Désactiver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cbPython.setEnabled(false);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659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JRadioButton : un seul choix dans un groupe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JRadioButton rH = new JRadioButton("Homme");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JRadioButton rF = new JRadioButton("Femme");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JRadioButton rA = new JRadioButton("Autre");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IMPORTANT : ButtonGroup pour l'exclusivité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ButtonGroup groupe = new ButtonGroup();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groupe.add(rH);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groupe.add(rF);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groupe.add(rA);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Présélectionner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rH.setSelected(true);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Trouver le sélectionné : itérer sur le groupe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ButtonGroup, les JRadioButton se comportent comme des JCheckBox.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JComboBox — liste déroulante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une seule valeur dans une liste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un tableau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niveaux = { "L1", "L2", "L3", "M1", "M2" };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JComboBox&lt;String&gt; cmbNiveau = new JComboBox&lt;&gt;(niveaux);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des objets métier (toString utilisé pour l'affichage)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JComboBox&lt;Etudiant&gt; cmbEtudiant = new JComboBox&lt;&gt;();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cmbEtudiant.addItem(new Etudiant("M001", "Faye", "Y."));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cmbEtudiant.addItem(new Etudiant("M002", "Diop",  "F."));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Présélectionner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cmbNiveau.setSelectedItem("L2");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cmbNiveau.setSelectedIndex(1);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Récupérer la valeur sélectionnée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niveau = (String) cmbNiveau.getSelectedItem();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Etudiant et = (Etudiant) cmbEtudiant.getSelectedItem();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Permettre la saisie libre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cmbNiveau.setEditable(true);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Modifier la liste : passer par DefaultComboBoxModel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DefaultComboBoxModel&lt;String&gt; model = new DefaultComboBoxModel&lt;&gt;();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model.addElement("Nouveau");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model.removeElementAt(0);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JComboBox&lt;String&gt; cmb = new JComboBox&lt;&gt;(model);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JList — liste affichée à l'écran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simple ou multiple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Données et création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etudiants = { "Faye Y.", "Diop F.", "Sow A.", "Ba M." };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JList&lt;String&gt; liste = new JList&lt;&gt;(etudiants);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 de sélection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liste.setSelectionMode(ListSelectionModel.SINGLE_SELECTION);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.MULTIPLE_INTERVAL_SELECTION  -&gt; ctrl/shift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Visible row count + scroll (TOUJOURS dans un JScrollPane)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liste.setVisibleRowCount(8);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JScrollPane scroll = new JScrollPane(liste);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Récupérer la sélection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sel = liste.getSelectedValue();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sels = liste.getSelectedValuesList();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Modifier dynamiquement : passer par DefaultListModel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DefaultListModel&lt;String&gt; model = new DefaultListModel&lt;&gt;();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model.addElement("Nouveau");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model.removeElement("Faye Y.");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JList&lt;String&gt; liste2 = new JList&lt;&gt;(model);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Apparence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liste.setFont(new Font("Segoe UI", Font.PLAIN, 14));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liste.setFixedCellHeight(28);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JSpinner &amp; JSlider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numérique précise et curseur visuel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JSpinner : valeur numérique avec flèches +/-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SpinnerNumberModel modelAge = new SpinnerNumberModel(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20,    // valeur initiale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16,    // min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99,    // max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      // pas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JSpinner spAge = new JSpinner(modelAge);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Lire la valeur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(Integer) spAge.getValue();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Spinner sur une date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SpinnerDateModel modelDate = new SpinnerDateModel();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JSpinner spDate = new JSpinner(modelDate);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spDate.setEditor(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JSpinner.DateEditor(spDate, "dd/MM/yyyy"));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6596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JSlider : curseur graphique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JSlider slider = new JSlider(0, 100, 50);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slider.setMajorTickSpacing(25);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slider.setMinorTickSpacing(5);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slider.setPaintTicks(true);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slider.setPaintLabels(true);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valeur = slider.getValue();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Orientation verticale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JSlider sV = new JSlider(JSlider.VERTICAL, 0, 100, 50);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Inverser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slider.setInverted(true);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BASES &amp; COMPOSANTS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Récapitulatif des composants de base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composants courants en un coup d'œil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74520"/>
            <a:ext cx="73152" cy="1188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9339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principale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4700" y="187452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1874520"/>
            <a:ext cx="73152" cy="1188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7580" y="199339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97580" y="237744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 intermédiaire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874520"/>
            <a:ext cx="73152" cy="1188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99339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ou icône statique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38260" y="187452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8260" y="1874520"/>
            <a:ext cx="73152" cy="1188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1140" y="199339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21140" y="237744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cliquable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15468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54680"/>
            <a:ext cx="73152" cy="1188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27355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JTextField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365760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sur une ligne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14700" y="315468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4700" y="3154680"/>
            <a:ext cx="73152" cy="1188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7580" y="327355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JPasswordField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97580" y="365760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masquée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315468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3154680"/>
            <a:ext cx="73152" cy="1188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27355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JTextArea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9360" y="365760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multi-lignes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38260" y="315468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38260" y="3154680"/>
            <a:ext cx="73152" cy="1188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21140" y="327355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JCheckBox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21140" y="365760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à cocher (multi-choix)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443484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434840"/>
            <a:ext cx="73152" cy="1188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55371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JRadioButton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5800" y="493776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radio (choix exclusif)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14700" y="443484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4700" y="4434840"/>
            <a:ext cx="73152" cy="1188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97580" y="455371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JComboBox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497580" y="493776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déroulante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26480" y="443484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26480" y="4434840"/>
            <a:ext cx="73152" cy="1188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55371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JList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309360" y="493776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affichée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938260" y="4434840"/>
            <a:ext cx="2720340" cy="1188720"/>
          </a:xfrm>
          <a:prstGeom prst="roundRect">
            <a:avLst>
              <a:gd name="adj" fmla="val 7692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38260" y="4434840"/>
            <a:ext cx="73152" cy="1188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21140" y="4553712"/>
            <a:ext cx="24460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JSpinner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121140" y="4937760"/>
            <a:ext cx="2446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numérique avec flèches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se manipulent de manière similaire : create → configure → add to container.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E85D75">
              <a:alpha val="3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FAF33E">
              <a:alpha val="20000"/>
            </a:srgbClr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layouts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371600" cy="45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Swing organise vos composants dans la fenêtre.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des layouts 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placement absolu en pixels est presque toujours une mauvaise idée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2EFFC"/>
          </a:solidFill>
          <a:ln w="9525">
            <a:solidFill>
              <a:srgbClr val="D8D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 — placement absolu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5120640" cy="14630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23160"/>
            <a:ext cx="512064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60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panel.setLayout(null);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 = new JButton("OK");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b.setBounds(120, 80, 100, 30);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panel.add(b);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Casse au redimensionnement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Casse selon la résolution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Casse selon le L&amp;F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pénible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2EFFC"/>
          </a:solidFill>
          <a:ln w="9525">
            <a:solidFill>
              <a:srgbClr val="D8D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82880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28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privilégier — LayoutManager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423160"/>
            <a:ext cx="5120640" cy="14630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423160"/>
            <a:ext cx="512064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2560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panel.setLayout(new BorderLayout());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 = new JButton("OK");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panel.add(b, BorderLayout.SOUTH);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0233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S'adapte automatiquement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sur tous les écrans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tous les L&amp;F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plus court et lisible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ne jamais utiliser setLayout(null) sauf cas très exceptionnel.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FlowLayout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alignés de gauche à droite, retour à la ligne automatique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6858000" cy="301752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68580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Layout par défaut de JPanel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panel = new JPanel(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FlowLayout(FlowLayout.LEFT, 10, 10));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alignement,    hgap, vgap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JLabel("Nom :"));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JTextField(15));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JButton("OK"));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Alignements possibles : LEFT, CENTER (défaut), RIGHT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LEADING, TRAILING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4114800" cy="3017520"/>
          </a:xfrm>
          <a:prstGeom prst="roundRect">
            <a:avLst>
              <a:gd name="adj" fmla="val 1818"/>
            </a:avLst>
          </a:prstGeom>
          <a:solidFill>
            <a:srgbClr val="FAFAFF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731520" cy="36576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0" y="2468880"/>
            <a:ext cx="1645920" cy="365760"/>
          </a:xfrm>
          <a:prstGeom prst="rect">
            <a:avLst/>
          </a:prstGeom>
          <a:solidFill>
            <a:srgbClr val="EAE5F8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0" y="2468880"/>
            <a:ext cx="640080" cy="3657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2468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206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 l'utiliser 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regroupements horizontaux : barre de boutons, ligne d'options, footer. Pas adapté pour des formulaires complets — préférer GridBag ou Box.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BorderLayout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zones : NORTH, SOUTH, EAST, WEST, CENTER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6858000" cy="301752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68580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Layout par défaut de JFrame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frame.setLayout(new BorderLayout(10, 10));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frame.add(toolBar,    BorderLayout.NORTH);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frame.add(sidebar,    BorderLayout.WEST);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frame.add(scrollTab,  BorderLayout.CENTER);   // prend toute la place restante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frame.add(statusBar,  BorderLayout.SOUTH);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frame.add(propertes,  BorderLayout.EAST);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Une seule zone par position : si on add() deux fois,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 second remplace le premier.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4114800" cy="4572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F"/>
                </a:solidFill>
              </a:rPr>
              <a:t>NORTH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4389120"/>
            <a:ext cx="4114800" cy="4572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F"/>
                </a:solidFill>
              </a:rPr>
              <a:t>SOUTH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286000"/>
            <a:ext cx="822960" cy="21031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286000"/>
            <a:ext cx="822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F"/>
                </a:solidFill>
              </a:rPr>
              <a:t>WEST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881360" y="2286000"/>
            <a:ext cx="822960" cy="21031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0" y="2286000"/>
            <a:ext cx="822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AFF"/>
                </a:solidFill>
              </a:rPr>
              <a:t>EAST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412480" y="2286000"/>
            <a:ext cx="2468880" cy="2103120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28600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1C35"/>
                </a:solidFill>
              </a:rPr>
              <a:t>CENTER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206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 l'utiliser 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440680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principal d'application : barre d'outils en NORTH, contenu principal en CENTER, barre de statut en SOUTH. Le CENTER absorbe tout l'espace restant.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GridLayout — grille uniforme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cellules ont exactement la même taille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6858000" cy="32004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68580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lignes × 2 colonnes, écart horizontal et vertical de 10 px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panel = new JPanel(new GridLayout(3, 2, 10, 10));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JLabel("Matricule :"));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JTextField());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JLabel("Nom :"));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JTextField());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JLabel("Prénom :"));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JTextField());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4114800" cy="3200400"/>
          </a:xfrm>
          <a:prstGeom prst="roundRect">
            <a:avLst>
              <a:gd name="adj" fmla="val 1714"/>
            </a:avLst>
          </a:prstGeom>
          <a:solidFill>
            <a:srgbClr val="FAFAFF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2011680"/>
            <a:ext cx="1645920" cy="54864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0116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 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09760" y="2011680"/>
            <a:ext cx="2011680" cy="548640"/>
          </a:xfrm>
          <a:prstGeom prst="rect">
            <a:avLst/>
          </a:prstGeom>
          <a:solidFill>
            <a:srgbClr val="F2EFFC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2880360"/>
            <a:ext cx="1645920" cy="54864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880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09760" y="2880360"/>
            <a:ext cx="2011680" cy="548640"/>
          </a:xfrm>
          <a:prstGeom prst="rect">
            <a:avLst/>
          </a:prstGeom>
          <a:solidFill>
            <a:srgbClr val="F2EFFC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749040"/>
            <a:ext cx="1645920" cy="54864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3749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 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09760" y="3749040"/>
            <a:ext cx="2011680" cy="548640"/>
          </a:xfrm>
          <a:prstGeom prst="rect">
            <a:avLst/>
          </a:prstGeom>
          <a:solidFill>
            <a:srgbClr val="F2EFFC"/>
          </a:solidFill>
          <a:ln w="12700">
            <a:solidFill>
              <a:srgbClr val="3A2F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212080"/>
            <a:ext cx="11247120" cy="1280160"/>
          </a:xfrm>
          <a:prstGeom prst="roundRect">
            <a:avLst>
              <a:gd name="adj" fmla="val 7143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492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 l'utiliser 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571500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des formulaires avec labels et champs de même taille, ou un calculateur (chiffres en grille). À éviter quand les composants ont des tailles très différentes.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GridBagLayout — le layout flexible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puissant, mais aussi le plus verbeux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panel = new JPanel(new GridBagLayout());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GridBagConstraints c = new GridBagConstraints();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c.insets = new Insets(5, 5, 5, 5);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c.anchor = GridBagConstraints.WEST;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Ligne 0 : Label + champ qui prend toute la place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c.gridx = 0; c.gridy = 0;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c.fill = GridBagConstraints.NONE;  c.weightx = 0;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JLabel("Nom :"), c);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c.gridx = 1; c.gridy = 0;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c.fill = GridBagConstraints.HORIZONTAL;  c.weightx = 1;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JTextField(20), c);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Ligne 1 : un bouton qui occupe 2 colonnes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c.gridx = 0; c.gridy = 1;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c.gridwidth = 2;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c.anchor = GridBagConstraints.CENTER;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c.fill = GridBagConstraints.NONE;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JButton("Valider"), c);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BoxLayout &amp; CardLayout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Empiler des composants ou alterner des vues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BoxLayout vertical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panel = new JPanel();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panel.setLayout(new BoxLayout(panel, BoxLayout.Y_AXIS));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JButton("Nouveau"));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panel.add(Box.createVerticalStrut(10));      // espace fixe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JButton("Modifier"));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panel.add(Box.createVerticalGlue());         // pousse vers le haut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panel.add(new JButton("Quitter"));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X_AXIS pour aligner à l'horizontale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36576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659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CardLayout : alterner plusieurs vues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cards = new JPanel(new CardLayout());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cards.add(panelLogin,    "login");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cards.add(panelDashboard,"dashboard");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Naviguer entre les cartes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CardLayout cl = (CardLayout) cards.getLayout();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cl.show(cards, "dashboard");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cl.next(cards);  cl.previous(cards);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76072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D8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BoxLayout :  </a:t>
            </a:r>
            <a:r>
              <a:rPr lang="en-US" sz="115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latérales, toolbars empilés.   </a:t>
            </a:r>
            <a:r>
              <a:rPr lang="en-US" sz="12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CardLayout :  </a:t>
            </a:r>
            <a:r>
              <a:rPr lang="en-US" sz="115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wizards, écrans login/main, vues alternatives.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Quel layout choisir 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décision rapide selon le besoin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743200" cy="50292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28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4572000" cy="50292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 l'utiliser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1828800"/>
            <a:ext cx="3931920" cy="502920"/>
          </a:xfrm>
          <a:prstGeom prst="rect">
            <a:avLst/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274320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31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FlowLayout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2331720"/>
            <a:ext cx="457200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3317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regroupements horizontaux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2331720"/>
            <a:ext cx="393192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331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adapté aux grands formulaires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274320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BorderLayout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0" y="2834640"/>
            <a:ext cx="457200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principal d'application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0" y="2834640"/>
            <a:ext cx="393192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5 zones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274320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337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GridLayout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0" y="3337560"/>
            <a:ext cx="457200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337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uniforme (calculatrice, formulaire simple)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0" y="3337560"/>
            <a:ext cx="393192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3337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cellules même taille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274320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840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GridBagLayout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0" y="3840480"/>
            <a:ext cx="457200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840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complexes, alignements précis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72400" y="3840480"/>
            <a:ext cx="393192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Verbeux à écrire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4343400"/>
            <a:ext cx="274320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343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BoxLayout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00400" y="4343400"/>
            <a:ext cx="457200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Empilage simple (toolbar, sidebar)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772400" y="4343400"/>
            <a:ext cx="3931920" cy="502920"/>
          </a:xfrm>
          <a:prstGeom prst="rect">
            <a:avLst/>
          </a:prstGeom>
          <a:solidFill>
            <a:srgbClr val="F2EFFC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4343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direction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4846320"/>
            <a:ext cx="274320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846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CardLayout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00400" y="4846320"/>
            <a:ext cx="457200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37560" y="4846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vues qui se remplacent (wizard)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772400" y="4846320"/>
            <a:ext cx="3931920" cy="502920"/>
          </a:xfrm>
          <a:prstGeom prst="rect">
            <a:avLst/>
          </a:prstGeom>
          <a:solidFill>
            <a:srgbClr val="FAFAFF"/>
          </a:solidFill>
          <a:ln w="5080">
            <a:solidFill>
              <a:srgbClr val="D8D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4846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à la fois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on combine souvent plusieurs layouts en imbriquant des JPanel.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LAYOUTS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Imbriquer des layouts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des UI complexes en empilant des JPanel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Cadre global : BorderLayout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 frame = new JFrame();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frame.setLayout(new BorderLayout());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NORTH : toolbar avec FlowLayout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toolbar = new JPanel(new FlowLayout(FlowLayout.LEFT, 8, 8));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toolbar.add(new JButton("Nouveau"));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toolbar.add(new JButton("Ouvrir"));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toolbar.add(new JButton("Enregistrer"));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frame.add(toolbar, BorderLayout.NORTH);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CENTER : formulaire avec GridBag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form = new JPanel(new GridBagLayout());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(configuration GridBagConstraints) ...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frame.add(form, BorderLayout.CENTER);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SOUTH : barre de statut avec BoxLayout horizontal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statut = new JPanel();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statut.setLayout(new BoxLayout(statut, BoxLayout.X_AXIS));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statut.add(new JLabel("Prêt"));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statut.add(Box.createHorizontalGlue());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statut.add(new JLabel("v1.0.0"));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frame.add(statut, BorderLayout.SOUTH);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E85D75">
              <a:alpha val="3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FAF33E">
              <a:alpha val="20000"/>
            </a:srgbClr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&amp; Look and Feel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371600" cy="45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un vrai look professionnel à votre application.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 and Feel — l'apparence de Swing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radicalement le rendu de toute l'application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main(String[] args)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Look and Feel système (intègre avec l'OS)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UIManager.setLookAndFeel(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UIManager.getSystemLookAndFeelClassName());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Ou : Nimbus (livré avec Java)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UIManager.setLookAndFeel(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    "javax.swing.plaf.nimbus.NimbusLookAndFeel");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Ou : FlatLaf (recommandé, moderne) — voir slide suivante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FlatLightLaf.setup();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(Exception ex)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ex.printStackTrace();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IMPORTANT : appliquer AVANT de créer le moindre composant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SwingUtilities.invokeLater(() -&gt; new MainFrame().setVisible(true));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FlatLaf — le L&amp;F moderne recommandé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apparence propre, plate, similaire à IntelliJ IDEA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8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Ajouter la dépendance Maven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00" cy="164592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31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&lt;groupId&gt;com.formdev&lt;/groupId&gt;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&lt;artifactId&gt;flatlaf&lt;/artifactId&gt;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&lt;version&gt;3.4&lt;/version&gt;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8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Activer FlatLaf au démarrage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5486400" cy="164592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9456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3317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com.formdev.flatlaf.FlatLightLaf;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com.formdev.flatlaf.FlatDarkLaf;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FlatLightLaf.setup();   // thème clair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FlatDarkLaf.setup(); // thème sombre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FlatLaf 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10835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Apparence moderne, comparable à des UIs natives récentes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thèmes intégrés : Light, Dark, IntelliJ, Darcula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via fichiers .properties ou setup() + UIManager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HiDPI, polices nettes, animations subtiles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open source, maintenu activement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Polices — Font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et cohérence visuelle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77724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7772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7406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Construction d'une police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police = new Font("Segoe UI", Font.PLAIN, 14);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titre  = new Font("Segoe UI", Font.BOLD, 22);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code   = new Font("Consolas", Font.PLAIN, 13);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label.setFont(titre);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champ.setFont(police);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Dériver une police existante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derive = label.getFont().deriveFont(Font.BOLD, 18f);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Lister les polices disponibles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dispo = GraphicsEnvironment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.getLocalGraphicsEnvironment()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.getAvailableFontFamilyNames();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Police globale via UIManager (avant tout composant)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UIManager.put("defaultFont", new Font("Segoe UI", Font.PLAIN, 14));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3291840" cy="4572000"/>
          </a:xfrm>
          <a:prstGeom prst="roundRect">
            <a:avLst>
              <a:gd name="adj" fmla="val 2778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Conseils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0" y="233172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serif pour l'UI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 px pour le texte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16–22 px pour les titres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Monospace pour le code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Segoe UI / SF / Roboto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FAF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dans Theme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Couleurs — Color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visuelle et cohérence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32004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 façons de créer une couleur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c1 = Color.RED;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c2 = new Color(232, 93, 117);          // RGB 0-255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c3 = new Color(0xE85D75);               // hex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c4 = Color.getHSBColor(0.97f, 0.6f, 0.91f);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Application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panel.setBackground(c2);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label.setForeground(c3);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transparence (alpha 0-255)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avec = new Color(232, 93, 117, 128);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Couleurs prédéfinies pratiques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Color.BLACK, Color.WHITE, Color.GRAY, Color.LIGHT_GRAY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Color.RED, Color.GREEN, Color.BLUE, Color.YELLOW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Couleurs système (thème en cours via UIManager)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systemBg = UIManager.getColor("Panel.background");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3492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Conseil : définir une palette et s'y tenir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7150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AFAFF"/>
          </a:solidFill>
          <a:ln w="6350">
            <a:solidFill>
              <a:srgbClr val="3A2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1C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#FAFAFF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6080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71800" y="57150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221C35"/>
          </a:solidFill>
          <a:ln w="6350">
            <a:solidFill>
              <a:srgbClr val="3A2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A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#221C35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71800" y="6080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66360" y="57150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9D8DF1"/>
          </a:solidFill>
          <a:ln w="6350">
            <a:solidFill>
              <a:srgbClr val="3A2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A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#9D8DF1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66360" y="6080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60920" y="57150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E85D75"/>
          </a:solidFill>
          <a:ln w="6350">
            <a:solidFill>
              <a:srgbClr val="3A2F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A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#E85D75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60920" y="6080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555480" y="57150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AF33E"/>
          </a:solidFill>
          <a:ln w="6350">
            <a:solidFill>
              <a:srgbClr val="3A2F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5760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1C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#FAF33E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55480" y="6080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Bordures &amp; padding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BorderFactory pour structurer visuellement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javax.swing.BorderFactory;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Bordure vide = padding (espace interne)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panel.setBorder(BorderFactory.createEmptyBorder(10, 16, 10, 16));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                   top, left, bottom, right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Bordure ligne simple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panel.setBorder(BorderFactory.createLineBorder(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Color(0x9D8DF1), 2));     // couleur, épaisseur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Bordure avec titre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panel.setBorder(BorderFactory.createTitledBorder(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"Informations personnelles"));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Bordure étched / bevel (relief)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panel.setBorder(BorderFactory.createEtchedBorder());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panel.setBorder(BorderFactory.createBevelBorder(BevelBorder.RAISED));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5) Bordure composée : ligne + padding interne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panel.setBorder(BorderFactory.createCompoundBorder(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BorderFactory.createLineBorder(Color.GRAY, 1),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BorderFactory.createEmptyBorder(8, 12, 8, 12)));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Icônes et images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vie aux boutons et menus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Charger depuis les ressources (recommandé)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Placer l'image dans : src/main/resources/icons/save.png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url = getClass().getResource("/icons/save.png");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ImageIcon icone = new ImageIcon(url);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btn = new JButton("Enregistrer", icone);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Redimensionner une icône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img = icone.getImage().getScaledInstance(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16, 16, Image.SCALE_SMOOTH);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btnPetit = new JButton(new ImageIcon(img));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Icônes pour menus, onglets, table headers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JMenuItem itemNouveau = new JMenuItem("Nouveau",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ImageIcon(getClass().getResource("/icons/new.png")));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Avec FlatLaf : icônes SVG directement supportées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via la dépendance flatlaf-extras + FlatSVGIcon.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FlatSVGIcon svg = new FlatSVGIcon("icons/save.svg");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btn.setIcon(svg);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Hiérarchie visuelle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Guider l'œil de l'utilisateur dans l'interface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74520"/>
            <a:ext cx="73152" cy="667512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20240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D8D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286000" y="1920240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le plus grand attire en premier. Titres 22+, sous-titres 16, corps 13-14.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74520"/>
            <a:ext cx="73152" cy="66751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20240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09560" y="1920240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texte sombre sur fond clair (ou inverse). Évitez les couleurs trop proches.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33472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33472"/>
            <a:ext cx="73152" cy="667512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679192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D8D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Espacement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86000" y="2679192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zones aérées sont plus lisibles. Padding 8-16px, marges entre groupes.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633472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633472"/>
            <a:ext cx="73152" cy="66751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679192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Couleur d'accent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09560" y="2679192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couleur primaire pour les actions principales. Sobre partout ailleurs.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392424"/>
            <a:ext cx="73152" cy="667512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438144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D8D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Alignement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286000" y="3438144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Aligner les labels et champs. Une grille invisible structure la lecture.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392424"/>
            <a:ext cx="5532120" cy="667512"/>
          </a:xfrm>
          <a:prstGeom prst="roundRect">
            <a:avLst>
              <a:gd name="adj" fmla="val 10959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3392424"/>
            <a:ext cx="73152" cy="66751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438144"/>
            <a:ext cx="1554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5D7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Groupement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09560" y="3438144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éléments liés doivent être proches. Bordures titrées pour les sections.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bonne UI guide naturellement vers l'action principale, sans nécessiter d'instructions.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Centraliser le thème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classe Theme pour toutes vos couleurs et polices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sn.youssoupha.gestion.ui.theme;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java.awt.Color;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java.awt.Font;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final class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 {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Theme() {}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i="1" dirty="0">
                <a:solidFill>
                  <a:srgbClr val="7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=========== Couleurs ===========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BG       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0xFAFAFF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TEXT     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0x221C35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PRIMARY  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0x9D8DF1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ACCENT   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0xE85D75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HIGHLIGHT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0xFAF33E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i="1" dirty="0">
                <a:solidFill>
                  <a:srgbClr val="7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=========== Polices ===========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 TITRE    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"Segoe UI"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Font.BOLD, </a:t>
            </a:r>
            <a:r>
              <a:rPr lang="en-US" sz="105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 SOUSTITRE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"Segoe UI"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Font.BOLD, </a:t>
            </a:r>
            <a:r>
              <a:rPr lang="en-US" sz="105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 CORPS    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"Segoe UI"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Font.PLAIN, </a:t>
            </a:r>
            <a:r>
              <a:rPr lang="en-US" sz="105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final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  CODE        = </a:t>
            </a:r>
            <a:r>
              <a:rPr lang="en-US" sz="105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Font(</a:t>
            </a:r>
            <a:r>
              <a:rPr lang="en-US" sz="105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"Consolas"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Font.PLAIN, </a:t>
            </a:r>
            <a:r>
              <a:rPr lang="en-US" sz="105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2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E85D75">
              <a:alpha val="3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FAF33E">
              <a:alpha val="20000"/>
            </a:srgbClr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Composants avancés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371600" cy="45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JTable, JMenuBar, JTabbedPane et compagnie.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COMPOSANTS AVANCÉS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JTable — afficher des données tabulaires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composant le plus puissant de Swing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Données et colonnes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colonnes = { "Matricule", "Nom", "Prénom", "Note" };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Object[][] donnees = {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"M001", "Faye",  "Youssoupha", 17.5 },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"M002", "Diop",  "Fatou",       15.0 },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"M003", "Sow",   "Aïssatou",    18.0 },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Création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JTable table = new JTable(donnees, colonnes);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IMPORTANT : toujours dans un JScrollPane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JScrollPane scroll = new JScrollPane(table);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panel.add(scroll, BorderLayout.CENTER);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Apparence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table.setRowHeight(28);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table.setShowGrid(true);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table.setGridColor(new Color(0xD8D2EE));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table.getTableHeader().setFont(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Font("Segoe UI", Font.BOLD, 13));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COMPOSANTS AVANCÉS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DefaultTableModel — modifier la table dynamiquement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modifier, supprimer des lignes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Construire un modèle modifiable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 cols = { "Matricule", "Nom", "Prénom", "Note" };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DefaultTableModel modele = new DefaultTableModel(cols, 0);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(optionnel) empêcher l'édition des cellules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DefaultTableModel modeleRO = new DefaultTableModel(cols, 0)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 public boolean isCellEditable(int row, int col)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JTable table = new JTable(modele);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Ajouter une ligne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modele.addRow(new Object[]{ "M001", "Faye", "Y.", 17.5 });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Supprimer la ligne sélectionnée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row = table.getSelectedRow();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(row != -1)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modele.removeRow(table.convertRowIndexToModel(row));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Modifier une cellule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modele.setValueAt(18.0, 0, 3);     // ligne 0, colonne 3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Vider entièrement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modele.setRowCount(0);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COMPOSANTS AVANCÉS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JTable — tri et filtrage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tri par colonne et le filtrage en une ligne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JTable table = new JTable(modele);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Activer le tri par clic sur l'en-tête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table.setAutoCreateRowSorter(true);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 programmatique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TableRowSorter&lt;TableModel&gt; sorter =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TableRowSorter&lt;&gt;(table.getModel());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table.setRowSorter(sorter);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sorter.setSortKeys(java.util.List.of(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RowSorter.SortKey(1, SortOrder.ASCENDING)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Filtrer en fonction d'un champ de recherche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JTextField filtre = new JTextField(20);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filtre.getDocument().addDocumentListener(new DocumentListener()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texte = filtre.getText();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(texte.isEmpty())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sorter.setRowFilter(null);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sorter.setRowFilter(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RowFilter.regexFilter("(?i)" + texte));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insertUpdate(DocumentEvent e)  { update();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removeUpdate(DocumentEvent e)  { update();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changedUpdate(DocumentEvent e) { update();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COMPOSANTS AVANCÉS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JTabbedPane — onglets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vues dans une seule fenêtre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JTabbedPane onglets = new JTabbedPane();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Onglet simple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onglets.addTab("Étudiants", panelEtudiants);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Avec icône et tooltip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onglets.addTab("Cours",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ImageIcon("/icons/book.png"),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panelCours,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"Gérer les cours");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Position des onglets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onglets.setTabPlacement(JTabbedPane.TOP);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.LEFT  .BOTTOM  .RIGHT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Politique : SCROLL pour beaucoup d'onglets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onglets.setTabLayoutPolicy(JTabbedPane.SCROLL_TAB_LAYOUT);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Sélectionner un onglet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onglets.setSelectedIndex(0);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Ajouter une icône de fermeture (FlatLaf)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onglets.putClientProperty("JTabbedPane.tabClosable", true);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onglets.putClientProperty("JTabbedPane.tabCloseCallback",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(BiConsumer&lt;JTabbedPane, Integer&gt;) (tp, i) -&gt; tp.removeTabAt(i));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COMPOSANTS AVANCÉS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Barre de menu : JMenuBar, JMenu, JMenuItem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L'élément clé d'une vraie application desktop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Barre de menu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JMenuBar barre = new JMenuBar();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Menu "Fichier"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 menuFichier = new JMenu("Fichier");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menuFichier.setMnemonic('F');                 // Alt+F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JMenuItem itemNouveau = new JMenuItem("Nouveau",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ImageIcon(getClass().getResource("/icons/new.png")));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itemNouveau.setAccelerator(KeyStroke.getKeyStroke(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KeyEvent.VK_N, InputEvent.CTRL_DOWN_MASK));   // Ctrl+N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JMenuItem itemQuitter = new JMenuItem("Quitter");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menuFichier.add(itemNouveau);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menuFichier.addSeparator();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menuFichier.add(itemQuitter);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Sous-menu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 sousMenu = new JMenu("Exporter vers");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sousMenu.add(new JMenuItem("CSV"));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sousMenu.add(new JMenuItem("PDF"));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menuFichier.add(sousMenu);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Assemblage final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barre.add(menuFichier);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frame.setJMenuBar(barre);    // pas .add() !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COMPOSANTS AVANCÉS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JToolBar — barre d'outils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rangée de boutons d'action sous le menu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JToolBar toolbar = new JToolBar();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toolbar.setFloatable(false);              // empêcher de la détacher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toolbar.setRollover(true);                // effet survol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Ajouter des boutons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btnNew = new JButton(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ImageIcon(getClass().getResource("/icons/new.png")));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btnNew.setToolTipText("Nouveau");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 btnOpen = new JButton(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ImageIcon(getClass().getResource("/icons/open.png")));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btnOpen.setToolTipText("Ouvrir");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toolbar.add(btnNew);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toolbar.add(btnOpen);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toolbar.addSeparator();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toolbar.add(btnSave);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Position : généralement BorderLayout.NORTH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frame.add(toolbar, BorderLayout.NORTH);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Astuce : combiner un JMenu et un JToolBar — ils peuvent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partager les mêmes Action (objet AbstractAction) pour éviter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 dupliquer le code (vu dans le cours événements).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COMPOSANTS AVANCÉS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Boîtes de dialogue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JOptionPane pour les messages, JDialog pour les formulaires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Message d'information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JOptionPane.showMessageDialog(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"Étudiant enregistré",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"Succès",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JOptionPane.INFORMATION_MESSAGE);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Confirmation Oui/Non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rep = JOptionPane.showConfirmDialog(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"Supprimer cet étudiant ?",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"Confirmation",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JOptionPane.YES_NO_OPTION);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(rep == JOptionPane.YES_OPTION)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supprimer();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Saisie simple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nom = JOptionPane.showInputDialog(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parent, "Nom de l'étudiant ?");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54864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65960"/>
            <a:ext cx="5120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JDialog : formulaire personnalisé modal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JDialog dialog = new JDialog(parent,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"Modifier étudiant", true);   // true = modal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dialog.setLayout(new BorderLayout());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dialog.add(formulairePanel, BorderLayout.CENTER);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dialog.add(boutonsPanel,    BorderLayout.SOUTH);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dialog.pack();                    // taille auto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dialog.setLocationRelativeTo(parent);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dialog.setVisible(true);          // bloque jusqu'à fermeture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Récupérer les valeurs après fermeture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(formulairePanel.estValide())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Etudiant e = formulairePanel.getEtudiant();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dao.modifier(e);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2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E85D75">
              <a:alpha val="3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FAF33E">
              <a:alpha val="20000"/>
            </a:srgbClr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complète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371600" cy="4572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tout ce qu'on a appris dans une vraie app de gestion d'étudiants.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APPLICATION COMPLÈTE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du projet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modèle, vue et accès aux données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7315200" cy="457200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73152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gestion-etudiants/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pom.xml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src/main/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java/sn/youssoupha/gestion/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Main.java                  ← point d'entrée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model/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└── Etudiant.java          ← POJO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dao/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└── EtudiantDao.java       ← persistance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ui/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MainFrame.java         ← fenêtre principale + menu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EtudiantPanel.java     ← JTable + boutons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EtudiantDialog.java    ← formulaire ajout/édit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└── theme/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    └── Theme.java         ← couleurs, polices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util/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└── Validation.java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resources/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icons/                     ← PNG ou SVG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828800"/>
            <a:ext cx="73152" cy="105156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pures, sans Swing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301752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3017520"/>
            <a:ext cx="73152" cy="10515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dao/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données (JDBC, Hibernate)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420624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4206240"/>
            <a:ext cx="73152" cy="105156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8D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4663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couche Swing (jamais de SQL ici)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539496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2EFFC"/>
          </a:solidFill>
          <a:ln w="6350">
            <a:solidFill>
              <a:srgbClr val="D8D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5394960"/>
            <a:ext cx="73152" cy="10515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5486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92440" y="5852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1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du design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APPLICATION COMPLÈTE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MainFrame — fenêtre principale + menu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squelette de l'application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MainFrame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JFrame {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MainFrame() {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900" dirty="0" err="1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setTitle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"Gestion des étudiants"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900" dirty="0" err="1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setSize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900" dirty="0" err="1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setLocationRelativeTo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900" dirty="0" err="1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setDefaultCloseOperation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(EXIT_ON_CLOSE);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</a:t>
            </a:r>
            <a:r>
              <a:rPr lang="en-US" sz="900" dirty="0" err="1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setJMenuBar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(creerMenu());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EtudiantPanel(), BorderLayout.CENTER);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JMenuBar creerMenu() {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JMenuBar barre =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JMenuBar();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</a:t>
            </a:r>
            <a:r>
              <a:rPr lang="en-US" sz="900" dirty="0" err="1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fichier =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JMenu(</a:t>
            </a:r>
            <a:r>
              <a:rPr lang="en-US" sz="9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"Fichier"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JMenuItem nouveau =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JMenuItem(</a:t>
            </a:r>
            <a:r>
              <a:rPr lang="en-US" sz="9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"Nouveau étudiant"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nouveau.setAccelerator(KeyStroke.getKeyStroke(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KeyEvent.VK_N, InputEvent.CTRL_DOWN_MASK));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JMenuItem quitter =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JMenuItem(</a:t>
            </a:r>
            <a:r>
              <a:rPr lang="en-US" sz="9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"Quitter"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</a:t>
            </a:r>
            <a:r>
              <a:rPr lang="en-US" sz="900" dirty="0" err="1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fichier.add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(nouveau); fichier.addSeparator(); fichier.add(quitter);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JMenu aide =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JMenu(</a:t>
            </a:r>
            <a:r>
              <a:rPr lang="en-US" sz="9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"Aide"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aide.add(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JMenuItem(</a:t>
            </a:r>
            <a:r>
              <a:rPr lang="en-US" sz="9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"À </a:t>
            </a:r>
            <a:r>
              <a:rPr lang="en-US" sz="900" dirty="0" err="1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</a:t>
            </a:r>
            <a:r>
              <a:rPr lang="en-US" sz="9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barre.add(fichier); barre.add(aide);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barre;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r>
              <a:rPr lang="en-US" sz="12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9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APPLICATION COMPLÈTE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EtudiantPanel — la vue principale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 (Nouveau / Modifier / Supprimer / Filtre) + JTable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124712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EtudiantPanel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 {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DefaultTableModel modele;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JTable table;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EtudiantPanel() {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setLayout(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BorderLayout(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setBorder(BorderFactory.createEmptyBorder(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 i="1" dirty="0">
                <a:solidFill>
                  <a:srgbClr val="7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Modèle et table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modele =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DefaultTableModel(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String[]{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"Matricule"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"Prénom"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"Note"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table =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JTable(modele); table.setRowHeight(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table.setAutoCreateRowSorter(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JScrollPane(table), BorderLayout.CENTER);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 i="1" dirty="0">
                <a:solidFill>
                  <a:srgbClr val="7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Toolbar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JPanel toolbar = 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JPanel(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FlowLayout(FlowLayout.LEFT, 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toolbar.add(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JButton(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"Nouveau"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toolbar.add(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JButton(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"Modifier"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toolbar.add(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JButton(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"Supprimer"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toolbar.add(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JLabel(</a:t>
            </a:r>
            <a:r>
              <a:rPr lang="en-US" sz="8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"Filtre :"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toolbar.add(</a:t>
            </a:r>
            <a:r>
              <a:rPr lang="en-US" sz="800" b="1" dirty="0">
                <a:solidFill>
                  <a:srgbClr val="FAF3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JTextField(</a:t>
            </a:r>
            <a:r>
              <a:rPr lang="en-US" sz="800" dirty="0">
                <a:solidFill>
                  <a:srgbClr val="FFB3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add(toolbar, BorderLayout.NORTH);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 i="1" dirty="0">
                <a:solidFill>
                  <a:srgbClr val="7A6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Les actions des boutons : voir cours événements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80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D8DF1"/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228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21C3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18520" y="228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APPLICATION COMPLÈTE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0080"/>
            <a:ext cx="164592" cy="5943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486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1C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EtudiantDialog &amp; Main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5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d'édition modal + le point d'entrée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685800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68580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6492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EtudiantDialog extends JDialog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JTextField tfMat   = new JTextField(15);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JTextField tfNom   = new JTextField(20);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JTextField tfPrenom = new JTextField(20);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JSpinner spNote = new JSpinner(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SpinnerNumberModel(0.0, 0.0, 20.0, 0.5));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EtudiantDialog(JFrame parent, Etudiant existant)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super(parent, "Étudiant", true);    // modal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JPanel form = new JPanel(new GridLayout(4, 2, 8, 8));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form.setBorder(BorderFactory.createEmptyBorder(16, 16, 16, 16));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form.add(new JLabel("Matricule :")); form.add(tfMat);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form.add(new JLabel("Nom :"));       form.add(tfNom);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form.add(new JLabel("Prénom :"));    form.add(tfPrenom);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form.add(new JLabel("Note :"));      form.add(spNote);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JButton ok = new JButton("Valider");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JButton cancel = new JButton("Annuler");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JPanel boutons = new JPanel();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boutons.add(ok); boutons.add(cancel);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add(form, BorderLayout.CENTER);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add(boutons, BorderLayout.SOUTH);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pack(); setLocationRelativeTo(parent);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0" y="1828800"/>
            <a:ext cx="4114800" cy="4663440"/>
          </a:xfrm>
          <a:prstGeom prst="rect">
            <a:avLst/>
          </a:prstGeom>
          <a:solidFill>
            <a:srgbClr val="1A1529"/>
          </a:solidFill>
          <a:ln w="12700">
            <a:solidFill>
              <a:srgbClr val="1A15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828800"/>
            <a:ext cx="4114800" cy="54864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90688" y="196596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Main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FlatLightLaf.setup();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UIManager.put("defaultFont",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new Font("Segoe UI",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Font.PLAIN, 14));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SwingUtilities.invokeLater(() -&gt;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MainFrame f = new MainFrame();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f.setVisible(true);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F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2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E85D75">
              <a:alpha val="3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9D8DF1">
              <a:alpha val="30000"/>
            </a:srgbClr>
          </a:solidFill>
          <a:ln w="12700">
            <a:solidFill>
              <a:srgbClr val="9D8D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AF33E"/>
          </a:solidFill>
          <a:ln w="12700">
            <a:solidFill>
              <a:srgbClr val="FAF3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AF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SAVEZ MAINTENANT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Construire une UI Swing complète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A1529"/>
          </a:solidFill>
          <a:ln w="9525">
            <a:solidFill>
              <a:srgbClr val="3A2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2267712"/>
            <a:ext cx="365760" cy="365760"/>
          </a:xfrm>
          <a:prstGeom prst="ellipse">
            <a:avLst/>
          </a:prstGeom>
          <a:solidFill>
            <a:srgbClr val="9D8DF1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setLayout(null) — toujours un LayoutManager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210312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A1529"/>
          </a:solidFill>
          <a:ln w="9525">
            <a:solidFill>
              <a:srgbClr val="3A2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65392" y="2267712"/>
            <a:ext cx="365760" cy="365760"/>
          </a:xfrm>
          <a:prstGeom prst="ellipse">
            <a:avLst/>
          </a:prstGeom>
          <a:solidFill>
            <a:srgbClr val="E85D7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2103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JTextArea, JList, JTable → toujours dans un JScrollPane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28803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A1529"/>
          </a:solidFill>
          <a:ln w="9525">
            <a:solidFill>
              <a:srgbClr val="3A2F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3044952"/>
            <a:ext cx="365760" cy="365760"/>
          </a:xfrm>
          <a:prstGeom prst="ellipse">
            <a:avLst/>
          </a:prstGeom>
          <a:solidFill>
            <a:srgbClr val="9D8DF1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880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JPasswordField.getPassword() retourne char[], pas String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288036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A1529"/>
          </a:solidFill>
          <a:ln w="9525">
            <a:solidFill>
              <a:srgbClr val="3A2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5392" y="3044952"/>
            <a:ext cx="365760" cy="365760"/>
          </a:xfrm>
          <a:prstGeom prst="ellipse">
            <a:avLst/>
          </a:prstGeom>
          <a:solidFill>
            <a:srgbClr val="E85D7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8803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polices et couleurs dans une classe Theme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36576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A1529"/>
          </a:solidFill>
          <a:ln w="9525">
            <a:solidFill>
              <a:srgbClr val="3A2F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822192"/>
            <a:ext cx="365760" cy="365760"/>
          </a:xfrm>
          <a:prstGeom prst="ellipse">
            <a:avLst/>
          </a:prstGeom>
          <a:solidFill>
            <a:srgbClr val="9D8DF1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3657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les layouts en imbriquant des JPanel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365760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1A1529"/>
          </a:solidFill>
          <a:ln w="9525">
            <a:solidFill>
              <a:srgbClr val="3A2F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392" y="3822192"/>
            <a:ext cx="365760" cy="365760"/>
          </a:xfrm>
          <a:prstGeom prst="ellipse">
            <a:avLst/>
          </a:prstGeom>
          <a:solidFill>
            <a:srgbClr val="E85D75"/>
          </a:solidFill>
          <a:ln w="12700">
            <a:solidFill>
              <a:srgbClr val="221C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657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avec un Look and Feel différent (FlatLight + Dark)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" y="4846320"/>
            <a:ext cx="10835640" cy="1188720"/>
          </a:xfrm>
          <a:prstGeom prst="roundRect">
            <a:avLst>
              <a:gd name="adj" fmla="val 9231"/>
            </a:avLst>
          </a:prstGeom>
          <a:solidFill>
            <a:srgbClr val="1A1529"/>
          </a:solidFill>
          <a:ln w="19050">
            <a:solidFill>
              <a:srgbClr val="E85D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4846320"/>
            <a:ext cx="109728" cy="1188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9834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COURS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52578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événements Swing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188720" y="5669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9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 · MouseListener · KeyBindings · MVC · EDT · SwingWorker · Action partagée toolbar/menu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7764</Words>
  <Application>Microsoft Macintosh PowerPoint</Application>
  <PresentationFormat>Widescreen</PresentationFormat>
  <Paragraphs>1223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Consolas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Swing — UI — L2</dc:title>
  <dc:subject>PptxGenJS Presentation</dc:subject>
  <dc:creator>Faye Core Consulting</dc:creator>
  <cp:lastModifiedBy>Youssoupha Faye the fiddler</cp:lastModifiedBy>
  <cp:revision>2</cp:revision>
  <dcterms:created xsi:type="dcterms:W3CDTF">2026-04-27T05:59:45Z</dcterms:created>
  <dcterms:modified xsi:type="dcterms:W3CDTF">2026-04-27T15:27:37Z</dcterms:modified>
</cp:coreProperties>
</file>